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86"/>
  </p:notesMasterIdLst>
  <p:sldIdLst>
    <p:sldId id="514" r:id="rId2"/>
    <p:sldId id="515" r:id="rId3"/>
    <p:sldId id="516" r:id="rId4"/>
    <p:sldId id="517" r:id="rId5"/>
    <p:sldId id="518" r:id="rId6"/>
    <p:sldId id="519" r:id="rId7"/>
    <p:sldId id="520" r:id="rId8"/>
    <p:sldId id="521" r:id="rId9"/>
    <p:sldId id="522" r:id="rId10"/>
    <p:sldId id="523" r:id="rId11"/>
    <p:sldId id="524" r:id="rId12"/>
    <p:sldId id="525" r:id="rId13"/>
    <p:sldId id="526" r:id="rId14"/>
    <p:sldId id="527" r:id="rId15"/>
    <p:sldId id="528" r:id="rId16"/>
    <p:sldId id="529" r:id="rId17"/>
    <p:sldId id="530" r:id="rId18"/>
    <p:sldId id="531" r:id="rId19"/>
    <p:sldId id="532" r:id="rId20"/>
    <p:sldId id="533" r:id="rId21"/>
    <p:sldId id="534" r:id="rId22"/>
    <p:sldId id="535" r:id="rId23"/>
    <p:sldId id="536" r:id="rId24"/>
    <p:sldId id="537" r:id="rId25"/>
    <p:sldId id="538" r:id="rId26"/>
    <p:sldId id="539" r:id="rId27"/>
    <p:sldId id="540" r:id="rId28"/>
    <p:sldId id="541" r:id="rId29"/>
    <p:sldId id="542" r:id="rId30"/>
    <p:sldId id="543" r:id="rId31"/>
    <p:sldId id="544" r:id="rId32"/>
    <p:sldId id="545" r:id="rId33"/>
    <p:sldId id="546" r:id="rId34"/>
    <p:sldId id="547" r:id="rId35"/>
    <p:sldId id="548" r:id="rId36"/>
    <p:sldId id="549" r:id="rId37"/>
    <p:sldId id="550" r:id="rId38"/>
    <p:sldId id="551" r:id="rId39"/>
    <p:sldId id="552" r:id="rId40"/>
    <p:sldId id="553" r:id="rId41"/>
    <p:sldId id="554" r:id="rId42"/>
    <p:sldId id="555" r:id="rId43"/>
    <p:sldId id="556" r:id="rId44"/>
    <p:sldId id="557" r:id="rId45"/>
    <p:sldId id="558" r:id="rId46"/>
    <p:sldId id="559" r:id="rId47"/>
    <p:sldId id="560" r:id="rId48"/>
    <p:sldId id="561" r:id="rId49"/>
    <p:sldId id="562" r:id="rId50"/>
    <p:sldId id="563" r:id="rId51"/>
    <p:sldId id="564" r:id="rId52"/>
    <p:sldId id="482" r:id="rId53"/>
    <p:sldId id="565" r:id="rId54"/>
    <p:sldId id="566" r:id="rId55"/>
    <p:sldId id="567" r:id="rId56"/>
    <p:sldId id="568" r:id="rId57"/>
    <p:sldId id="569" r:id="rId58"/>
    <p:sldId id="570" r:id="rId59"/>
    <p:sldId id="571" r:id="rId60"/>
    <p:sldId id="572" r:id="rId61"/>
    <p:sldId id="573" r:id="rId62"/>
    <p:sldId id="574" r:id="rId63"/>
    <p:sldId id="575" r:id="rId64"/>
    <p:sldId id="576" r:id="rId65"/>
    <p:sldId id="577" r:id="rId66"/>
    <p:sldId id="578" r:id="rId67"/>
    <p:sldId id="579" r:id="rId68"/>
    <p:sldId id="580" r:id="rId69"/>
    <p:sldId id="581" r:id="rId70"/>
    <p:sldId id="582" r:id="rId71"/>
    <p:sldId id="583" r:id="rId72"/>
    <p:sldId id="584" r:id="rId73"/>
    <p:sldId id="585" r:id="rId74"/>
    <p:sldId id="586" r:id="rId75"/>
    <p:sldId id="587" r:id="rId76"/>
    <p:sldId id="588" r:id="rId77"/>
    <p:sldId id="589" r:id="rId78"/>
    <p:sldId id="590" r:id="rId79"/>
    <p:sldId id="591" r:id="rId80"/>
    <p:sldId id="592" r:id="rId81"/>
    <p:sldId id="593" r:id="rId82"/>
    <p:sldId id="594" r:id="rId83"/>
    <p:sldId id="595" r:id="rId84"/>
    <p:sldId id="596" r:id="rId85"/>
  </p:sldIdLst>
  <p:sldSz cx="9144000" cy="5143500" type="screen16x9"/>
  <p:notesSz cx="6858000" cy="9144000"/>
  <p:custDataLst>
    <p:tags r:id="rId87"/>
  </p:custDataLst>
  <p:defaultTextStyle>
    <a:defPPr>
      <a:defRPr lang="zh-CN"/>
    </a:defPPr>
    <a:lvl1pPr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indent="1143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indent="2286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indent="3429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indent="4572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n" initials="f" lastIdx="1" clrIdx="0"/>
  <p:cmAuthor id="2" name="neufn" initials="n" lastIdx="3" clrIdx="1"/>
  <p:cmAuthor id="3" name="fn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4A82"/>
    <a:srgbClr val="6404AC"/>
    <a:srgbClr val="171072"/>
    <a:srgbClr val="0070C0"/>
    <a:srgbClr val="0071C1"/>
    <a:srgbClr val="F6F6F8"/>
    <a:srgbClr val="F9F9FB"/>
    <a:srgbClr val="314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82" autoAdjust="0"/>
    <p:restoredTop sz="95383" autoAdjust="0"/>
  </p:normalViewPr>
  <p:slideViewPr>
    <p:cSldViewPr snapToGrid="0">
      <p:cViewPr varScale="1">
        <p:scale>
          <a:sx n="96" d="100"/>
          <a:sy n="96" d="100"/>
        </p:scale>
        <p:origin x="792" y="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4" Type="http://schemas.openxmlformats.org/officeDocument/2006/relationships/image" Target="../media/image6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5.wmf"/><Relationship Id="rId7" Type="http://schemas.openxmlformats.org/officeDocument/2006/relationships/image" Target="../media/image73.wmf"/><Relationship Id="rId2" Type="http://schemas.openxmlformats.org/officeDocument/2006/relationships/image" Target="../media/image74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e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10" Type="http://schemas.openxmlformats.org/officeDocument/2006/relationships/image" Target="../media/image92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10" Type="http://schemas.openxmlformats.org/officeDocument/2006/relationships/image" Target="../media/image102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e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e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9" Type="http://schemas.openxmlformats.org/officeDocument/2006/relationships/image" Target="../media/image148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89D27D7-F4E8-4A39-817C-2D1D08F17E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C4EDDF-381B-4D1C-A7C7-09C5C44B006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itchFamily="34" charset="-122"/>
              </a:defRPr>
            </a:lvl1pPr>
          </a:lstStyle>
          <a:p>
            <a:pPr>
              <a:defRPr/>
            </a:pPr>
            <a:fld id="{5E7FDC3A-9DB6-4798-9F1C-54BA896BE9BE}" type="datetimeFigureOut">
              <a:rPr lang="zh-CN" altLang="en-US"/>
              <a:pPr>
                <a:defRPr/>
              </a:pPr>
              <a:t>2020/9/13</a:t>
            </a:fld>
            <a:endParaRPr lang="zh-CN" altLang="en-US" dirty="0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977180AE-0A7B-4A7F-945F-E9283D9F9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D478C6F-6A71-4206-8BB9-20C285BEC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D3D10B-448E-4AB5-BD81-FEA6E01E26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CBA8D0-EC26-4274-8434-138A34DE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74A7B55-3990-4B8C-992D-431EE5613E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7813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3429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6858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0287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13716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79F072E9-4258-4848-AF61-0535F7A725C7}" type="slidenum">
              <a:rPr lang="zh-CN" altLang="en-US" sz="1200" smtClean="0">
                <a:latin typeface="Calibri" pitchFamily="34" charset="0"/>
                <a:ea typeface="微软雅黑" pitchFamily="34" charset="-122"/>
              </a:rPr>
              <a:pPr/>
              <a:t>1</a:t>
            </a:fld>
            <a:endParaRPr lang="zh-CN" altLang="en-US" sz="1200">
              <a:latin typeface="Calibri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D8560867-2F0C-46FF-BDC9-0B74A41D2B5F}" type="slidenum">
              <a:rPr lang="zh-CN" altLang="en-US" sz="1200" smtClean="0">
                <a:latin typeface="Calibri" pitchFamily="34" charset="0"/>
                <a:ea typeface="微软雅黑" pitchFamily="34" charset="-122"/>
              </a:rPr>
              <a:pPr/>
              <a:t>2</a:t>
            </a:fld>
            <a:endParaRPr lang="zh-CN" altLang="en-US" sz="1200">
              <a:latin typeface="Calibri" pitchFamily="34" charset="0"/>
              <a:ea typeface="微软雅黑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93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A0D17-C4B5-4BB3-BBDA-1BFF9F15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pPr>
              <a:defRPr/>
            </a:pPr>
            <a:fld id="{86A4963E-0D9B-45DC-9720-FEC0E036E7DC}" type="datetimeFigureOut">
              <a:rPr lang="zh-CN" altLang="en-US"/>
              <a:pPr>
                <a:defRPr/>
              </a:pPr>
              <a:t>2020/9/13</a:t>
            </a:fld>
            <a:endParaRPr lang="zh-CN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2A5-C3E7-4779-BC07-DCB70A45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F86C-DB20-483C-B042-B42153DA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285B17B-93CF-4BA5-9984-F2A02A11F3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0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FB5A29-0E20-496F-B2B1-BB7895530CA7}"/>
              </a:ext>
            </a:extLst>
          </p:cNvPr>
          <p:cNvSpPr/>
          <p:nvPr userDrawn="1"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D1B1F58-E1DC-4D01-B54D-02034756468A}"/>
              </a:ext>
            </a:extLst>
          </p:cNvPr>
          <p:cNvGraphicFramePr>
            <a:graphicFrameLocks noGrp="1"/>
          </p:cNvGraphicFramePr>
          <p:nvPr/>
        </p:nvGraphicFramePr>
        <p:xfrm>
          <a:off x="0" y="950913"/>
          <a:ext cx="1268413" cy="29702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42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理论基础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结论与展望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D6F6DFC-A623-45A8-BCA6-355A59EFF753}"/>
              </a:ext>
            </a:extLst>
          </p:cNvPr>
          <p:cNvSpPr/>
          <p:nvPr userDrawn="1"/>
        </p:nvSpPr>
        <p:spPr>
          <a:xfrm>
            <a:off x="0" y="954088"/>
            <a:ext cx="1268413" cy="59213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E9FC39FC-0305-4A2A-A219-4239A0CC1FB1}"/>
              </a:ext>
            </a:extLst>
          </p:cNvPr>
          <p:cNvSpPr/>
          <p:nvPr userDrawn="1"/>
        </p:nvSpPr>
        <p:spPr>
          <a:xfrm rot="16200000">
            <a:off x="1160463" y="1195388"/>
            <a:ext cx="10795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83EB0150-4B18-435B-922C-B5E7164B8468}"/>
              </a:ext>
            </a:extLst>
          </p:cNvPr>
          <p:cNvSpPr/>
          <p:nvPr userDrawn="1"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7" name="五边形 16">
            <a:extLst>
              <a:ext uri="{FF2B5EF4-FFF2-40B4-BE49-F238E27FC236}">
                <a16:creationId xmlns:a16="http://schemas.microsoft.com/office/drawing/2014/main" id="{E8EB235E-3EEC-4002-8F12-4EE34CBB3587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8535988" y="4776788"/>
            <a:ext cx="741362" cy="377825"/>
          </a:xfrm>
          <a:prstGeom prst="homePlate">
            <a:avLst>
              <a:gd name="adj" fmla="val 49999"/>
            </a:avLst>
          </a:prstGeom>
          <a:noFill/>
          <a:ln>
            <a:noFill/>
          </a:ln>
        </p:spPr>
        <p:txBody>
          <a:bodyPr lIns="68580" tIns="34290" rIns="68580" bIns="34290" anchor="ctr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6DF16C87-2D3A-48CC-8A24-C51DAA430D94}" type="slidenum">
              <a:rPr lang="zh-CN" altLang="en-US" sz="14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09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方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34663D-69D8-49E9-AB1C-BC1D6F101164}"/>
              </a:ext>
            </a:extLst>
          </p:cNvPr>
          <p:cNvSpPr/>
          <p:nvPr userDrawn="1"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B85AA44-585C-4D03-BDBF-AFEC736D10F2}"/>
              </a:ext>
            </a:extLst>
          </p:cNvPr>
          <p:cNvGraphicFramePr>
            <a:graphicFrameLocks noGrp="1"/>
          </p:cNvGraphicFramePr>
          <p:nvPr/>
        </p:nvGraphicFramePr>
        <p:xfrm>
          <a:off x="0" y="950913"/>
          <a:ext cx="1268413" cy="29702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结论与展望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组合 13">
            <a:extLst>
              <a:ext uri="{FF2B5EF4-FFF2-40B4-BE49-F238E27FC236}">
                <a16:creationId xmlns:a16="http://schemas.microsoft.com/office/drawing/2014/main" id="{7077BC73-FE54-4A6F-8445-32297BB3335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546225"/>
            <a:ext cx="1268413" cy="590550"/>
            <a:chOff x="0" y="1272662"/>
            <a:chExt cx="1691680" cy="78818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EA1C2C3-A5CF-4944-8A17-AB2247223DAC}"/>
                </a:ext>
              </a:extLst>
            </p:cNvPr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理论基础</a:t>
              </a:r>
            </a:p>
          </p:txBody>
        </p: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A9C95F89-658C-4070-9BE2-276A96DBD7A5}"/>
                </a:ext>
              </a:extLst>
            </p:cNvPr>
            <p:cNvSpPr/>
            <p:nvPr userDrawn="1"/>
          </p:nvSpPr>
          <p:spPr>
            <a:xfrm rot="16200000">
              <a:off x="1547655" y="1594769"/>
              <a:ext cx="144077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/>
            </a:p>
          </p:txBody>
        </p: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2D31CBC3-ACAC-4E1F-A675-6366B35173E5}"/>
              </a:ext>
            </a:extLst>
          </p:cNvPr>
          <p:cNvSpPr/>
          <p:nvPr userDrawn="1"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五边形 17">
            <a:extLst>
              <a:ext uri="{FF2B5EF4-FFF2-40B4-BE49-F238E27FC236}">
                <a16:creationId xmlns:a16="http://schemas.microsoft.com/office/drawing/2014/main" id="{6302F0C8-863C-4C06-B6D5-15283F41CD20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8535988" y="4776788"/>
            <a:ext cx="741362" cy="377825"/>
          </a:xfrm>
          <a:prstGeom prst="homePlate">
            <a:avLst>
              <a:gd name="adj" fmla="val 49999"/>
            </a:avLst>
          </a:prstGeom>
          <a:noFill/>
          <a:ln>
            <a:noFill/>
          </a:ln>
        </p:spPr>
        <p:txBody>
          <a:bodyPr lIns="68580" tIns="34290" rIns="68580" bIns="34290" anchor="ctr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89E4EE11-D757-49EA-AD55-6C8D4B1D3040}" type="slidenum">
              <a:rPr lang="zh-CN" altLang="en-US" sz="14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62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键技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BAFA95-5B9E-416A-9483-D009FEF9CFAE}"/>
              </a:ext>
            </a:extLst>
          </p:cNvPr>
          <p:cNvSpPr/>
          <p:nvPr userDrawn="1"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27071F8-6264-4A51-9FC8-2ACF7433CB92}"/>
              </a:ext>
            </a:extLst>
          </p:cNvPr>
          <p:cNvGraphicFramePr>
            <a:graphicFrameLocks noGrp="1"/>
          </p:cNvGraphicFramePr>
          <p:nvPr/>
        </p:nvGraphicFramePr>
        <p:xfrm>
          <a:off x="0" y="950913"/>
          <a:ext cx="1268413" cy="29702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理论基础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总结与展望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组合 13">
            <a:extLst>
              <a:ext uri="{FF2B5EF4-FFF2-40B4-BE49-F238E27FC236}">
                <a16:creationId xmlns:a16="http://schemas.microsoft.com/office/drawing/2014/main" id="{3A81A541-5C05-425F-93F9-495B3B2AE54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139950"/>
            <a:ext cx="1268413" cy="592138"/>
            <a:chOff x="0" y="1272662"/>
            <a:chExt cx="1691680" cy="78818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752FC08-3412-46FC-99C7-073D2FF34F36}"/>
                </a:ext>
              </a:extLst>
            </p:cNvPr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单变量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PM2.5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浓度预测</a:t>
              </a:r>
            </a:p>
          </p:txBody>
        </p: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8228271F-DB09-44F2-8493-3F0F94A104E0}"/>
                </a:ext>
              </a:extLst>
            </p:cNvPr>
            <p:cNvSpPr/>
            <p:nvPr userDrawn="1"/>
          </p:nvSpPr>
          <p:spPr>
            <a:xfrm rot="16200000">
              <a:off x="1546791" y="1594769"/>
              <a:ext cx="145804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/>
            </a:p>
          </p:txBody>
        </p: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910A26EA-5FBD-476B-9CEF-882E17B77947}"/>
              </a:ext>
            </a:extLst>
          </p:cNvPr>
          <p:cNvSpPr/>
          <p:nvPr userDrawn="1"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五边形 17">
            <a:extLst>
              <a:ext uri="{FF2B5EF4-FFF2-40B4-BE49-F238E27FC236}">
                <a16:creationId xmlns:a16="http://schemas.microsoft.com/office/drawing/2014/main" id="{6FDF37C7-E4B4-4F3B-B20E-0190812F8578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8535988" y="4776788"/>
            <a:ext cx="741362" cy="377825"/>
          </a:xfrm>
          <a:prstGeom prst="homePlate">
            <a:avLst>
              <a:gd name="adj" fmla="val 49999"/>
            </a:avLst>
          </a:prstGeom>
          <a:noFill/>
          <a:ln>
            <a:noFill/>
          </a:ln>
        </p:spPr>
        <p:txBody>
          <a:bodyPr lIns="68580" tIns="34290" rIns="68580" bIns="34290" anchor="ctr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0D6D9C38-1199-4506-B4A9-BE35AC4B859C}" type="slidenum">
              <a:rPr lang="zh-CN" altLang="en-US" sz="14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8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成果与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00F0B44-9547-4527-92A3-C364E72ACA36}"/>
              </a:ext>
            </a:extLst>
          </p:cNvPr>
          <p:cNvSpPr/>
          <p:nvPr userDrawn="1"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D4B2DE4-8581-493D-9D66-F826D5020634}"/>
              </a:ext>
            </a:extLst>
          </p:cNvPr>
          <p:cNvGraphicFramePr>
            <a:graphicFrameLocks noGrp="1"/>
          </p:cNvGraphicFramePr>
          <p:nvPr/>
        </p:nvGraphicFramePr>
        <p:xfrm>
          <a:off x="0" y="950913"/>
          <a:ext cx="1268413" cy="29702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理论基础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成果与应用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总结与展望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组合 9">
            <a:extLst>
              <a:ext uri="{FF2B5EF4-FFF2-40B4-BE49-F238E27FC236}">
                <a16:creationId xmlns:a16="http://schemas.microsoft.com/office/drawing/2014/main" id="{34E1BEFC-4795-4136-AF66-149DEEFFC91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736850"/>
            <a:ext cx="1268413" cy="590550"/>
            <a:chOff x="0" y="1272662"/>
            <a:chExt cx="1691680" cy="78818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7ECD796-0EE4-4BD3-AC97-848E21044795}"/>
                </a:ext>
              </a:extLst>
            </p:cNvPr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多变量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PM2.5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浓度预测</a:t>
              </a:r>
            </a:p>
          </p:txBody>
        </p: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0D6BACA6-C160-45AE-9158-322C2AB19CA9}"/>
                </a:ext>
              </a:extLst>
            </p:cNvPr>
            <p:cNvSpPr/>
            <p:nvPr userDrawn="1"/>
          </p:nvSpPr>
          <p:spPr>
            <a:xfrm rot="16200000">
              <a:off x="1547655" y="1594769"/>
              <a:ext cx="144077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/>
            </a:p>
          </p:txBody>
        </p: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484F901A-439D-401C-8E91-0A8582E3E047}"/>
              </a:ext>
            </a:extLst>
          </p:cNvPr>
          <p:cNvSpPr/>
          <p:nvPr userDrawn="1"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五边形 17">
            <a:extLst>
              <a:ext uri="{FF2B5EF4-FFF2-40B4-BE49-F238E27FC236}">
                <a16:creationId xmlns:a16="http://schemas.microsoft.com/office/drawing/2014/main" id="{4629E83F-A719-405A-8C02-AA82C8C91C8B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8535988" y="4776788"/>
            <a:ext cx="741362" cy="377825"/>
          </a:xfrm>
          <a:prstGeom prst="homePlate">
            <a:avLst>
              <a:gd name="adj" fmla="val 49999"/>
            </a:avLst>
          </a:prstGeom>
          <a:noFill/>
          <a:ln>
            <a:noFill/>
          </a:ln>
        </p:spPr>
        <p:txBody>
          <a:bodyPr lIns="68580" tIns="34290" rIns="68580" bIns="34290" anchor="ctr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6FA78D1F-9932-4577-A8A7-0ABBA57655BC}" type="slidenum">
              <a:rPr lang="zh-CN" altLang="en-US" sz="14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02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关建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A01B42-0A57-4D80-A323-27E5CDEB69BD}"/>
              </a:ext>
            </a:extLst>
          </p:cNvPr>
          <p:cNvSpPr/>
          <p:nvPr userDrawn="1"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7E2DC07-77A4-447B-99F0-B6AEA2F06B9C}"/>
              </a:ext>
            </a:extLst>
          </p:cNvPr>
          <p:cNvGraphicFramePr>
            <a:graphicFrameLocks noGrp="1"/>
          </p:cNvGraphicFramePr>
          <p:nvPr/>
        </p:nvGraphicFramePr>
        <p:xfrm>
          <a:off x="0" y="950913"/>
          <a:ext cx="1268413" cy="29702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0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理论基础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多变量</a:t>
                      </a:r>
                      <a:r>
                        <a:rPr lang="en-US" altLang="zh-CN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PM2.5</a:t>
                      </a: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浓度预测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相关建议</a:t>
                      </a:r>
                    </a:p>
                  </a:txBody>
                  <a:tcPr marL="68561" marR="68561" marT="34292" marB="342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组合 13">
            <a:extLst>
              <a:ext uri="{FF2B5EF4-FFF2-40B4-BE49-F238E27FC236}">
                <a16:creationId xmlns:a16="http://schemas.microsoft.com/office/drawing/2014/main" id="{448525A3-797B-45ED-BF71-219B931CEE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3330575"/>
            <a:ext cx="1268413" cy="590550"/>
            <a:chOff x="0" y="1272662"/>
            <a:chExt cx="1691680" cy="78818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E875BC8-EF11-43FA-B273-0A8F6CCD879B}"/>
                </a:ext>
              </a:extLst>
            </p:cNvPr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</a:p>
          </p:txBody>
        </p: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F90F4DA2-DC25-4E2C-A89D-D18F7F9B5E60}"/>
                </a:ext>
              </a:extLst>
            </p:cNvPr>
            <p:cNvSpPr/>
            <p:nvPr userDrawn="1"/>
          </p:nvSpPr>
          <p:spPr>
            <a:xfrm rot="16200000">
              <a:off x="1547655" y="1594769"/>
              <a:ext cx="144077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/>
            </a:p>
          </p:txBody>
        </p: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87311F8F-342E-45D9-8021-C5A290C81AD0}"/>
              </a:ext>
            </a:extLst>
          </p:cNvPr>
          <p:cNvSpPr/>
          <p:nvPr userDrawn="1"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五边形 17">
            <a:extLst>
              <a:ext uri="{FF2B5EF4-FFF2-40B4-BE49-F238E27FC236}">
                <a16:creationId xmlns:a16="http://schemas.microsoft.com/office/drawing/2014/main" id="{72160581-6CBA-43A4-8AF8-A73D799B6D34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8535988" y="4776788"/>
            <a:ext cx="741362" cy="377825"/>
          </a:xfrm>
          <a:prstGeom prst="homePlate">
            <a:avLst>
              <a:gd name="adj" fmla="val 49999"/>
            </a:avLst>
          </a:prstGeom>
          <a:noFill/>
          <a:ln>
            <a:noFill/>
          </a:ln>
        </p:spPr>
        <p:txBody>
          <a:bodyPr lIns="68580" tIns="34290" rIns="68580" bIns="34290" anchor="ctr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CF643E75-EA86-4365-BCFD-B90EC1C1BA37}" type="slidenum">
              <a:rPr lang="zh-CN" altLang="en-US" sz="14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96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论文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1E53AD-B9D8-4F30-AFEF-B1566C284AFE}"/>
              </a:ext>
            </a:extLst>
          </p:cNvPr>
          <p:cNvSpPr/>
          <p:nvPr userDrawn="1"/>
        </p:nvSpPr>
        <p:spPr>
          <a:xfrm>
            <a:off x="0" y="0"/>
            <a:ext cx="1268413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F806E35-A6BF-4C11-80BF-F9B92C60B306}"/>
              </a:ext>
            </a:extLst>
          </p:cNvPr>
          <p:cNvGraphicFramePr>
            <a:graphicFrameLocks noGrp="1"/>
          </p:cNvGraphicFramePr>
          <p:nvPr/>
        </p:nvGraphicFramePr>
        <p:xfrm>
          <a:off x="0" y="950913"/>
          <a:ext cx="1268413" cy="35639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39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</a:p>
                  </a:txBody>
                  <a:tcPr marL="68561" marR="68561" marT="34289" marB="342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意义与内容</a:t>
                      </a:r>
                    </a:p>
                  </a:txBody>
                  <a:tcPr marL="68561" marR="68561" marT="34289" marB="342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思路与方法</a:t>
                      </a:r>
                    </a:p>
                  </a:txBody>
                  <a:tcPr marL="68561" marR="68561" marT="34289" marB="342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重点与难点</a:t>
                      </a:r>
                    </a:p>
                  </a:txBody>
                  <a:tcPr marL="68561" marR="68561" marT="34289" marB="342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成果与运用</a:t>
                      </a:r>
                    </a:p>
                  </a:txBody>
                  <a:tcPr marL="68561" marR="68561" marT="34289" marB="342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9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</a:p>
                  </a:txBody>
                  <a:tcPr marL="68561" marR="68561" marT="34289" marB="3428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组合 13">
            <a:extLst>
              <a:ext uri="{FF2B5EF4-FFF2-40B4-BE49-F238E27FC236}">
                <a16:creationId xmlns:a16="http://schemas.microsoft.com/office/drawing/2014/main" id="{88FD1546-44D9-4557-A767-7E55B8B3EE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3924300"/>
            <a:ext cx="1268413" cy="590550"/>
            <a:chOff x="0" y="1272662"/>
            <a:chExt cx="1691680" cy="78818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795219D-0F0C-4D22-9B41-9009E3FBB371}"/>
                </a:ext>
              </a:extLst>
            </p:cNvPr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建议与总结</a:t>
              </a:r>
            </a:p>
          </p:txBody>
        </p:sp>
        <p:sp>
          <p:nvSpPr>
            <p:cNvPr id="6" name="等腰三角形 5">
              <a:extLst>
                <a:ext uri="{FF2B5EF4-FFF2-40B4-BE49-F238E27FC236}">
                  <a16:creationId xmlns:a16="http://schemas.microsoft.com/office/drawing/2014/main" id="{93A8AFA5-0036-40DB-AE81-69FAA1091DC4}"/>
                </a:ext>
              </a:extLst>
            </p:cNvPr>
            <p:cNvSpPr/>
            <p:nvPr userDrawn="1"/>
          </p:nvSpPr>
          <p:spPr>
            <a:xfrm rot="16200000">
              <a:off x="1547655" y="1594769"/>
              <a:ext cx="144077" cy="14397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/>
            </a:p>
          </p:txBody>
        </p:sp>
      </p:grp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338FF28D-D2F3-4390-BF96-19E448955A2B}"/>
              </a:ext>
            </a:extLst>
          </p:cNvPr>
          <p:cNvSpPr/>
          <p:nvPr userDrawn="1"/>
        </p:nvSpPr>
        <p:spPr>
          <a:xfrm flipH="1">
            <a:off x="8458200" y="4514850"/>
            <a:ext cx="712788" cy="639763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五边形 17">
            <a:extLst>
              <a:ext uri="{FF2B5EF4-FFF2-40B4-BE49-F238E27FC236}">
                <a16:creationId xmlns:a16="http://schemas.microsoft.com/office/drawing/2014/main" id="{9AF0A8E9-F3F0-4919-A3E0-3F810DDAAD4E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8535988" y="4776788"/>
            <a:ext cx="741362" cy="377825"/>
          </a:xfrm>
          <a:prstGeom prst="homePlate">
            <a:avLst>
              <a:gd name="adj" fmla="val 49999"/>
            </a:avLst>
          </a:prstGeom>
          <a:noFill/>
          <a:ln>
            <a:noFill/>
          </a:ln>
        </p:spPr>
        <p:txBody>
          <a:bodyPr lIns="68580" tIns="34290" rIns="68580" bIns="34290" anchor="ctr"/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D5E03A6D-EF34-42AD-87E9-7F29CB11FEC3}" type="slidenum">
              <a:rPr lang="zh-CN" altLang="en-US" sz="140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11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57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5C5CA-B352-4C66-83F5-955605EB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"/>
            <a:ext cx="57912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FB3BBF8-F9A8-4325-94C3-CD8216D38A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314450"/>
            <a:ext cx="7620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5C11A-156B-458A-A595-B0EEC922B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629150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870774C-FD92-4E01-A55B-B429F0104E6A}" type="datetime1">
              <a:rPr lang="en-US"/>
              <a:pPr>
                <a:defRPr/>
              </a:pPr>
              <a:t>9/13/2020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50A82-A4B4-4E3D-BB06-A94CD17C4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4870450"/>
            <a:ext cx="3429000" cy="2127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DE65-640A-46C3-A502-C5BA72188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8391525" y="4368800"/>
            <a:ext cx="98742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24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BB1AD53-C444-4CEC-AA79-310F3B6E14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0A30A-40DC-410C-8ABF-36AAB7C894F4}"/>
              </a:ext>
            </a:extLst>
          </p:cNvPr>
          <p:cNvSpPr/>
          <p:nvPr/>
        </p:nvSpPr>
        <p:spPr>
          <a:xfrm>
            <a:off x="9001125" y="0"/>
            <a:ext cx="142875" cy="10287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1F820D-0196-4F77-B8E9-CF91C21DDDFA}"/>
              </a:ext>
            </a:extLst>
          </p:cNvPr>
          <p:cNvSpPr/>
          <p:nvPr/>
        </p:nvSpPr>
        <p:spPr>
          <a:xfrm>
            <a:off x="9001125" y="1028700"/>
            <a:ext cx="142875" cy="41148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2088BF6-DC7D-4909-A3C0-D76042BB6A7F}"/>
              </a:ext>
            </a:extLst>
          </p:cNvPr>
          <p:cNvSpPr/>
          <p:nvPr userDrawn="1"/>
        </p:nvSpPr>
        <p:spPr>
          <a:xfrm>
            <a:off x="0" y="4867275"/>
            <a:ext cx="7048500" cy="276225"/>
          </a:xfrm>
          <a:prstGeom prst="roundRect">
            <a:avLst>
              <a:gd name="adj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1" dirty="0">
              <a:ea typeface="微软雅黑" pitchFamily="34" charset="-122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418AE12-08C3-470C-9B23-F6D038361F3B}"/>
              </a:ext>
            </a:extLst>
          </p:cNvPr>
          <p:cNvSpPr/>
          <p:nvPr userDrawn="1"/>
        </p:nvSpPr>
        <p:spPr>
          <a:xfrm>
            <a:off x="8124825" y="4867275"/>
            <a:ext cx="1019175" cy="276225"/>
          </a:xfrm>
          <a:prstGeom prst="roundRect">
            <a:avLst>
              <a:gd name="adj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1" dirty="0">
              <a:ea typeface="微软雅黑" pitchFamily="34" charset="-122"/>
            </a:endParaRPr>
          </a:p>
        </p:txBody>
      </p:sp>
      <p:sp>
        <p:nvSpPr>
          <p:cNvPr id="11" name="文本框 9">
            <a:extLst>
              <a:ext uri="{FF2B5EF4-FFF2-40B4-BE49-F238E27FC236}">
                <a16:creationId xmlns:a16="http://schemas.microsoft.com/office/drawing/2014/main" id="{A6D8C32A-5C28-40A6-A8B5-0F8834D662A1}"/>
              </a:ext>
            </a:extLst>
          </p:cNvPr>
          <p:cNvSpPr txBox="1"/>
          <p:nvPr userDrawn="1"/>
        </p:nvSpPr>
        <p:spPr>
          <a:xfrm>
            <a:off x="7143750" y="4843463"/>
            <a:ext cx="877888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solidFill>
                  <a:srgbClr val="3148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东北大学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0" r:id="rId1"/>
    <p:sldLayoutId id="2147484501" r:id="rId2"/>
    <p:sldLayoutId id="2147484502" r:id="rId3"/>
    <p:sldLayoutId id="2147484503" r:id="rId4"/>
    <p:sldLayoutId id="2147484504" r:id="rId5"/>
    <p:sldLayoutId id="2147484505" r:id="rId6"/>
    <p:sldLayoutId id="2147484506" r:id="rId7"/>
    <p:sldLayoutId id="2147484507" r:id="rId8"/>
    <p:sldLayoutId id="2147484508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 spc="-6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9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2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73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7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73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7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89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84.bin"/><Relationship Id="rId21" Type="http://schemas.openxmlformats.org/officeDocument/2006/relationships/image" Target="../media/image91.wmf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91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89.wmf"/><Relationship Id="rId20" Type="http://schemas.openxmlformats.org/officeDocument/2006/relationships/oleObject" Target="../embeddings/oleObject93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23" Type="http://schemas.openxmlformats.org/officeDocument/2006/relationships/image" Target="../media/image92.wmf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92.bin"/><Relationship Id="rId4" Type="http://schemas.openxmlformats.org/officeDocument/2006/relationships/image" Target="../media/image83.e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88.wmf"/><Relationship Id="rId22" Type="http://schemas.openxmlformats.org/officeDocument/2006/relationships/oleObject" Target="../embeddings/oleObject9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00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99.wmf"/><Relationship Id="rId20" Type="http://schemas.openxmlformats.org/officeDocument/2006/relationships/image" Target="../media/image101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96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8.wmf"/><Relationship Id="rId22" Type="http://schemas.openxmlformats.org/officeDocument/2006/relationships/image" Target="../media/image10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10.bin"/><Relationship Id="rId18" Type="http://schemas.openxmlformats.org/officeDocument/2006/relationships/oleObject" Target="../embeddings/oleObject113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12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09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1.bin"/><Relationship Id="rId10" Type="http://schemas.openxmlformats.org/officeDocument/2006/relationships/image" Target="../media/image106.wmf"/><Relationship Id="rId19" Type="http://schemas.openxmlformats.org/officeDocument/2006/relationships/image" Target="../media/image110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0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21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19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18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20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30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133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29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4.e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126.wmf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28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7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13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3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47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50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46.wmf"/><Relationship Id="rId20" Type="http://schemas.openxmlformats.org/officeDocument/2006/relationships/image" Target="../media/image148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43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140.e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45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49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52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5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image" Target="../media/image46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91.png"/><Relationship Id="rId4" Type="http://schemas.openxmlformats.org/officeDocument/2006/relationships/image" Target="../media/image48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0.png"/><Relationship Id="rId2" Type="http://schemas.openxmlformats.org/officeDocument/2006/relationships/image" Target="../media/image281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10.png"/><Relationship Id="rId4" Type="http://schemas.openxmlformats.org/officeDocument/2006/relationships/image" Target="../media/image301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40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png"/><Relationship Id="rId7" Type="http://schemas.openxmlformats.org/officeDocument/2006/relationships/image" Target="../media/image411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1.png"/><Relationship Id="rId5" Type="http://schemas.openxmlformats.org/officeDocument/2006/relationships/image" Target="../media/image391.png"/><Relationship Id="rId4" Type="http://schemas.openxmlformats.org/officeDocument/2006/relationships/image" Target="../media/image38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7" Type="http://schemas.openxmlformats.org/officeDocument/2006/relationships/image" Target="../media/image60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7" Type="http://schemas.openxmlformats.org/officeDocument/2006/relationships/image" Target="../media/image66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50.png"/><Relationship Id="rId5" Type="http://schemas.openxmlformats.org/officeDocument/2006/relationships/image" Target="../media/image640.png"/><Relationship Id="rId4" Type="http://schemas.openxmlformats.org/officeDocument/2006/relationships/image" Target="../media/image6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50.png"/><Relationship Id="rId4" Type="http://schemas.openxmlformats.org/officeDocument/2006/relationships/image" Target="../media/image44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2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4.png"/><Relationship Id="rId4" Type="http://schemas.openxmlformats.org/officeDocument/2006/relationships/image" Target="../media/image16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oleObject" Target="../embeddings/oleObject157.bin"/><Relationship Id="rId7" Type="http://schemas.openxmlformats.org/officeDocument/2006/relationships/image" Target="../media/image230.pn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400.png"/><Relationship Id="rId5" Type="http://schemas.openxmlformats.org/officeDocument/2006/relationships/image" Target="../media/image223.png"/><Relationship Id="rId10" Type="http://schemas.openxmlformats.org/officeDocument/2006/relationships/image" Target="../media/image430.png"/><Relationship Id="rId4" Type="http://schemas.openxmlformats.org/officeDocument/2006/relationships/image" Target="../media/image164.wmf"/><Relationship Id="rId9" Type="http://schemas.openxmlformats.org/officeDocument/2006/relationships/image" Target="../media/image42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9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1.png"/><Relationship Id="rId4" Type="http://schemas.openxmlformats.org/officeDocument/2006/relationships/image" Target="../media/image23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164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4.png"/><Relationship Id="rId18" Type="http://schemas.openxmlformats.org/officeDocument/2006/relationships/image" Target="../media/image249.png"/><Relationship Id="rId3" Type="http://schemas.openxmlformats.org/officeDocument/2006/relationships/oleObject" Target="../embeddings/oleObject157.bin"/><Relationship Id="rId21" Type="http://schemas.openxmlformats.org/officeDocument/2006/relationships/image" Target="../media/image252.png"/><Relationship Id="rId12" Type="http://schemas.openxmlformats.org/officeDocument/2006/relationships/image" Target="../media/image243.png"/><Relationship Id="rId17" Type="http://schemas.openxmlformats.org/officeDocument/2006/relationships/image" Target="../media/image248.png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47.png"/><Relationship Id="rId20" Type="http://schemas.openxmlformats.org/officeDocument/2006/relationships/image" Target="../media/image251.png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15" Type="http://schemas.openxmlformats.org/officeDocument/2006/relationships/image" Target="../media/image246.png"/><Relationship Id="rId23" Type="http://schemas.openxmlformats.org/officeDocument/2006/relationships/image" Target="../media/image253.png"/><Relationship Id="rId10" Type="http://schemas.openxmlformats.org/officeDocument/2006/relationships/image" Target="../media/image460.png"/><Relationship Id="rId19" Type="http://schemas.openxmlformats.org/officeDocument/2006/relationships/image" Target="../media/image250.png"/><Relationship Id="rId4" Type="http://schemas.openxmlformats.org/officeDocument/2006/relationships/image" Target="../media/image164.wmf"/><Relationship Id="rId9" Type="http://schemas.openxmlformats.org/officeDocument/2006/relationships/image" Target="../media/image240.png"/><Relationship Id="rId14" Type="http://schemas.openxmlformats.org/officeDocument/2006/relationships/image" Target="../media/image245.png"/><Relationship Id="rId22" Type="http://schemas.openxmlformats.org/officeDocument/2006/relationships/image" Target="../media/image84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530.png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18" Type="http://schemas.openxmlformats.org/officeDocument/2006/relationships/image" Target="../media/image273.png"/><Relationship Id="rId26" Type="http://schemas.openxmlformats.org/officeDocument/2006/relationships/image" Target="../media/image268.png"/><Relationship Id="rId3" Type="http://schemas.openxmlformats.org/officeDocument/2006/relationships/image" Target="../media/image258.png"/><Relationship Id="rId21" Type="http://schemas.openxmlformats.org/officeDocument/2006/relationships/image" Target="../media/image276.png"/><Relationship Id="rId7" Type="http://schemas.openxmlformats.org/officeDocument/2006/relationships/image" Target="../media/image262.png"/><Relationship Id="rId25" Type="http://schemas.openxmlformats.org/officeDocument/2006/relationships/image" Target="../media/image267.png"/><Relationship Id="rId2" Type="http://schemas.openxmlformats.org/officeDocument/2006/relationships/image" Target="../media/image87.png"/><Relationship Id="rId20" Type="http://schemas.openxmlformats.org/officeDocument/2006/relationships/image" Target="../media/image275.png"/><Relationship Id="rId29" Type="http://schemas.openxmlformats.org/officeDocument/2006/relationships/image" Target="../media/image27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1.png"/><Relationship Id="rId24" Type="http://schemas.openxmlformats.org/officeDocument/2006/relationships/image" Target="../media/image266.png"/><Relationship Id="rId5" Type="http://schemas.openxmlformats.org/officeDocument/2006/relationships/image" Target="../media/image260.png"/><Relationship Id="rId23" Type="http://schemas.openxmlformats.org/officeDocument/2006/relationships/image" Target="../media/image265.png"/><Relationship Id="rId28" Type="http://schemas.openxmlformats.org/officeDocument/2006/relationships/image" Target="../media/image270.png"/><Relationship Id="rId19" Type="http://schemas.openxmlformats.org/officeDocument/2006/relationships/image" Target="../media/image274.png"/><Relationship Id="rId31" Type="http://schemas.openxmlformats.org/officeDocument/2006/relationships/image" Target="../media/image278.png"/><Relationship Id="rId4" Type="http://schemas.openxmlformats.org/officeDocument/2006/relationships/image" Target="../media/image259.png"/><Relationship Id="rId9" Type="http://schemas.openxmlformats.org/officeDocument/2006/relationships/image" Target="../media/image264.png"/><Relationship Id="rId22" Type="http://schemas.openxmlformats.org/officeDocument/2006/relationships/image" Target="../media/image277.png"/><Relationship Id="rId27" Type="http://schemas.openxmlformats.org/officeDocument/2006/relationships/image" Target="../media/image269.png"/><Relationship Id="rId30" Type="http://schemas.openxmlformats.org/officeDocument/2006/relationships/image" Target="../media/image27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13" Type="http://schemas.openxmlformats.org/officeDocument/2006/relationships/image" Target="../media/image290.png"/><Relationship Id="rId3" Type="http://schemas.openxmlformats.org/officeDocument/2006/relationships/image" Target="../media/image280.png"/><Relationship Id="rId7" Type="http://schemas.openxmlformats.org/officeDocument/2006/relationships/image" Target="../media/image284.png"/><Relationship Id="rId12" Type="http://schemas.openxmlformats.org/officeDocument/2006/relationships/image" Target="../media/image289.png"/><Relationship Id="rId17" Type="http://schemas.openxmlformats.org/officeDocument/2006/relationships/image" Target="../media/image294.png"/><Relationship Id="rId2" Type="http://schemas.openxmlformats.org/officeDocument/2006/relationships/image" Target="../media/image279.png"/><Relationship Id="rId16" Type="http://schemas.openxmlformats.org/officeDocument/2006/relationships/image" Target="../media/image29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3.png"/><Relationship Id="rId11" Type="http://schemas.openxmlformats.org/officeDocument/2006/relationships/image" Target="../media/image288.png"/><Relationship Id="rId5" Type="http://schemas.openxmlformats.org/officeDocument/2006/relationships/image" Target="../media/image282.png"/><Relationship Id="rId15" Type="http://schemas.openxmlformats.org/officeDocument/2006/relationships/image" Target="../media/image292.png"/><Relationship Id="rId10" Type="http://schemas.openxmlformats.org/officeDocument/2006/relationships/image" Target="../media/image287.png"/><Relationship Id="rId4" Type="http://schemas.openxmlformats.org/officeDocument/2006/relationships/image" Target="../media/image281.png"/><Relationship Id="rId9" Type="http://schemas.openxmlformats.org/officeDocument/2006/relationships/image" Target="../media/image286.png"/><Relationship Id="rId14" Type="http://schemas.openxmlformats.org/officeDocument/2006/relationships/image" Target="../media/image29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0.png"/><Relationship Id="rId3" Type="http://schemas.openxmlformats.org/officeDocument/2006/relationships/image" Target="../media/image89.png"/><Relationship Id="rId7" Type="http://schemas.openxmlformats.org/officeDocument/2006/relationships/image" Target="../media/image283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20.png"/><Relationship Id="rId5" Type="http://schemas.openxmlformats.org/officeDocument/2006/relationships/image" Target="../media/image2810.png"/><Relationship Id="rId4" Type="http://schemas.openxmlformats.org/officeDocument/2006/relationships/image" Target="../media/image2800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3" Type="http://schemas.openxmlformats.org/officeDocument/2006/relationships/image" Target="../media/image296.png"/><Relationship Id="rId7" Type="http://schemas.openxmlformats.org/officeDocument/2006/relationships/image" Target="../media/image300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9.png"/><Relationship Id="rId11" Type="http://schemas.openxmlformats.org/officeDocument/2006/relationships/image" Target="../media/image304.png"/><Relationship Id="rId5" Type="http://schemas.openxmlformats.org/officeDocument/2006/relationships/image" Target="../media/image298.png"/><Relationship Id="rId10" Type="http://schemas.openxmlformats.org/officeDocument/2006/relationships/image" Target="../media/image303.png"/><Relationship Id="rId4" Type="http://schemas.openxmlformats.org/officeDocument/2006/relationships/image" Target="../media/image297.png"/><Relationship Id="rId9" Type="http://schemas.openxmlformats.org/officeDocument/2006/relationships/image" Target="../media/image30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9.png"/><Relationship Id="rId5" Type="http://schemas.openxmlformats.org/officeDocument/2006/relationships/image" Target="../media/image308.png"/><Relationship Id="rId4" Type="http://schemas.openxmlformats.org/officeDocument/2006/relationships/image" Target="../media/image307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11.png"/><Relationship Id="rId5" Type="http://schemas.openxmlformats.org/officeDocument/2006/relationships/image" Target="../media/image310.png"/><Relationship Id="rId4" Type="http://schemas.openxmlformats.org/officeDocument/2006/relationships/image" Target="../media/image164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png"/><Relationship Id="rId3" Type="http://schemas.openxmlformats.org/officeDocument/2006/relationships/image" Target="../media/image313.png"/><Relationship Id="rId7" Type="http://schemas.openxmlformats.org/officeDocument/2006/relationships/image" Target="../media/image317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6.png"/><Relationship Id="rId5" Type="http://schemas.openxmlformats.org/officeDocument/2006/relationships/image" Target="../media/image315.png"/><Relationship Id="rId4" Type="http://schemas.openxmlformats.org/officeDocument/2006/relationships/image" Target="../media/image314.png"/><Relationship Id="rId9" Type="http://schemas.openxmlformats.org/officeDocument/2006/relationships/image" Target="../media/image31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13" Type="http://schemas.openxmlformats.org/officeDocument/2006/relationships/image" Target="../media/image328.png"/><Relationship Id="rId18" Type="http://schemas.openxmlformats.org/officeDocument/2006/relationships/image" Target="../media/image333.png"/><Relationship Id="rId3" Type="http://schemas.openxmlformats.org/officeDocument/2006/relationships/oleObject" Target="../embeddings/oleObject157.bin"/><Relationship Id="rId21" Type="http://schemas.openxmlformats.org/officeDocument/2006/relationships/image" Target="../media/image336.png"/><Relationship Id="rId7" Type="http://schemas.openxmlformats.org/officeDocument/2006/relationships/image" Target="../media/image322.png"/><Relationship Id="rId12" Type="http://schemas.openxmlformats.org/officeDocument/2006/relationships/image" Target="../media/image327.png"/><Relationship Id="rId17" Type="http://schemas.openxmlformats.org/officeDocument/2006/relationships/image" Target="../media/image332.png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331.png"/><Relationship Id="rId20" Type="http://schemas.openxmlformats.org/officeDocument/2006/relationships/image" Target="../media/image335.png"/><Relationship Id="rId1" Type="http://schemas.openxmlformats.org/officeDocument/2006/relationships/vmlDrawing" Target="../drawings/vmlDrawing42.vml"/><Relationship Id="rId6" Type="http://schemas.openxmlformats.org/officeDocument/2006/relationships/image" Target="../media/image500.png"/><Relationship Id="rId11" Type="http://schemas.openxmlformats.org/officeDocument/2006/relationships/image" Target="../media/image326.png"/><Relationship Id="rId5" Type="http://schemas.openxmlformats.org/officeDocument/2006/relationships/image" Target="../media/image320.png"/><Relationship Id="rId15" Type="http://schemas.openxmlformats.org/officeDocument/2006/relationships/image" Target="../media/image330.png"/><Relationship Id="rId10" Type="http://schemas.openxmlformats.org/officeDocument/2006/relationships/image" Target="../media/image325.png"/><Relationship Id="rId19" Type="http://schemas.openxmlformats.org/officeDocument/2006/relationships/image" Target="../media/image334.png"/><Relationship Id="rId4" Type="http://schemas.openxmlformats.org/officeDocument/2006/relationships/image" Target="../media/image164.wmf"/><Relationship Id="rId9" Type="http://schemas.openxmlformats.org/officeDocument/2006/relationships/image" Target="../media/image324.png"/><Relationship Id="rId14" Type="http://schemas.openxmlformats.org/officeDocument/2006/relationships/image" Target="../media/image329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27000"/>
            <a:ext cx="9144000" cy="50292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>
                <a:ea typeface="微软雅黑" pitchFamily="34" charset="-122"/>
              </a:rPr>
              <a:t>       </a:t>
            </a:r>
            <a:endParaRPr lang="zh-CN" altLang="en-US" sz="1350" dirty="0"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290451" y="1445011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dirty="0">
                <a:ln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数值分析</a:t>
            </a:r>
          </a:p>
        </p:txBody>
      </p: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0" y="4595813"/>
            <a:ext cx="9144000" cy="3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68562" tIns="34281" rIns="68562" bIns="3428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57" name="Oval 6"/>
          <p:cNvSpPr>
            <a:spLocks noChangeArrowheads="1"/>
          </p:cNvSpPr>
          <p:nvPr/>
        </p:nvSpPr>
        <p:spPr bwMode="auto">
          <a:xfrm>
            <a:off x="4376738" y="4408488"/>
            <a:ext cx="390525" cy="407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lIns="68562" tIns="34281" rIns="68562" bIns="3428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58" name="Freeform 7"/>
          <p:cNvSpPr>
            <a:spLocks noEditPoints="1"/>
          </p:cNvSpPr>
          <p:nvPr/>
        </p:nvSpPr>
        <p:spPr bwMode="auto">
          <a:xfrm>
            <a:off x="4476750" y="4445000"/>
            <a:ext cx="196850" cy="330200"/>
          </a:xfrm>
          <a:custGeom>
            <a:avLst/>
            <a:gdLst>
              <a:gd name="T0" fmla="*/ 346 w 346"/>
              <a:gd name="T1" fmla="*/ 284 h 555"/>
              <a:gd name="T2" fmla="*/ 346 w 346"/>
              <a:gd name="T3" fmla="*/ 183 h 555"/>
              <a:gd name="T4" fmla="*/ 300 w 346"/>
              <a:gd name="T5" fmla="*/ 183 h 555"/>
              <a:gd name="T6" fmla="*/ 300 w 346"/>
              <a:gd name="T7" fmla="*/ 284 h 555"/>
              <a:gd name="T8" fmla="*/ 176 w 346"/>
              <a:gd name="T9" fmla="*/ 408 h 555"/>
              <a:gd name="T10" fmla="*/ 173 w 346"/>
              <a:gd name="T11" fmla="*/ 408 h 555"/>
              <a:gd name="T12" fmla="*/ 173 w 346"/>
              <a:gd name="T13" fmla="*/ 408 h 555"/>
              <a:gd name="T14" fmla="*/ 172 w 346"/>
              <a:gd name="T15" fmla="*/ 408 h 555"/>
              <a:gd name="T16" fmla="*/ 170 w 346"/>
              <a:gd name="T17" fmla="*/ 408 h 555"/>
              <a:gd name="T18" fmla="*/ 46 w 346"/>
              <a:gd name="T19" fmla="*/ 284 h 555"/>
              <a:gd name="T20" fmla="*/ 46 w 346"/>
              <a:gd name="T21" fmla="*/ 183 h 555"/>
              <a:gd name="T22" fmla="*/ 0 w 346"/>
              <a:gd name="T23" fmla="*/ 183 h 555"/>
              <a:gd name="T24" fmla="*/ 0 w 346"/>
              <a:gd name="T25" fmla="*/ 284 h 555"/>
              <a:gd name="T26" fmla="*/ 146 w 346"/>
              <a:gd name="T27" fmla="*/ 452 h 555"/>
              <a:gd name="T28" fmla="*/ 146 w 346"/>
              <a:gd name="T29" fmla="*/ 526 h 555"/>
              <a:gd name="T30" fmla="*/ 42 w 346"/>
              <a:gd name="T31" fmla="*/ 555 h 555"/>
              <a:gd name="T32" fmla="*/ 304 w 346"/>
              <a:gd name="T33" fmla="*/ 555 h 555"/>
              <a:gd name="T34" fmla="*/ 200 w 346"/>
              <a:gd name="T35" fmla="*/ 525 h 555"/>
              <a:gd name="T36" fmla="*/ 200 w 346"/>
              <a:gd name="T37" fmla="*/ 453 h 555"/>
              <a:gd name="T38" fmla="*/ 346 w 346"/>
              <a:gd name="T39" fmla="*/ 284 h 555"/>
              <a:gd name="T40" fmla="*/ 171 w 346"/>
              <a:gd name="T41" fmla="*/ 365 h 555"/>
              <a:gd name="T42" fmla="*/ 173 w 346"/>
              <a:gd name="T43" fmla="*/ 365 h 555"/>
              <a:gd name="T44" fmla="*/ 174 w 346"/>
              <a:gd name="T45" fmla="*/ 365 h 555"/>
              <a:gd name="T46" fmla="*/ 257 w 346"/>
              <a:gd name="T47" fmla="*/ 282 h 555"/>
              <a:gd name="T48" fmla="*/ 257 w 346"/>
              <a:gd name="T49" fmla="*/ 83 h 555"/>
              <a:gd name="T50" fmla="*/ 174 w 346"/>
              <a:gd name="T51" fmla="*/ 0 h 555"/>
              <a:gd name="T52" fmla="*/ 173 w 346"/>
              <a:gd name="T53" fmla="*/ 0 h 555"/>
              <a:gd name="T54" fmla="*/ 171 w 346"/>
              <a:gd name="T55" fmla="*/ 0 h 555"/>
              <a:gd name="T56" fmla="*/ 89 w 346"/>
              <a:gd name="T57" fmla="*/ 83 h 555"/>
              <a:gd name="T58" fmla="*/ 89 w 346"/>
              <a:gd name="T59" fmla="*/ 282 h 555"/>
              <a:gd name="T60" fmla="*/ 171 w 346"/>
              <a:gd name="T61" fmla="*/ 365 h 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46" h="555">
                <a:moveTo>
                  <a:pt x="346" y="284"/>
                </a:moveTo>
                <a:lnTo>
                  <a:pt x="346" y="183"/>
                </a:lnTo>
                <a:cubicBezTo>
                  <a:pt x="346" y="154"/>
                  <a:pt x="300" y="154"/>
                  <a:pt x="300" y="183"/>
                </a:cubicBezTo>
                <a:lnTo>
                  <a:pt x="300" y="284"/>
                </a:lnTo>
                <a:cubicBezTo>
                  <a:pt x="300" y="352"/>
                  <a:pt x="244" y="408"/>
                  <a:pt x="176" y="408"/>
                </a:cubicBezTo>
                <a:cubicBezTo>
                  <a:pt x="175" y="408"/>
                  <a:pt x="174" y="408"/>
                  <a:pt x="173" y="408"/>
                </a:cubicBezTo>
                <a:lnTo>
                  <a:pt x="172" y="408"/>
                </a:lnTo>
                <a:cubicBezTo>
                  <a:pt x="171" y="408"/>
                  <a:pt x="171" y="408"/>
                  <a:pt x="170" y="408"/>
                </a:cubicBezTo>
                <a:cubicBezTo>
                  <a:pt x="101" y="408"/>
                  <a:pt x="46" y="352"/>
                  <a:pt x="46" y="284"/>
                </a:cubicBezTo>
                <a:lnTo>
                  <a:pt x="46" y="183"/>
                </a:lnTo>
                <a:cubicBezTo>
                  <a:pt x="46" y="154"/>
                  <a:pt x="0" y="154"/>
                  <a:pt x="0" y="183"/>
                </a:cubicBezTo>
                <a:cubicBezTo>
                  <a:pt x="0" y="197"/>
                  <a:pt x="0" y="284"/>
                  <a:pt x="0" y="284"/>
                </a:cubicBezTo>
                <a:cubicBezTo>
                  <a:pt x="0" y="370"/>
                  <a:pt x="63" y="441"/>
                  <a:pt x="146" y="452"/>
                </a:cubicBezTo>
                <a:lnTo>
                  <a:pt x="146" y="526"/>
                </a:lnTo>
                <a:lnTo>
                  <a:pt x="42" y="555"/>
                </a:lnTo>
                <a:lnTo>
                  <a:pt x="304" y="555"/>
                </a:lnTo>
                <a:lnTo>
                  <a:pt x="200" y="525"/>
                </a:lnTo>
                <a:lnTo>
                  <a:pt x="200" y="453"/>
                </a:lnTo>
                <a:cubicBezTo>
                  <a:pt x="282" y="441"/>
                  <a:pt x="346" y="370"/>
                  <a:pt x="346" y="284"/>
                </a:cubicBezTo>
                <a:close/>
                <a:moveTo>
                  <a:pt x="171" y="365"/>
                </a:moveTo>
                <a:cubicBezTo>
                  <a:pt x="172" y="365"/>
                  <a:pt x="172" y="365"/>
                  <a:pt x="173" y="365"/>
                </a:cubicBezTo>
                <a:cubicBezTo>
                  <a:pt x="173" y="365"/>
                  <a:pt x="174" y="365"/>
                  <a:pt x="174" y="365"/>
                </a:cubicBezTo>
                <a:cubicBezTo>
                  <a:pt x="220" y="365"/>
                  <a:pt x="257" y="328"/>
                  <a:pt x="257" y="282"/>
                </a:cubicBezTo>
                <a:lnTo>
                  <a:pt x="257" y="83"/>
                </a:lnTo>
                <a:cubicBezTo>
                  <a:pt x="257" y="37"/>
                  <a:pt x="220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26" y="0"/>
                  <a:pt x="89" y="37"/>
                  <a:pt x="89" y="83"/>
                </a:cubicBezTo>
                <a:lnTo>
                  <a:pt x="89" y="282"/>
                </a:lnTo>
                <a:cubicBezTo>
                  <a:pt x="89" y="328"/>
                  <a:pt x="126" y="365"/>
                  <a:pt x="171" y="365"/>
                </a:cubicBezTo>
                <a:close/>
              </a:path>
            </a:pathLst>
          </a:custGeom>
          <a:solidFill>
            <a:srgbClr val="314865"/>
          </a:solidFill>
          <a:ln>
            <a:noFill/>
          </a:ln>
        </p:spPr>
        <p:txBody>
          <a:bodyPr lIns="68562" tIns="34281" rIns="68562" bIns="3428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271" name="TextBox 35"/>
          <p:cNvSpPr txBox="1">
            <a:spLocks noChangeArrowheads="1"/>
          </p:cNvSpPr>
          <p:nvPr/>
        </p:nvSpPr>
        <p:spPr bwMode="auto">
          <a:xfrm>
            <a:off x="3035300" y="2466975"/>
            <a:ext cx="4113213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2" tIns="34281" rIns="68562" bIns="34281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理学院     数学系</a:t>
            </a:r>
            <a:endParaRPr lang="en-US" altLang="zh-CN" sz="28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272" name="图片 5"/>
          <p:cNvPicPr>
            <a:picLocks noChangeAspect="1"/>
          </p:cNvPicPr>
          <p:nvPr/>
        </p:nvPicPr>
        <p:blipFill>
          <a:blip r:embed="rId3" cstate="print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-246063"/>
            <a:ext cx="4154488" cy="183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47675" y="4843463"/>
            <a:ext cx="1508125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>
                <a:solidFill>
                  <a:schemeClr val="bg1"/>
                </a:solidFill>
                <a:latin typeface="+mn-lt"/>
                <a:ea typeface="+mn-ea"/>
              </a:rPr>
              <a:t>2017</a:t>
            </a:r>
            <a:r>
              <a:rPr lang="zh-CN" altLang="en-US" sz="1350" dirty="0">
                <a:solidFill>
                  <a:schemeClr val="bg1"/>
                </a:solidFill>
                <a:latin typeface="+mn-lt"/>
                <a:ea typeface="+mn-ea"/>
              </a:rPr>
              <a:t>年</a:t>
            </a:r>
            <a:r>
              <a:rPr lang="en-US" altLang="zh-CN" sz="1350" dirty="0">
                <a:solidFill>
                  <a:schemeClr val="bg1"/>
                </a:solidFill>
                <a:latin typeface="+mn-lt"/>
                <a:ea typeface="+mn-ea"/>
              </a:rPr>
              <a:t>12</a:t>
            </a:r>
            <a:r>
              <a:rPr lang="zh-CN" altLang="en-US" sz="1350" dirty="0">
                <a:solidFill>
                  <a:schemeClr val="bg1"/>
                </a:solidFill>
                <a:latin typeface="+mn-lt"/>
                <a:ea typeface="+mn-ea"/>
              </a:rPr>
              <a:t>月</a:t>
            </a:r>
            <a:r>
              <a:rPr lang="en-US" altLang="zh-CN" sz="1350" dirty="0">
                <a:solidFill>
                  <a:schemeClr val="bg1"/>
                </a:solidFill>
                <a:latin typeface="+mn-lt"/>
                <a:ea typeface="+mn-ea"/>
              </a:rPr>
              <a:t>13</a:t>
            </a:r>
            <a:r>
              <a:rPr lang="zh-CN" altLang="en-US" sz="1350" dirty="0">
                <a:solidFill>
                  <a:schemeClr val="bg1"/>
                </a:solidFill>
                <a:latin typeface="+mn-lt"/>
                <a:ea typeface="+mn-ea"/>
              </a:rPr>
              <a:t>日</a:t>
            </a:r>
          </a:p>
        </p:txBody>
      </p:sp>
      <p:sp>
        <p:nvSpPr>
          <p:cNvPr id="11274" name="TextBox 35"/>
          <p:cNvSpPr txBox="1">
            <a:spLocks noChangeArrowheads="1"/>
          </p:cNvSpPr>
          <p:nvPr/>
        </p:nvSpPr>
        <p:spPr bwMode="auto">
          <a:xfrm>
            <a:off x="3105150" y="3354388"/>
            <a:ext cx="3554413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2" tIns="34281" rIns="68562" bIns="34281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计算数学教研室</a:t>
            </a:r>
            <a:endParaRPr lang="en-US" altLang="zh-CN" sz="28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6135816"/>
      </p:ext>
    </p:extLst>
  </p:cSld>
  <p:clrMapOvr>
    <a:masterClrMapping/>
  </p:clrMapOvr>
  <p:transition spd="slow" advTm="454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765425" y="1265238"/>
            <a:ext cx="6022975" cy="12573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24250" y="1638300"/>
            <a:ext cx="5264150" cy="647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schemeClr val="accent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解线性方程组的直接方法</a:t>
            </a: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41638"/>
            <a:ext cx="3668713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Freeform 11"/>
          <p:cNvSpPr>
            <a:spLocks noEditPoints="1"/>
          </p:cNvSpPr>
          <p:nvPr/>
        </p:nvSpPr>
        <p:spPr bwMode="auto">
          <a:xfrm>
            <a:off x="7050088" y="3275013"/>
            <a:ext cx="1489075" cy="1287462"/>
          </a:xfrm>
          <a:custGeom>
            <a:avLst/>
            <a:gdLst>
              <a:gd name="T0" fmla="*/ 2147483647 w 948"/>
              <a:gd name="T1" fmla="*/ 2147483647 h 810"/>
              <a:gd name="T2" fmla="*/ 2147483647 w 948"/>
              <a:gd name="T3" fmla="*/ 2147483647 h 810"/>
              <a:gd name="T4" fmla="*/ 2147483647 w 948"/>
              <a:gd name="T5" fmla="*/ 2147483647 h 810"/>
              <a:gd name="T6" fmla="*/ 2147483647 w 948"/>
              <a:gd name="T7" fmla="*/ 2147483647 h 810"/>
              <a:gd name="T8" fmla="*/ 2147483647 w 948"/>
              <a:gd name="T9" fmla="*/ 2147483647 h 810"/>
              <a:gd name="T10" fmla="*/ 2147483647 w 948"/>
              <a:gd name="T11" fmla="*/ 2147483647 h 810"/>
              <a:gd name="T12" fmla="*/ 2147483647 w 948"/>
              <a:gd name="T13" fmla="*/ 2147483647 h 810"/>
              <a:gd name="T14" fmla="*/ 2147483647 w 948"/>
              <a:gd name="T15" fmla="*/ 2147483647 h 810"/>
              <a:gd name="T16" fmla="*/ 2147483647 w 948"/>
              <a:gd name="T17" fmla="*/ 2147483647 h 810"/>
              <a:gd name="T18" fmla="*/ 2147483647 w 948"/>
              <a:gd name="T19" fmla="*/ 2147483647 h 810"/>
              <a:gd name="T20" fmla="*/ 2147483647 w 948"/>
              <a:gd name="T21" fmla="*/ 2147483647 h 810"/>
              <a:gd name="T22" fmla="*/ 2147483647 w 948"/>
              <a:gd name="T23" fmla="*/ 2147483647 h 810"/>
              <a:gd name="T24" fmla="*/ 2147483647 w 948"/>
              <a:gd name="T25" fmla="*/ 2147483647 h 810"/>
              <a:gd name="T26" fmla="*/ 2147483647 w 948"/>
              <a:gd name="T27" fmla="*/ 2147483647 h 810"/>
              <a:gd name="T28" fmla="*/ 2147483647 w 948"/>
              <a:gd name="T29" fmla="*/ 2147483647 h 810"/>
              <a:gd name="T30" fmla="*/ 2147483647 w 948"/>
              <a:gd name="T31" fmla="*/ 2147483647 h 810"/>
              <a:gd name="T32" fmla="*/ 2147483647 w 948"/>
              <a:gd name="T33" fmla="*/ 2147483647 h 810"/>
              <a:gd name="T34" fmla="*/ 2147483647 w 948"/>
              <a:gd name="T35" fmla="*/ 2147483647 h 810"/>
              <a:gd name="T36" fmla="*/ 2147483647 w 948"/>
              <a:gd name="T37" fmla="*/ 2147483647 h 810"/>
              <a:gd name="T38" fmla="*/ 2147483647 w 948"/>
              <a:gd name="T39" fmla="*/ 2147483647 h 810"/>
              <a:gd name="T40" fmla="*/ 2147483647 w 948"/>
              <a:gd name="T41" fmla="*/ 2147483647 h 810"/>
              <a:gd name="T42" fmla="*/ 2147483647 w 948"/>
              <a:gd name="T43" fmla="*/ 2147483647 h 810"/>
              <a:gd name="T44" fmla="*/ 2147483647 w 948"/>
              <a:gd name="T45" fmla="*/ 2147483647 h 810"/>
              <a:gd name="T46" fmla="*/ 2147483647 w 948"/>
              <a:gd name="T47" fmla="*/ 2147483647 h 810"/>
              <a:gd name="T48" fmla="*/ 2147483647 w 948"/>
              <a:gd name="T49" fmla="*/ 2147483647 h 810"/>
              <a:gd name="T50" fmla="*/ 2147483647 w 948"/>
              <a:gd name="T51" fmla="*/ 2147483647 h 810"/>
              <a:gd name="T52" fmla="*/ 2147483647 w 948"/>
              <a:gd name="T53" fmla="*/ 2147483647 h 810"/>
              <a:gd name="T54" fmla="*/ 2147483647 w 948"/>
              <a:gd name="T55" fmla="*/ 2147483647 h 810"/>
              <a:gd name="T56" fmla="*/ 2147483647 w 948"/>
              <a:gd name="T57" fmla="*/ 2147483647 h 810"/>
              <a:gd name="T58" fmla="*/ 2147483647 w 948"/>
              <a:gd name="T59" fmla="*/ 2147483647 h 810"/>
              <a:gd name="T60" fmla="*/ 2147483647 w 948"/>
              <a:gd name="T61" fmla="*/ 2147483647 h 810"/>
              <a:gd name="T62" fmla="*/ 2147483647 w 948"/>
              <a:gd name="T63" fmla="*/ 2147483647 h 810"/>
              <a:gd name="T64" fmla="*/ 2147483647 w 948"/>
              <a:gd name="T65" fmla="*/ 2147483647 h 810"/>
              <a:gd name="T66" fmla="*/ 2147483647 w 948"/>
              <a:gd name="T67" fmla="*/ 2147483647 h 810"/>
              <a:gd name="T68" fmla="*/ 2147483647 w 948"/>
              <a:gd name="T69" fmla="*/ 2147483647 h 810"/>
              <a:gd name="T70" fmla="*/ 2147483647 w 948"/>
              <a:gd name="T71" fmla="*/ 2147483647 h 810"/>
              <a:gd name="T72" fmla="*/ 2147483647 w 948"/>
              <a:gd name="T73" fmla="*/ 2147483647 h 810"/>
              <a:gd name="T74" fmla="*/ 2147483647 w 948"/>
              <a:gd name="T75" fmla="*/ 2147483647 h 810"/>
              <a:gd name="T76" fmla="*/ 2147483647 w 948"/>
              <a:gd name="T77" fmla="*/ 2147483647 h 810"/>
              <a:gd name="T78" fmla="*/ 2147483647 w 948"/>
              <a:gd name="T79" fmla="*/ 2147483647 h 810"/>
              <a:gd name="T80" fmla="*/ 2147483647 w 948"/>
              <a:gd name="T81" fmla="*/ 2147483647 h 810"/>
              <a:gd name="T82" fmla="*/ 2147483647 w 948"/>
              <a:gd name="T83" fmla="*/ 2147483647 h 810"/>
              <a:gd name="T84" fmla="*/ 2147483647 w 948"/>
              <a:gd name="T85" fmla="*/ 2147483647 h 810"/>
              <a:gd name="T86" fmla="*/ 2147483647 w 948"/>
              <a:gd name="T87" fmla="*/ 2147483647 h 810"/>
              <a:gd name="T88" fmla="*/ 2147483647 w 948"/>
              <a:gd name="T89" fmla="*/ 2147483647 h 810"/>
              <a:gd name="T90" fmla="*/ 2147483647 w 948"/>
              <a:gd name="T91" fmla="*/ 2147483647 h 810"/>
              <a:gd name="T92" fmla="*/ 2147483647 w 948"/>
              <a:gd name="T93" fmla="*/ 2147483647 h 810"/>
              <a:gd name="T94" fmla="*/ 2147483647 w 948"/>
              <a:gd name="T95" fmla="*/ 2147483647 h 810"/>
              <a:gd name="T96" fmla="*/ 2147483647 w 948"/>
              <a:gd name="T97" fmla="*/ 2147483647 h 810"/>
              <a:gd name="T98" fmla="*/ 2147483647 w 948"/>
              <a:gd name="T99" fmla="*/ 2147483647 h 810"/>
              <a:gd name="T100" fmla="*/ 2147483647 w 948"/>
              <a:gd name="T101" fmla="*/ 2147483647 h 810"/>
              <a:gd name="T102" fmla="*/ 2147483647 w 948"/>
              <a:gd name="T103" fmla="*/ 2147483647 h 810"/>
              <a:gd name="T104" fmla="*/ 2147483647 w 948"/>
              <a:gd name="T105" fmla="*/ 2147483647 h 810"/>
              <a:gd name="T106" fmla="*/ 2147483647 w 948"/>
              <a:gd name="T107" fmla="*/ 2147483647 h 810"/>
              <a:gd name="T108" fmla="*/ 2147483647 w 948"/>
              <a:gd name="T109" fmla="*/ 2147483647 h 810"/>
              <a:gd name="T110" fmla="*/ 2147483647 w 948"/>
              <a:gd name="T111" fmla="*/ 2147483647 h 810"/>
              <a:gd name="T112" fmla="*/ 2147483647 w 948"/>
              <a:gd name="T113" fmla="*/ 2147483647 h 810"/>
              <a:gd name="T114" fmla="*/ 2147483647 w 948"/>
              <a:gd name="T115" fmla="*/ 2147483647 h 810"/>
              <a:gd name="T116" fmla="*/ 2147483647 w 948"/>
              <a:gd name="T117" fmla="*/ 2147483647 h 810"/>
              <a:gd name="T118" fmla="*/ 2147483647 w 948"/>
              <a:gd name="T119" fmla="*/ 2147483647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113E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梯形 7"/>
          <p:cNvSpPr/>
          <p:nvPr/>
        </p:nvSpPr>
        <p:spPr>
          <a:xfrm>
            <a:off x="2670175" y="1262063"/>
            <a:ext cx="1169988" cy="215900"/>
          </a:xfrm>
          <a:prstGeom prst="trapezoid">
            <a:avLst>
              <a:gd name="adj" fmla="val 40432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2759075" y="1262063"/>
            <a:ext cx="993775" cy="1011237"/>
          </a:xfrm>
          <a:custGeom>
            <a:avLst/>
            <a:gdLst>
              <a:gd name="T0" fmla="*/ 0 w 993531"/>
              <a:gd name="T1" fmla="*/ 0 h 1011115"/>
              <a:gd name="T2" fmla="*/ 993775 w 993531"/>
              <a:gd name="T3" fmla="*/ 0 h 1011115"/>
              <a:gd name="T4" fmla="*/ 496888 w 993531"/>
              <a:gd name="T5" fmla="*/ 1011237 h 1011115"/>
              <a:gd name="T6" fmla="*/ 0 60000 65536"/>
              <a:gd name="T7" fmla="*/ 0 60000 65536"/>
              <a:gd name="T8" fmla="*/ 0 60000 65536"/>
              <a:gd name="T9" fmla="*/ 0 w 993531"/>
              <a:gd name="T10" fmla="*/ 0 h 1011115"/>
              <a:gd name="T11" fmla="*/ 993531 w 993531"/>
              <a:gd name="T12" fmla="*/ 1011115 h 10111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531" h="1011115">
                <a:moveTo>
                  <a:pt x="0" y="0"/>
                </a:moveTo>
                <a:lnTo>
                  <a:pt x="993531" y="0"/>
                </a:lnTo>
                <a:lnTo>
                  <a:pt x="496766" y="101111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tIns="0" bIns="360000" anchor="ctr"/>
          <a:lstStyle/>
          <a:p>
            <a:pPr algn="ctr" eaLnBrk="1" hangingPunct="1">
              <a:spcBef>
                <a:spcPts val="2400"/>
              </a:spcBef>
              <a:buClr>
                <a:schemeClr val="accent1"/>
              </a:buClr>
              <a:buSzPct val="60000"/>
              <a:defRPr/>
            </a:pPr>
            <a:r>
              <a:rPr lang="en-US" altLang="zh-CN" sz="3200" b="1" dirty="0">
                <a:solidFill>
                  <a:schemeClr val="accent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02</a:t>
            </a:r>
            <a:endParaRPr lang="zh-CN" altLang="en-US" sz="3200" b="1" dirty="0">
              <a:solidFill>
                <a:schemeClr val="accent2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4555276"/>
      </p:ext>
    </p:extLst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65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6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2520950" cy="1588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6551613" y="371475"/>
            <a:ext cx="2592387" cy="2540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500"/>
          <p:cNvSpPr txBox="1"/>
          <p:nvPr/>
        </p:nvSpPr>
        <p:spPr>
          <a:xfrm>
            <a:off x="2576513" y="200025"/>
            <a:ext cx="3959225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solidFill>
                  <a:srgbClr val="314865"/>
                </a:solidFill>
                <a:latin typeface="+mj-ea"/>
                <a:ea typeface="+mj-ea"/>
              </a:rPr>
              <a:t>解线性方程组的直接方法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4941888" y="1292225"/>
            <a:ext cx="4762" cy="2825750"/>
          </a:xfrm>
          <a:prstGeom prst="rect">
            <a:avLst/>
          </a:prstGeom>
          <a:solidFill>
            <a:srgbClr val="A6A8AB"/>
          </a:solidFill>
          <a:ln w="9525">
            <a:solidFill>
              <a:srgbClr val="005A9E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17"/>
          <p:cNvGrpSpPr>
            <a:grpSpLocks/>
          </p:cNvGrpSpPr>
          <p:nvPr/>
        </p:nvGrpSpPr>
        <p:grpSpPr bwMode="auto">
          <a:xfrm>
            <a:off x="4010025" y="2317750"/>
            <a:ext cx="733425" cy="506413"/>
            <a:chOff x="2391274" y="1586037"/>
            <a:chExt cx="1193800" cy="823913"/>
          </a:xfrm>
        </p:grpSpPr>
        <p:sp>
          <p:nvSpPr>
            <p:cNvPr id="19" name="Freeform 5"/>
            <p:cNvSpPr/>
            <p:nvPr/>
          </p:nvSpPr>
          <p:spPr bwMode="auto">
            <a:xfrm>
              <a:off x="2391274" y="1586037"/>
              <a:ext cx="1193800" cy="823913"/>
            </a:xfrm>
            <a:custGeom>
              <a:avLst/>
              <a:gdLst>
                <a:gd name="T0" fmla="*/ 281 w 281"/>
                <a:gd name="T1" fmla="*/ 97 h 194"/>
                <a:gd name="T2" fmla="*/ 141 w 281"/>
                <a:gd name="T3" fmla="*/ 10 h 194"/>
                <a:gd name="T4" fmla="*/ 97 w 281"/>
                <a:gd name="T5" fmla="*/ 0 h 194"/>
                <a:gd name="T6" fmla="*/ 0 w 281"/>
                <a:gd name="T7" fmla="*/ 97 h 194"/>
                <a:gd name="T8" fmla="*/ 97 w 281"/>
                <a:gd name="T9" fmla="*/ 194 h 194"/>
                <a:gd name="T10" fmla="*/ 141 w 281"/>
                <a:gd name="T11" fmla="*/ 183 h 194"/>
                <a:gd name="T12" fmla="*/ 281 w 281"/>
                <a:gd name="T13" fmla="*/ 97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94">
                  <a:moveTo>
                    <a:pt x="281" y="97"/>
                  </a:moveTo>
                  <a:cubicBezTo>
                    <a:pt x="141" y="10"/>
                    <a:pt x="141" y="10"/>
                    <a:pt x="141" y="10"/>
                  </a:cubicBezTo>
                  <a:cubicBezTo>
                    <a:pt x="128" y="3"/>
                    <a:pt x="113" y="0"/>
                    <a:pt x="97" y="0"/>
                  </a:cubicBez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44" y="194"/>
                    <a:pt x="97" y="194"/>
                  </a:cubicBezTo>
                  <a:cubicBezTo>
                    <a:pt x="113" y="194"/>
                    <a:pt x="128" y="190"/>
                    <a:pt x="141" y="183"/>
                  </a:cubicBezTo>
                  <a:lnTo>
                    <a:pt x="281" y="97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grpSp>
          <p:nvGrpSpPr>
            <p:cNvPr id="13485" name="组合 141"/>
            <p:cNvGrpSpPr>
              <a:grpSpLocks/>
            </p:cNvGrpSpPr>
            <p:nvPr/>
          </p:nvGrpSpPr>
          <p:grpSpPr bwMode="auto">
            <a:xfrm>
              <a:off x="2482263" y="1702718"/>
              <a:ext cx="590550" cy="590550"/>
              <a:chOff x="2397125" y="1500188"/>
              <a:chExt cx="590550" cy="590550"/>
            </a:xfrm>
          </p:grpSpPr>
          <p:sp>
            <p:nvSpPr>
              <p:cNvPr id="13486" name="Oval 33"/>
              <p:cNvSpPr>
                <a:spLocks noChangeArrowheads="1"/>
              </p:cNvSpPr>
              <p:nvPr/>
            </p:nvSpPr>
            <p:spPr bwMode="auto">
              <a:xfrm>
                <a:off x="2489200" y="1597025"/>
                <a:ext cx="404813" cy="407988"/>
              </a:xfrm>
              <a:prstGeom prst="ellipse">
                <a:avLst/>
              </a:prstGeom>
              <a:solidFill>
                <a:srgbClr val="E6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7" name="Freeform 34"/>
              <p:cNvSpPr>
                <a:spLocks/>
              </p:cNvSpPr>
              <p:nvPr/>
            </p:nvSpPr>
            <p:spPr bwMode="auto">
              <a:xfrm>
                <a:off x="2693988" y="1500188"/>
                <a:ext cx="17463" cy="25400"/>
              </a:xfrm>
              <a:custGeom>
                <a:avLst/>
                <a:gdLst>
                  <a:gd name="T0" fmla="*/ 2147483647 w 4"/>
                  <a:gd name="T1" fmla="*/ 2147483647 h 6"/>
                  <a:gd name="T2" fmla="*/ 2147483647 w 4"/>
                  <a:gd name="T3" fmla="*/ 2147483647 h 6"/>
                  <a:gd name="T4" fmla="*/ 0 w 4"/>
                  <a:gd name="T5" fmla="*/ 0 h 6"/>
                  <a:gd name="T6" fmla="*/ 0 w 4"/>
                  <a:gd name="T7" fmla="*/ 2147483647 h 6"/>
                  <a:gd name="T8" fmla="*/ 2147483647 w 4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6"/>
                  <a:gd name="T17" fmla="*/ 4 w 4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6">
                    <a:moveTo>
                      <a:pt x="3" y="6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3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8" name="Freeform 35"/>
              <p:cNvSpPr>
                <a:spLocks/>
              </p:cNvSpPr>
              <p:nvPr/>
            </p:nvSpPr>
            <p:spPr bwMode="auto">
              <a:xfrm>
                <a:off x="2740025" y="1508125"/>
                <a:ext cx="22225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3" y="6"/>
                      <a:pt x="4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9" name="Freeform 36"/>
              <p:cNvSpPr>
                <a:spLocks/>
              </p:cNvSpPr>
              <p:nvPr/>
            </p:nvSpPr>
            <p:spPr bwMode="auto">
              <a:xfrm>
                <a:off x="2787650" y="1520825"/>
                <a:ext cx="25400" cy="30163"/>
              </a:xfrm>
              <a:custGeom>
                <a:avLst/>
                <a:gdLst>
                  <a:gd name="T0" fmla="*/ 2147483647 w 6"/>
                  <a:gd name="T1" fmla="*/ 0 h 7"/>
                  <a:gd name="T2" fmla="*/ 0 w 6"/>
                  <a:gd name="T3" fmla="*/ 2147483647 h 7"/>
                  <a:gd name="T4" fmla="*/ 2147483647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4" y="7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0" name="Freeform 37"/>
              <p:cNvSpPr>
                <a:spLocks/>
              </p:cNvSpPr>
              <p:nvPr/>
            </p:nvSpPr>
            <p:spPr bwMode="auto">
              <a:xfrm>
                <a:off x="2833688" y="1546225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2" y="6"/>
                      <a:pt x="3" y="7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1" name="Freeform 38"/>
              <p:cNvSpPr>
                <a:spLocks/>
              </p:cNvSpPr>
              <p:nvPr/>
            </p:nvSpPr>
            <p:spPr bwMode="auto">
              <a:xfrm>
                <a:off x="2871788" y="1576388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4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2" name="Freeform 39"/>
              <p:cNvSpPr>
                <a:spLocks/>
              </p:cNvSpPr>
              <p:nvPr/>
            </p:nvSpPr>
            <p:spPr bwMode="auto">
              <a:xfrm>
                <a:off x="2906713" y="1619250"/>
                <a:ext cx="30163" cy="28575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4"/>
                      <a:pt x="2" y="6"/>
                      <a:pt x="2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3" name="Freeform 40"/>
              <p:cNvSpPr>
                <a:spLocks/>
              </p:cNvSpPr>
              <p:nvPr/>
            </p:nvSpPr>
            <p:spPr bwMode="auto">
              <a:xfrm>
                <a:off x="2932113" y="1665288"/>
                <a:ext cx="30163" cy="25400"/>
              </a:xfrm>
              <a:custGeom>
                <a:avLst/>
                <a:gdLst>
                  <a:gd name="T0" fmla="*/ 2147483647 w 7"/>
                  <a:gd name="T1" fmla="*/ 0 h 6"/>
                  <a:gd name="T2" fmla="*/ 0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5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5"/>
                      <a:pt x="2" y="6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4" name="Freeform 41"/>
              <p:cNvSpPr>
                <a:spLocks/>
              </p:cNvSpPr>
              <p:nvPr/>
            </p:nvSpPr>
            <p:spPr bwMode="auto">
              <a:xfrm>
                <a:off x="2952750" y="1716088"/>
                <a:ext cx="25400" cy="20638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5" name="Freeform 42"/>
              <p:cNvSpPr>
                <a:spLocks/>
              </p:cNvSpPr>
              <p:nvPr/>
            </p:nvSpPr>
            <p:spPr bwMode="auto">
              <a:xfrm>
                <a:off x="2962275" y="1766888"/>
                <a:ext cx="25400" cy="22225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6" name="Freeform 43"/>
              <p:cNvSpPr>
                <a:spLocks/>
              </p:cNvSpPr>
              <p:nvPr/>
            </p:nvSpPr>
            <p:spPr bwMode="auto">
              <a:xfrm>
                <a:off x="2957513" y="1817688"/>
                <a:ext cx="25400" cy="22225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0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6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7" name="Freeform 44"/>
              <p:cNvSpPr>
                <a:spLocks/>
              </p:cNvSpPr>
              <p:nvPr/>
            </p:nvSpPr>
            <p:spPr bwMode="auto">
              <a:xfrm>
                <a:off x="2944813" y="1868488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1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4"/>
                      <a:pt x="7" y="3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8" name="Freeform 45"/>
              <p:cNvSpPr>
                <a:spLocks/>
              </p:cNvSpPr>
              <p:nvPr/>
            </p:nvSpPr>
            <p:spPr bwMode="auto">
              <a:xfrm>
                <a:off x="2922588" y="1916113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2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5"/>
                      <a:pt x="7" y="4"/>
                      <a:pt x="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9" name="Freeform 46"/>
              <p:cNvSpPr>
                <a:spLocks/>
              </p:cNvSpPr>
              <p:nvPr/>
            </p:nvSpPr>
            <p:spPr bwMode="auto">
              <a:xfrm>
                <a:off x="2897188" y="1958975"/>
                <a:ext cx="30163" cy="28575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5"/>
                      <a:pt x="6" y="4"/>
                      <a:pt x="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0" name="Freeform 47"/>
              <p:cNvSpPr>
                <a:spLocks/>
              </p:cNvSpPr>
              <p:nvPr/>
            </p:nvSpPr>
            <p:spPr bwMode="auto">
              <a:xfrm>
                <a:off x="2859088" y="1992313"/>
                <a:ext cx="30163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1" name="Freeform 48"/>
              <p:cNvSpPr>
                <a:spLocks/>
              </p:cNvSpPr>
              <p:nvPr/>
            </p:nvSpPr>
            <p:spPr bwMode="auto">
              <a:xfrm>
                <a:off x="2817813" y="2022475"/>
                <a:ext cx="28575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0 h 8"/>
                  <a:gd name="T4" fmla="*/ 0 w 7"/>
                  <a:gd name="T5" fmla="*/ 2147483647 h 8"/>
                  <a:gd name="T6" fmla="*/ 2147483647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7" y="5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2" y="2"/>
                      <a:pt x="0" y="2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2" name="Freeform 49"/>
              <p:cNvSpPr>
                <a:spLocks/>
              </p:cNvSpPr>
              <p:nvPr/>
            </p:nvSpPr>
            <p:spPr bwMode="auto">
              <a:xfrm>
                <a:off x="2774950" y="2047875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0 h 7"/>
                  <a:gd name="T4" fmla="*/ 0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6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1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6"/>
                      <a:pt x="4" y="6"/>
                      <a:pt x="6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3" name="Freeform 50"/>
              <p:cNvSpPr>
                <a:spLocks/>
              </p:cNvSpPr>
              <p:nvPr/>
            </p:nvSpPr>
            <p:spPr bwMode="auto">
              <a:xfrm>
                <a:off x="2724150" y="2060575"/>
                <a:ext cx="20638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0 h 6"/>
                  <a:gd name="T4" fmla="*/ 0 w 5"/>
                  <a:gd name="T5" fmla="*/ 0 h 6"/>
                  <a:gd name="T6" fmla="*/ 2147483647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5" y="6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0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4" y="6"/>
                      <a:pt x="5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4" name="Freeform 51"/>
              <p:cNvSpPr>
                <a:spLocks/>
              </p:cNvSpPr>
              <p:nvPr/>
            </p:nvSpPr>
            <p:spPr bwMode="auto">
              <a:xfrm>
                <a:off x="2673350" y="2065338"/>
                <a:ext cx="20638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5" name="Freeform 52"/>
              <p:cNvSpPr>
                <a:spLocks/>
              </p:cNvSpPr>
              <p:nvPr/>
            </p:nvSpPr>
            <p:spPr bwMode="auto">
              <a:xfrm>
                <a:off x="2620963" y="2055813"/>
                <a:ext cx="22225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2147483647 h 6"/>
                  <a:gd name="T4" fmla="*/ 2147483647 w 5"/>
                  <a:gd name="T5" fmla="*/ 0 h 6"/>
                  <a:gd name="T6" fmla="*/ 0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4" y="6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2" y="0"/>
                      <a:pt x="1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4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6" name="Freeform 53"/>
              <p:cNvSpPr>
                <a:spLocks/>
              </p:cNvSpPr>
              <p:nvPr/>
            </p:nvSpPr>
            <p:spPr bwMode="auto">
              <a:xfrm>
                <a:off x="2570163" y="20383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4" y="7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4" y="1"/>
                      <a:pt x="3" y="1"/>
                      <a:pt x="2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4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7" name="Freeform 54"/>
              <p:cNvSpPr>
                <a:spLocks/>
              </p:cNvSpPr>
              <p:nvPr/>
            </p:nvSpPr>
            <p:spPr bwMode="auto">
              <a:xfrm>
                <a:off x="2524125" y="20129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7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4" y="1"/>
                      <a:pt x="3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3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8" name="Freeform 55"/>
              <p:cNvSpPr>
                <a:spLocks/>
              </p:cNvSpPr>
              <p:nvPr/>
            </p:nvSpPr>
            <p:spPr bwMode="auto">
              <a:xfrm>
                <a:off x="2481263" y="1979613"/>
                <a:ext cx="30163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0 h 8"/>
                  <a:gd name="T6" fmla="*/ 0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3" y="8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9" name="Freeform 56"/>
              <p:cNvSpPr>
                <a:spLocks/>
              </p:cNvSpPr>
              <p:nvPr/>
            </p:nvSpPr>
            <p:spPr bwMode="auto">
              <a:xfrm>
                <a:off x="2447925" y="1941513"/>
                <a:ext cx="28575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0 h 7"/>
                  <a:gd name="T6" fmla="*/ 0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2" y="7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5" y="1"/>
                      <a:pt x="5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1" y="6"/>
                      <a:pt x="2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0" name="Freeform 57"/>
              <p:cNvSpPr>
                <a:spLocks/>
              </p:cNvSpPr>
              <p:nvPr/>
            </p:nvSpPr>
            <p:spPr bwMode="auto">
              <a:xfrm>
                <a:off x="2422525" y="1898650"/>
                <a:ext cx="28575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0 h 6"/>
                  <a:gd name="T6" fmla="*/ 0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2" y="6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5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4"/>
                      <a:pt x="1" y="5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1" name="Freeform 58"/>
              <p:cNvSpPr>
                <a:spLocks/>
              </p:cNvSpPr>
              <p:nvPr/>
            </p:nvSpPr>
            <p:spPr bwMode="auto">
              <a:xfrm>
                <a:off x="2405063" y="1852613"/>
                <a:ext cx="30163" cy="20638"/>
              </a:xfrm>
              <a:custGeom>
                <a:avLst/>
                <a:gdLst>
                  <a:gd name="T0" fmla="*/ 2147483647 w 7"/>
                  <a:gd name="T1" fmla="*/ 2147483647 h 5"/>
                  <a:gd name="T2" fmla="*/ 2147483647 w 7"/>
                  <a:gd name="T3" fmla="*/ 2147483647 h 5"/>
                  <a:gd name="T4" fmla="*/ 2147483647 w 7"/>
                  <a:gd name="T5" fmla="*/ 0 h 5"/>
                  <a:gd name="T6" fmla="*/ 0 w 7"/>
                  <a:gd name="T7" fmla="*/ 2147483647 h 5"/>
                  <a:gd name="T8" fmla="*/ 2147483647 w 7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5"/>
                  <a:gd name="T17" fmla="*/ 7 w 7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5">
                    <a:moveTo>
                      <a:pt x="1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1" y="4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2" name="Freeform 59"/>
              <p:cNvSpPr>
                <a:spLocks/>
              </p:cNvSpPr>
              <p:nvPr/>
            </p:nvSpPr>
            <p:spPr bwMode="auto">
              <a:xfrm>
                <a:off x="2397125" y="1801813"/>
                <a:ext cx="25400" cy="20638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0 h 5"/>
                  <a:gd name="T6" fmla="*/ 0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1" y="5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1" y="3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3" name="Freeform 60"/>
              <p:cNvSpPr>
                <a:spLocks/>
              </p:cNvSpPr>
              <p:nvPr/>
            </p:nvSpPr>
            <p:spPr bwMode="auto">
              <a:xfrm>
                <a:off x="2400300" y="1751013"/>
                <a:ext cx="25400" cy="20638"/>
              </a:xfrm>
              <a:custGeom>
                <a:avLst/>
                <a:gdLst>
                  <a:gd name="T0" fmla="*/ 0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2147483647 h 5"/>
                  <a:gd name="T6" fmla="*/ 0 w 6"/>
                  <a:gd name="T7" fmla="*/ 0 h 5"/>
                  <a:gd name="T8" fmla="*/ 0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0" y="4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6" y="3"/>
                      <a:pt x="6" y="2"/>
                      <a:pt x="6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4" name="Freeform 61"/>
              <p:cNvSpPr>
                <a:spLocks/>
              </p:cNvSpPr>
              <p:nvPr/>
            </p:nvSpPr>
            <p:spPr bwMode="auto">
              <a:xfrm>
                <a:off x="2409825" y="1695450"/>
                <a:ext cx="28575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6" y="5"/>
                      <a:pt x="6" y="4"/>
                      <a:pt x="7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5" name="Freeform 62"/>
              <p:cNvSpPr>
                <a:spLocks/>
              </p:cNvSpPr>
              <p:nvPr/>
            </p:nvSpPr>
            <p:spPr bwMode="auto">
              <a:xfrm>
                <a:off x="2430463" y="1647825"/>
                <a:ext cx="30163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6" y="4"/>
                      <a:pt x="7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6" name="Freeform 63"/>
              <p:cNvSpPr>
                <a:spLocks/>
              </p:cNvSpPr>
              <p:nvPr/>
            </p:nvSpPr>
            <p:spPr bwMode="auto">
              <a:xfrm>
                <a:off x="2455863" y="1601788"/>
                <a:ext cx="33338" cy="30163"/>
              </a:xfrm>
              <a:custGeom>
                <a:avLst/>
                <a:gdLst>
                  <a:gd name="T0" fmla="*/ 0 w 8"/>
                  <a:gd name="T1" fmla="*/ 2147483647 h 7"/>
                  <a:gd name="T2" fmla="*/ 2147483647 w 8"/>
                  <a:gd name="T3" fmla="*/ 2147483647 h 7"/>
                  <a:gd name="T4" fmla="*/ 2147483647 w 8"/>
                  <a:gd name="T5" fmla="*/ 2147483647 h 7"/>
                  <a:gd name="T6" fmla="*/ 2147483647 w 8"/>
                  <a:gd name="T7" fmla="*/ 0 h 7"/>
                  <a:gd name="T8" fmla="*/ 0 w 8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7"/>
                  <a:gd name="T17" fmla="*/ 8 w 8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7">
                    <a:moveTo>
                      <a:pt x="0" y="4"/>
                    </a:moveTo>
                    <a:cubicBezTo>
                      <a:pt x="5" y="7"/>
                      <a:pt x="5" y="7"/>
                      <a:pt x="5" y="7"/>
                    </a:cubicBezTo>
                    <a:cubicBezTo>
                      <a:pt x="6" y="6"/>
                      <a:pt x="7" y="5"/>
                      <a:pt x="8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7" name="Freeform 64"/>
              <p:cNvSpPr>
                <a:spLocks/>
              </p:cNvSpPr>
              <p:nvPr/>
            </p:nvSpPr>
            <p:spPr bwMode="auto">
              <a:xfrm>
                <a:off x="2493963" y="1566863"/>
                <a:ext cx="30163" cy="30163"/>
              </a:xfrm>
              <a:custGeom>
                <a:avLst/>
                <a:gdLst>
                  <a:gd name="T0" fmla="*/ 0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0 h 7"/>
                  <a:gd name="T8" fmla="*/ 0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0" y="2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5" y="6"/>
                      <a:pt x="6" y="5"/>
                      <a:pt x="7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8" name="Freeform 65"/>
              <p:cNvSpPr>
                <a:spLocks/>
              </p:cNvSpPr>
              <p:nvPr/>
            </p:nvSpPr>
            <p:spPr bwMode="auto">
              <a:xfrm>
                <a:off x="2536825" y="1533525"/>
                <a:ext cx="30163" cy="33338"/>
              </a:xfrm>
              <a:custGeom>
                <a:avLst/>
                <a:gdLst>
                  <a:gd name="T0" fmla="*/ 0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2147483647 h 8"/>
                  <a:gd name="T6" fmla="*/ 2147483647 w 7"/>
                  <a:gd name="T7" fmla="*/ 0 h 8"/>
                  <a:gd name="T8" fmla="*/ 0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0" y="3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4" y="7"/>
                      <a:pt x="5" y="6"/>
                      <a:pt x="7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1" y="2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9" name="Freeform 66"/>
              <p:cNvSpPr>
                <a:spLocks/>
              </p:cNvSpPr>
              <p:nvPr/>
            </p:nvSpPr>
            <p:spPr bwMode="auto">
              <a:xfrm>
                <a:off x="2587625" y="1512888"/>
                <a:ext cx="20638" cy="28575"/>
              </a:xfrm>
              <a:custGeom>
                <a:avLst/>
                <a:gdLst>
                  <a:gd name="T0" fmla="*/ 0 w 5"/>
                  <a:gd name="T1" fmla="*/ 2147483647 h 7"/>
                  <a:gd name="T2" fmla="*/ 2147483647 w 5"/>
                  <a:gd name="T3" fmla="*/ 2147483647 h 7"/>
                  <a:gd name="T4" fmla="*/ 2147483647 w 5"/>
                  <a:gd name="T5" fmla="*/ 2147483647 h 7"/>
                  <a:gd name="T6" fmla="*/ 2147483647 w 5"/>
                  <a:gd name="T7" fmla="*/ 0 h 7"/>
                  <a:gd name="T8" fmla="*/ 0 w 5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7"/>
                  <a:gd name="T17" fmla="*/ 5 w 5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7">
                    <a:moveTo>
                      <a:pt x="0" y="2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3" y="7"/>
                      <a:pt x="4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0" name="Freeform 67"/>
              <p:cNvSpPr>
                <a:spLocks/>
              </p:cNvSpPr>
              <p:nvPr/>
            </p:nvSpPr>
            <p:spPr bwMode="auto">
              <a:xfrm>
                <a:off x="2638425" y="1503363"/>
                <a:ext cx="22225" cy="25400"/>
              </a:xfrm>
              <a:custGeom>
                <a:avLst/>
                <a:gdLst>
                  <a:gd name="T0" fmla="*/ 0 w 5"/>
                  <a:gd name="T1" fmla="*/ 0 h 6"/>
                  <a:gd name="T2" fmla="*/ 2147483647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0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0" y="0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5"/>
          <p:cNvGrpSpPr>
            <a:grpSpLocks/>
          </p:cNvGrpSpPr>
          <p:nvPr/>
        </p:nvGrpSpPr>
        <p:grpSpPr bwMode="auto">
          <a:xfrm rot="5400000">
            <a:off x="4668838" y="842963"/>
            <a:ext cx="574675" cy="396875"/>
            <a:chOff x="4459790" y="1384300"/>
            <a:chExt cx="1193800" cy="823913"/>
          </a:xfrm>
        </p:grpSpPr>
        <p:sp>
          <p:nvSpPr>
            <p:cNvPr id="13447" name="Freeform 5"/>
            <p:cNvSpPr>
              <a:spLocks/>
            </p:cNvSpPr>
            <p:nvPr/>
          </p:nvSpPr>
          <p:spPr bwMode="auto">
            <a:xfrm>
              <a:off x="4459790" y="1384300"/>
              <a:ext cx="1193800" cy="823913"/>
            </a:xfrm>
            <a:custGeom>
              <a:avLst/>
              <a:gdLst>
                <a:gd name="T0" fmla="*/ 2147483647 w 281"/>
                <a:gd name="T1" fmla="*/ 2147483647 h 194"/>
                <a:gd name="T2" fmla="*/ 2147483647 w 281"/>
                <a:gd name="T3" fmla="*/ 2147483647 h 194"/>
                <a:gd name="T4" fmla="*/ 2147483647 w 281"/>
                <a:gd name="T5" fmla="*/ 0 h 194"/>
                <a:gd name="T6" fmla="*/ 0 w 281"/>
                <a:gd name="T7" fmla="*/ 2147483647 h 194"/>
                <a:gd name="T8" fmla="*/ 2147483647 w 281"/>
                <a:gd name="T9" fmla="*/ 2147483647 h 194"/>
                <a:gd name="T10" fmla="*/ 2147483647 w 281"/>
                <a:gd name="T11" fmla="*/ 2147483647 h 194"/>
                <a:gd name="T12" fmla="*/ 2147483647 w 281"/>
                <a:gd name="T13" fmla="*/ 2147483647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1"/>
                <a:gd name="T22" fmla="*/ 0 h 194"/>
                <a:gd name="T23" fmla="*/ 281 w 281"/>
                <a:gd name="T24" fmla="*/ 194 h 1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1" h="194">
                  <a:moveTo>
                    <a:pt x="281" y="97"/>
                  </a:moveTo>
                  <a:cubicBezTo>
                    <a:pt x="141" y="10"/>
                    <a:pt x="141" y="10"/>
                    <a:pt x="141" y="10"/>
                  </a:cubicBezTo>
                  <a:cubicBezTo>
                    <a:pt x="128" y="3"/>
                    <a:pt x="113" y="0"/>
                    <a:pt x="97" y="0"/>
                  </a:cubicBez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44" y="194"/>
                    <a:pt x="97" y="194"/>
                  </a:cubicBezTo>
                  <a:cubicBezTo>
                    <a:pt x="113" y="194"/>
                    <a:pt x="128" y="190"/>
                    <a:pt x="141" y="183"/>
                  </a:cubicBezTo>
                  <a:lnTo>
                    <a:pt x="281" y="97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448" name="组合 179"/>
            <p:cNvGrpSpPr>
              <a:grpSpLocks/>
            </p:cNvGrpSpPr>
            <p:nvPr/>
          </p:nvGrpSpPr>
          <p:grpSpPr bwMode="auto">
            <a:xfrm>
              <a:off x="4502652" y="1512888"/>
              <a:ext cx="590550" cy="590550"/>
              <a:chOff x="2397125" y="1500188"/>
              <a:chExt cx="590550" cy="590550"/>
            </a:xfrm>
          </p:grpSpPr>
          <p:sp>
            <p:nvSpPr>
              <p:cNvPr id="13449" name="Oval 33"/>
              <p:cNvSpPr>
                <a:spLocks noChangeArrowheads="1"/>
              </p:cNvSpPr>
              <p:nvPr/>
            </p:nvSpPr>
            <p:spPr bwMode="auto">
              <a:xfrm>
                <a:off x="2489200" y="1597025"/>
                <a:ext cx="404813" cy="407988"/>
              </a:xfrm>
              <a:prstGeom prst="ellipse">
                <a:avLst/>
              </a:prstGeom>
              <a:solidFill>
                <a:srgbClr val="E6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0" name="Freeform 34"/>
              <p:cNvSpPr>
                <a:spLocks/>
              </p:cNvSpPr>
              <p:nvPr/>
            </p:nvSpPr>
            <p:spPr bwMode="auto">
              <a:xfrm>
                <a:off x="2693988" y="1500188"/>
                <a:ext cx="17463" cy="25400"/>
              </a:xfrm>
              <a:custGeom>
                <a:avLst/>
                <a:gdLst>
                  <a:gd name="T0" fmla="*/ 2147483647 w 4"/>
                  <a:gd name="T1" fmla="*/ 2147483647 h 6"/>
                  <a:gd name="T2" fmla="*/ 2147483647 w 4"/>
                  <a:gd name="T3" fmla="*/ 2147483647 h 6"/>
                  <a:gd name="T4" fmla="*/ 0 w 4"/>
                  <a:gd name="T5" fmla="*/ 0 h 6"/>
                  <a:gd name="T6" fmla="*/ 0 w 4"/>
                  <a:gd name="T7" fmla="*/ 2147483647 h 6"/>
                  <a:gd name="T8" fmla="*/ 2147483647 w 4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6"/>
                  <a:gd name="T17" fmla="*/ 4 w 4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6">
                    <a:moveTo>
                      <a:pt x="3" y="6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3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1" name="Freeform 35"/>
              <p:cNvSpPr>
                <a:spLocks/>
              </p:cNvSpPr>
              <p:nvPr/>
            </p:nvSpPr>
            <p:spPr bwMode="auto">
              <a:xfrm>
                <a:off x="2740025" y="1508125"/>
                <a:ext cx="22225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3" y="6"/>
                      <a:pt x="4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2" name="Freeform 36"/>
              <p:cNvSpPr>
                <a:spLocks/>
              </p:cNvSpPr>
              <p:nvPr/>
            </p:nvSpPr>
            <p:spPr bwMode="auto">
              <a:xfrm>
                <a:off x="2787650" y="1520825"/>
                <a:ext cx="25400" cy="30163"/>
              </a:xfrm>
              <a:custGeom>
                <a:avLst/>
                <a:gdLst>
                  <a:gd name="T0" fmla="*/ 2147483647 w 6"/>
                  <a:gd name="T1" fmla="*/ 0 h 7"/>
                  <a:gd name="T2" fmla="*/ 0 w 6"/>
                  <a:gd name="T3" fmla="*/ 2147483647 h 7"/>
                  <a:gd name="T4" fmla="*/ 2147483647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4" y="7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3" name="Freeform 37"/>
              <p:cNvSpPr>
                <a:spLocks/>
              </p:cNvSpPr>
              <p:nvPr/>
            </p:nvSpPr>
            <p:spPr bwMode="auto">
              <a:xfrm>
                <a:off x="2833688" y="1546225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2" y="6"/>
                      <a:pt x="3" y="7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4" name="Freeform 38"/>
              <p:cNvSpPr>
                <a:spLocks/>
              </p:cNvSpPr>
              <p:nvPr/>
            </p:nvSpPr>
            <p:spPr bwMode="auto">
              <a:xfrm>
                <a:off x="2871788" y="1576388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4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5" name="Freeform 39"/>
              <p:cNvSpPr>
                <a:spLocks/>
              </p:cNvSpPr>
              <p:nvPr/>
            </p:nvSpPr>
            <p:spPr bwMode="auto">
              <a:xfrm>
                <a:off x="2906713" y="1619250"/>
                <a:ext cx="30163" cy="28575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4"/>
                      <a:pt x="2" y="6"/>
                      <a:pt x="2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6" name="Freeform 40"/>
              <p:cNvSpPr>
                <a:spLocks/>
              </p:cNvSpPr>
              <p:nvPr/>
            </p:nvSpPr>
            <p:spPr bwMode="auto">
              <a:xfrm>
                <a:off x="2932113" y="1665288"/>
                <a:ext cx="30163" cy="25400"/>
              </a:xfrm>
              <a:custGeom>
                <a:avLst/>
                <a:gdLst>
                  <a:gd name="T0" fmla="*/ 2147483647 w 7"/>
                  <a:gd name="T1" fmla="*/ 0 h 6"/>
                  <a:gd name="T2" fmla="*/ 0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5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5"/>
                      <a:pt x="2" y="6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7" name="Freeform 41"/>
              <p:cNvSpPr>
                <a:spLocks/>
              </p:cNvSpPr>
              <p:nvPr/>
            </p:nvSpPr>
            <p:spPr bwMode="auto">
              <a:xfrm>
                <a:off x="2952750" y="1716088"/>
                <a:ext cx="25400" cy="20638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8" name="Freeform 42"/>
              <p:cNvSpPr>
                <a:spLocks/>
              </p:cNvSpPr>
              <p:nvPr/>
            </p:nvSpPr>
            <p:spPr bwMode="auto">
              <a:xfrm>
                <a:off x="2962275" y="1766888"/>
                <a:ext cx="25400" cy="22225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9" name="Freeform 43"/>
              <p:cNvSpPr>
                <a:spLocks/>
              </p:cNvSpPr>
              <p:nvPr/>
            </p:nvSpPr>
            <p:spPr bwMode="auto">
              <a:xfrm>
                <a:off x="2957513" y="1817688"/>
                <a:ext cx="25400" cy="22225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0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6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0" name="Freeform 44"/>
              <p:cNvSpPr>
                <a:spLocks/>
              </p:cNvSpPr>
              <p:nvPr/>
            </p:nvSpPr>
            <p:spPr bwMode="auto">
              <a:xfrm>
                <a:off x="2944813" y="1868488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1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4"/>
                      <a:pt x="7" y="3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1" name="Freeform 45"/>
              <p:cNvSpPr>
                <a:spLocks/>
              </p:cNvSpPr>
              <p:nvPr/>
            </p:nvSpPr>
            <p:spPr bwMode="auto">
              <a:xfrm>
                <a:off x="2922588" y="1916113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2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5"/>
                      <a:pt x="7" y="4"/>
                      <a:pt x="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2" name="Freeform 46"/>
              <p:cNvSpPr>
                <a:spLocks/>
              </p:cNvSpPr>
              <p:nvPr/>
            </p:nvSpPr>
            <p:spPr bwMode="auto">
              <a:xfrm>
                <a:off x="2897188" y="1958975"/>
                <a:ext cx="30163" cy="28575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5"/>
                      <a:pt x="6" y="4"/>
                      <a:pt x="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3" name="Freeform 47"/>
              <p:cNvSpPr>
                <a:spLocks/>
              </p:cNvSpPr>
              <p:nvPr/>
            </p:nvSpPr>
            <p:spPr bwMode="auto">
              <a:xfrm>
                <a:off x="2859088" y="1992313"/>
                <a:ext cx="30163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4" name="Freeform 48"/>
              <p:cNvSpPr>
                <a:spLocks/>
              </p:cNvSpPr>
              <p:nvPr/>
            </p:nvSpPr>
            <p:spPr bwMode="auto">
              <a:xfrm>
                <a:off x="2817813" y="2022475"/>
                <a:ext cx="28575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0 h 8"/>
                  <a:gd name="T4" fmla="*/ 0 w 7"/>
                  <a:gd name="T5" fmla="*/ 2147483647 h 8"/>
                  <a:gd name="T6" fmla="*/ 2147483647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7" y="5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2" y="2"/>
                      <a:pt x="0" y="2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5" name="Freeform 49"/>
              <p:cNvSpPr>
                <a:spLocks/>
              </p:cNvSpPr>
              <p:nvPr/>
            </p:nvSpPr>
            <p:spPr bwMode="auto">
              <a:xfrm>
                <a:off x="2774950" y="2047875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0 h 7"/>
                  <a:gd name="T4" fmla="*/ 0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6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1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6"/>
                      <a:pt x="4" y="6"/>
                      <a:pt x="6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" name="Freeform 50"/>
              <p:cNvSpPr>
                <a:spLocks/>
              </p:cNvSpPr>
              <p:nvPr/>
            </p:nvSpPr>
            <p:spPr bwMode="auto">
              <a:xfrm>
                <a:off x="2724150" y="2060575"/>
                <a:ext cx="20638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0 h 6"/>
                  <a:gd name="T4" fmla="*/ 0 w 5"/>
                  <a:gd name="T5" fmla="*/ 0 h 6"/>
                  <a:gd name="T6" fmla="*/ 2147483647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5" y="6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0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4" y="6"/>
                      <a:pt x="5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7" name="Freeform 51"/>
              <p:cNvSpPr>
                <a:spLocks/>
              </p:cNvSpPr>
              <p:nvPr/>
            </p:nvSpPr>
            <p:spPr bwMode="auto">
              <a:xfrm>
                <a:off x="2673350" y="2065338"/>
                <a:ext cx="20638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8" name="Freeform 52"/>
              <p:cNvSpPr>
                <a:spLocks/>
              </p:cNvSpPr>
              <p:nvPr/>
            </p:nvSpPr>
            <p:spPr bwMode="auto">
              <a:xfrm>
                <a:off x="2620963" y="2055813"/>
                <a:ext cx="22225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2147483647 h 6"/>
                  <a:gd name="T4" fmla="*/ 2147483647 w 5"/>
                  <a:gd name="T5" fmla="*/ 0 h 6"/>
                  <a:gd name="T6" fmla="*/ 0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4" y="6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2" y="0"/>
                      <a:pt x="1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4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9" name="Freeform 53"/>
              <p:cNvSpPr>
                <a:spLocks/>
              </p:cNvSpPr>
              <p:nvPr/>
            </p:nvSpPr>
            <p:spPr bwMode="auto">
              <a:xfrm>
                <a:off x="2570163" y="20383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4" y="7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4" y="1"/>
                      <a:pt x="3" y="1"/>
                      <a:pt x="2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4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0" name="Freeform 54"/>
              <p:cNvSpPr>
                <a:spLocks/>
              </p:cNvSpPr>
              <p:nvPr/>
            </p:nvSpPr>
            <p:spPr bwMode="auto">
              <a:xfrm>
                <a:off x="2524125" y="20129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7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4" y="1"/>
                      <a:pt x="3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3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1" name="Freeform 55"/>
              <p:cNvSpPr>
                <a:spLocks/>
              </p:cNvSpPr>
              <p:nvPr/>
            </p:nvSpPr>
            <p:spPr bwMode="auto">
              <a:xfrm>
                <a:off x="2481263" y="1979613"/>
                <a:ext cx="30163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0 h 8"/>
                  <a:gd name="T6" fmla="*/ 0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3" y="8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2" name="Freeform 56"/>
              <p:cNvSpPr>
                <a:spLocks/>
              </p:cNvSpPr>
              <p:nvPr/>
            </p:nvSpPr>
            <p:spPr bwMode="auto">
              <a:xfrm>
                <a:off x="2447925" y="1941513"/>
                <a:ext cx="28575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0 h 7"/>
                  <a:gd name="T6" fmla="*/ 0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2" y="7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5" y="1"/>
                      <a:pt x="5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1" y="6"/>
                      <a:pt x="2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3" name="Freeform 57"/>
              <p:cNvSpPr>
                <a:spLocks/>
              </p:cNvSpPr>
              <p:nvPr/>
            </p:nvSpPr>
            <p:spPr bwMode="auto">
              <a:xfrm>
                <a:off x="2422525" y="1898650"/>
                <a:ext cx="28575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0 h 6"/>
                  <a:gd name="T6" fmla="*/ 0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2" y="6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5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4"/>
                      <a:pt x="1" y="5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4" name="Freeform 58"/>
              <p:cNvSpPr>
                <a:spLocks/>
              </p:cNvSpPr>
              <p:nvPr/>
            </p:nvSpPr>
            <p:spPr bwMode="auto">
              <a:xfrm>
                <a:off x="2405063" y="1852613"/>
                <a:ext cx="30163" cy="20638"/>
              </a:xfrm>
              <a:custGeom>
                <a:avLst/>
                <a:gdLst>
                  <a:gd name="T0" fmla="*/ 2147483647 w 7"/>
                  <a:gd name="T1" fmla="*/ 2147483647 h 5"/>
                  <a:gd name="T2" fmla="*/ 2147483647 w 7"/>
                  <a:gd name="T3" fmla="*/ 2147483647 h 5"/>
                  <a:gd name="T4" fmla="*/ 2147483647 w 7"/>
                  <a:gd name="T5" fmla="*/ 0 h 5"/>
                  <a:gd name="T6" fmla="*/ 0 w 7"/>
                  <a:gd name="T7" fmla="*/ 2147483647 h 5"/>
                  <a:gd name="T8" fmla="*/ 2147483647 w 7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5"/>
                  <a:gd name="T17" fmla="*/ 7 w 7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5">
                    <a:moveTo>
                      <a:pt x="1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1" y="4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5" name="Freeform 59"/>
              <p:cNvSpPr>
                <a:spLocks/>
              </p:cNvSpPr>
              <p:nvPr/>
            </p:nvSpPr>
            <p:spPr bwMode="auto">
              <a:xfrm>
                <a:off x="2397125" y="1801813"/>
                <a:ext cx="25400" cy="20638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0 h 5"/>
                  <a:gd name="T6" fmla="*/ 0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1" y="5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1" y="3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" name="Freeform 60"/>
              <p:cNvSpPr>
                <a:spLocks/>
              </p:cNvSpPr>
              <p:nvPr/>
            </p:nvSpPr>
            <p:spPr bwMode="auto">
              <a:xfrm>
                <a:off x="2400300" y="1751013"/>
                <a:ext cx="25400" cy="20638"/>
              </a:xfrm>
              <a:custGeom>
                <a:avLst/>
                <a:gdLst>
                  <a:gd name="T0" fmla="*/ 0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2147483647 h 5"/>
                  <a:gd name="T6" fmla="*/ 0 w 6"/>
                  <a:gd name="T7" fmla="*/ 0 h 5"/>
                  <a:gd name="T8" fmla="*/ 0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0" y="4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6" y="3"/>
                      <a:pt x="6" y="2"/>
                      <a:pt x="6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7" name="Freeform 61"/>
              <p:cNvSpPr>
                <a:spLocks/>
              </p:cNvSpPr>
              <p:nvPr/>
            </p:nvSpPr>
            <p:spPr bwMode="auto">
              <a:xfrm>
                <a:off x="2409825" y="1695450"/>
                <a:ext cx="28575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6" y="5"/>
                      <a:pt x="6" y="4"/>
                      <a:pt x="7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8" name="Freeform 62"/>
              <p:cNvSpPr>
                <a:spLocks/>
              </p:cNvSpPr>
              <p:nvPr/>
            </p:nvSpPr>
            <p:spPr bwMode="auto">
              <a:xfrm>
                <a:off x="2430463" y="1647825"/>
                <a:ext cx="30163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6" y="4"/>
                      <a:pt x="7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9" name="Freeform 63"/>
              <p:cNvSpPr>
                <a:spLocks/>
              </p:cNvSpPr>
              <p:nvPr/>
            </p:nvSpPr>
            <p:spPr bwMode="auto">
              <a:xfrm>
                <a:off x="2455863" y="1601788"/>
                <a:ext cx="33338" cy="30163"/>
              </a:xfrm>
              <a:custGeom>
                <a:avLst/>
                <a:gdLst>
                  <a:gd name="T0" fmla="*/ 0 w 8"/>
                  <a:gd name="T1" fmla="*/ 2147483647 h 7"/>
                  <a:gd name="T2" fmla="*/ 2147483647 w 8"/>
                  <a:gd name="T3" fmla="*/ 2147483647 h 7"/>
                  <a:gd name="T4" fmla="*/ 2147483647 w 8"/>
                  <a:gd name="T5" fmla="*/ 2147483647 h 7"/>
                  <a:gd name="T6" fmla="*/ 2147483647 w 8"/>
                  <a:gd name="T7" fmla="*/ 0 h 7"/>
                  <a:gd name="T8" fmla="*/ 0 w 8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7"/>
                  <a:gd name="T17" fmla="*/ 8 w 8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7">
                    <a:moveTo>
                      <a:pt x="0" y="4"/>
                    </a:moveTo>
                    <a:cubicBezTo>
                      <a:pt x="5" y="7"/>
                      <a:pt x="5" y="7"/>
                      <a:pt x="5" y="7"/>
                    </a:cubicBezTo>
                    <a:cubicBezTo>
                      <a:pt x="6" y="6"/>
                      <a:pt x="7" y="5"/>
                      <a:pt x="8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0" name="Freeform 64"/>
              <p:cNvSpPr>
                <a:spLocks/>
              </p:cNvSpPr>
              <p:nvPr/>
            </p:nvSpPr>
            <p:spPr bwMode="auto">
              <a:xfrm>
                <a:off x="2493963" y="1566863"/>
                <a:ext cx="30163" cy="30163"/>
              </a:xfrm>
              <a:custGeom>
                <a:avLst/>
                <a:gdLst>
                  <a:gd name="T0" fmla="*/ 0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0 h 7"/>
                  <a:gd name="T8" fmla="*/ 0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0" y="2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5" y="6"/>
                      <a:pt x="6" y="5"/>
                      <a:pt x="7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1" name="Freeform 65"/>
              <p:cNvSpPr>
                <a:spLocks/>
              </p:cNvSpPr>
              <p:nvPr/>
            </p:nvSpPr>
            <p:spPr bwMode="auto">
              <a:xfrm>
                <a:off x="2536825" y="1533525"/>
                <a:ext cx="30163" cy="33338"/>
              </a:xfrm>
              <a:custGeom>
                <a:avLst/>
                <a:gdLst>
                  <a:gd name="T0" fmla="*/ 0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2147483647 h 8"/>
                  <a:gd name="T6" fmla="*/ 2147483647 w 7"/>
                  <a:gd name="T7" fmla="*/ 0 h 8"/>
                  <a:gd name="T8" fmla="*/ 0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0" y="3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4" y="7"/>
                      <a:pt x="5" y="6"/>
                      <a:pt x="7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1" y="2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2" name="Freeform 66"/>
              <p:cNvSpPr>
                <a:spLocks/>
              </p:cNvSpPr>
              <p:nvPr/>
            </p:nvSpPr>
            <p:spPr bwMode="auto">
              <a:xfrm>
                <a:off x="2587625" y="1512888"/>
                <a:ext cx="20638" cy="28575"/>
              </a:xfrm>
              <a:custGeom>
                <a:avLst/>
                <a:gdLst>
                  <a:gd name="T0" fmla="*/ 0 w 5"/>
                  <a:gd name="T1" fmla="*/ 2147483647 h 7"/>
                  <a:gd name="T2" fmla="*/ 2147483647 w 5"/>
                  <a:gd name="T3" fmla="*/ 2147483647 h 7"/>
                  <a:gd name="T4" fmla="*/ 2147483647 w 5"/>
                  <a:gd name="T5" fmla="*/ 2147483647 h 7"/>
                  <a:gd name="T6" fmla="*/ 2147483647 w 5"/>
                  <a:gd name="T7" fmla="*/ 0 h 7"/>
                  <a:gd name="T8" fmla="*/ 0 w 5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7"/>
                  <a:gd name="T17" fmla="*/ 5 w 5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7">
                    <a:moveTo>
                      <a:pt x="0" y="2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3" y="7"/>
                      <a:pt x="4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3" name="Freeform 67"/>
              <p:cNvSpPr>
                <a:spLocks/>
              </p:cNvSpPr>
              <p:nvPr/>
            </p:nvSpPr>
            <p:spPr bwMode="auto">
              <a:xfrm>
                <a:off x="2638425" y="1503363"/>
                <a:ext cx="22225" cy="25400"/>
              </a:xfrm>
              <a:custGeom>
                <a:avLst/>
                <a:gdLst>
                  <a:gd name="T0" fmla="*/ 0 w 5"/>
                  <a:gd name="T1" fmla="*/ 0 h 6"/>
                  <a:gd name="T2" fmla="*/ 2147483647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0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0" y="0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组合 93"/>
          <p:cNvGrpSpPr/>
          <p:nvPr/>
        </p:nvGrpSpPr>
        <p:grpSpPr>
          <a:xfrm>
            <a:off x="4863650" y="1799702"/>
            <a:ext cx="184880" cy="184880"/>
            <a:chOff x="2397125" y="1500188"/>
            <a:chExt cx="590550" cy="590550"/>
          </a:xfrm>
          <a:solidFill>
            <a:srgbClr val="0070C0"/>
          </a:solidFill>
        </p:grpSpPr>
        <p:sp>
          <p:nvSpPr>
            <p:cNvPr id="95" name="Oval 33"/>
            <p:cNvSpPr>
              <a:spLocks noChangeArrowheads="1"/>
            </p:cNvSpPr>
            <p:nvPr/>
          </p:nvSpPr>
          <p:spPr bwMode="auto">
            <a:xfrm>
              <a:off x="2489200" y="1597025"/>
              <a:ext cx="404813" cy="40798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96" name="Freeform 34"/>
            <p:cNvSpPr/>
            <p:nvPr/>
          </p:nvSpPr>
          <p:spPr bwMode="auto">
            <a:xfrm>
              <a:off x="2693988" y="1500188"/>
              <a:ext cx="17463" cy="25400"/>
            </a:xfrm>
            <a:custGeom>
              <a:avLst/>
              <a:gdLst>
                <a:gd name="T0" fmla="*/ 3 w 4"/>
                <a:gd name="T1" fmla="*/ 6 h 6"/>
                <a:gd name="T2" fmla="*/ 4 w 4"/>
                <a:gd name="T3" fmla="*/ 1 h 6"/>
                <a:gd name="T4" fmla="*/ 0 w 4"/>
                <a:gd name="T5" fmla="*/ 0 h 6"/>
                <a:gd name="T6" fmla="*/ 0 w 4"/>
                <a:gd name="T7" fmla="*/ 6 h 6"/>
                <a:gd name="T8" fmla="*/ 3 w 4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3" y="6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2740025" y="1508125"/>
              <a:ext cx="22225" cy="25400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5 h 6"/>
                <a:gd name="T4" fmla="*/ 4 w 5"/>
                <a:gd name="T5" fmla="*/ 6 h 6"/>
                <a:gd name="T6" fmla="*/ 5 w 5"/>
                <a:gd name="T7" fmla="*/ 0 h 6"/>
                <a:gd name="T8" fmla="*/ 1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3" y="6"/>
                    <a:pt x="4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2787650" y="1520825"/>
              <a:ext cx="25400" cy="30163"/>
            </a:xfrm>
            <a:custGeom>
              <a:avLst/>
              <a:gdLst>
                <a:gd name="T0" fmla="*/ 3 w 6"/>
                <a:gd name="T1" fmla="*/ 0 h 7"/>
                <a:gd name="T2" fmla="*/ 0 w 6"/>
                <a:gd name="T3" fmla="*/ 5 h 7"/>
                <a:gd name="T4" fmla="*/ 4 w 6"/>
                <a:gd name="T5" fmla="*/ 7 h 7"/>
                <a:gd name="T6" fmla="*/ 6 w 6"/>
                <a:gd name="T7" fmla="*/ 2 h 7"/>
                <a:gd name="T8" fmla="*/ 3 w 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3" y="6"/>
                    <a:pt x="4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1"/>
                    <a:pt x="4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99" name="Freeform 37"/>
            <p:cNvSpPr/>
            <p:nvPr/>
          </p:nvSpPr>
          <p:spPr bwMode="auto">
            <a:xfrm>
              <a:off x="2833688" y="1546225"/>
              <a:ext cx="30163" cy="30163"/>
            </a:xfrm>
            <a:custGeom>
              <a:avLst/>
              <a:gdLst>
                <a:gd name="T0" fmla="*/ 3 w 7"/>
                <a:gd name="T1" fmla="*/ 0 h 7"/>
                <a:gd name="T2" fmla="*/ 0 w 7"/>
                <a:gd name="T3" fmla="*/ 5 h 7"/>
                <a:gd name="T4" fmla="*/ 3 w 7"/>
                <a:gd name="T5" fmla="*/ 7 h 7"/>
                <a:gd name="T6" fmla="*/ 7 w 7"/>
                <a:gd name="T7" fmla="*/ 2 h 7"/>
                <a:gd name="T8" fmla="*/ 3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2" y="6"/>
                    <a:pt x="3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1"/>
                    <a:pt x="4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2871788" y="1576388"/>
              <a:ext cx="30163" cy="30163"/>
            </a:xfrm>
            <a:custGeom>
              <a:avLst/>
              <a:gdLst>
                <a:gd name="T0" fmla="*/ 4 w 7"/>
                <a:gd name="T1" fmla="*/ 0 h 7"/>
                <a:gd name="T2" fmla="*/ 0 w 7"/>
                <a:gd name="T3" fmla="*/ 5 h 7"/>
                <a:gd name="T4" fmla="*/ 3 w 7"/>
                <a:gd name="T5" fmla="*/ 7 h 7"/>
                <a:gd name="T6" fmla="*/ 7 w 7"/>
                <a:gd name="T7" fmla="*/ 3 h 7"/>
                <a:gd name="T8" fmla="*/ 4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7"/>
                    <a:pt x="3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2906713" y="1619250"/>
              <a:ext cx="30163" cy="28575"/>
            </a:xfrm>
            <a:custGeom>
              <a:avLst/>
              <a:gdLst>
                <a:gd name="T0" fmla="*/ 5 w 7"/>
                <a:gd name="T1" fmla="*/ 0 h 7"/>
                <a:gd name="T2" fmla="*/ 0 w 7"/>
                <a:gd name="T3" fmla="*/ 3 h 7"/>
                <a:gd name="T4" fmla="*/ 2 w 7"/>
                <a:gd name="T5" fmla="*/ 7 h 7"/>
                <a:gd name="T6" fmla="*/ 7 w 7"/>
                <a:gd name="T7" fmla="*/ 3 h 7"/>
                <a:gd name="T8" fmla="*/ 5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5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2" y="6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2" name="Freeform 40"/>
            <p:cNvSpPr/>
            <p:nvPr/>
          </p:nvSpPr>
          <p:spPr bwMode="auto">
            <a:xfrm>
              <a:off x="2932113" y="1665288"/>
              <a:ext cx="30163" cy="25400"/>
            </a:xfrm>
            <a:custGeom>
              <a:avLst/>
              <a:gdLst>
                <a:gd name="T0" fmla="*/ 5 w 7"/>
                <a:gd name="T1" fmla="*/ 0 h 6"/>
                <a:gd name="T2" fmla="*/ 0 w 7"/>
                <a:gd name="T3" fmla="*/ 2 h 6"/>
                <a:gd name="T4" fmla="*/ 2 w 7"/>
                <a:gd name="T5" fmla="*/ 6 h 6"/>
                <a:gd name="T6" fmla="*/ 7 w 7"/>
                <a:gd name="T7" fmla="*/ 4 h 6"/>
                <a:gd name="T8" fmla="*/ 5 w 7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5"/>
                    <a:pt x="2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952750" y="1716088"/>
              <a:ext cx="25400" cy="20638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1 h 5"/>
                <a:gd name="T4" fmla="*/ 0 w 6"/>
                <a:gd name="T5" fmla="*/ 5 h 5"/>
                <a:gd name="T6" fmla="*/ 6 w 6"/>
                <a:gd name="T7" fmla="*/ 4 h 5"/>
                <a:gd name="T8" fmla="*/ 5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4"/>
                    <a:pt x="0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4" name="Freeform 42"/>
            <p:cNvSpPr/>
            <p:nvPr/>
          </p:nvSpPr>
          <p:spPr bwMode="auto">
            <a:xfrm>
              <a:off x="2962275" y="1766888"/>
              <a:ext cx="25400" cy="22225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1 h 5"/>
                <a:gd name="T4" fmla="*/ 0 w 6"/>
                <a:gd name="T5" fmla="*/ 5 h 5"/>
                <a:gd name="T6" fmla="*/ 6 w 6"/>
                <a:gd name="T7" fmla="*/ 4 h 5"/>
                <a:gd name="T8" fmla="*/ 5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2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2957513" y="1817688"/>
              <a:ext cx="25400" cy="22225"/>
            </a:xfrm>
            <a:custGeom>
              <a:avLst/>
              <a:gdLst>
                <a:gd name="T0" fmla="*/ 6 w 6"/>
                <a:gd name="T1" fmla="*/ 1 h 5"/>
                <a:gd name="T2" fmla="*/ 1 w 6"/>
                <a:gd name="T3" fmla="*/ 0 h 5"/>
                <a:gd name="T4" fmla="*/ 0 w 6"/>
                <a:gd name="T5" fmla="*/ 4 h 5"/>
                <a:gd name="T6" fmla="*/ 6 w 6"/>
                <a:gd name="T7" fmla="*/ 5 h 5"/>
                <a:gd name="T8" fmla="*/ 6 w 6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6" name="Freeform 44"/>
            <p:cNvSpPr/>
            <p:nvPr/>
          </p:nvSpPr>
          <p:spPr bwMode="auto">
            <a:xfrm>
              <a:off x="2944813" y="1868488"/>
              <a:ext cx="30163" cy="25400"/>
            </a:xfrm>
            <a:custGeom>
              <a:avLst/>
              <a:gdLst>
                <a:gd name="T0" fmla="*/ 7 w 7"/>
                <a:gd name="T1" fmla="*/ 1 h 6"/>
                <a:gd name="T2" fmla="*/ 2 w 7"/>
                <a:gd name="T3" fmla="*/ 0 h 6"/>
                <a:gd name="T4" fmla="*/ 0 w 7"/>
                <a:gd name="T5" fmla="*/ 4 h 6"/>
                <a:gd name="T6" fmla="*/ 6 w 7"/>
                <a:gd name="T7" fmla="*/ 6 h 6"/>
                <a:gd name="T8" fmla="*/ 7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2"/>
                    <a:pt x="0" y="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4"/>
                    <a:pt x="7" y="3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7" name="Freeform 45"/>
            <p:cNvSpPr/>
            <p:nvPr/>
          </p:nvSpPr>
          <p:spPr bwMode="auto">
            <a:xfrm>
              <a:off x="2922588" y="1916113"/>
              <a:ext cx="30163" cy="25400"/>
            </a:xfrm>
            <a:custGeom>
              <a:avLst/>
              <a:gdLst>
                <a:gd name="T0" fmla="*/ 7 w 7"/>
                <a:gd name="T1" fmla="*/ 2 h 6"/>
                <a:gd name="T2" fmla="*/ 2 w 7"/>
                <a:gd name="T3" fmla="*/ 0 h 6"/>
                <a:gd name="T4" fmla="*/ 0 w 7"/>
                <a:gd name="T5" fmla="*/ 3 h 6"/>
                <a:gd name="T6" fmla="*/ 5 w 7"/>
                <a:gd name="T7" fmla="*/ 6 h 6"/>
                <a:gd name="T8" fmla="*/ 7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2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4"/>
                    <a:pt x="7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2897188" y="1958975"/>
              <a:ext cx="30163" cy="28575"/>
            </a:xfrm>
            <a:custGeom>
              <a:avLst/>
              <a:gdLst>
                <a:gd name="T0" fmla="*/ 7 w 7"/>
                <a:gd name="T1" fmla="*/ 3 h 7"/>
                <a:gd name="T2" fmla="*/ 2 w 7"/>
                <a:gd name="T3" fmla="*/ 0 h 7"/>
                <a:gd name="T4" fmla="*/ 0 w 7"/>
                <a:gd name="T5" fmla="*/ 3 h 7"/>
                <a:gd name="T6" fmla="*/ 4 w 7"/>
                <a:gd name="T7" fmla="*/ 7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5"/>
                    <a:pt x="6" y="4"/>
                    <a:pt x="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09" name="Freeform 47"/>
            <p:cNvSpPr/>
            <p:nvPr/>
          </p:nvSpPr>
          <p:spPr bwMode="auto">
            <a:xfrm>
              <a:off x="2859088" y="1992313"/>
              <a:ext cx="30163" cy="30163"/>
            </a:xfrm>
            <a:custGeom>
              <a:avLst/>
              <a:gdLst>
                <a:gd name="T0" fmla="*/ 7 w 7"/>
                <a:gd name="T1" fmla="*/ 5 h 7"/>
                <a:gd name="T2" fmla="*/ 3 w 7"/>
                <a:gd name="T3" fmla="*/ 0 h 7"/>
                <a:gd name="T4" fmla="*/ 0 w 7"/>
                <a:gd name="T5" fmla="*/ 3 h 7"/>
                <a:gd name="T6" fmla="*/ 4 w 7"/>
                <a:gd name="T7" fmla="*/ 7 h 7"/>
                <a:gd name="T8" fmla="*/ 7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6" y="6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2817813" y="2022475"/>
              <a:ext cx="28575" cy="33338"/>
            </a:xfrm>
            <a:custGeom>
              <a:avLst/>
              <a:gdLst>
                <a:gd name="T0" fmla="*/ 7 w 7"/>
                <a:gd name="T1" fmla="*/ 5 h 8"/>
                <a:gd name="T2" fmla="*/ 4 w 7"/>
                <a:gd name="T3" fmla="*/ 0 h 8"/>
                <a:gd name="T4" fmla="*/ 0 w 7"/>
                <a:gd name="T5" fmla="*/ 2 h 8"/>
                <a:gd name="T6" fmla="*/ 3 w 7"/>
                <a:gd name="T7" fmla="*/ 8 h 8"/>
                <a:gd name="T8" fmla="*/ 7 w 7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5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2" y="2"/>
                    <a:pt x="0" y="2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5" y="7"/>
                    <a:pt x="6" y="6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1" name="Freeform 49"/>
            <p:cNvSpPr/>
            <p:nvPr/>
          </p:nvSpPr>
          <p:spPr bwMode="auto">
            <a:xfrm>
              <a:off x="2774950" y="2047875"/>
              <a:ext cx="25400" cy="30163"/>
            </a:xfrm>
            <a:custGeom>
              <a:avLst/>
              <a:gdLst>
                <a:gd name="T0" fmla="*/ 6 w 6"/>
                <a:gd name="T1" fmla="*/ 5 h 7"/>
                <a:gd name="T2" fmla="*/ 3 w 6"/>
                <a:gd name="T3" fmla="*/ 0 h 7"/>
                <a:gd name="T4" fmla="*/ 0 w 6"/>
                <a:gd name="T5" fmla="*/ 1 h 7"/>
                <a:gd name="T6" fmla="*/ 1 w 6"/>
                <a:gd name="T7" fmla="*/ 7 h 7"/>
                <a:gd name="T8" fmla="*/ 6 w 6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6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3" y="6"/>
                    <a:pt x="4" y="6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2" name="Freeform 50"/>
            <p:cNvSpPr/>
            <p:nvPr/>
          </p:nvSpPr>
          <p:spPr bwMode="auto">
            <a:xfrm>
              <a:off x="2724150" y="2060575"/>
              <a:ext cx="20638" cy="25400"/>
            </a:xfrm>
            <a:custGeom>
              <a:avLst/>
              <a:gdLst>
                <a:gd name="T0" fmla="*/ 5 w 5"/>
                <a:gd name="T1" fmla="*/ 6 h 6"/>
                <a:gd name="T2" fmla="*/ 4 w 5"/>
                <a:gd name="T3" fmla="*/ 0 h 6"/>
                <a:gd name="T4" fmla="*/ 0 w 5"/>
                <a:gd name="T5" fmla="*/ 0 h 6"/>
                <a:gd name="T6" fmla="*/ 1 w 5"/>
                <a:gd name="T7" fmla="*/ 6 h 6"/>
                <a:gd name="T8" fmla="*/ 5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4" y="6"/>
                    <a:pt x="5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2673350" y="2065338"/>
              <a:ext cx="20638" cy="25400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5 h 6"/>
                <a:gd name="T4" fmla="*/ 5 w 5"/>
                <a:gd name="T5" fmla="*/ 6 h 6"/>
                <a:gd name="T6" fmla="*/ 5 w 5"/>
                <a:gd name="T7" fmla="*/ 0 h 6"/>
                <a:gd name="T8" fmla="*/ 1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2620963" y="2055813"/>
              <a:ext cx="22225" cy="25400"/>
            </a:xfrm>
            <a:custGeom>
              <a:avLst/>
              <a:gdLst>
                <a:gd name="T0" fmla="*/ 4 w 5"/>
                <a:gd name="T1" fmla="*/ 6 h 6"/>
                <a:gd name="T2" fmla="*/ 5 w 5"/>
                <a:gd name="T3" fmla="*/ 1 h 6"/>
                <a:gd name="T4" fmla="*/ 1 w 5"/>
                <a:gd name="T5" fmla="*/ 0 h 6"/>
                <a:gd name="T6" fmla="*/ 0 w 5"/>
                <a:gd name="T7" fmla="*/ 6 h 6"/>
                <a:gd name="T8" fmla="*/ 4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4" y="6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6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5" name="Freeform 53"/>
            <p:cNvSpPr/>
            <p:nvPr/>
          </p:nvSpPr>
          <p:spPr bwMode="auto">
            <a:xfrm>
              <a:off x="2570163" y="2038350"/>
              <a:ext cx="25400" cy="30163"/>
            </a:xfrm>
            <a:custGeom>
              <a:avLst/>
              <a:gdLst>
                <a:gd name="T0" fmla="*/ 4 w 6"/>
                <a:gd name="T1" fmla="*/ 7 h 7"/>
                <a:gd name="T2" fmla="*/ 6 w 6"/>
                <a:gd name="T3" fmla="*/ 1 h 7"/>
                <a:gd name="T4" fmla="*/ 2 w 6"/>
                <a:gd name="T5" fmla="*/ 0 h 7"/>
                <a:gd name="T6" fmla="*/ 0 w 6"/>
                <a:gd name="T7" fmla="*/ 5 h 7"/>
                <a:gd name="T8" fmla="*/ 4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4" y="7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4" y="1"/>
                    <a:pt x="3" y="1"/>
                    <a:pt x="2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6" name="Freeform 54"/>
            <p:cNvSpPr/>
            <p:nvPr/>
          </p:nvSpPr>
          <p:spPr bwMode="auto">
            <a:xfrm>
              <a:off x="2524125" y="2012950"/>
              <a:ext cx="25400" cy="30163"/>
            </a:xfrm>
            <a:custGeom>
              <a:avLst/>
              <a:gdLst>
                <a:gd name="T0" fmla="*/ 3 w 6"/>
                <a:gd name="T1" fmla="*/ 7 h 7"/>
                <a:gd name="T2" fmla="*/ 6 w 6"/>
                <a:gd name="T3" fmla="*/ 2 h 7"/>
                <a:gd name="T4" fmla="*/ 3 w 6"/>
                <a:gd name="T5" fmla="*/ 0 h 7"/>
                <a:gd name="T6" fmla="*/ 0 w 6"/>
                <a:gd name="T7" fmla="*/ 5 h 7"/>
                <a:gd name="T8" fmla="*/ 3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6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2481263" y="1979613"/>
              <a:ext cx="30163" cy="33338"/>
            </a:xfrm>
            <a:custGeom>
              <a:avLst/>
              <a:gdLst>
                <a:gd name="T0" fmla="*/ 3 w 7"/>
                <a:gd name="T1" fmla="*/ 8 h 8"/>
                <a:gd name="T2" fmla="*/ 7 w 7"/>
                <a:gd name="T3" fmla="*/ 3 h 8"/>
                <a:gd name="T4" fmla="*/ 4 w 7"/>
                <a:gd name="T5" fmla="*/ 0 h 8"/>
                <a:gd name="T6" fmla="*/ 0 w 7"/>
                <a:gd name="T7" fmla="*/ 5 h 8"/>
                <a:gd name="T8" fmla="*/ 3 w 7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5" y="1"/>
                    <a:pt x="4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7"/>
                    <a:pt x="3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8" name="Freeform 56"/>
            <p:cNvSpPr/>
            <p:nvPr/>
          </p:nvSpPr>
          <p:spPr bwMode="auto">
            <a:xfrm>
              <a:off x="2447925" y="1941513"/>
              <a:ext cx="28575" cy="30163"/>
            </a:xfrm>
            <a:custGeom>
              <a:avLst/>
              <a:gdLst>
                <a:gd name="T0" fmla="*/ 2 w 7"/>
                <a:gd name="T1" fmla="*/ 7 h 7"/>
                <a:gd name="T2" fmla="*/ 7 w 7"/>
                <a:gd name="T3" fmla="*/ 4 h 7"/>
                <a:gd name="T4" fmla="*/ 5 w 7"/>
                <a:gd name="T5" fmla="*/ 0 h 7"/>
                <a:gd name="T6" fmla="*/ 0 w 7"/>
                <a:gd name="T7" fmla="*/ 4 h 7"/>
                <a:gd name="T8" fmla="*/ 2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2" y="7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5" y="1"/>
                    <a:pt x="5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1" y="6"/>
                    <a:pt x="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2422525" y="1898650"/>
              <a:ext cx="28575" cy="25400"/>
            </a:xfrm>
            <a:custGeom>
              <a:avLst/>
              <a:gdLst>
                <a:gd name="T0" fmla="*/ 2 w 7"/>
                <a:gd name="T1" fmla="*/ 6 h 6"/>
                <a:gd name="T2" fmla="*/ 7 w 7"/>
                <a:gd name="T3" fmla="*/ 4 h 6"/>
                <a:gd name="T4" fmla="*/ 5 w 7"/>
                <a:gd name="T5" fmla="*/ 0 h 6"/>
                <a:gd name="T6" fmla="*/ 0 w 7"/>
                <a:gd name="T7" fmla="*/ 2 h 6"/>
                <a:gd name="T8" fmla="*/ 2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6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1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1" y="5"/>
                    <a:pt x="2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0" name="Freeform 58"/>
            <p:cNvSpPr/>
            <p:nvPr/>
          </p:nvSpPr>
          <p:spPr bwMode="auto">
            <a:xfrm>
              <a:off x="2405063" y="1852613"/>
              <a:ext cx="30163" cy="20638"/>
            </a:xfrm>
            <a:custGeom>
              <a:avLst/>
              <a:gdLst>
                <a:gd name="T0" fmla="*/ 1 w 7"/>
                <a:gd name="T1" fmla="*/ 5 h 5"/>
                <a:gd name="T2" fmla="*/ 7 w 7"/>
                <a:gd name="T3" fmla="*/ 4 h 5"/>
                <a:gd name="T4" fmla="*/ 6 w 7"/>
                <a:gd name="T5" fmla="*/ 0 h 5"/>
                <a:gd name="T6" fmla="*/ 0 w 7"/>
                <a:gd name="T7" fmla="*/ 1 h 5"/>
                <a:gd name="T8" fmla="*/ 1 w 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5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1" y="4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1" name="Freeform 59"/>
            <p:cNvSpPr/>
            <p:nvPr/>
          </p:nvSpPr>
          <p:spPr bwMode="auto">
            <a:xfrm>
              <a:off x="2397125" y="1801813"/>
              <a:ext cx="25400" cy="20638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4 h 5"/>
                <a:gd name="T4" fmla="*/ 6 w 6"/>
                <a:gd name="T5" fmla="*/ 0 h 5"/>
                <a:gd name="T6" fmla="*/ 0 w 6"/>
                <a:gd name="T7" fmla="*/ 1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2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2" name="Freeform 60"/>
            <p:cNvSpPr/>
            <p:nvPr/>
          </p:nvSpPr>
          <p:spPr bwMode="auto">
            <a:xfrm>
              <a:off x="2400300" y="1751013"/>
              <a:ext cx="25400" cy="20638"/>
            </a:xfrm>
            <a:custGeom>
              <a:avLst/>
              <a:gdLst>
                <a:gd name="T0" fmla="*/ 0 w 6"/>
                <a:gd name="T1" fmla="*/ 4 h 5"/>
                <a:gd name="T2" fmla="*/ 5 w 6"/>
                <a:gd name="T3" fmla="*/ 5 h 5"/>
                <a:gd name="T4" fmla="*/ 6 w 6"/>
                <a:gd name="T5" fmla="*/ 1 h 5"/>
                <a:gd name="T6" fmla="*/ 0 w 6"/>
                <a:gd name="T7" fmla="*/ 0 h 5"/>
                <a:gd name="T8" fmla="*/ 0 w 6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4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6" y="3"/>
                    <a:pt x="6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3" name="Freeform 61"/>
            <p:cNvSpPr/>
            <p:nvPr/>
          </p:nvSpPr>
          <p:spPr bwMode="auto">
            <a:xfrm>
              <a:off x="2409825" y="1695450"/>
              <a:ext cx="28575" cy="25400"/>
            </a:xfrm>
            <a:custGeom>
              <a:avLst/>
              <a:gdLst>
                <a:gd name="T0" fmla="*/ 0 w 7"/>
                <a:gd name="T1" fmla="*/ 4 h 6"/>
                <a:gd name="T2" fmla="*/ 6 w 7"/>
                <a:gd name="T3" fmla="*/ 6 h 6"/>
                <a:gd name="T4" fmla="*/ 7 w 7"/>
                <a:gd name="T5" fmla="*/ 2 h 6"/>
                <a:gd name="T6" fmla="*/ 1 w 7"/>
                <a:gd name="T7" fmla="*/ 0 h 6"/>
                <a:gd name="T8" fmla="*/ 0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4"/>
                  </a:move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6" y="4"/>
                    <a:pt x="7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4" name="Freeform 62"/>
            <p:cNvSpPr/>
            <p:nvPr/>
          </p:nvSpPr>
          <p:spPr bwMode="auto">
            <a:xfrm>
              <a:off x="2430463" y="1647825"/>
              <a:ext cx="30163" cy="25400"/>
            </a:xfrm>
            <a:custGeom>
              <a:avLst/>
              <a:gdLst>
                <a:gd name="T0" fmla="*/ 0 w 7"/>
                <a:gd name="T1" fmla="*/ 4 h 6"/>
                <a:gd name="T2" fmla="*/ 5 w 7"/>
                <a:gd name="T3" fmla="*/ 6 h 6"/>
                <a:gd name="T4" fmla="*/ 7 w 7"/>
                <a:gd name="T5" fmla="*/ 3 h 6"/>
                <a:gd name="T6" fmla="*/ 2 w 7"/>
                <a:gd name="T7" fmla="*/ 0 h 6"/>
                <a:gd name="T8" fmla="*/ 0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4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6" y="4"/>
                    <a:pt x="7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5" name="Freeform 63"/>
            <p:cNvSpPr/>
            <p:nvPr/>
          </p:nvSpPr>
          <p:spPr bwMode="auto">
            <a:xfrm>
              <a:off x="2455863" y="1601788"/>
              <a:ext cx="33338" cy="30163"/>
            </a:xfrm>
            <a:custGeom>
              <a:avLst/>
              <a:gdLst>
                <a:gd name="T0" fmla="*/ 0 w 8"/>
                <a:gd name="T1" fmla="*/ 4 h 7"/>
                <a:gd name="T2" fmla="*/ 5 w 8"/>
                <a:gd name="T3" fmla="*/ 7 h 7"/>
                <a:gd name="T4" fmla="*/ 8 w 8"/>
                <a:gd name="T5" fmla="*/ 4 h 7"/>
                <a:gd name="T6" fmla="*/ 3 w 8"/>
                <a:gd name="T7" fmla="*/ 0 h 7"/>
                <a:gd name="T8" fmla="*/ 0 w 8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6" y="6"/>
                    <a:pt x="7" y="5"/>
                    <a:pt x="8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6" name="Freeform 64"/>
            <p:cNvSpPr/>
            <p:nvPr/>
          </p:nvSpPr>
          <p:spPr bwMode="auto">
            <a:xfrm>
              <a:off x="2493963" y="1566863"/>
              <a:ext cx="30163" cy="30163"/>
            </a:xfrm>
            <a:custGeom>
              <a:avLst/>
              <a:gdLst>
                <a:gd name="T0" fmla="*/ 0 w 7"/>
                <a:gd name="T1" fmla="*/ 2 h 7"/>
                <a:gd name="T2" fmla="*/ 4 w 7"/>
                <a:gd name="T3" fmla="*/ 7 h 7"/>
                <a:gd name="T4" fmla="*/ 7 w 7"/>
                <a:gd name="T5" fmla="*/ 4 h 7"/>
                <a:gd name="T6" fmla="*/ 3 w 7"/>
                <a:gd name="T7" fmla="*/ 0 h 7"/>
                <a:gd name="T8" fmla="*/ 0 w 7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0" y="2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5"/>
                    <a:pt x="7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7" name="Freeform 65"/>
            <p:cNvSpPr/>
            <p:nvPr/>
          </p:nvSpPr>
          <p:spPr bwMode="auto">
            <a:xfrm>
              <a:off x="2536825" y="1533525"/>
              <a:ext cx="30163" cy="33338"/>
            </a:xfrm>
            <a:custGeom>
              <a:avLst/>
              <a:gdLst>
                <a:gd name="T0" fmla="*/ 0 w 7"/>
                <a:gd name="T1" fmla="*/ 3 h 8"/>
                <a:gd name="T2" fmla="*/ 3 w 7"/>
                <a:gd name="T3" fmla="*/ 8 h 8"/>
                <a:gd name="T4" fmla="*/ 7 w 7"/>
                <a:gd name="T5" fmla="*/ 6 h 8"/>
                <a:gd name="T6" fmla="*/ 4 w 7"/>
                <a:gd name="T7" fmla="*/ 0 h 8"/>
                <a:gd name="T8" fmla="*/ 0 w 7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5" y="6"/>
                    <a:pt x="7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8" name="Freeform 66"/>
            <p:cNvSpPr/>
            <p:nvPr/>
          </p:nvSpPr>
          <p:spPr bwMode="auto">
            <a:xfrm>
              <a:off x="2587625" y="1512888"/>
              <a:ext cx="20638" cy="28575"/>
            </a:xfrm>
            <a:custGeom>
              <a:avLst/>
              <a:gdLst>
                <a:gd name="T0" fmla="*/ 0 w 5"/>
                <a:gd name="T1" fmla="*/ 2 h 7"/>
                <a:gd name="T2" fmla="*/ 2 w 5"/>
                <a:gd name="T3" fmla="*/ 7 h 7"/>
                <a:gd name="T4" fmla="*/ 5 w 5"/>
                <a:gd name="T5" fmla="*/ 6 h 7"/>
                <a:gd name="T6" fmla="*/ 4 w 5"/>
                <a:gd name="T7" fmla="*/ 0 h 7"/>
                <a:gd name="T8" fmla="*/ 0 w 5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0" y="2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4" y="6"/>
                    <a:pt x="5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29" name="Freeform 67"/>
            <p:cNvSpPr/>
            <p:nvPr/>
          </p:nvSpPr>
          <p:spPr bwMode="auto">
            <a:xfrm>
              <a:off x="2638425" y="1503363"/>
              <a:ext cx="22225" cy="25400"/>
            </a:xfrm>
            <a:custGeom>
              <a:avLst/>
              <a:gdLst>
                <a:gd name="T0" fmla="*/ 0 w 5"/>
                <a:gd name="T1" fmla="*/ 0 h 6"/>
                <a:gd name="T2" fmla="*/ 1 w 5"/>
                <a:gd name="T3" fmla="*/ 6 h 6"/>
                <a:gd name="T4" fmla="*/ 5 w 5"/>
                <a:gd name="T5" fmla="*/ 6 h 6"/>
                <a:gd name="T6" fmla="*/ 4 w 5"/>
                <a:gd name="T7" fmla="*/ 0 h 6"/>
                <a:gd name="T8" fmla="*/ 0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</p:grpSp>
      <p:grpSp>
        <p:nvGrpSpPr>
          <p:cNvPr id="9" name="组合 129"/>
          <p:cNvGrpSpPr/>
          <p:nvPr/>
        </p:nvGrpSpPr>
        <p:grpSpPr>
          <a:xfrm>
            <a:off x="4863650" y="2497801"/>
            <a:ext cx="184880" cy="184880"/>
            <a:chOff x="2397125" y="1500188"/>
            <a:chExt cx="590550" cy="590550"/>
          </a:xfrm>
          <a:solidFill>
            <a:srgbClr val="0070C0"/>
          </a:solidFill>
        </p:grpSpPr>
        <p:sp>
          <p:nvSpPr>
            <p:cNvPr id="131" name="Oval 33"/>
            <p:cNvSpPr>
              <a:spLocks noChangeArrowheads="1"/>
            </p:cNvSpPr>
            <p:nvPr/>
          </p:nvSpPr>
          <p:spPr bwMode="auto">
            <a:xfrm>
              <a:off x="2489200" y="1597025"/>
              <a:ext cx="404813" cy="40798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32" name="Freeform 34"/>
            <p:cNvSpPr/>
            <p:nvPr/>
          </p:nvSpPr>
          <p:spPr bwMode="auto">
            <a:xfrm>
              <a:off x="2693988" y="1500188"/>
              <a:ext cx="17463" cy="25400"/>
            </a:xfrm>
            <a:custGeom>
              <a:avLst/>
              <a:gdLst>
                <a:gd name="T0" fmla="*/ 3 w 4"/>
                <a:gd name="T1" fmla="*/ 6 h 6"/>
                <a:gd name="T2" fmla="*/ 4 w 4"/>
                <a:gd name="T3" fmla="*/ 1 h 6"/>
                <a:gd name="T4" fmla="*/ 0 w 4"/>
                <a:gd name="T5" fmla="*/ 0 h 6"/>
                <a:gd name="T6" fmla="*/ 0 w 4"/>
                <a:gd name="T7" fmla="*/ 6 h 6"/>
                <a:gd name="T8" fmla="*/ 3 w 4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3" y="6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33" name="Freeform 35"/>
            <p:cNvSpPr/>
            <p:nvPr/>
          </p:nvSpPr>
          <p:spPr bwMode="auto">
            <a:xfrm>
              <a:off x="2740025" y="1508125"/>
              <a:ext cx="22225" cy="25400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5 h 6"/>
                <a:gd name="T4" fmla="*/ 4 w 5"/>
                <a:gd name="T5" fmla="*/ 6 h 6"/>
                <a:gd name="T6" fmla="*/ 5 w 5"/>
                <a:gd name="T7" fmla="*/ 0 h 6"/>
                <a:gd name="T8" fmla="*/ 1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3" y="6"/>
                    <a:pt x="4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34" name="Freeform 36"/>
            <p:cNvSpPr/>
            <p:nvPr/>
          </p:nvSpPr>
          <p:spPr bwMode="auto">
            <a:xfrm>
              <a:off x="2787650" y="1520825"/>
              <a:ext cx="25400" cy="30163"/>
            </a:xfrm>
            <a:custGeom>
              <a:avLst/>
              <a:gdLst>
                <a:gd name="T0" fmla="*/ 3 w 6"/>
                <a:gd name="T1" fmla="*/ 0 h 7"/>
                <a:gd name="T2" fmla="*/ 0 w 6"/>
                <a:gd name="T3" fmla="*/ 5 h 7"/>
                <a:gd name="T4" fmla="*/ 4 w 6"/>
                <a:gd name="T5" fmla="*/ 7 h 7"/>
                <a:gd name="T6" fmla="*/ 6 w 6"/>
                <a:gd name="T7" fmla="*/ 2 h 7"/>
                <a:gd name="T8" fmla="*/ 3 w 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3" y="6"/>
                    <a:pt x="4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1"/>
                    <a:pt x="4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35" name="Freeform 37"/>
            <p:cNvSpPr/>
            <p:nvPr/>
          </p:nvSpPr>
          <p:spPr bwMode="auto">
            <a:xfrm>
              <a:off x="2833688" y="1546225"/>
              <a:ext cx="30163" cy="30163"/>
            </a:xfrm>
            <a:custGeom>
              <a:avLst/>
              <a:gdLst>
                <a:gd name="T0" fmla="*/ 3 w 7"/>
                <a:gd name="T1" fmla="*/ 0 h 7"/>
                <a:gd name="T2" fmla="*/ 0 w 7"/>
                <a:gd name="T3" fmla="*/ 5 h 7"/>
                <a:gd name="T4" fmla="*/ 3 w 7"/>
                <a:gd name="T5" fmla="*/ 7 h 7"/>
                <a:gd name="T6" fmla="*/ 7 w 7"/>
                <a:gd name="T7" fmla="*/ 2 h 7"/>
                <a:gd name="T8" fmla="*/ 3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2" y="6"/>
                    <a:pt x="3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1"/>
                    <a:pt x="4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36" name="Freeform 38"/>
            <p:cNvSpPr/>
            <p:nvPr/>
          </p:nvSpPr>
          <p:spPr bwMode="auto">
            <a:xfrm>
              <a:off x="2871788" y="1576388"/>
              <a:ext cx="30163" cy="30163"/>
            </a:xfrm>
            <a:custGeom>
              <a:avLst/>
              <a:gdLst>
                <a:gd name="T0" fmla="*/ 4 w 7"/>
                <a:gd name="T1" fmla="*/ 0 h 7"/>
                <a:gd name="T2" fmla="*/ 0 w 7"/>
                <a:gd name="T3" fmla="*/ 5 h 7"/>
                <a:gd name="T4" fmla="*/ 3 w 7"/>
                <a:gd name="T5" fmla="*/ 7 h 7"/>
                <a:gd name="T6" fmla="*/ 7 w 7"/>
                <a:gd name="T7" fmla="*/ 3 h 7"/>
                <a:gd name="T8" fmla="*/ 4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7"/>
                    <a:pt x="3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37" name="Freeform 39"/>
            <p:cNvSpPr/>
            <p:nvPr/>
          </p:nvSpPr>
          <p:spPr bwMode="auto">
            <a:xfrm>
              <a:off x="2906713" y="1619250"/>
              <a:ext cx="30163" cy="28575"/>
            </a:xfrm>
            <a:custGeom>
              <a:avLst/>
              <a:gdLst>
                <a:gd name="T0" fmla="*/ 5 w 7"/>
                <a:gd name="T1" fmla="*/ 0 h 7"/>
                <a:gd name="T2" fmla="*/ 0 w 7"/>
                <a:gd name="T3" fmla="*/ 3 h 7"/>
                <a:gd name="T4" fmla="*/ 2 w 7"/>
                <a:gd name="T5" fmla="*/ 7 h 7"/>
                <a:gd name="T6" fmla="*/ 7 w 7"/>
                <a:gd name="T7" fmla="*/ 3 h 7"/>
                <a:gd name="T8" fmla="*/ 5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5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2" y="6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38" name="Freeform 40"/>
            <p:cNvSpPr/>
            <p:nvPr/>
          </p:nvSpPr>
          <p:spPr bwMode="auto">
            <a:xfrm>
              <a:off x="2932113" y="1665288"/>
              <a:ext cx="30163" cy="25400"/>
            </a:xfrm>
            <a:custGeom>
              <a:avLst/>
              <a:gdLst>
                <a:gd name="T0" fmla="*/ 5 w 7"/>
                <a:gd name="T1" fmla="*/ 0 h 6"/>
                <a:gd name="T2" fmla="*/ 0 w 7"/>
                <a:gd name="T3" fmla="*/ 2 h 6"/>
                <a:gd name="T4" fmla="*/ 2 w 7"/>
                <a:gd name="T5" fmla="*/ 6 h 6"/>
                <a:gd name="T6" fmla="*/ 7 w 7"/>
                <a:gd name="T7" fmla="*/ 4 h 6"/>
                <a:gd name="T8" fmla="*/ 5 w 7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5"/>
                    <a:pt x="2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39" name="Freeform 41"/>
            <p:cNvSpPr/>
            <p:nvPr/>
          </p:nvSpPr>
          <p:spPr bwMode="auto">
            <a:xfrm>
              <a:off x="2952750" y="1716088"/>
              <a:ext cx="25400" cy="20638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1 h 5"/>
                <a:gd name="T4" fmla="*/ 0 w 6"/>
                <a:gd name="T5" fmla="*/ 5 h 5"/>
                <a:gd name="T6" fmla="*/ 6 w 6"/>
                <a:gd name="T7" fmla="*/ 4 h 5"/>
                <a:gd name="T8" fmla="*/ 5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4"/>
                    <a:pt x="0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0" name="Freeform 42"/>
            <p:cNvSpPr/>
            <p:nvPr/>
          </p:nvSpPr>
          <p:spPr bwMode="auto">
            <a:xfrm>
              <a:off x="2962275" y="1766888"/>
              <a:ext cx="25400" cy="22225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1 h 5"/>
                <a:gd name="T4" fmla="*/ 0 w 6"/>
                <a:gd name="T5" fmla="*/ 5 h 5"/>
                <a:gd name="T6" fmla="*/ 6 w 6"/>
                <a:gd name="T7" fmla="*/ 4 h 5"/>
                <a:gd name="T8" fmla="*/ 5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2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1" name="Freeform 43"/>
            <p:cNvSpPr/>
            <p:nvPr/>
          </p:nvSpPr>
          <p:spPr bwMode="auto">
            <a:xfrm>
              <a:off x="2957513" y="1817688"/>
              <a:ext cx="25400" cy="22225"/>
            </a:xfrm>
            <a:custGeom>
              <a:avLst/>
              <a:gdLst>
                <a:gd name="T0" fmla="*/ 6 w 6"/>
                <a:gd name="T1" fmla="*/ 1 h 5"/>
                <a:gd name="T2" fmla="*/ 1 w 6"/>
                <a:gd name="T3" fmla="*/ 0 h 5"/>
                <a:gd name="T4" fmla="*/ 0 w 6"/>
                <a:gd name="T5" fmla="*/ 4 h 5"/>
                <a:gd name="T6" fmla="*/ 6 w 6"/>
                <a:gd name="T7" fmla="*/ 5 h 5"/>
                <a:gd name="T8" fmla="*/ 6 w 6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2" name="Freeform 44"/>
            <p:cNvSpPr/>
            <p:nvPr/>
          </p:nvSpPr>
          <p:spPr bwMode="auto">
            <a:xfrm>
              <a:off x="2944813" y="1868488"/>
              <a:ext cx="30163" cy="25400"/>
            </a:xfrm>
            <a:custGeom>
              <a:avLst/>
              <a:gdLst>
                <a:gd name="T0" fmla="*/ 7 w 7"/>
                <a:gd name="T1" fmla="*/ 1 h 6"/>
                <a:gd name="T2" fmla="*/ 2 w 7"/>
                <a:gd name="T3" fmla="*/ 0 h 6"/>
                <a:gd name="T4" fmla="*/ 0 w 7"/>
                <a:gd name="T5" fmla="*/ 4 h 6"/>
                <a:gd name="T6" fmla="*/ 6 w 7"/>
                <a:gd name="T7" fmla="*/ 6 h 6"/>
                <a:gd name="T8" fmla="*/ 7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2"/>
                    <a:pt x="0" y="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4"/>
                    <a:pt x="7" y="3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3" name="Freeform 45"/>
            <p:cNvSpPr/>
            <p:nvPr/>
          </p:nvSpPr>
          <p:spPr bwMode="auto">
            <a:xfrm>
              <a:off x="2922588" y="1916113"/>
              <a:ext cx="30163" cy="25400"/>
            </a:xfrm>
            <a:custGeom>
              <a:avLst/>
              <a:gdLst>
                <a:gd name="T0" fmla="*/ 7 w 7"/>
                <a:gd name="T1" fmla="*/ 2 h 6"/>
                <a:gd name="T2" fmla="*/ 2 w 7"/>
                <a:gd name="T3" fmla="*/ 0 h 6"/>
                <a:gd name="T4" fmla="*/ 0 w 7"/>
                <a:gd name="T5" fmla="*/ 3 h 6"/>
                <a:gd name="T6" fmla="*/ 5 w 7"/>
                <a:gd name="T7" fmla="*/ 6 h 6"/>
                <a:gd name="T8" fmla="*/ 7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2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4"/>
                    <a:pt x="7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4" name="Freeform 46"/>
            <p:cNvSpPr/>
            <p:nvPr/>
          </p:nvSpPr>
          <p:spPr bwMode="auto">
            <a:xfrm>
              <a:off x="2897188" y="1958975"/>
              <a:ext cx="30163" cy="28575"/>
            </a:xfrm>
            <a:custGeom>
              <a:avLst/>
              <a:gdLst>
                <a:gd name="T0" fmla="*/ 7 w 7"/>
                <a:gd name="T1" fmla="*/ 3 h 7"/>
                <a:gd name="T2" fmla="*/ 2 w 7"/>
                <a:gd name="T3" fmla="*/ 0 h 7"/>
                <a:gd name="T4" fmla="*/ 0 w 7"/>
                <a:gd name="T5" fmla="*/ 3 h 7"/>
                <a:gd name="T6" fmla="*/ 4 w 7"/>
                <a:gd name="T7" fmla="*/ 7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5"/>
                    <a:pt x="6" y="4"/>
                    <a:pt x="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5" name="Freeform 47"/>
            <p:cNvSpPr/>
            <p:nvPr/>
          </p:nvSpPr>
          <p:spPr bwMode="auto">
            <a:xfrm>
              <a:off x="2859088" y="1992313"/>
              <a:ext cx="30163" cy="30163"/>
            </a:xfrm>
            <a:custGeom>
              <a:avLst/>
              <a:gdLst>
                <a:gd name="T0" fmla="*/ 7 w 7"/>
                <a:gd name="T1" fmla="*/ 5 h 7"/>
                <a:gd name="T2" fmla="*/ 3 w 7"/>
                <a:gd name="T3" fmla="*/ 0 h 7"/>
                <a:gd name="T4" fmla="*/ 0 w 7"/>
                <a:gd name="T5" fmla="*/ 3 h 7"/>
                <a:gd name="T6" fmla="*/ 4 w 7"/>
                <a:gd name="T7" fmla="*/ 7 h 7"/>
                <a:gd name="T8" fmla="*/ 7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6" y="6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6" name="Freeform 48"/>
            <p:cNvSpPr/>
            <p:nvPr/>
          </p:nvSpPr>
          <p:spPr bwMode="auto">
            <a:xfrm>
              <a:off x="2817813" y="2022475"/>
              <a:ext cx="28575" cy="33338"/>
            </a:xfrm>
            <a:custGeom>
              <a:avLst/>
              <a:gdLst>
                <a:gd name="T0" fmla="*/ 7 w 7"/>
                <a:gd name="T1" fmla="*/ 5 h 8"/>
                <a:gd name="T2" fmla="*/ 4 w 7"/>
                <a:gd name="T3" fmla="*/ 0 h 8"/>
                <a:gd name="T4" fmla="*/ 0 w 7"/>
                <a:gd name="T5" fmla="*/ 2 h 8"/>
                <a:gd name="T6" fmla="*/ 3 w 7"/>
                <a:gd name="T7" fmla="*/ 8 h 8"/>
                <a:gd name="T8" fmla="*/ 7 w 7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5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2" y="2"/>
                    <a:pt x="0" y="2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5" y="7"/>
                    <a:pt x="6" y="6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7" name="Freeform 49"/>
            <p:cNvSpPr/>
            <p:nvPr/>
          </p:nvSpPr>
          <p:spPr bwMode="auto">
            <a:xfrm>
              <a:off x="2774950" y="2047875"/>
              <a:ext cx="25400" cy="30163"/>
            </a:xfrm>
            <a:custGeom>
              <a:avLst/>
              <a:gdLst>
                <a:gd name="T0" fmla="*/ 6 w 6"/>
                <a:gd name="T1" fmla="*/ 5 h 7"/>
                <a:gd name="T2" fmla="*/ 3 w 6"/>
                <a:gd name="T3" fmla="*/ 0 h 7"/>
                <a:gd name="T4" fmla="*/ 0 w 6"/>
                <a:gd name="T5" fmla="*/ 1 h 7"/>
                <a:gd name="T6" fmla="*/ 1 w 6"/>
                <a:gd name="T7" fmla="*/ 7 h 7"/>
                <a:gd name="T8" fmla="*/ 6 w 6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6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3" y="6"/>
                    <a:pt x="4" y="6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8" name="Freeform 50"/>
            <p:cNvSpPr/>
            <p:nvPr/>
          </p:nvSpPr>
          <p:spPr bwMode="auto">
            <a:xfrm>
              <a:off x="2724150" y="2060575"/>
              <a:ext cx="20638" cy="25400"/>
            </a:xfrm>
            <a:custGeom>
              <a:avLst/>
              <a:gdLst>
                <a:gd name="T0" fmla="*/ 5 w 5"/>
                <a:gd name="T1" fmla="*/ 6 h 6"/>
                <a:gd name="T2" fmla="*/ 4 w 5"/>
                <a:gd name="T3" fmla="*/ 0 h 6"/>
                <a:gd name="T4" fmla="*/ 0 w 5"/>
                <a:gd name="T5" fmla="*/ 0 h 6"/>
                <a:gd name="T6" fmla="*/ 1 w 5"/>
                <a:gd name="T7" fmla="*/ 6 h 6"/>
                <a:gd name="T8" fmla="*/ 5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4" y="6"/>
                    <a:pt x="5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49" name="Freeform 51"/>
            <p:cNvSpPr/>
            <p:nvPr/>
          </p:nvSpPr>
          <p:spPr bwMode="auto">
            <a:xfrm>
              <a:off x="2673350" y="2065338"/>
              <a:ext cx="20638" cy="25400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5 h 6"/>
                <a:gd name="T4" fmla="*/ 5 w 5"/>
                <a:gd name="T5" fmla="*/ 6 h 6"/>
                <a:gd name="T6" fmla="*/ 5 w 5"/>
                <a:gd name="T7" fmla="*/ 0 h 6"/>
                <a:gd name="T8" fmla="*/ 1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0" name="Freeform 52"/>
            <p:cNvSpPr/>
            <p:nvPr/>
          </p:nvSpPr>
          <p:spPr bwMode="auto">
            <a:xfrm>
              <a:off x="2620963" y="2055813"/>
              <a:ext cx="22225" cy="25400"/>
            </a:xfrm>
            <a:custGeom>
              <a:avLst/>
              <a:gdLst>
                <a:gd name="T0" fmla="*/ 4 w 5"/>
                <a:gd name="T1" fmla="*/ 6 h 6"/>
                <a:gd name="T2" fmla="*/ 5 w 5"/>
                <a:gd name="T3" fmla="*/ 1 h 6"/>
                <a:gd name="T4" fmla="*/ 1 w 5"/>
                <a:gd name="T5" fmla="*/ 0 h 6"/>
                <a:gd name="T6" fmla="*/ 0 w 5"/>
                <a:gd name="T7" fmla="*/ 6 h 6"/>
                <a:gd name="T8" fmla="*/ 4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4" y="6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6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1" name="Freeform 53"/>
            <p:cNvSpPr/>
            <p:nvPr/>
          </p:nvSpPr>
          <p:spPr bwMode="auto">
            <a:xfrm>
              <a:off x="2570163" y="2038350"/>
              <a:ext cx="25400" cy="30163"/>
            </a:xfrm>
            <a:custGeom>
              <a:avLst/>
              <a:gdLst>
                <a:gd name="T0" fmla="*/ 4 w 6"/>
                <a:gd name="T1" fmla="*/ 7 h 7"/>
                <a:gd name="T2" fmla="*/ 6 w 6"/>
                <a:gd name="T3" fmla="*/ 1 h 7"/>
                <a:gd name="T4" fmla="*/ 2 w 6"/>
                <a:gd name="T5" fmla="*/ 0 h 7"/>
                <a:gd name="T6" fmla="*/ 0 w 6"/>
                <a:gd name="T7" fmla="*/ 5 h 7"/>
                <a:gd name="T8" fmla="*/ 4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4" y="7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4" y="1"/>
                    <a:pt x="3" y="1"/>
                    <a:pt x="2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2" name="Freeform 54"/>
            <p:cNvSpPr/>
            <p:nvPr/>
          </p:nvSpPr>
          <p:spPr bwMode="auto">
            <a:xfrm>
              <a:off x="2524125" y="2012950"/>
              <a:ext cx="25400" cy="30163"/>
            </a:xfrm>
            <a:custGeom>
              <a:avLst/>
              <a:gdLst>
                <a:gd name="T0" fmla="*/ 3 w 6"/>
                <a:gd name="T1" fmla="*/ 7 h 7"/>
                <a:gd name="T2" fmla="*/ 6 w 6"/>
                <a:gd name="T3" fmla="*/ 2 h 7"/>
                <a:gd name="T4" fmla="*/ 3 w 6"/>
                <a:gd name="T5" fmla="*/ 0 h 7"/>
                <a:gd name="T6" fmla="*/ 0 w 6"/>
                <a:gd name="T7" fmla="*/ 5 h 7"/>
                <a:gd name="T8" fmla="*/ 3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6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3" name="Freeform 55"/>
            <p:cNvSpPr/>
            <p:nvPr/>
          </p:nvSpPr>
          <p:spPr bwMode="auto">
            <a:xfrm>
              <a:off x="2481263" y="1979613"/>
              <a:ext cx="30163" cy="33338"/>
            </a:xfrm>
            <a:custGeom>
              <a:avLst/>
              <a:gdLst>
                <a:gd name="T0" fmla="*/ 3 w 7"/>
                <a:gd name="T1" fmla="*/ 8 h 8"/>
                <a:gd name="T2" fmla="*/ 7 w 7"/>
                <a:gd name="T3" fmla="*/ 3 h 8"/>
                <a:gd name="T4" fmla="*/ 4 w 7"/>
                <a:gd name="T5" fmla="*/ 0 h 8"/>
                <a:gd name="T6" fmla="*/ 0 w 7"/>
                <a:gd name="T7" fmla="*/ 5 h 8"/>
                <a:gd name="T8" fmla="*/ 3 w 7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5" y="1"/>
                    <a:pt x="4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7"/>
                    <a:pt x="3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4" name="Freeform 56"/>
            <p:cNvSpPr/>
            <p:nvPr/>
          </p:nvSpPr>
          <p:spPr bwMode="auto">
            <a:xfrm>
              <a:off x="2447925" y="1941513"/>
              <a:ext cx="28575" cy="30163"/>
            </a:xfrm>
            <a:custGeom>
              <a:avLst/>
              <a:gdLst>
                <a:gd name="T0" fmla="*/ 2 w 7"/>
                <a:gd name="T1" fmla="*/ 7 h 7"/>
                <a:gd name="T2" fmla="*/ 7 w 7"/>
                <a:gd name="T3" fmla="*/ 4 h 7"/>
                <a:gd name="T4" fmla="*/ 5 w 7"/>
                <a:gd name="T5" fmla="*/ 0 h 7"/>
                <a:gd name="T6" fmla="*/ 0 w 7"/>
                <a:gd name="T7" fmla="*/ 4 h 7"/>
                <a:gd name="T8" fmla="*/ 2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2" y="7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5" y="1"/>
                    <a:pt x="5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1" y="6"/>
                    <a:pt x="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5" name="Freeform 57"/>
            <p:cNvSpPr/>
            <p:nvPr/>
          </p:nvSpPr>
          <p:spPr bwMode="auto">
            <a:xfrm>
              <a:off x="2422525" y="1898650"/>
              <a:ext cx="28575" cy="25400"/>
            </a:xfrm>
            <a:custGeom>
              <a:avLst/>
              <a:gdLst>
                <a:gd name="T0" fmla="*/ 2 w 7"/>
                <a:gd name="T1" fmla="*/ 6 h 6"/>
                <a:gd name="T2" fmla="*/ 7 w 7"/>
                <a:gd name="T3" fmla="*/ 4 h 6"/>
                <a:gd name="T4" fmla="*/ 5 w 7"/>
                <a:gd name="T5" fmla="*/ 0 h 6"/>
                <a:gd name="T6" fmla="*/ 0 w 7"/>
                <a:gd name="T7" fmla="*/ 2 h 6"/>
                <a:gd name="T8" fmla="*/ 2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6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1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1" y="5"/>
                    <a:pt x="2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6" name="Freeform 58"/>
            <p:cNvSpPr/>
            <p:nvPr/>
          </p:nvSpPr>
          <p:spPr bwMode="auto">
            <a:xfrm>
              <a:off x="2405063" y="1852613"/>
              <a:ext cx="30163" cy="20638"/>
            </a:xfrm>
            <a:custGeom>
              <a:avLst/>
              <a:gdLst>
                <a:gd name="T0" fmla="*/ 1 w 7"/>
                <a:gd name="T1" fmla="*/ 5 h 5"/>
                <a:gd name="T2" fmla="*/ 7 w 7"/>
                <a:gd name="T3" fmla="*/ 4 h 5"/>
                <a:gd name="T4" fmla="*/ 6 w 7"/>
                <a:gd name="T5" fmla="*/ 0 h 5"/>
                <a:gd name="T6" fmla="*/ 0 w 7"/>
                <a:gd name="T7" fmla="*/ 1 h 5"/>
                <a:gd name="T8" fmla="*/ 1 w 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5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1" y="4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7" name="Freeform 59"/>
            <p:cNvSpPr/>
            <p:nvPr/>
          </p:nvSpPr>
          <p:spPr bwMode="auto">
            <a:xfrm>
              <a:off x="2397125" y="1801813"/>
              <a:ext cx="25400" cy="20638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4 h 5"/>
                <a:gd name="T4" fmla="*/ 6 w 6"/>
                <a:gd name="T5" fmla="*/ 0 h 5"/>
                <a:gd name="T6" fmla="*/ 0 w 6"/>
                <a:gd name="T7" fmla="*/ 1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2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8" name="Freeform 60"/>
            <p:cNvSpPr/>
            <p:nvPr/>
          </p:nvSpPr>
          <p:spPr bwMode="auto">
            <a:xfrm>
              <a:off x="2400300" y="1751013"/>
              <a:ext cx="25400" cy="20638"/>
            </a:xfrm>
            <a:custGeom>
              <a:avLst/>
              <a:gdLst>
                <a:gd name="T0" fmla="*/ 0 w 6"/>
                <a:gd name="T1" fmla="*/ 4 h 5"/>
                <a:gd name="T2" fmla="*/ 5 w 6"/>
                <a:gd name="T3" fmla="*/ 5 h 5"/>
                <a:gd name="T4" fmla="*/ 6 w 6"/>
                <a:gd name="T5" fmla="*/ 1 h 5"/>
                <a:gd name="T6" fmla="*/ 0 w 6"/>
                <a:gd name="T7" fmla="*/ 0 h 5"/>
                <a:gd name="T8" fmla="*/ 0 w 6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4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6" y="3"/>
                    <a:pt x="6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59" name="Freeform 61"/>
            <p:cNvSpPr/>
            <p:nvPr/>
          </p:nvSpPr>
          <p:spPr bwMode="auto">
            <a:xfrm>
              <a:off x="2409825" y="1695450"/>
              <a:ext cx="28575" cy="25400"/>
            </a:xfrm>
            <a:custGeom>
              <a:avLst/>
              <a:gdLst>
                <a:gd name="T0" fmla="*/ 0 w 7"/>
                <a:gd name="T1" fmla="*/ 4 h 6"/>
                <a:gd name="T2" fmla="*/ 6 w 7"/>
                <a:gd name="T3" fmla="*/ 6 h 6"/>
                <a:gd name="T4" fmla="*/ 7 w 7"/>
                <a:gd name="T5" fmla="*/ 2 h 6"/>
                <a:gd name="T6" fmla="*/ 1 w 7"/>
                <a:gd name="T7" fmla="*/ 0 h 6"/>
                <a:gd name="T8" fmla="*/ 0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4"/>
                  </a:move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6" y="4"/>
                    <a:pt x="7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60" name="Freeform 62"/>
            <p:cNvSpPr/>
            <p:nvPr/>
          </p:nvSpPr>
          <p:spPr bwMode="auto">
            <a:xfrm>
              <a:off x="2430463" y="1647825"/>
              <a:ext cx="30163" cy="25400"/>
            </a:xfrm>
            <a:custGeom>
              <a:avLst/>
              <a:gdLst>
                <a:gd name="T0" fmla="*/ 0 w 7"/>
                <a:gd name="T1" fmla="*/ 4 h 6"/>
                <a:gd name="T2" fmla="*/ 5 w 7"/>
                <a:gd name="T3" fmla="*/ 6 h 6"/>
                <a:gd name="T4" fmla="*/ 7 w 7"/>
                <a:gd name="T5" fmla="*/ 3 h 6"/>
                <a:gd name="T6" fmla="*/ 2 w 7"/>
                <a:gd name="T7" fmla="*/ 0 h 6"/>
                <a:gd name="T8" fmla="*/ 0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4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6" y="4"/>
                    <a:pt x="7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61" name="Freeform 63"/>
            <p:cNvSpPr/>
            <p:nvPr/>
          </p:nvSpPr>
          <p:spPr bwMode="auto">
            <a:xfrm>
              <a:off x="2455863" y="1601788"/>
              <a:ext cx="33338" cy="30163"/>
            </a:xfrm>
            <a:custGeom>
              <a:avLst/>
              <a:gdLst>
                <a:gd name="T0" fmla="*/ 0 w 8"/>
                <a:gd name="T1" fmla="*/ 4 h 7"/>
                <a:gd name="T2" fmla="*/ 5 w 8"/>
                <a:gd name="T3" fmla="*/ 7 h 7"/>
                <a:gd name="T4" fmla="*/ 8 w 8"/>
                <a:gd name="T5" fmla="*/ 4 h 7"/>
                <a:gd name="T6" fmla="*/ 3 w 8"/>
                <a:gd name="T7" fmla="*/ 0 h 7"/>
                <a:gd name="T8" fmla="*/ 0 w 8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6" y="6"/>
                    <a:pt x="7" y="5"/>
                    <a:pt x="8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62" name="Freeform 64"/>
            <p:cNvSpPr/>
            <p:nvPr/>
          </p:nvSpPr>
          <p:spPr bwMode="auto">
            <a:xfrm>
              <a:off x="2493963" y="1566863"/>
              <a:ext cx="30163" cy="30163"/>
            </a:xfrm>
            <a:custGeom>
              <a:avLst/>
              <a:gdLst>
                <a:gd name="T0" fmla="*/ 0 w 7"/>
                <a:gd name="T1" fmla="*/ 2 h 7"/>
                <a:gd name="T2" fmla="*/ 4 w 7"/>
                <a:gd name="T3" fmla="*/ 7 h 7"/>
                <a:gd name="T4" fmla="*/ 7 w 7"/>
                <a:gd name="T5" fmla="*/ 4 h 7"/>
                <a:gd name="T6" fmla="*/ 3 w 7"/>
                <a:gd name="T7" fmla="*/ 0 h 7"/>
                <a:gd name="T8" fmla="*/ 0 w 7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0" y="2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5"/>
                    <a:pt x="7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63" name="Freeform 65"/>
            <p:cNvSpPr/>
            <p:nvPr/>
          </p:nvSpPr>
          <p:spPr bwMode="auto">
            <a:xfrm>
              <a:off x="2536825" y="1533525"/>
              <a:ext cx="30163" cy="33338"/>
            </a:xfrm>
            <a:custGeom>
              <a:avLst/>
              <a:gdLst>
                <a:gd name="T0" fmla="*/ 0 w 7"/>
                <a:gd name="T1" fmla="*/ 3 h 8"/>
                <a:gd name="T2" fmla="*/ 3 w 7"/>
                <a:gd name="T3" fmla="*/ 8 h 8"/>
                <a:gd name="T4" fmla="*/ 7 w 7"/>
                <a:gd name="T5" fmla="*/ 6 h 8"/>
                <a:gd name="T6" fmla="*/ 4 w 7"/>
                <a:gd name="T7" fmla="*/ 0 h 8"/>
                <a:gd name="T8" fmla="*/ 0 w 7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5" y="6"/>
                    <a:pt x="7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64" name="Freeform 66"/>
            <p:cNvSpPr/>
            <p:nvPr/>
          </p:nvSpPr>
          <p:spPr bwMode="auto">
            <a:xfrm>
              <a:off x="2587625" y="1512888"/>
              <a:ext cx="20638" cy="28575"/>
            </a:xfrm>
            <a:custGeom>
              <a:avLst/>
              <a:gdLst>
                <a:gd name="T0" fmla="*/ 0 w 5"/>
                <a:gd name="T1" fmla="*/ 2 h 7"/>
                <a:gd name="T2" fmla="*/ 2 w 5"/>
                <a:gd name="T3" fmla="*/ 7 h 7"/>
                <a:gd name="T4" fmla="*/ 5 w 5"/>
                <a:gd name="T5" fmla="*/ 6 h 7"/>
                <a:gd name="T6" fmla="*/ 4 w 5"/>
                <a:gd name="T7" fmla="*/ 0 h 7"/>
                <a:gd name="T8" fmla="*/ 0 w 5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0" y="2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4" y="6"/>
                    <a:pt x="5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65" name="Freeform 67"/>
            <p:cNvSpPr/>
            <p:nvPr/>
          </p:nvSpPr>
          <p:spPr bwMode="auto">
            <a:xfrm>
              <a:off x="2638425" y="1503363"/>
              <a:ext cx="22225" cy="25400"/>
            </a:xfrm>
            <a:custGeom>
              <a:avLst/>
              <a:gdLst>
                <a:gd name="T0" fmla="*/ 0 w 5"/>
                <a:gd name="T1" fmla="*/ 0 h 6"/>
                <a:gd name="T2" fmla="*/ 1 w 5"/>
                <a:gd name="T3" fmla="*/ 6 h 6"/>
                <a:gd name="T4" fmla="*/ 5 w 5"/>
                <a:gd name="T5" fmla="*/ 6 h 6"/>
                <a:gd name="T6" fmla="*/ 4 w 5"/>
                <a:gd name="T7" fmla="*/ 0 h 6"/>
                <a:gd name="T8" fmla="*/ 0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</p:grpSp>
      <p:grpSp>
        <p:nvGrpSpPr>
          <p:cNvPr id="10" name="组合 165"/>
          <p:cNvGrpSpPr/>
          <p:nvPr/>
        </p:nvGrpSpPr>
        <p:grpSpPr>
          <a:xfrm>
            <a:off x="4863650" y="3255790"/>
            <a:ext cx="184880" cy="184880"/>
            <a:chOff x="2397125" y="1500188"/>
            <a:chExt cx="590550" cy="590550"/>
          </a:xfrm>
          <a:solidFill>
            <a:srgbClr val="0070C0"/>
          </a:solidFill>
        </p:grpSpPr>
        <p:sp>
          <p:nvSpPr>
            <p:cNvPr id="167" name="Oval 33"/>
            <p:cNvSpPr>
              <a:spLocks noChangeArrowheads="1"/>
            </p:cNvSpPr>
            <p:nvPr/>
          </p:nvSpPr>
          <p:spPr bwMode="auto">
            <a:xfrm>
              <a:off x="2489200" y="1597025"/>
              <a:ext cx="404813" cy="40798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68" name="Freeform 34"/>
            <p:cNvSpPr/>
            <p:nvPr/>
          </p:nvSpPr>
          <p:spPr bwMode="auto">
            <a:xfrm>
              <a:off x="2693988" y="1500188"/>
              <a:ext cx="17463" cy="25400"/>
            </a:xfrm>
            <a:custGeom>
              <a:avLst/>
              <a:gdLst>
                <a:gd name="T0" fmla="*/ 3 w 4"/>
                <a:gd name="T1" fmla="*/ 6 h 6"/>
                <a:gd name="T2" fmla="*/ 4 w 4"/>
                <a:gd name="T3" fmla="*/ 1 h 6"/>
                <a:gd name="T4" fmla="*/ 0 w 4"/>
                <a:gd name="T5" fmla="*/ 0 h 6"/>
                <a:gd name="T6" fmla="*/ 0 w 4"/>
                <a:gd name="T7" fmla="*/ 6 h 6"/>
                <a:gd name="T8" fmla="*/ 3 w 4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3" y="6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69" name="Freeform 35"/>
            <p:cNvSpPr/>
            <p:nvPr/>
          </p:nvSpPr>
          <p:spPr bwMode="auto">
            <a:xfrm>
              <a:off x="2740025" y="1508125"/>
              <a:ext cx="22225" cy="25400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5 h 6"/>
                <a:gd name="T4" fmla="*/ 4 w 5"/>
                <a:gd name="T5" fmla="*/ 6 h 6"/>
                <a:gd name="T6" fmla="*/ 5 w 5"/>
                <a:gd name="T7" fmla="*/ 0 h 6"/>
                <a:gd name="T8" fmla="*/ 1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3" y="6"/>
                    <a:pt x="4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0" name="Freeform 36"/>
            <p:cNvSpPr/>
            <p:nvPr/>
          </p:nvSpPr>
          <p:spPr bwMode="auto">
            <a:xfrm>
              <a:off x="2787650" y="1520825"/>
              <a:ext cx="25400" cy="30163"/>
            </a:xfrm>
            <a:custGeom>
              <a:avLst/>
              <a:gdLst>
                <a:gd name="T0" fmla="*/ 3 w 6"/>
                <a:gd name="T1" fmla="*/ 0 h 7"/>
                <a:gd name="T2" fmla="*/ 0 w 6"/>
                <a:gd name="T3" fmla="*/ 5 h 7"/>
                <a:gd name="T4" fmla="*/ 4 w 6"/>
                <a:gd name="T5" fmla="*/ 7 h 7"/>
                <a:gd name="T6" fmla="*/ 6 w 6"/>
                <a:gd name="T7" fmla="*/ 2 h 7"/>
                <a:gd name="T8" fmla="*/ 3 w 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3" y="6"/>
                    <a:pt x="4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1"/>
                    <a:pt x="4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1" name="Freeform 37"/>
            <p:cNvSpPr/>
            <p:nvPr/>
          </p:nvSpPr>
          <p:spPr bwMode="auto">
            <a:xfrm>
              <a:off x="2833688" y="1546225"/>
              <a:ext cx="30163" cy="30163"/>
            </a:xfrm>
            <a:custGeom>
              <a:avLst/>
              <a:gdLst>
                <a:gd name="T0" fmla="*/ 3 w 7"/>
                <a:gd name="T1" fmla="*/ 0 h 7"/>
                <a:gd name="T2" fmla="*/ 0 w 7"/>
                <a:gd name="T3" fmla="*/ 5 h 7"/>
                <a:gd name="T4" fmla="*/ 3 w 7"/>
                <a:gd name="T5" fmla="*/ 7 h 7"/>
                <a:gd name="T6" fmla="*/ 7 w 7"/>
                <a:gd name="T7" fmla="*/ 2 h 7"/>
                <a:gd name="T8" fmla="*/ 3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2" y="6"/>
                    <a:pt x="3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1"/>
                    <a:pt x="4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2" name="Freeform 38"/>
            <p:cNvSpPr/>
            <p:nvPr/>
          </p:nvSpPr>
          <p:spPr bwMode="auto">
            <a:xfrm>
              <a:off x="2871788" y="1576388"/>
              <a:ext cx="30163" cy="30163"/>
            </a:xfrm>
            <a:custGeom>
              <a:avLst/>
              <a:gdLst>
                <a:gd name="T0" fmla="*/ 4 w 7"/>
                <a:gd name="T1" fmla="*/ 0 h 7"/>
                <a:gd name="T2" fmla="*/ 0 w 7"/>
                <a:gd name="T3" fmla="*/ 5 h 7"/>
                <a:gd name="T4" fmla="*/ 3 w 7"/>
                <a:gd name="T5" fmla="*/ 7 h 7"/>
                <a:gd name="T6" fmla="*/ 7 w 7"/>
                <a:gd name="T7" fmla="*/ 3 h 7"/>
                <a:gd name="T8" fmla="*/ 4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7"/>
                    <a:pt x="3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3" name="Freeform 39"/>
            <p:cNvSpPr/>
            <p:nvPr/>
          </p:nvSpPr>
          <p:spPr bwMode="auto">
            <a:xfrm>
              <a:off x="2906713" y="1619250"/>
              <a:ext cx="30163" cy="28575"/>
            </a:xfrm>
            <a:custGeom>
              <a:avLst/>
              <a:gdLst>
                <a:gd name="T0" fmla="*/ 5 w 7"/>
                <a:gd name="T1" fmla="*/ 0 h 7"/>
                <a:gd name="T2" fmla="*/ 0 w 7"/>
                <a:gd name="T3" fmla="*/ 3 h 7"/>
                <a:gd name="T4" fmla="*/ 2 w 7"/>
                <a:gd name="T5" fmla="*/ 7 h 7"/>
                <a:gd name="T6" fmla="*/ 7 w 7"/>
                <a:gd name="T7" fmla="*/ 3 h 7"/>
                <a:gd name="T8" fmla="*/ 5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5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2" y="6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4" name="Freeform 40"/>
            <p:cNvSpPr/>
            <p:nvPr/>
          </p:nvSpPr>
          <p:spPr bwMode="auto">
            <a:xfrm>
              <a:off x="2932113" y="1665288"/>
              <a:ext cx="30163" cy="25400"/>
            </a:xfrm>
            <a:custGeom>
              <a:avLst/>
              <a:gdLst>
                <a:gd name="T0" fmla="*/ 5 w 7"/>
                <a:gd name="T1" fmla="*/ 0 h 6"/>
                <a:gd name="T2" fmla="*/ 0 w 7"/>
                <a:gd name="T3" fmla="*/ 2 h 6"/>
                <a:gd name="T4" fmla="*/ 2 w 7"/>
                <a:gd name="T5" fmla="*/ 6 h 6"/>
                <a:gd name="T6" fmla="*/ 7 w 7"/>
                <a:gd name="T7" fmla="*/ 4 h 6"/>
                <a:gd name="T8" fmla="*/ 5 w 7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5"/>
                    <a:pt x="2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5" name="Freeform 41"/>
            <p:cNvSpPr/>
            <p:nvPr/>
          </p:nvSpPr>
          <p:spPr bwMode="auto">
            <a:xfrm>
              <a:off x="2952750" y="1716088"/>
              <a:ext cx="25400" cy="20638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1 h 5"/>
                <a:gd name="T4" fmla="*/ 0 w 6"/>
                <a:gd name="T5" fmla="*/ 5 h 5"/>
                <a:gd name="T6" fmla="*/ 6 w 6"/>
                <a:gd name="T7" fmla="*/ 4 h 5"/>
                <a:gd name="T8" fmla="*/ 5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4"/>
                    <a:pt x="0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6" name="Freeform 42"/>
            <p:cNvSpPr/>
            <p:nvPr/>
          </p:nvSpPr>
          <p:spPr bwMode="auto">
            <a:xfrm>
              <a:off x="2962275" y="1766888"/>
              <a:ext cx="25400" cy="22225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1 h 5"/>
                <a:gd name="T4" fmla="*/ 0 w 6"/>
                <a:gd name="T5" fmla="*/ 5 h 5"/>
                <a:gd name="T6" fmla="*/ 6 w 6"/>
                <a:gd name="T7" fmla="*/ 4 h 5"/>
                <a:gd name="T8" fmla="*/ 5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2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7" name="Freeform 43"/>
            <p:cNvSpPr/>
            <p:nvPr/>
          </p:nvSpPr>
          <p:spPr bwMode="auto">
            <a:xfrm>
              <a:off x="2957513" y="1817688"/>
              <a:ext cx="25400" cy="22225"/>
            </a:xfrm>
            <a:custGeom>
              <a:avLst/>
              <a:gdLst>
                <a:gd name="T0" fmla="*/ 6 w 6"/>
                <a:gd name="T1" fmla="*/ 1 h 5"/>
                <a:gd name="T2" fmla="*/ 1 w 6"/>
                <a:gd name="T3" fmla="*/ 0 h 5"/>
                <a:gd name="T4" fmla="*/ 0 w 6"/>
                <a:gd name="T5" fmla="*/ 4 h 5"/>
                <a:gd name="T6" fmla="*/ 6 w 6"/>
                <a:gd name="T7" fmla="*/ 5 h 5"/>
                <a:gd name="T8" fmla="*/ 6 w 6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8" name="Freeform 44"/>
            <p:cNvSpPr/>
            <p:nvPr/>
          </p:nvSpPr>
          <p:spPr bwMode="auto">
            <a:xfrm>
              <a:off x="2944813" y="1868488"/>
              <a:ext cx="30163" cy="25400"/>
            </a:xfrm>
            <a:custGeom>
              <a:avLst/>
              <a:gdLst>
                <a:gd name="T0" fmla="*/ 7 w 7"/>
                <a:gd name="T1" fmla="*/ 1 h 6"/>
                <a:gd name="T2" fmla="*/ 2 w 7"/>
                <a:gd name="T3" fmla="*/ 0 h 6"/>
                <a:gd name="T4" fmla="*/ 0 w 7"/>
                <a:gd name="T5" fmla="*/ 4 h 6"/>
                <a:gd name="T6" fmla="*/ 6 w 7"/>
                <a:gd name="T7" fmla="*/ 6 h 6"/>
                <a:gd name="T8" fmla="*/ 7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2"/>
                    <a:pt x="0" y="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4"/>
                    <a:pt x="7" y="3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79" name="Freeform 45"/>
            <p:cNvSpPr/>
            <p:nvPr/>
          </p:nvSpPr>
          <p:spPr bwMode="auto">
            <a:xfrm>
              <a:off x="2922588" y="1916113"/>
              <a:ext cx="30163" cy="25400"/>
            </a:xfrm>
            <a:custGeom>
              <a:avLst/>
              <a:gdLst>
                <a:gd name="T0" fmla="*/ 7 w 7"/>
                <a:gd name="T1" fmla="*/ 2 h 6"/>
                <a:gd name="T2" fmla="*/ 2 w 7"/>
                <a:gd name="T3" fmla="*/ 0 h 6"/>
                <a:gd name="T4" fmla="*/ 0 w 7"/>
                <a:gd name="T5" fmla="*/ 3 h 6"/>
                <a:gd name="T6" fmla="*/ 5 w 7"/>
                <a:gd name="T7" fmla="*/ 6 h 6"/>
                <a:gd name="T8" fmla="*/ 7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2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4"/>
                    <a:pt x="7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0" name="Freeform 46"/>
            <p:cNvSpPr/>
            <p:nvPr/>
          </p:nvSpPr>
          <p:spPr bwMode="auto">
            <a:xfrm>
              <a:off x="2897188" y="1958975"/>
              <a:ext cx="30163" cy="28575"/>
            </a:xfrm>
            <a:custGeom>
              <a:avLst/>
              <a:gdLst>
                <a:gd name="T0" fmla="*/ 7 w 7"/>
                <a:gd name="T1" fmla="*/ 3 h 7"/>
                <a:gd name="T2" fmla="*/ 2 w 7"/>
                <a:gd name="T3" fmla="*/ 0 h 7"/>
                <a:gd name="T4" fmla="*/ 0 w 7"/>
                <a:gd name="T5" fmla="*/ 3 h 7"/>
                <a:gd name="T6" fmla="*/ 4 w 7"/>
                <a:gd name="T7" fmla="*/ 7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5"/>
                    <a:pt x="6" y="4"/>
                    <a:pt x="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1" name="Freeform 47"/>
            <p:cNvSpPr/>
            <p:nvPr/>
          </p:nvSpPr>
          <p:spPr bwMode="auto">
            <a:xfrm>
              <a:off x="2859088" y="1992313"/>
              <a:ext cx="30163" cy="30163"/>
            </a:xfrm>
            <a:custGeom>
              <a:avLst/>
              <a:gdLst>
                <a:gd name="T0" fmla="*/ 7 w 7"/>
                <a:gd name="T1" fmla="*/ 5 h 7"/>
                <a:gd name="T2" fmla="*/ 3 w 7"/>
                <a:gd name="T3" fmla="*/ 0 h 7"/>
                <a:gd name="T4" fmla="*/ 0 w 7"/>
                <a:gd name="T5" fmla="*/ 3 h 7"/>
                <a:gd name="T6" fmla="*/ 4 w 7"/>
                <a:gd name="T7" fmla="*/ 7 h 7"/>
                <a:gd name="T8" fmla="*/ 7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6" y="6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2" name="Freeform 48"/>
            <p:cNvSpPr/>
            <p:nvPr/>
          </p:nvSpPr>
          <p:spPr bwMode="auto">
            <a:xfrm>
              <a:off x="2817813" y="2022475"/>
              <a:ext cx="28575" cy="33338"/>
            </a:xfrm>
            <a:custGeom>
              <a:avLst/>
              <a:gdLst>
                <a:gd name="T0" fmla="*/ 7 w 7"/>
                <a:gd name="T1" fmla="*/ 5 h 8"/>
                <a:gd name="T2" fmla="*/ 4 w 7"/>
                <a:gd name="T3" fmla="*/ 0 h 8"/>
                <a:gd name="T4" fmla="*/ 0 w 7"/>
                <a:gd name="T5" fmla="*/ 2 h 8"/>
                <a:gd name="T6" fmla="*/ 3 w 7"/>
                <a:gd name="T7" fmla="*/ 8 h 8"/>
                <a:gd name="T8" fmla="*/ 7 w 7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5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2" y="2"/>
                    <a:pt x="0" y="2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5" y="7"/>
                    <a:pt x="6" y="6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3" name="Freeform 49"/>
            <p:cNvSpPr/>
            <p:nvPr/>
          </p:nvSpPr>
          <p:spPr bwMode="auto">
            <a:xfrm>
              <a:off x="2774950" y="2047875"/>
              <a:ext cx="25400" cy="30163"/>
            </a:xfrm>
            <a:custGeom>
              <a:avLst/>
              <a:gdLst>
                <a:gd name="T0" fmla="*/ 6 w 6"/>
                <a:gd name="T1" fmla="*/ 5 h 7"/>
                <a:gd name="T2" fmla="*/ 3 w 6"/>
                <a:gd name="T3" fmla="*/ 0 h 7"/>
                <a:gd name="T4" fmla="*/ 0 w 6"/>
                <a:gd name="T5" fmla="*/ 1 h 7"/>
                <a:gd name="T6" fmla="*/ 1 w 6"/>
                <a:gd name="T7" fmla="*/ 7 h 7"/>
                <a:gd name="T8" fmla="*/ 6 w 6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6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3" y="6"/>
                    <a:pt x="4" y="6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4" name="Freeform 50"/>
            <p:cNvSpPr/>
            <p:nvPr/>
          </p:nvSpPr>
          <p:spPr bwMode="auto">
            <a:xfrm>
              <a:off x="2724150" y="2060575"/>
              <a:ext cx="20638" cy="25400"/>
            </a:xfrm>
            <a:custGeom>
              <a:avLst/>
              <a:gdLst>
                <a:gd name="T0" fmla="*/ 5 w 5"/>
                <a:gd name="T1" fmla="*/ 6 h 6"/>
                <a:gd name="T2" fmla="*/ 4 w 5"/>
                <a:gd name="T3" fmla="*/ 0 h 6"/>
                <a:gd name="T4" fmla="*/ 0 w 5"/>
                <a:gd name="T5" fmla="*/ 0 h 6"/>
                <a:gd name="T6" fmla="*/ 1 w 5"/>
                <a:gd name="T7" fmla="*/ 6 h 6"/>
                <a:gd name="T8" fmla="*/ 5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4" y="6"/>
                    <a:pt x="5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5" name="Freeform 51"/>
            <p:cNvSpPr/>
            <p:nvPr/>
          </p:nvSpPr>
          <p:spPr bwMode="auto">
            <a:xfrm>
              <a:off x="2673350" y="2065338"/>
              <a:ext cx="20638" cy="25400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5 h 6"/>
                <a:gd name="T4" fmla="*/ 5 w 5"/>
                <a:gd name="T5" fmla="*/ 6 h 6"/>
                <a:gd name="T6" fmla="*/ 5 w 5"/>
                <a:gd name="T7" fmla="*/ 0 h 6"/>
                <a:gd name="T8" fmla="*/ 1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6" name="Freeform 52"/>
            <p:cNvSpPr/>
            <p:nvPr/>
          </p:nvSpPr>
          <p:spPr bwMode="auto">
            <a:xfrm>
              <a:off x="2620963" y="2055813"/>
              <a:ext cx="22225" cy="25400"/>
            </a:xfrm>
            <a:custGeom>
              <a:avLst/>
              <a:gdLst>
                <a:gd name="T0" fmla="*/ 4 w 5"/>
                <a:gd name="T1" fmla="*/ 6 h 6"/>
                <a:gd name="T2" fmla="*/ 5 w 5"/>
                <a:gd name="T3" fmla="*/ 1 h 6"/>
                <a:gd name="T4" fmla="*/ 1 w 5"/>
                <a:gd name="T5" fmla="*/ 0 h 6"/>
                <a:gd name="T6" fmla="*/ 0 w 5"/>
                <a:gd name="T7" fmla="*/ 6 h 6"/>
                <a:gd name="T8" fmla="*/ 4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4" y="6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6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7" name="Freeform 53"/>
            <p:cNvSpPr/>
            <p:nvPr/>
          </p:nvSpPr>
          <p:spPr bwMode="auto">
            <a:xfrm>
              <a:off x="2570163" y="2038350"/>
              <a:ext cx="25400" cy="30163"/>
            </a:xfrm>
            <a:custGeom>
              <a:avLst/>
              <a:gdLst>
                <a:gd name="T0" fmla="*/ 4 w 6"/>
                <a:gd name="T1" fmla="*/ 7 h 7"/>
                <a:gd name="T2" fmla="*/ 6 w 6"/>
                <a:gd name="T3" fmla="*/ 1 h 7"/>
                <a:gd name="T4" fmla="*/ 2 w 6"/>
                <a:gd name="T5" fmla="*/ 0 h 7"/>
                <a:gd name="T6" fmla="*/ 0 w 6"/>
                <a:gd name="T7" fmla="*/ 5 h 7"/>
                <a:gd name="T8" fmla="*/ 4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4" y="7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4" y="1"/>
                    <a:pt x="3" y="1"/>
                    <a:pt x="2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8" name="Freeform 54"/>
            <p:cNvSpPr/>
            <p:nvPr/>
          </p:nvSpPr>
          <p:spPr bwMode="auto">
            <a:xfrm>
              <a:off x="2524125" y="2012950"/>
              <a:ext cx="25400" cy="30163"/>
            </a:xfrm>
            <a:custGeom>
              <a:avLst/>
              <a:gdLst>
                <a:gd name="T0" fmla="*/ 3 w 6"/>
                <a:gd name="T1" fmla="*/ 7 h 7"/>
                <a:gd name="T2" fmla="*/ 6 w 6"/>
                <a:gd name="T3" fmla="*/ 2 h 7"/>
                <a:gd name="T4" fmla="*/ 3 w 6"/>
                <a:gd name="T5" fmla="*/ 0 h 7"/>
                <a:gd name="T6" fmla="*/ 0 w 6"/>
                <a:gd name="T7" fmla="*/ 5 h 7"/>
                <a:gd name="T8" fmla="*/ 3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6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89" name="Freeform 55"/>
            <p:cNvSpPr/>
            <p:nvPr/>
          </p:nvSpPr>
          <p:spPr bwMode="auto">
            <a:xfrm>
              <a:off x="2481263" y="1979613"/>
              <a:ext cx="30163" cy="33338"/>
            </a:xfrm>
            <a:custGeom>
              <a:avLst/>
              <a:gdLst>
                <a:gd name="T0" fmla="*/ 3 w 7"/>
                <a:gd name="T1" fmla="*/ 8 h 8"/>
                <a:gd name="T2" fmla="*/ 7 w 7"/>
                <a:gd name="T3" fmla="*/ 3 h 8"/>
                <a:gd name="T4" fmla="*/ 4 w 7"/>
                <a:gd name="T5" fmla="*/ 0 h 8"/>
                <a:gd name="T6" fmla="*/ 0 w 7"/>
                <a:gd name="T7" fmla="*/ 5 h 8"/>
                <a:gd name="T8" fmla="*/ 3 w 7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5" y="1"/>
                    <a:pt x="4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7"/>
                    <a:pt x="3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0" name="Freeform 56"/>
            <p:cNvSpPr/>
            <p:nvPr/>
          </p:nvSpPr>
          <p:spPr bwMode="auto">
            <a:xfrm>
              <a:off x="2447925" y="1941513"/>
              <a:ext cx="28575" cy="30163"/>
            </a:xfrm>
            <a:custGeom>
              <a:avLst/>
              <a:gdLst>
                <a:gd name="T0" fmla="*/ 2 w 7"/>
                <a:gd name="T1" fmla="*/ 7 h 7"/>
                <a:gd name="T2" fmla="*/ 7 w 7"/>
                <a:gd name="T3" fmla="*/ 4 h 7"/>
                <a:gd name="T4" fmla="*/ 5 w 7"/>
                <a:gd name="T5" fmla="*/ 0 h 7"/>
                <a:gd name="T6" fmla="*/ 0 w 7"/>
                <a:gd name="T7" fmla="*/ 4 h 7"/>
                <a:gd name="T8" fmla="*/ 2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2" y="7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5" y="1"/>
                    <a:pt x="5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1" y="6"/>
                    <a:pt x="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1" name="Freeform 57"/>
            <p:cNvSpPr/>
            <p:nvPr/>
          </p:nvSpPr>
          <p:spPr bwMode="auto">
            <a:xfrm>
              <a:off x="2422525" y="1898650"/>
              <a:ext cx="28575" cy="25400"/>
            </a:xfrm>
            <a:custGeom>
              <a:avLst/>
              <a:gdLst>
                <a:gd name="T0" fmla="*/ 2 w 7"/>
                <a:gd name="T1" fmla="*/ 6 h 6"/>
                <a:gd name="T2" fmla="*/ 7 w 7"/>
                <a:gd name="T3" fmla="*/ 4 h 6"/>
                <a:gd name="T4" fmla="*/ 5 w 7"/>
                <a:gd name="T5" fmla="*/ 0 h 6"/>
                <a:gd name="T6" fmla="*/ 0 w 7"/>
                <a:gd name="T7" fmla="*/ 2 h 6"/>
                <a:gd name="T8" fmla="*/ 2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6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1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1" y="5"/>
                    <a:pt x="2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2" name="Freeform 58"/>
            <p:cNvSpPr/>
            <p:nvPr/>
          </p:nvSpPr>
          <p:spPr bwMode="auto">
            <a:xfrm>
              <a:off x="2405063" y="1852613"/>
              <a:ext cx="30163" cy="20638"/>
            </a:xfrm>
            <a:custGeom>
              <a:avLst/>
              <a:gdLst>
                <a:gd name="T0" fmla="*/ 1 w 7"/>
                <a:gd name="T1" fmla="*/ 5 h 5"/>
                <a:gd name="T2" fmla="*/ 7 w 7"/>
                <a:gd name="T3" fmla="*/ 4 h 5"/>
                <a:gd name="T4" fmla="*/ 6 w 7"/>
                <a:gd name="T5" fmla="*/ 0 h 5"/>
                <a:gd name="T6" fmla="*/ 0 w 7"/>
                <a:gd name="T7" fmla="*/ 1 h 5"/>
                <a:gd name="T8" fmla="*/ 1 w 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5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1" y="4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3" name="Freeform 59"/>
            <p:cNvSpPr/>
            <p:nvPr/>
          </p:nvSpPr>
          <p:spPr bwMode="auto">
            <a:xfrm>
              <a:off x="2397125" y="1801813"/>
              <a:ext cx="25400" cy="20638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4 h 5"/>
                <a:gd name="T4" fmla="*/ 6 w 6"/>
                <a:gd name="T5" fmla="*/ 0 h 5"/>
                <a:gd name="T6" fmla="*/ 0 w 6"/>
                <a:gd name="T7" fmla="*/ 1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2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4" name="Freeform 60"/>
            <p:cNvSpPr/>
            <p:nvPr/>
          </p:nvSpPr>
          <p:spPr bwMode="auto">
            <a:xfrm>
              <a:off x="2400300" y="1751013"/>
              <a:ext cx="25400" cy="20638"/>
            </a:xfrm>
            <a:custGeom>
              <a:avLst/>
              <a:gdLst>
                <a:gd name="T0" fmla="*/ 0 w 6"/>
                <a:gd name="T1" fmla="*/ 4 h 5"/>
                <a:gd name="T2" fmla="*/ 5 w 6"/>
                <a:gd name="T3" fmla="*/ 5 h 5"/>
                <a:gd name="T4" fmla="*/ 6 w 6"/>
                <a:gd name="T5" fmla="*/ 1 h 5"/>
                <a:gd name="T6" fmla="*/ 0 w 6"/>
                <a:gd name="T7" fmla="*/ 0 h 5"/>
                <a:gd name="T8" fmla="*/ 0 w 6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4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6" y="3"/>
                    <a:pt x="6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5" name="Freeform 61"/>
            <p:cNvSpPr/>
            <p:nvPr/>
          </p:nvSpPr>
          <p:spPr bwMode="auto">
            <a:xfrm>
              <a:off x="2409825" y="1695450"/>
              <a:ext cx="28575" cy="25400"/>
            </a:xfrm>
            <a:custGeom>
              <a:avLst/>
              <a:gdLst>
                <a:gd name="T0" fmla="*/ 0 w 7"/>
                <a:gd name="T1" fmla="*/ 4 h 6"/>
                <a:gd name="T2" fmla="*/ 6 w 7"/>
                <a:gd name="T3" fmla="*/ 6 h 6"/>
                <a:gd name="T4" fmla="*/ 7 w 7"/>
                <a:gd name="T5" fmla="*/ 2 h 6"/>
                <a:gd name="T6" fmla="*/ 1 w 7"/>
                <a:gd name="T7" fmla="*/ 0 h 6"/>
                <a:gd name="T8" fmla="*/ 0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4"/>
                  </a:move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6" y="4"/>
                    <a:pt x="7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6" name="Freeform 62"/>
            <p:cNvSpPr/>
            <p:nvPr/>
          </p:nvSpPr>
          <p:spPr bwMode="auto">
            <a:xfrm>
              <a:off x="2430463" y="1647825"/>
              <a:ext cx="30163" cy="25400"/>
            </a:xfrm>
            <a:custGeom>
              <a:avLst/>
              <a:gdLst>
                <a:gd name="T0" fmla="*/ 0 w 7"/>
                <a:gd name="T1" fmla="*/ 4 h 6"/>
                <a:gd name="T2" fmla="*/ 5 w 7"/>
                <a:gd name="T3" fmla="*/ 6 h 6"/>
                <a:gd name="T4" fmla="*/ 7 w 7"/>
                <a:gd name="T5" fmla="*/ 3 h 6"/>
                <a:gd name="T6" fmla="*/ 2 w 7"/>
                <a:gd name="T7" fmla="*/ 0 h 6"/>
                <a:gd name="T8" fmla="*/ 0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4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6" y="4"/>
                    <a:pt x="7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7" name="Freeform 63"/>
            <p:cNvSpPr/>
            <p:nvPr/>
          </p:nvSpPr>
          <p:spPr bwMode="auto">
            <a:xfrm>
              <a:off x="2455863" y="1601788"/>
              <a:ext cx="33338" cy="30163"/>
            </a:xfrm>
            <a:custGeom>
              <a:avLst/>
              <a:gdLst>
                <a:gd name="T0" fmla="*/ 0 w 8"/>
                <a:gd name="T1" fmla="*/ 4 h 7"/>
                <a:gd name="T2" fmla="*/ 5 w 8"/>
                <a:gd name="T3" fmla="*/ 7 h 7"/>
                <a:gd name="T4" fmla="*/ 8 w 8"/>
                <a:gd name="T5" fmla="*/ 4 h 7"/>
                <a:gd name="T6" fmla="*/ 3 w 8"/>
                <a:gd name="T7" fmla="*/ 0 h 7"/>
                <a:gd name="T8" fmla="*/ 0 w 8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6" y="6"/>
                    <a:pt x="7" y="5"/>
                    <a:pt x="8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8" name="Freeform 64"/>
            <p:cNvSpPr/>
            <p:nvPr/>
          </p:nvSpPr>
          <p:spPr bwMode="auto">
            <a:xfrm>
              <a:off x="2493963" y="1566863"/>
              <a:ext cx="30163" cy="30163"/>
            </a:xfrm>
            <a:custGeom>
              <a:avLst/>
              <a:gdLst>
                <a:gd name="T0" fmla="*/ 0 w 7"/>
                <a:gd name="T1" fmla="*/ 2 h 7"/>
                <a:gd name="T2" fmla="*/ 4 w 7"/>
                <a:gd name="T3" fmla="*/ 7 h 7"/>
                <a:gd name="T4" fmla="*/ 7 w 7"/>
                <a:gd name="T5" fmla="*/ 4 h 7"/>
                <a:gd name="T6" fmla="*/ 3 w 7"/>
                <a:gd name="T7" fmla="*/ 0 h 7"/>
                <a:gd name="T8" fmla="*/ 0 w 7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0" y="2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5"/>
                    <a:pt x="7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199" name="Freeform 65"/>
            <p:cNvSpPr/>
            <p:nvPr/>
          </p:nvSpPr>
          <p:spPr bwMode="auto">
            <a:xfrm>
              <a:off x="2536825" y="1533525"/>
              <a:ext cx="30163" cy="33338"/>
            </a:xfrm>
            <a:custGeom>
              <a:avLst/>
              <a:gdLst>
                <a:gd name="T0" fmla="*/ 0 w 7"/>
                <a:gd name="T1" fmla="*/ 3 h 8"/>
                <a:gd name="T2" fmla="*/ 3 w 7"/>
                <a:gd name="T3" fmla="*/ 8 h 8"/>
                <a:gd name="T4" fmla="*/ 7 w 7"/>
                <a:gd name="T5" fmla="*/ 6 h 8"/>
                <a:gd name="T6" fmla="*/ 4 w 7"/>
                <a:gd name="T7" fmla="*/ 0 h 8"/>
                <a:gd name="T8" fmla="*/ 0 w 7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5" y="6"/>
                    <a:pt x="7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00" name="Freeform 66"/>
            <p:cNvSpPr/>
            <p:nvPr/>
          </p:nvSpPr>
          <p:spPr bwMode="auto">
            <a:xfrm>
              <a:off x="2587625" y="1512888"/>
              <a:ext cx="20638" cy="28575"/>
            </a:xfrm>
            <a:custGeom>
              <a:avLst/>
              <a:gdLst>
                <a:gd name="T0" fmla="*/ 0 w 5"/>
                <a:gd name="T1" fmla="*/ 2 h 7"/>
                <a:gd name="T2" fmla="*/ 2 w 5"/>
                <a:gd name="T3" fmla="*/ 7 h 7"/>
                <a:gd name="T4" fmla="*/ 5 w 5"/>
                <a:gd name="T5" fmla="*/ 6 h 7"/>
                <a:gd name="T6" fmla="*/ 4 w 5"/>
                <a:gd name="T7" fmla="*/ 0 h 7"/>
                <a:gd name="T8" fmla="*/ 0 w 5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0" y="2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4" y="6"/>
                    <a:pt x="5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01" name="Freeform 67"/>
            <p:cNvSpPr/>
            <p:nvPr/>
          </p:nvSpPr>
          <p:spPr bwMode="auto">
            <a:xfrm>
              <a:off x="2638425" y="1503363"/>
              <a:ext cx="22225" cy="25400"/>
            </a:xfrm>
            <a:custGeom>
              <a:avLst/>
              <a:gdLst>
                <a:gd name="T0" fmla="*/ 0 w 5"/>
                <a:gd name="T1" fmla="*/ 0 h 6"/>
                <a:gd name="T2" fmla="*/ 1 w 5"/>
                <a:gd name="T3" fmla="*/ 6 h 6"/>
                <a:gd name="T4" fmla="*/ 5 w 5"/>
                <a:gd name="T5" fmla="*/ 6 h 6"/>
                <a:gd name="T6" fmla="*/ 4 w 5"/>
                <a:gd name="T7" fmla="*/ 0 h 6"/>
                <a:gd name="T8" fmla="*/ 0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</p:grpSp>
      <p:grpSp>
        <p:nvGrpSpPr>
          <p:cNvPr id="11" name="组合 201"/>
          <p:cNvGrpSpPr/>
          <p:nvPr/>
        </p:nvGrpSpPr>
        <p:grpSpPr>
          <a:xfrm>
            <a:off x="4863650" y="4025080"/>
            <a:ext cx="184880" cy="184880"/>
            <a:chOff x="2397125" y="1500188"/>
            <a:chExt cx="590550" cy="590550"/>
          </a:xfrm>
          <a:solidFill>
            <a:srgbClr val="0070C0"/>
          </a:solidFill>
        </p:grpSpPr>
        <p:sp>
          <p:nvSpPr>
            <p:cNvPr id="203" name="Oval 33"/>
            <p:cNvSpPr>
              <a:spLocks noChangeArrowheads="1"/>
            </p:cNvSpPr>
            <p:nvPr/>
          </p:nvSpPr>
          <p:spPr bwMode="auto">
            <a:xfrm>
              <a:off x="2489200" y="1597025"/>
              <a:ext cx="404813" cy="407988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04" name="Freeform 34"/>
            <p:cNvSpPr/>
            <p:nvPr/>
          </p:nvSpPr>
          <p:spPr bwMode="auto">
            <a:xfrm>
              <a:off x="2693988" y="1500188"/>
              <a:ext cx="17463" cy="25400"/>
            </a:xfrm>
            <a:custGeom>
              <a:avLst/>
              <a:gdLst>
                <a:gd name="T0" fmla="*/ 3 w 4"/>
                <a:gd name="T1" fmla="*/ 6 h 6"/>
                <a:gd name="T2" fmla="*/ 4 w 4"/>
                <a:gd name="T3" fmla="*/ 1 h 6"/>
                <a:gd name="T4" fmla="*/ 0 w 4"/>
                <a:gd name="T5" fmla="*/ 0 h 6"/>
                <a:gd name="T6" fmla="*/ 0 w 4"/>
                <a:gd name="T7" fmla="*/ 6 h 6"/>
                <a:gd name="T8" fmla="*/ 3 w 4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3" y="6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05" name="Freeform 35"/>
            <p:cNvSpPr/>
            <p:nvPr/>
          </p:nvSpPr>
          <p:spPr bwMode="auto">
            <a:xfrm>
              <a:off x="2740025" y="1508125"/>
              <a:ext cx="22225" cy="25400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5 h 6"/>
                <a:gd name="T4" fmla="*/ 4 w 5"/>
                <a:gd name="T5" fmla="*/ 6 h 6"/>
                <a:gd name="T6" fmla="*/ 5 w 5"/>
                <a:gd name="T7" fmla="*/ 0 h 6"/>
                <a:gd name="T8" fmla="*/ 1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3" y="6"/>
                    <a:pt x="4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06" name="Freeform 36"/>
            <p:cNvSpPr/>
            <p:nvPr/>
          </p:nvSpPr>
          <p:spPr bwMode="auto">
            <a:xfrm>
              <a:off x="2787650" y="1520825"/>
              <a:ext cx="25400" cy="30163"/>
            </a:xfrm>
            <a:custGeom>
              <a:avLst/>
              <a:gdLst>
                <a:gd name="T0" fmla="*/ 3 w 6"/>
                <a:gd name="T1" fmla="*/ 0 h 7"/>
                <a:gd name="T2" fmla="*/ 0 w 6"/>
                <a:gd name="T3" fmla="*/ 5 h 7"/>
                <a:gd name="T4" fmla="*/ 4 w 6"/>
                <a:gd name="T5" fmla="*/ 7 h 7"/>
                <a:gd name="T6" fmla="*/ 6 w 6"/>
                <a:gd name="T7" fmla="*/ 2 h 7"/>
                <a:gd name="T8" fmla="*/ 3 w 6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3" y="6"/>
                    <a:pt x="4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1"/>
                    <a:pt x="4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07" name="Freeform 37"/>
            <p:cNvSpPr/>
            <p:nvPr/>
          </p:nvSpPr>
          <p:spPr bwMode="auto">
            <a:xfrm>
              <a:off x="2833688" y="1546225"/>
              <a:ext cx="30163" cy="30163"/>
            </a:xfrm>
            <a:custGeom>
              <a:avLst/>
              <a:gdLst>
                <a:gd name="T0" fmla="*/ 3 w 7"/>
                <a:gd name="T1" fmla="*/ 0 h 7"/>
                <a:gd name="T2" fmla="*/ 0 w 7"/>
                <a:gd name="T3" fmla="*/ 5 h 7"/>
                <a:gd name="T4" fmla="*/ 3 w 7"/>
                <a:gd name="T5" fmla="*/ 7 h 7"/>
                <a:gd name="T6" fmla="*/ 7 w 7"/>
                <a:gd name="T7" fmla="*/ 2 h 7"/>
                <a:gd name="T8" fmla="*/ 3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2" y="6"/>
                    <a:pt x="3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1"/>
                    <a:pt x="4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08" name="Freeform 38"/>
            <p:cNvSpPr/>
            <p:nvPr/>
          </p:nvSpPr>
          <p:spPr bwMode="auto">
            <a:xfrm>
              <a:off x="2871788" y="1576388"/>
              <a:ext cx="30163" cy="30163"/>
            </a:xfrm>
            <a:custGeom>
              <a:avLst/>
              <a:gdLst>
                <a:gd name="T0" fmla="*/ 4 w 7"/>
                <a:gd name="T1" fmla="*/ 0 h 7"/>
                <a:gd name="T2" fmla="*/ 0 w 7"/>
                <a:gd name="T3" fmla="*/ 5 h 7"/>
                <a:gd name="T4" fmla="*/ 3 w 7"/>
                <a:gd name="T5" fmla="*/ 7 h 7"/>
                <a:gd name="T6" fmla="*/ 7 w 7"/>
                <a:gd name="T7" fmla="*/ 3 h 7"/>
                <a:gd name="T8" fmla="*/ 4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7"/>
                    <a:pt x="3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5" y="1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09" name="Freeform 39"/>
            <p:cNvSpPr/>
            <p:nvPr/>
          </p:nvSpPr>
          <p:spPr bwMode="auto">
            <a:xfrm>
              <a:off x="2906713" y="1619250"/>
              <a:ext cx="30163" cy="28575"/>
            </a:xfrm>
            <a:custGeom>
              <a:avLst/>
              <a:gdLst>
                <a:gd name="T0" fmla="*/ 5 w 7"/>
                <a:gd name="T1" fmla="*/ 0 h 7"/>
                <a:gd name="T2" fmla="*/ 0 w 7"/>
                <a:gd name="T3" fmla="*/ 3 h 7"/>
                <a:gd name="T4" fmla="*/ 2 w 7"/>
                <a:gd name="T5" fmla="*/ 7 h 7"/>
                <a:gd name="T6" fmla="*/ 7 w 7"/>
                <a:gd name="T7" fmla="*/ 3 h 7"/>
                <a:gd name="T8" fmla="*/ 5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5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" y="4"/>
                    <a:pt x="2" y="6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0" name="Freeform 40"/>
            <p:cNvSpPr/>
            <p:nvPr/>
          </p:nvSpPr>
          <p:spPr bwMode="auto">
            <a:xfrm>
              <a:off x="2932113" y="1665288"/>
              <a:ext cx="30163" cy="25400"/>
            </a:xfrm>
            <a:custGeom>
              <a:avLst/>
              <a:gdLst>
                <a:gd name="T0" fmla="*/ 5 w 7"/>
                <a:gd name="T1" fmla="*/ 0 h 6"/>
                <a:gd name="T2" fmla="*/ 0 w 7"/>
                <a:gd name="T3" fmla="*/ 2 h 6"/>
                <a:gd name="T4" fmla="*/ 2 w 7"/>
                <a:gd name="T5" fmla="*/ 6 h 6"/>
                <a:gd name="T6" fmla="*/ 7 w 7"/>
                <a:gd name="T7" fmla="*/ 4 h 6"/>
                <a:gd name="T8" fmla="*/ 5 w 7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5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5"/>
                    <a:pt x="2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1" name="Freeform 41"/>
            <p:cNvSpPr/>
            <p:nvPr/>
          </p:nvSpPr>
          <p:spPr bwMode="auto">
            <a:xfrm>
              <a:off x="2952750" y="1716088"/>
              <a:ext cx="25400" cy="20638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1 h 5"/>
                <a:gd name="T4" fmla="*/ 0 w 6"/>
                <a:gd name="T5" fmla="*/ 5 h 5"/>
                <a:gd name="T6" fmla="*/ 6 w 6"/>
                <a:gd name="T7" fmla="*/ 4 h 5"/>
                <a:gd name="T8" fmla="*/ 5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4"/>
                    <a:pt x="0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2"/>
                    <a:pt x="6" y="1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2" name="Freeform 42"/>
            <p:cNvSpPr/>
            <p:nvPr/>
          </p:nvSpPr>
          <p:spPr bwMode="auto">
            <a:xfrm>
              <a:off x="2962275" y="1766888"/>
              <a:ext cx="25400" cy="22225"/>
            </a:xfrm>
            <a:custGeom>
              <a:avLst/>
              <a:gdLst>
                <a:gd name="T0" fmla="*/ 5 w 6"/>
                <a:gd name="T1" fmla="*/ 0 h 5"/>
                <a:gd name="T2" fmla="*/ 0 w 6"/>
                <a:gd name="T3" fmla="*/ 1 h 5"/>
                <a:gd name="T4" fmla="*/ 0 w 6"/>
                <a:gd name="T5" fmla="*/ 5 h 5"/>
                <a:gd name="T6" fmla="*/ 6 w 6"/>
                <a:gd name="T7" fmla="*/ 4 h 5"/>
                <a:gd name="T8" fmla="*/ 5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5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2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3" name="Freeform 43"/>
            <p:cNvSpPr/>
            <p:nvPr/>
          </p:nvSpPr>
          <p:spPr bwMode="auto">
            <a:xfrm>
              <a:off x="2957513" y="1817688"/>
              <a:ext cx="25400" cy="22225"/>
            </a:xfrm>
            <a:custGeom>
              <a:avLst/>
              <a:gdLst>
                <a:gd name="T0" fmla="*/ 6 w 6"/>
                <a:gd name="T1" fmla="*/ 1 h 5"/>
                <a:gd name="T2" fmla="*/ 1 w 6"/>
                <a:gd name="T3" fmla="*/ 0 h 5"/>
                <a:gd name="T4" fmla="*/ 0 w 6"/>
                <a:gd name="T5" fmla="*/ 4 h 5"/>
                <a:gd name="T6" fmla="*/ 6 w 6"/>
                <a:gd name="T7" fmla="*/ 5 h 5"/>
                <a:gd name="T8" fmla="*/ 6 w 6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1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4"/>
                    <a:pt x="6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4" name="Freeform 44"/>
            <p:cNvSpPr/>
            <p:nvPr/>
          </p:nvSpPr>
          <p:spPr bwMode="auto">
            <a:xfrm>
              <a:off x="2944813" y="1868488"/>
              <a:ext cx="30163" cy="25400"/>
            </a:xfrm>
            <a:custGeom>
              <a:avLst/>
              <a:gdLst>
                <a:gd name="T0" fmla="*/ 7 w 7"/>
                <a:gd name="T1" fmla="*/ 1 h 6"/>
                <a:gd name="T2" fmla="*/ 2 w 7"/>
                <a:gd name="T3" fmla="*/ 0 h 6"/>
                <a:gd name="T4" fmla="*/ 0 w 7"/>
                <a:gd name="T5" fmla="*/ 4 h 6"/>
                <a:gd name="T6" fmla="*/ 6 w 7"/>
                <a:gd name="T7" fmla="*/ 6 h 6"/>
                <a:gd name="T8" fmla="*/ 7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1" y="2"/>
                    <a:pt x="0" y="4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4"/>
                    <a:pt x="7" y="3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5" name="Freeform 45"/>
            <p:cNvSpPr/>
            <p:nvPr/>
          </p:nvSpPr>
          <p:spPr bwMode="auto">
            <a:xfrm>
              <a:off x="2922588" y="1916113"/>
              <a:ext cx="30163" cy="25400"/>
            </a:xfrm>
            <a:custGeom>
              <a:avLst/>
              <a:gdLst>
                <a:gd name="T0" fmla="*/ 7 w 7"/>
                <a:gd name="T1" fmla="*/ 2 h 6"/>
                <a:gd name="T2" fmla="*/ 2 w 7"/>
                <a:gd name="T3" fmla="*/ 0 h 6"/>
                <a:gd name="T4" fmla="*/ 0 w 7"/>
                <a:gd name="T5" fmla="*/ 3 h 6"/>
                <a:gd name="T6" fmla="*/ 5 w 7"/>
                <a:gd name="T7" fmla="*/ 6 h 6"/>
                <a:gd name="T8" fmla="*/ 7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7" y="2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5"/>
                    <a:pt x="7" y="4"/>
                    <a:pt x="7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6" name="Freeform 46"/>
            <p:cNvSpPr/>
            <p:nvPr/>
          </p:nvSpPr>
          <p:spPr bwMode="auto">
            <a:xfrm>
              <a:off x="2897188" y="1958975"/>
              <a:ext cx="30163" cy="28575"/>
            </a:xfrm>
            <a:custGeom>
              <a:avLst/>
              <a:gdLst>
                <a:gd name="T0" fmla="*/ 7 w 7"/>
                <a:gd name="T1" fmla="*/ 3 h 7"/>
                <a:gd name="T2" fmla="*/ 2 w 7"/>
                <a:gd name="T3" fmla="*/ 0 h 7"/>
                <a:gd name="T4" fmla="*/ 0 w 7"/>
                <a:gd name="T5" fmla="*/ 3 h 7"/>
                <a:gd name="T6" fmla="*/ 4 w 7"/>
                <a:gd name="T7" fmla="*/ 7 h 7"/>
                <a:gd name="T8" fmla="*/ 7 w 7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5"/>
                    <a:pt x="6" y="4"/>
                    <a:pt x="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7" name="Freeform 47"/>
            <p:cNvSpPr/>
            <p:nvPr/>
          </p:nvSpPr>
          <p:spPr bwMode="auto">
            <a:xfrm>
              <a:off x="2859088" y="1992313"/>
              <a:ext cx="30163" cy="30163"/>
            </a:xfrm>
            <a:custGeom>
              <a:avLst/>
              <a:gdLst>
                <a:gd name="T0" fmla="*/ 7 w 7"/>
                <a:gd name="T1" fmla="*/ 5 h 7"/>
                <a:gd name="T2" fmla="*/ 3 w 7"/>
                <a:gd name="T3" fmla="*/ 0 h 7"/>
                <a:gd name="T4" fmla="*/ 0 w 7"/>
                <a:gd name="T5" fmla="*/ 3 h 7"/>
                <a:gd name="T6" fmla="*/ 4 w 7"/>
                <a:gd name="T7" fmla="*/ 7 h 7"/>
                <a:gd name="T8" fmla="*/ 7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7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6" y="6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8" name="Freeform 48"/>
            <p:cNvSpPr/>
            <p:nvPr/>
          </p:nvSpPr>
          <p:spPr bwMode="auto">
            <a:xfrm>
              <a:off x="2817813" y="2022475"/>
              <a:ext cx="28575" cy="33338"/>
            </a:xfrm>
            <a:custGeom>
              <a:avLst/>
              <a:gdLst>
                <a:gd name="T0" fmla="*/ 7 w 7"/>
                <a:gd name="T1" fmla="*/ 5 h 8"/>
                <a:gd name="T2" fmla="*/ 4 w 7"/>
                <a:gd name="T3" fmla="*/ 0 h 8"/>
                <a:gd name="T4" fmla="*/ 0 w 7"/>
                <a:gd name="T5" fmla="*/ 2 h 8"/>
                <a:gd name="T6" fmla="*/ 3 w 7"/>
                <a:gd name="T7" fmla="*/ 8 h 8"/>
                <a:gd name="T8" fmla="*/ 7 w 7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7" y="5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2" y="2"/>
                    <a:pt x="0" y="2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5" y="7"/>
                    <a:pt x="6" y="6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19" name="Freeform 49"/>
            <p:cNvSpPr/>
            <p:nvPr/>
          </p:nvSpPr>
          <p:spPr bwMode="auto">
            <a:xfrm>
              <a:off x="2774950" y="2047875"/>
              <a:ext cx="25400" cy="30163"/>
            </a:xfrm>
            <a:custGeom>
              <a:avLst/>
              <a:gdLst>
                <a:gd name="T0" fmla="*/ 6 w 6"/>
                <a:gd name="T1" fmla="*/ 5 h 7"/>
                <a:gd name="T2" fmla="*/ 3 w 6"/>
                <a:gd name="T3" fmla="*/ 0 h 7"/>
                <a:gd name="T4" fmla="*/ 0 w 6"/>
                <a:gd name="T5" fmla="*/ 1 h 7"/>
                <a:gd name="T6" fmla="*/ 1 w 6"/>
                <a:gd name="T7" fmla="*/ 7 h 7"/>
                <a:gd name="T8" fmla="*/ 6 w 6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6" y="5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3" y="6"/>
                    <a:pt x="4" y="6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0" name="Freeform 50"/>
            <p:cNvSpPr/>
            <p:nvPr/>
          </p:nvSpPr>
          <p:spPr bwMode="auto">
            <a:xfrm>
              <a:off x="2724150" y="2060575"/>
              <a:ext cx="20638" cy="25400"/>
            </a:xfrm>
            <a:custGeom>
              <a:avLst/>
              <a:gdLst>
                <a:gd name="T0" fmla="*/ 5 w 5"/>
                <a:gd name="T1" fmla="*/ 6 h 6"/>
                <a:gd name="T2" fmla="*/ 4 w 5"/>
                <a:gd name="T3" fmla="*/ 0 h 6"/>
                <a:gd name="T4" fmla="*/ 0 w 5"/>
                <a:gd name="T5" fmla="*/ 0 h 6"/>
                <a:gd name="T6" fmla="*/ 1 w 5"/>
                <a:gd name="T7" fmla="*/ 6 h 6"/>
                <a:gd name="T8" fmla="*/ 5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0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4" y="6"/>
                    <a:pt x="5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1" name="Freeform 51"/>
            <p:cNvSpPr/>
            <p:nvPr/>
          </p:nvSpPr>
          <p:spPr bwMode="auto">
            <a:xfrm>
              <a:off x="2673350" y="2065338"/>
              <a:ext cx="20638" cy="25400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5 h 6"/>
                <a:gd name="T4" fmla="*/ 5 w 5"/>
                <a:gd name="T5" fmla="*/ 6 h 6"/>
                <a:gd name="T6" fmla="*/ 5 w 5"/>
                <a:gd name="T7" fmla="*/ 0 h 6"/>
                <a:gd name="T8" fmla="*/ 1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2" name="Freeform 52"/>
            <p:cNvSpPr/>
            <p:nvPr/>
          </p:nvSpPr>
          <p:spPr bwMode="auto">
            <a:xfrm>
              <a:off x="2620963" y="2055813"/>
              <a:ext cx="22225" cy="25400"/>
            </a:xfrm>
            <a:custGeom>
              <a:avLst/>
              <a:gdLst>
                <a:gd name="T0" fmla="*/ 4 w 5"/>
                <a:gd name="T1" fmla="*/ 6 h 6"/>
                <a:gd name="T2" fmla="*/ 5 w 5"/>
                <a:gd name="T3" fmla="*/ 1 h 6"/>
                <a:gd name="T4" fmla="*/ 1 w 5"/>
                <a:gd name="T5" fmla="*/ 0 h 6"/>
                <a:gd name="T6" fmla="*/ 0 w 5"/>
                <a:gd name="T7" fmla="*/ 6 h 6"/>
                <a:gd name="T8" fmla="*/ 4 w 5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4" y="6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2" y="6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3" name="Freeform 53"/>
            <p:cNvSpPr/>
            <p:nvPr/>
          </p:nvSpPr>
          <p:spPr bwMode="auto">
            <a:xfrm>
              <a:off x="2570163" y="2038350"/>
              <a:ext cx="25400" cy="30163"/>
            </a:xfrm>
            <a:custGeom>
              <a:avLst/>
              <a:gdLst>
                <a:gd name="T0" fmla="*/ 4 w 6"/>
                <a:gd name="T1" fmla="*/ 7 h 7"/>
                <a:gd name="T2" fmla="*/ 6 w 6"/>
                <a:gd name="T3" fmla="*/ 1 h 7"/>
                <a:gd name="T4" fmla="*/ 2 w 6"/>
                <a:gd name="T5" fmla="*/ 0 h 7"/>
                <a:gd name="T6" fmla="*/ 0 w 6"/>
                <a:gd name="T7" fmla="*/ 5 h 7"/>
                <a:gd name="T8" fmla="*/ 4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4" y="7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4" y="1"/>
                    <a:pt x="3" y="1"/>
                    <a:pt x="2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6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4" name="Freeform 54"/>
            <p:cNvSpPr/>
            <p:nvPr/>
          </p:nvSpPr>
          <p:spPr bwMode="auto">
            <a:xfrm>
              <a:off x="2524125" y="2012950"/>
              <a:ext cx="25400" cy="30163"/>
            </a:xfrm>
            <a:custGeom>
              <a:avLst/>
              <a:gdLst>
                <a:gd name="T0" fmla="*/ 3 w 6"/>
                <a:gd name="T1" fmla="*/ 7 h 7"/>
                <a:gd name="T2" fmla="*/ 6 w 6"/>
                <a:gd name="T3" fmla="*/ 2 h 7"/>
                <a:gd name="T4" fmla="*/ 3 w 6"/>
                <a:gd name="T5" fmla="*/ 0 h 7"/>
                <a:gd name="T6" fmla="*/ 0 w 6"/>
                <a:gd name="T7" fmla="*/ 5 h 7"/>
                <a:gd name="T8" fmla="*/ 3 w 6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6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5" name="Freeform 55"/>
            <p:cNvSpPr/>
            <p:nvPr/>
          </p:nvSpPr>
          <p:spPr bwMode="auto">
            <a:xfrm>
              <a:off x="2481263" y="1979613"/>
              <a:ext cx="30163" cy="33338"/>
            </a:xfrm>
            <a:custGeom>
              <a:avLst/>
              <a:gdLst>
                <a:gd name="T0" fmla="*/ 3 w 7"/>
                <a:gd name="T1" fmla="*/ 8 h 8"/>
                <a:gd name="T2" fmla="*/ 7 w 7"/>
                <a:gd name="T3" fmla="*/ 3 h 8"/>
                <a:gd name="T4" fmla="*/ 4 w 7"/>
                <a:gd name="T5" fmla="*/ 0 h 8"/>
                <a:gd name="T6" fmla="*/ 0 w 7"/>
                <a:gd name="T7" fmla="*/ 5 h 8"/>
                <a:gd name="T8" fmla="*/ 3 w 7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7" y="3"/>
                    <a:pt x="7" y="3"/>
                    <a:pt x="7" y="3"/>
                  </a:cubicBezTo>
                  <a:cubicBezTo>
                    <a:pt x="6" y="2"/>
                    <a:pt x="5" y="1"/>
                    <a:pt x="4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7"/>
                    <a:pt x="3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6" name="Freeform 56"/>
            <p:cNvSpPr/>
            <p:nvPr/>
          </p:nvSpPr>
          <p:spPr bwMode="auto">
            <a:xfrm>
              <a:off x="2447925" y="1941513"/>
              <a:ext cx="28575" cy="30163"/>
            </a:xfrm>
            <a:custGeom>
              <a:avLst/>
              <a:gdLst>
                <a:gd name="T0" fmla="*/ 2 w 7"/>
                <a:gd name="T1" fmla="*/ 7 h 7"/>
                <a:gd name="T2" fmla="*/ 7 w 7"/>
                <a:gd name="T3" fmla="*/ 4 h 7"/>
                <a:gd name="T4" fmla="*/ 5 w 7"/>
                <a:gd name="T5" fmla="*/ 0 h 7"/>
                <a:gd name="T6" fmla="*/ 0 w 7"/>
                <a:gd name="T7" fmla="*/ 4 h 7"/>
                <a:gd name="T8" fmla="*/ 2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2" y="7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5" y="1"/>
                    <a:pt x="5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1" y="6"/>
                    <a:pt x="2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7" name="Freeform 57"/>
            <p:cNvSpPr/>
            <p:nvPr/>
          </p:nvSpPr>
          <p:spPr bwMode="auto">
            <a:xfrm>
              <a:off x="2422525" y="1898650"/>
              <a:ext cx="28575" cy="25400"/>
            </a:xfrm>
            <a:custGeom>
              <a:avLst/>
              <a:gdLst>
                <a:gd name="T0" fmla="*/ 2 w 7"/>
                <a:gd name="T1" fmla="*/ 6 h 6"/>
                <a:gd name="T2" fmla="*/ 7 w 7"/>
                <a:gd name="T3" fmla="*/ 4 h 6"/>
                <a:gd name="T4" fmla="*/ 5 w 7"/>
                <a:gd name="T5" fmla="*/ 0 h 6"/>
                <a:gd name="T6" fmla="*/ 0 w 7"/>
                <a:gd name="T7" fmla="*/ 2 h 6"/>
                <a:gd name="T8" fmla="*/ 2 w 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6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1"/>
                    <a:pt x="5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1" y="5"/>
                    <a:pt x="2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8" name="Freeform 58"/>
            <p:cNvSpPr/>
            <p:nvPr/>
          </p:nvSpPr>
          <p:spPr bwMode="auto">
            <a:xfrm>
              <a:off x="2405063" y="1852613"/>
              <a:ext cx="30163" cy="20638"/>
            </a:xfrm>
            <a:custGeom>
              <a:avLst/>
              <a:gdLst>
                <a:gd name="T0" fmla="*/ 1 w 7"/>
                <a:gd name="T1" fmla="*/ 5 h 5"/>
                <a:gd name="T2" fmla="*/ 7 w 7"/>
                <a:gd name="T3" fmla="*/ 4 h 5"/>
                <a:gd name="T4" fmla="*/ 6 w 7"/>
                <a:gd name="T5" fmla="*/ 0 h 5"/>
                <a:gd name="T6" fmla="*/ 0 w 7"/>
                <a:gd name="T7" fmla="*/ 1 h 5"/>
                <a:gd name="T8" fmla="*/ 1 w 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1" y="5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1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1" y="4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29" name="Freeform 59"/>
            <p:cNvSpPr/>
            <p:nvPr/>
          </p:nvSpPr>
          <p:spPr bwMode="auto">
            <a:xfrm>
              <a:off x="2397125" y="1801813"/>
              <a:ext cx="25400" cy="20638"/>
            </a:xfrm>
            <a:custGeom>
              <a:avLst/>
              <a:gdLst>
                <a:gd name="T0" fmla="*/ 1 w 6"/>
                <a:gd name="T1" fmla="*/ 5 h 5"/>
                <a:gd name="T2" fmla="*/ 6 w 6"/>
                <a:gd name="T3" fmla="*/ 4 h 5"/>
                <a:gd name="T4" fmla="*/ 6 w 6"/>
                <a:gd name="T5" fmla="*/ 0 h 5"/>
                <a:gd name="T6" fmla="*/ 0 w 6"/>
                <a:gd name="T7" fmla="*/ 1 h 5"/>
                <a:gd name="T8" fmla="*/ 1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2"/>
                    <a:pt x="6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1" y="3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30" name="Freeform 60"/>
            <p:cNvSpPr/>
            <p:nvPr/>
          </p:nvSpPr>
          <p:spPr bwMode="auto">
            <a:xfrm>
              <a:off x="2400300" y="1751013"/>
              <a:ext cx="25400" cy="20638"/>
            </a:xfrm>
            <a:custGeom>
              <a:avLst/>
              <a:gdLst>
                <a:gd name="T0" fmla="*/ 0 w 6"/>
                <a:gd name="T1" fmla="*/ 4 h 5"/>
                <a:gd name="T2" fmla="*/ 5 w 6"/>
                <a:gd name="T3" fmla="*/ 5 h 5"/>
                <a:gd name="T4" fmla="*/ 6 w 6"/>
                <a:gd name="T5" fmla="*/ 1 h 5"/>
                <a:gd name="T6" fmla="*/ 0 w 6"/>
                <a:gd name="T7" fmla="*/ 0 h 5"/>
                <a:gd name="T8" fmla="*/ 0 w 6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0" y="4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6" y="3"/>
                    <a:pt x="6" y="2"/>
                    <a:pt x="6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31" name="Freeform 61"/>
            <p:cNvSpPr/>
            <p:nvPr/>
          </p:nvSpPr>
          <p:spPr bwMode="auto">
            <a:xfrm>
              <a:off x="2409825" y="1695450"/>
              <a:ext cx="28575" cy="25400"/>
            </a:xfrm>
            <a:custGeom>
              <a:avLst/>
              <a:gdLst>
                <a:gd name="T0" fmla="*/ 0 w 7"/>
                <a:gd name="T1" fmla="*/ 4 h 6"/>
                <a:gd name="T2" fmla="*/ 6 w 7"/>
                <a:gd name="T3" fmla="*/ 6 h 6"/>
                <a:gd name="T4" fmla="*/ 7 w 7"/>
                <a:gd name="T5" fmla="*/ 2 h 6"/>
                <a:gd name="T6" fmla="*/ 1 w 7"/>
                <a:gd name="T7" fmla="*/ 0 h 6"/>
                <a:gd name="T8" fmla="*/ 0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4"/>
                  </a:move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6" y="4"/>
                    <a:pt x="7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32" name="Freeform 62"/>
            <p:cNvSpPr/>
            <p:nvPr/>
          </p:nvSpPr>
          <p:spPr bwMode="auto">
            <a:xfrm>
              <a:off x="2430463" y="1647825"/>
              <a:ext cx="30163" cy="25400"/>
            </a:xfrm>
            <a:custGeom>
              <a:avLst/>
              <a:gdLst>
                <a:gd name="T0" fmla="*/ 0 w 7"/>
                <a:gd name="T1" fmla="*/ 4 h 6"/>
                <a:gd name="T2" fmla="*/ 5 w 7"/>
                <a:gd name="T3" fmla="*/ 6 h 6"/>
                <a:gd name="T4" fmla="*/ 7 w 7"/>
                <a:gd name="T5" fmla="*/ 3 h 6"/>
                <a:gd name="T6" fmla="*/ 2 w 7"/>
                <a:gd name="T7" fmla="*/ 0 h 6"/>
                <a:gd name="T8" fmla="*/ 0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0" y="4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6" y="4"/>
                    <a:pt x="7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33" name="Freeform 63"/>
            <p:cNvSpPr/>
            <p:nvPr/>
          </p:nvSpPr>
          <p:spPr bwMode="auto">
            <a:xfrm>
              <a:off x="2455863" y="1601788"/>
              <a:ext cx="33338" cy="30163"/>
            </a:xfrm>
            <a:custGeom>
              <a:avLst/>
              <a:gdLst>
                <a:gd name="T0" fmla="*/ 0 w 8"/>
                <a:gd name="T1" fmla="*/ 4 h 7"/>
                <a:gd name="T2" fmla="*/ 5 w 8"/>
                <a:gd name="T3" fmla="*/ 7 h 7"/>
                <a:gd name="T4" fmla="*/ 8 w 8"/>
                <a:gd name="T5" fmla="*/ 4 h 7"/>
                <a:gd name="T6" fmla="*/ 3 w 8"/>
                <a:gd name="T7" fmla="*/ 0 h 7"/>
                <a:gd name="T8" fmla="*/ 0 w 8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6" y="6"/>
                    <a:pt x="7" y="5"/>
                    <a:pt x="8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3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34" name="Freeform 64"/>
            <p:cNvSpPr/>
            <p:nvPr/>
          </p:nvSpPr>
          <p:spPr bwMode="auto">
            <a:xfrm>
              <a:off x="2493963" y="1566863"/>
              <a:ext cx="30163" cy="30163"/>
            </a:xfrm>
            <a:custGeom>
              <a:avLst/>
              <a:gdLst>
                <a:gd name="T0" fmla="*/ 0 w 7"/>
                <a:gd name="T1" fmla="*/ 2 h 7"/>
                <a:gd name="T2" fmla="*/ 4 w 7"/>
                <a:gd name="T3" fmla="*/ 7 h 7"/>
                <a:gd name="T4" fmla="*/ 7 w 7"/>
                <a:gd name="T5" fmla="*/ 4 h 7"/>
                <a:gd name="T6" fmla="*/ 3 w 7"/>
                <a:gd name="T7" fmla="*/ 0 h 7"/>
                <a:gd name="T8" fmla="*/ 0 w 7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0" y="2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5"/>
                    <a:pt x="7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35" name="Freeform 65"/>
            <p:cNvSpPr/>
            <p:nvPr/>
          </p:nvSpPr>
          <p:spPr bwMode="auto">
            <a:xfrm>
              <a:off x="2536825" y="1533525"/>
              <a:ext cx="30163" cy="33338"/>
            </a:xfrm>
            <a:custGeom>
              <a:avLst/>
              <a:gdLst>
                <a:gd name="T0" fmla="*/ 0 w 7"/>
                <a:gd name="T1" fmla="*/ 3 h 8"/>
                <a:gd name="T2" fmla="*/ 3 w 7"/>
                <a:gd name="T3" fmla="*/ 8 h 8"/>
                <a:gd name="T4" fmla="*/ 7 w 7"/>
                <a:gd name="T5" fmla="*/ 6 h 8"/>
                <a:gd name="T6" fmla="*/ 4 w 7"/>
                <a:gd name="T7" fmla="*/ 0 h 8"/>
                <a:gd name="T8" fmla="*/ 0 w 7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0" y="3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5" y="6"/>
                    <a:pt x="7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36" name="Freeform 66"/>
            <p:cNvSpPr/>
            <p:nvPr/>
          </p:nvSpPr>
          <p:spPr bwMode="auto">
            <a:xfrm>
              <a:off x="2587625" y="1512888"/>
              <a:ext cx="20638" cy="28575"/>
            </a:xfrm>
            <a:custGeom>
              <a:avLst/>
              <a:gdLst>
                <a:gd name="T0" fmla="*/ 0 w 5"/>
                <a:gd name="T1" fmla="*/ 2 h 7"/>
                <a:gd name="T2" fmla="*/ 2 w 5"/>
                <a:gd name="T3" fmla="*/ 7 h 7"/>
                <a:gd name="T4" fmla="*/ 5 w 5"/>
                <a:gd name="T5" fmla="*/ 6 h 7"/>
                <a:gd name="T6" fmla="*/ 4 w 5"/>
                <a:gd name="T7" fmla="*/ 0 h 7"/>
                <a:gd name="T8" fmla="*/ 0 w 5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0" y="2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4" y="6"/>
                    <a:pt x="5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sp>
          <p:nvSpPr>
            <p:cNvPr id="237" name="Freeform 67"/>
            <p:cNvSpPr/>
            <p:nvPr/>
          </p:nvSpPr>
          <p:spPr bwMode="auto">
            <a:xfrm>
              <a:off x="2638425" y="1503363"/>
              <a:ext cx="22225" cy="25400"/>
            </a:xfrm>
            <a:custGeom>
              <a:avLst/>
              <a:gdLst>
                <a:gd name="T0" fmla="*/ 0 w 5"/>
                <a:gd name="T1" fmla="*/ 0 h 6"/>
                <a:gd name="T2" fmla="*/ 1 w 5"/>
                <a:gd name="T3" fmla="*/ 6 h 6"/>
                <a:gd name="T4" fmla="*/ 5 w 5"/>
                <a:gd name="T5" fmla="*/ 6 h 6"/>
                <a:gd name="T6" fmla="*/ 4 w 5"/>
                <a:gd name="T7" fmla="*/ 0 h 6"/>
                <a:gd name="T8" fmla="*/ 0 w 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3" y="6"/>
                    <a:pt x="5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</p:grpSp>
      <p:grpSp>
        <p:nvGrpSpPr>
          <p:cNvPr id="12" name="组合 237"/>
          <p:cNvGrpSpPr>
            <a:grpSpLocks/>
          </p:cNvGrpSpPr>
          <p:nvPr/>
        </p:nvGrpSpPr>
        <p:grpSpPr bwMode="auto">
          <a:xfrm rot="10800000">
            <a:off x="5124450" y="1622425"/>
            <a:ext cx="733425" cy="504825"/>
            <a:chOff x="2391274" y="1586037"/>
            <a:chExt cx="1193800" cy="823913"/>
          </a:xfrm>
        </p:grpSpPr>
        <p:sp>
          <p:nvSpPr>
            <p:cNvPr id="239" name="Freeform 5"/>
            <p:cNvSpPr/>
            <p:nvPr/>
          </p:nvSpPr>
          <p:spPr bwMode="auto">
            <a:xfrm>
              <a:off x="2391274" y="1586037"/>
              <a:ext cx="1193800" cy="823913"/>
            </a:xfrm>
            <a:custGeom>
              <a:avLst/>
              <a:gdLst>
                <a:gd name="T0" fmla="*/ 281 w 281"/>
                <a:gd name="T1" fmla="*/ 97 h 194"/>
                <a:gd name="T2" fmla="*/ 141 w 281"/>
                <a:gd name="T3" fmla="*/ 10 h 194"/>
                <a:gd name="T4" fmla="*/ 97 w 281"/>
                <a:gd name="T5" fmla="*/ 0 h 194"/>
                <a:gd name="T6" fmla="*/ 0 w 281"/>
                <a:gd name="T7" fmla="*/ 97 h 194"/>
                <a:gd name="T8" fmla="*/ 97 w 281"/>
                <a:gd name="T9" fmla="*/ 194 h 194"/>
                <a:gd name="T10" fmla="*/ 141 w 281"/>
                <a:gd name="T11" fmla="*/ 183 h 194"/>
                <a:gd name="T12" fmla="*/ 281 w 281"/>
                <a:gd name="T13" fmla="*/ 97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94">
                  <a:moveTo>
                    <a:pt x="281" y="97"/>
                  </a:moveTo>
                  <a:cubicBezTo>
                    <a:pt x="141" y="10"/>
                    <a:pt x="141" y="10"/>
                    <a:pt x="141" y="10"/>
                  </a:cubicBezTo>
                  <a:cubicBezTo>
                    <a:pt x="128" y="3"/>
                    <a:pt x="113" y="0"/>
                    <a:pt x="97" y="0"/>
                  </a:cubicBez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44" y="194"/>
                    <a:pt x="97" y="194"/>
                  </a:cubicBezTo>
                  <a:cubicBezTo>
                    <a:pt x="113" y="194"/>
                    <a:pt x="128" y="190"/>
                    <a:pt x="141" y="183"/>
                  </a:cubicBezTo>
                  <a:lnTo>
                    <a:pt x="281" y="97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grpSp>
          <p:nvGrpSpPr>
            <p:cNvPr id="13411" name="组合 239"/>
            <p:cNvGrpSpPr>
              <a:grpSpLocks/>
            </p:cNvGrpSpPr>
            <p:nvPr/>
          </p:nvGrpSpPr>
          <p:grpSpPr bwMode="auto">
            <a:xfrm>
              <a:off x="2482263" y="1702718"/>
              <a:ext cx="590550" cy="590550"/>
              <a:chOff x="2397125" y="1500188"/>
              <a:chExt cx="590550" cy="590550"/>
            </a:xfrm>
          </p:grpSpPr>
          <p:sp>
            <p:nvSpPr>
              <p:cNvPr id="13412" name="Oval 33"/>
              <p:cNvSpPr>
                <a:spLocks noChangeArrowheads="1"/>
              </p:cNvSpPr>
              <p:nvPr/>
            </p:nvSpPr>
            <p:spPr bwMode="auto">
              <a:xfrm>
                <a:off x="2489200" y="1597025"/>
                <a:ext cx="404813" cy="407988"/>
              </a:xfrm>
              <a:prstGeom prst="ellipse">
                <a:avLst/>
              </a:prstGeom>
              <a:solidFill>
                <a:srgbClr val="E6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3" name="Freeform 34"/>
              <p:cNvSpPr>
                <a:spLocks/>
              </p:cNvSpPr>
              <p:nvPr/>
            </p:nvSpPr>
            <p:spPr bwMode="auto">
              <a:xfrm>
                <a:off x="2693988" y="1500188"/>
                <a:ext cx="17463" cy="25400"/>
              </a:xfrm>
              <a:custGeom>
                <a:avLst/>
                <a:gdLst>
                  <a:gd name="T0" fmla="*/ 2147483647 w 4"/>
                  <a:gd name="T1" fmla="*/ 2147483647 h 6"/>
                  <a:gd name="T2" fmla="*/ 2147483647 w 4"/>
                  <a:gd name="T3" fmla="*/ 2147483647 h 6"/>
                  <a:gd name="T4" fmla="*/ 0 w 4"/>
                  <a:gd name="T5" fmla="*/ 0 h 6"/>
                  <a:gd name="T6" fmla="*/ 0 w 4"/>
                  <a:gd name="T7" fmla="*/ 2147483647 h 6"/>
                  <a:gd name="T8" fmla="*/ 2147483647 w 4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6"/>
                  <a:gd name="T17" fmla="*/ 4 w 4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6">
                    <a:moveTo>
                      <a:pt x="3" y="6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3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4" name="Freeform 35"/>
              <p:cNvSpPr>
                <a:spLocks/>
              </p:cNvSpPr>
              <p:nvPr/>
            </p:nvSpPr>
            <p:spPr bwMode="auto">
              <a:xfrm>
                <a:off x="2740025" y="1508125"/>
                <a:ext cx="22225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3" y="6"/>
                      <a:pt x="4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5" name="Freeform 36"/>
              <p:cNvSpPr>
                <a:spLocks/>
              </p:cNvSpPr>
              <p:nvPr/>
            </p:nvSpPr>
            <p:spPr bwMode="auto">
              <a:xfrm>
                <a:off x="2787650" y="1520825"/>
                <a:ext cx="25400" cy="30163"/>
              </a:xfrm>
              <a:custGeom>
                <a:avLst/>
                <a:gdLst>
                  <a:gd name="T0" fmla="*/ 2147483647 w 6"/>
                  <a:gd name="T1" fmla="*/ 0 h 7"/>
                  <a:gd name="T2" fmla="*/ 0 w 6"/>
                  <a:gd name="T3" fmla="*/ 2147483647 h 7"/>
                  <a:gd name="T4" fmla="*/ 2147483647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4" y="7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" name="Freeform 37"/>
              <p:cNvSpPr>
                <a:spLocks/>
              </p:cNvSpPr>
              <p:nvPr/>
            </p:nvSpPr>
            <p:spPr bwMode="auto">
              <a:xfrm>
                <a:off x="2833688" y="1546225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2" y="6"/>
                      <a:pt x="3" y="7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7" name="Freeform 38"/>
              <p:cNvSpPr>
                <a:spLocks/>
              </p:cNvSpPr>
              <p:nvPr/>
            </p:nvSpPr>
            <p:spPr bwMode="auto">
              <a:xfrm>
                <a:off x="2871788" y="1576388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4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8" name="Freeform 39"/>
              <p:cNvSpPr>
                <a:spLocks/>
              </p:cNvSpPr>
              <p:nvPr/>
            </p:nvSpPr>
            <p:spPr bwMode="auto">
              <a:xfrm>
                <a:off x="2906713" y="1619250"/>
                <a:ext cx="30163" cy="28575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4"/>
                      <a:pt x="2" y="6"/>
                      <a:pt x="2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9" name="Freeform 40"/>
              <p:cNvSpPr>
                <a:spLocks/>
              </p:cNvSpPr>
              <p:nvPr/>
            </p:nvSpPr>
            <p:spPr bwMode="auto">
              <a:xfrm>
                <a:off x="2932113" y="1665288"/>
                <a:ext cx="30163" cy="25400"/>
              </a:xfrm>
              <a:custGeom>
                <a:avLst/>
                <a:gdLst>
                  <a:gd name="T0" fmla="*/ 2147483647 w 7"/>
                  <a:gd name="T1" fmla="*/ 0 h 6"/>
                  <a:gd name="T2" fmla="*/ 0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5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5"/>
                      <a:pt x="2" y="6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0" name="Freeform 41"/>
              <p:cNvSpPr>
                <a:spLocks/>
              </p:cNvSpPr>
              <p:nvPr/>
            </p:nvSpPr>
            <p:spPr bwMode="auto">
              <a:xfrm>
                <a:off x="2952750" y="1716088"/>
                <a:ext cx="25400" cy="20638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1" name="Freeform 42"/>
              <p:cNvSpPr>
                <a:spLocks/>
              </p:cNvSpPr>
              <p:nvPr/>
            </p:nvSpPr>
            <p:spPr bwMode="auto">
              <a:xfrm>
                <a:off x="2962275" y="1766888"/>
                <a:ext cx="25400" cy="22225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2" name="Freeform 43"/>
              <p:cNvSpPr>
                <a:spLocks/>
              </p:cNvSpPr>
              <p:nvPr/>
            </p:nvSpPr>
            <p:spPr bwMode="auto">
              <a:xfrm>
                <a:off x="2957513" y="1817688"/>
                <a:ext cx="25400" cy="22225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0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6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3" name="Freeform 44"/>
              <p:cNvSpPr>
                <a:spLocks/>
              </p:cNvSpPr>
              <p:nvPr/>
            </p:nvSpPr>
            <p:spPr bwMode="auto">
              <a:xfrm>
                <a:off x="2944813" y="1868488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1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4"/>
                      <a:pt x="7" y="3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4" name="Freeform 45"/>
              <p:cNvSpPr>
                <a:spLocks/>
              </p:cNvSpPr>
              <p:nvPr/>
            </p:nvSpPr>
            <p:spPr bwMode="auto">
              <a:xfrm>
                <a:off x="2922588" y="1916113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2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5"/>
                      <a:pt x="7" y="4"/>
                      <a:pt x="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5" name="Freeform 46"/>
              <p:cNvSpPr>
                <a:spLocks/>
              </p:cNvSpPr>
              <p:nvPr/>
            </p:nvSpPr>
            <p:spPr bwMode="auto">
              <a:xfrm>
                <a:off x="2897188" y="1958975"/>
                <a:ext cx="30163" cy="28575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5"/>
                      <a:pt x="6" y="4"/>
                      <a:pt x="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6" name="Freeform 47"/>
              <p:cNvSpPr>
                <a:spLocks/>
              </p:cNvSpPr>
              <p:nvPr/>
            </p:nvSpPr>
            <p:spPr bwMode="auto">
              <a:xfrm>
                <a:off x="2859088" y="1992313"/>
                <a:ext cx="30163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7" name="Freeform 48"/>
              <p:cNvSpPr>
                <a:spLocks/>
              </p:cNvSpPr>
              <p:nvPr/>
            </p:nvSpPr>
            <p:spPr bwMode="auto">
              <a:xfrm>
                <a:off x="2817813" y="2022475"/>
                <a:ext cx="28575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0 h 8"/>
                  <a:gd name="T4" fmla="*/ 0 w 7"/>
                  <a:gd name="T5" fmla="*/ 2147483647 h 8"/>
                  <a:gd name="T6" fmla="*/ 2147483647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7" y="5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2" y="2"/>
                      <a:pt x="0" y="2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8" name="Freeform 49"/>
              <p:cNvSpPr>
                <a:spLocks/>
              </p:cNvSpPr>
              <p:nvPr/>
            </p:nvSpPr>
            <p:spPr bwMode="auto">
              <a:xfrm>
                <a:off x="2774950" y="2047875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0 h 7"/>
                  <a:gd name="T4" fmla="*/ 0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6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1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6"/>
                      <a:pt x="4" y="6"/>
                      <a:pt x="6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9" name="Freeform 50"/>
              <p:cNvSpPr>
                <a:spLocks/>
              </p:cNvSpPr>
              <p:nvPr/>
            </p:nvSpPr>
            <p:spPr bwMode="auto">
              <a:xfrm>
                <a:off x="2724150" y="2060575"/>
                <a:ext cx="20638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0 h 6"/>
                  <a:gd name="T4" fmla="*/ 0 w 5"/>
                  <a:gd name="T5" fmla="*/ 0 h 6"/>
                  <a:gd name="T6" fmla="*/ 2147483647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5" y="6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0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4" y="6"/>
                      <a:pt x="5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0" name="Freeform 51"/>
              <p:cNvSpPr>
                <a:spLocks/>
              </p:cNvSpPr>
              <p:nvPr/>
            </p:nvSpPr>
            <p:spPr bwMode="auto">
              <a:xfrm>
                <a:off x="2673350" y="2065338"/>
                <a:ext cx="20638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1" name="Freeform 52"/>
              <p:cNvSpPr>
                <a:spLocks/>
              </p:cNvSpPr>
              <p:nvPr/>
            </p:nvSpPr>
            <p:spPr bwMode="auto">
              <a:xfrm>
                <a:off x="2620963" y="2055813"/>
                <a:ext cx="22225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2147483647 h 6"/>
                  <a:gd name="T4" fmla="*/ 2147483647 w 5"/>
                  <a:gd name="T5" fmla="*/ 0 h 6"/>
                  <a:gd name="T6" fmla="*/ 0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4" y="6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2" y="0"/>
                      <a:pt x="1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4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2" name="Freeform 53"/>
              <p:cNvSpPr>
                <a:spLocks/>
              </p:cNvSpPr>
              <p:nvPr/>
            </p:nvSpPr>
            <p:spPr bwMode="auto">
              <a:xfrm>
                <a:off x="2570163" y="20383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4" y="7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4" y="1"/>
                      <a:pt x="3" y="1"/>
                      <a:pt x="2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4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3" name="Freeform 54"/>
              <p:cNvSpPr>
                <a:spLocks/>
              </p:cNvSpPr>
              <p:nvPr/>
            </p:nvSpPr>
            <p:spPr bwMode="auto">
              <a:xfrm>
                <a:off x="2524125" y="20129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7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4" y="1"/>
                      <a:pt x="3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3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4" name="Freeform 55"/>
              <p:cNvSpPr>
                <a:spLocks/>
              </p:cNvSpPr>
              <p:nvPr/>
            </p:nvSpPr>
            <p:spPr bwMode="auto">
              <a:xfrm>
                <a:off x="2481263" y="1979613"/>
                <a:ext cx="30163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0 h 8"/>
                  <a:gd name="T6" fmla="*/ 0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3" y="8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5" name="Freeform 56"/>
              <p:cNvSpPr>
                <a:spLocks/>
              </p:cNvSpPr>
              <p:nvPr/>
            </p:nvSpPr>
            <p:spPr bwMode="auto">
              <a:xfrm>
                <a:off x="2447925" y="1941513"/>
                <a:ext cx="28575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0 h 7"/>
                  <a:gd name="T6" fmla="*/ 0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2" y="7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5" y="1"/>
                      <a:pt x="5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1" y="6"/>
                      <a:pt x="2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6" name="Freeform 57"/>
              <p:cNvSpPr>
                <a:spLocks/>
              </p:cNvSpPr>
              <p:nvPr/>
            </p:nvSpPr>
            <p:spPr bwMode="auto">
              <a:xfrm>
                <a:off x="2422525" y="1898650"/>
                <a:ext cx="28575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0 h 6"/>
                  <a:gd name="T6" fmla="*/ 0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2" y="6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5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4"/>
                      <a:pt x="1" y="5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7" name="Freeform 58"/>
              <p:cNvSpPr>
                <a:spLocks/>
              </p:cNvSpPr>
              <p:nvPr/>
            </p:nvSpPr>
            <p:spPr bwMode="auto">
              <a:xfrm>
                <a:off x="2405063" y="1852613"/>
                <a:ext cx="30163" cy="20638"/>
              </a:xfrm>
              <a:custGeom>
                <a:avLst/>
                <a:gdLst>
                  <a:gd name="T0" fmla="*/ 2147483647 w 7"/>
                  <a:gd name="T1" fmla="*/ 2147483647 h 5"/>
                  <a:gd name="T2" fmla="*/ 2147483647 w 7"/>
                  <a:gd name="T3" fmla="*/ 2147483647 h 5"/>
                  <a:gd name="T4" fmla="*/ 2147483647 w 7"/>
                  <a:gd name="T5" fmla="*/ 0 h 5"/>
                  <a:gd name="T6" fmla="*/ 0 w 7"/>
                  <a:gd name="T7" fmla="*/ 2147483647 h 5"/>
                  <a:gd name="T8" fmla="*/ 2147483647 w 7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5"/>
                  <a:gd name="T17" fmla="*/ 7 w 7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5">
                    <a:moveTo>
                      <a:pt x="1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1" y="4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8" name="Freeform 59"/>
              <p:cNvSpPr>
                <a:spLocks/>
              </p:cNvSpPr>
              <p:nvPr/>
            </p:nvSpPr>
            <p:spPr bwMode="auto">
              <a:xfrm>
                <a:off x="2397125" y="1801813"/>
                <a:ext cx="25400" cy="20638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0 h 5"/>
                  <a:gd name="T6" fmla="*/ 0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1" y="5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1" y="3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9" name="Freeform 60"/>
              <p:cNvSpPr>
                <a:spLocks/>
              </p:cNvSpPr>
              <p:nvPr/>
            </p:nvSpPr>
            <p:spPr bwMode="auto">
              <a:xfrm>
                <a:off x="2400300" y="1751013"/>
                <a:ext cx="25400" cy="20638"/>
              </a:xfrm>
              <a:custGeom>
                <a:avLst/>
                <a:gdLst>
                  <a:gd name="T0" fmla="*/ 0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2147483647 h 5"/>
                  <a:gd name="T6" fmla="*/ 0 w 6"/>
                  <a:gd name="T7" fmla="*/ 0 h 5"/>
                  <a:gd name="T8" fmla="*/ 0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0" y="4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6" y="3"/>
                      <a:pt x="6" y="2"/>
                      <a:pt x="6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0" name="Freeform 61"/>
              <p:cNvSpPr>
                <a:spLocks/>
              </p:cNvSpPr>
              <p:nvPr/>
            </p:nvSpPr>
            <p:spPr bwMode="auto">
              <a:xfrm>
                <a:off x="2409825" y="1695450"/>
                <a:ext cx="28575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6" y="5"/>
                      <a:pt x="6" y="4"/>
                      <a:pt x="7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1" name="Freeform 62"/>
              <p:cNvSpPr>
                <a:spLocks/>
              </p:cNvSpPr>
              <p:nvPr/>
            </p:nvSpPr>
            <p:spPr bwMode="auto">
              <a:xfrm>
                <a:off x="2430463" y="1647825"/>
                <a:ext cx="30163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6" y="4"/>
                      <a:pt x="7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2" name="Freeform 63"/>
              <p:cNvSpPr>
                <a:spLocks/>
              </p:cNvSpPr>
              <p:nvPr/>
            </p:nvSpPr>
            <p:spPr bwMode="auto">
              <a:xfrm>
                <a:off x="2455863" y="1601788"/>
                <a:ext cx="33338" cy="30163"/>
              </a:xfrm>
              <a:custGeom>
                <a:avLst/>
                <a:gdLst>
                  <a:gd name="T0" fmla="*/ 0 w 8"/>
                  <a:gd name="T1" fmla="*/ 2147483647 h 7"/>
                  <a:gd name="T2" fmla="*/ 2147483647 w 8"/>
                  <a:gd name="T3" fmla="*/ 2147483647 h 7"/>
                  <a:gd name="T4" fmla="*/ 2147483647 w 8"/>
                  <a:gd name="T5" fmla="*/ 2147483647 h 7"/>
                  <a:gd name="T6" fmla="*/ 2147483647 w 8"/>
                  <a:gd name="T7" fmla="*/ 0 h 7"/>
                  <a:gd name="T8" fmla="*/ 0 w 8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7"/>
                  <a:gd name="T17" fmla="*/ 8 w 8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7">
                    <a:moveTo>
                      <a:pt x="0" y="4"/>
                    </a:moveTo>
                    <a:cubicBezTo>
                      <a:pt x="5" y="7"/>
                      <a:pt x="5" y="7"/>
                      <a:pt x="5" y="7"/>
                    </a:cubicBezTo>
                    <a:cubicBezTo>
                      <a:pt x="6" y="6"/>
                      <a:pt x="7" y="5"/>
                      <a:pt x="8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3" name="Freeform 64"/>
              <p:cNvSpPr>
                <a:spLocks/>
              </p:cNvSpPr>
              <p:nvPr/>
            </p:nvSpPr>
            <p:spPr bwMode="auto">
              <a:xfrm>
                <a:off x="2493963" y="1566863"/>
                <a:ext cx="30163" cy="30163"/>
              </a:xfrm>
              <a:custGeom>
                <a:avLst/>
                <a:gdLst>
                  <a:gd name="T0" fmla="*/ 0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0 h 7"/>
                  <a:gd name="T8" fmla="*/ 0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0" y="2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5" y="6"/>
                      <a:pt x="6" y="5"/>
                      <a:pt x="7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4" name="Freeform 65"/>
              <p:cNvSpPr>
                <a:spLocks/>
              </p:cNvSpPr>
              <p:nvPr/>
            </p:nvSpPr>
            <p:spPr bwMode="auto">
              <a:xfrm>
                <a:off x="2536825" y="1533525"/>
                <a:ext cx="30163" cy="33338"/>
              </a:xfrm>
              <a:custGeom>
                <a:avLst/>
                <a:gdLst>
                  <a:gd name="T0" fmla="*/ 0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2147483647 h 8"/>
                  <a:gd name="T6" fmla="*/ 2147483647 w 7"/>
                  <a:gd name="T7" fmla="*/ 0 h 8"/>
                  <a:gd name="T8" fmla="*/ 0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0" y="3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4" y="7"/>
                      <a:pt x="5" y="6"/>
                      <a:pt x="7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1" y="2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5" name="Freeform 66"/>
              <p:cNvSpPr>
                <a:spLocks/>
              </p:cNvSpPr>
              <p:nvPr/>
            </p:nvSpPr>
            <p:spPr bwMode="auto">
              <a:xfrm>
                <a:off x="2587625" y="1512888"/>
                <a:ext cx="20638" cy="28575"/>
              </a:xfrm>
              <a:custGeom>
                <a:avLst/>
                <a:gdLst>
                  <a:gd name="T0" fmla="*/ 0 w 5"/>
                  <a:gd name="T1" fmla="*/ 2147483647 h 7"/>
                  <a:gd name="T2" fmla="*/ 2147483647 w 5"/>
                  <a:gd name="T3" fmla="*/ 2147483647 h 7"/>
                  <a:gd name="T4" fmla="*/ 2147483647 w 5"/>
                  <a:gd name="T5" fmla="*/ 2147483647 h 7"/>
                  <a:gd name="T6" fmla="*/ 2147483647 w 5"/>
                  <a:gd name="T7" fmla="*/ 0 h 7"/>
                  <a:gd name="T8" fmla="*/ 0 w 5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7"/>
                  <a:gd name="T17" fmla="*/ 5 w 5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7">
                    <a:moveTo>
                      <a:pt x="0" y="2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3" y="7"/>
                      <a:pt x="4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6" name="Freeform 67"/>
              <p:cNvSpPr>
                <a:spLocks/>
              </p:cNvSpPr>
              <p:nvPr/>
            </p:nvSpPr>
            <p:spPr bwMode="auto">
              <a:xfrm>
                <a:off x="2638425" y="1503363"/>
                <a:ext cx="22225" cy="25400"/>
              </a:xfrm>
              <a:custGeom>
                <a:avLst/>
                <a:gdLst>
                  <a:gd name="T0" fmla="*/ 0 w 5"/>
                  <a:gd name="T1" fmla="*/ 0 h 6"/>
                  <a:gd name="T2" fmla="*/ 2147483647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0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0" y="0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4" name="组合 275"/>
          <p:cNvGrpSpPr>
            <a:grpSpLocks/>
          </p:cNvGrpSpPr>
          <p:nvPr/>
        </p:nvGrpSpPr>
        <p:grpSpPr bwMode="auto">
          <a:xfrm>
            <a:off x="4010025" y="3833813"/>
            <a:ext cx="733425" cy="506412"/>
            <a:chOff x="2391274" y="1586037"/>
            <a:chExt cx="1193800" cy="823913"/>
          </a:xfrm>
        </p:grpSpPr>
        <p:sp>
          <p:nvSpPr>
            <p:cNvPr id="277" name="Freeform 5"/>
            <p:cNvSpPr/>
            <p:nvPr/>
          </p:nvSpPr>
          <p:spPr bwMode="auto">
            <a:xfrm>
              <a:off x="2391274" y="1586037"/>
              <a:ext cx="1193800" cy="823913"/>
            </a:xfrm>
            <a:custGeom>
              <a:avLst/>
              <a:gdLst>
                <a:gd name="T0" fmla="*/ 281 w 281"/>
                <a:gd name="T1" fmla="*/ 97 h 194"/>
                <a:gd name="T2" fmla="*/ 141 w 281"/>
                <a:gd name="T3" fmla="*/ 10 h 194"/>
                <a:gd name="T4" fmla="*/ 97 w 281"/>
                <a:gd name="T5" fmla="*/ 0 h 194"/>
                <a:gd name="T6" fmla="*/ 0 w 281"/>
                <a:gd name="T7" fmla="*/ 97 h 194"/>
                <a:gd name="T8" fmla="*/ 97 w 281"/>
                <a:gd name="T9" fmla="*/ 194 h 194"/>
                <a:gd name="T10" fmla="*/ 141 w 281"/>
                <a:gd name="T11" fmla="*/ 183 h 194"/>
                <a:gd name="T12" fmla="*/ 281 w 281"/>
                <a:gd name="T13" fmla="*/ 97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94">
                  <a:moveTo>
                    <a:pt x="281" y="97"/>
                  </a:moveTo>
                  <a:cubicBezTo>
                    <a:pt x="141" y="10"/>
                    <a:pt x="141" y="10"/>
                    <a:pt x="141" y="10"/>
                  </a:cubicBezTo>
                  <a:cubicBezTo>
                    <a:pt x="128" y="3"/>
                    <a:pt x="113" y="0"/>
                    <a:pt x="97" y="0"/>
                  </a:cubicBez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44" y="194"/>
                    <a:pt x="97" y="194"/>
                  </a:cubicBezTo>
                  <a:cubicBezTo>
                    <a:pt x="113" y="194"/>
                    <a:pt x="128" y="190"/>
                    <a:pt x="141" y="183"/>
                  </a:cubicBezTo>
                  <a:lnTo>
                    <a:pt x="281" y="97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grpSp>
          <p:nvGrpSpPr>
            <p:cNvPr id="13374" name="组合 277"/>
            <p:cNvGrpSpPr>
              <a:grpSpLocks/>
            </p:cNvGrpSpPr>
            <p:nvPr/>
          </p:nvGrpSpPr>
          <p:grpSpPr bwMode="auto">
            <a:xfrm>
              <a:off x="2482263" y="1702718"/>
              <a:ext cx="590550" cy="590550"/>
              <a:chOff x="2397125" y="1500188"/>
              <a:chExt cx="590550" cy="590550"/>
            </a:xfrm>
          </p:grpSpPr>
          <p:sp>
            <p:nvSpPr>
              <p:cNvPr id="13375" name="Oval 33"/>
              <p:cNvSpPr>
                <a:spLocks noChangeArrowheads="1"/>
              </p:cNvSpPr>
              <p:nvPr/>
            </p:nvSpPr>
            <p:spPr bwMode="auto">
              <a:xfrm>
                <a:off x="2489200" y="1597025"/>
                <a:ext cx="404813" cy="407988"/>
              </a:xfrm>
              <a:prstGeom prst="ellipse">
                <a:avLst/>
              </a:prstGeom>
              <a:solidFill>
                <a:srgbClr val="E6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" name="Freeform 34"/>
              <p:cNvSpPr>
                <a:spLocks/>
              </p:cNvSpPr>
              <p:nvPr/>
            </p:nvSpPr>
            <p:spPr bwMode="auto">
              <a:xfrm>
                <a:off x="2693988" y="1500188"/>
                <a:ext cx="17463" cy="25400"/>
              </a:xfrm>
              <a:custGeom>
                <a:avLst/>
                <a:gdLst>
                  <a:gd name="T0" fmla="*/ 2147483647 w 4"/>
                  <a:gd name="T1" fmla="*/ 2147483647 h 6"/>
                  <a:gd name="T2" fmla="*/ 2147483647 w 4"/>
                  <a:gd name="T3" fmla="*/ 2147483647 h 6"/>
                  <a:gd name="T4" fmla="*/ 0 w 4"/>
                  <a:gd name="T5" fmla="*/ 0 h 6"/>
                  <a:gd name="T6" fmla="*/ 0 w 4"/>
                  <a:gd name="T7" fmla="*/ 2147483647 h 6"/>
                  <a:gd name="T8" fmla="*/ 2147483647 w 4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6"/>
                  <a:gd name="T17" fmla="*/ 4 w 4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6">
                    <a:moveTo>
                      <a:pt x="3" y="6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3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" name="Freeform 35"/>
              <p:cNvSpPr>
                <a:spLocks/>
              </p:cNvSpPr>
              <p:nvPr/>
            </p:nvSpPr>
            <p:spPr bwMode="auto">
              <a:xfrm>
                <a:off x="2740025" y="1508125"/>
                <a:ext cx="22225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3" y="6"/>
                      <a:pt x="4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" name="Freeform 36"/>
              <p:cNvSpPr>
                <a:spLocks/>
              </p:cNvSpPr>
              <p:nvPr/>
            </p:nvSpPr>
            <p:spPr bwMode="auto">
              <a:xfrm>
                <a:off x="2787650" y="1520825"/>
                <a:ext cx="25400" cy="30163"/>
              </a:xfrm>
              <a:custGeom>
                <a:avLst/>
                <a:gdLst>
                  <a:gd name="T0" fmla="*/ 2147483647 w 6"/>
                  <a:gd name="T1" fmla="*/ 0 h 7"/>
                  <a:gd name="T2" fmla="*/ 0 w 6"/>
                  <a:gd name="T3" fmla="*/ 2147483647 h 7"/>
                  <a:gd name="T4" fmla="*/ 2147483647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4" y="7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" name="Freeform 37"/>
              <p:cNvSpPr>
                <a:spLocks/>
              </p:cNvSpPr>
              <p:nvPr/>
            </p:nvSpPr>
            <p:spPr bwMode="auto">
              <a:xfrm>
                <a:off x="2833688" y="1546225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2" y="6"/>
                      <a:pt x="3" y="7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" name="Freeform 38"/>
              <p:cNvSpPr>
                <a:spLocks/>
              </p:cNvSpPr>
              <p:nvPr/>
            </p:nvSpPr>
            <p:spPr bwMode="auto">
              <a:xfrm>
                <a:off x="2871788" y="1576388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4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" name="Freeform 39"/>
              <p:cNvSpPr>
                <a:spLocks/>
              </p:cNvSpPr>
              <p:nvPr/>
            </p:nvSpPr>
            <p:spPr bwMode="auto">
              <a:xfrm>
                <a:off x="2906713" y="1619250"/>
                <a:ext cx="30163" cy="28575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4"/>
                      <a:pt x="2" y="6"/>
                      <a:pt x="2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" name="Freeform 40"/>
              <p:cNvSpPr>
                <a:spLocks/>
              </p:cNvSpPr>
              <p:nvPr/>
            </p:nvSpPr>
            <p:spPr bwMode="auto">
              <a:xfrm>
                <a:off x="2932113" y="1665288"/>
                <a:ext cx="30163" cy="25400"/>
              </a:xfrm>
              <a:custGeom>
                <a:avLst/>
                <a:gdLst>
                  <a:gd name="T0" fmla="*/ 2147483647 w 7"/>
                  <a:gd name="T1" fmla="*/ 0 h 6"/>
                  <a:gd name="T2" fmla="*/ 0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5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5"/>
                      <a:pt x="2" y="6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" name="Freeform 41"/>
              <p:cNvSpPr>
                <a:spLocks/>
              </p:cNvSpPr>
              <p:nvPr/>
            </p:nvSpPr>
            <p:spPr bwMode="auto">
              <a:xfrm>
                <a:off x="2952750" y="1716088"/>
                <a:ext cx="25400" cy="20638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" name="Freeform 42"/>
              <p:cNvSpPr>
                <a:spLocks/>
              </p:cNvSpPr>
              <p:nvPr/>
            </p:nvSpPr>
            <p:spPr bwMode="auto">
              <a:xfrm>
                <a:off x="2962275" y="1766888"/>
                <a:ext cx="25400" cy="22225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" name="Freeform 43"/>
              <p:cNvSpPr>
                <a:spLocks/>
              </p:cNvSpPr>
              <p:nvPr/>
            </p:nvSpPr>
            <p:spPr bwMode="auto">
              <a:xfrm>
                <a:off x="2957513" y="1817688"/>
                <a:ext cx="25400" cy="22225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0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6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" name="Freeform 44"/>
              <p:cNvSpPr>
                <a:spLocks/>
              </p:cNvSpPr>
              <p:nvPr/>
            </p:nvSpPr>
            <p:spPr bwMode="auto">
              <a:xfrm>
                <a:off x="2944813" y="1868488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1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4"/>
                      <a:pt x="7" y="3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" name="Freeform 45"/>
              <p:cNvSpPr>
                <a:spLocks/>
              </p:cNvSpPr>
              <p:nvPr/>
            </p:nvSpPr>
            <p:spPr bwMode="auto">
              <a:xfrm>
                <a:off x="2922588" y="1916113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2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5"/>
                      <a:pt x="7" y="4"/>
                      <a:pt x="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" name="Freeform 46"/>
              <p:cNvSpPr>
                <a:spLocks/>
              </p:cNvSpPr>
              <p:nvPr/>
            </p:nvSpPr>
            <p:spPr bwMode="auto">
              <a:xfrm>
                <a:off x="2897188" y="1958975"/>
                <a:ext cx="30163" cy="28575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5"/>
                      <a:pt x="6" y="4"/>
                      <a:pt x="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" name="Freeform 47"/>
              <p:cNvSpPr>
                <a:spLocks/>
              </p:cNvSpPr>
              <p:nvPr/>
            </p:nvSpPr>
            <p:spPr bwMode="auto">
              <a:xfrm>
                <a:off x="2859088" y="1992313"/>
                <a:ext cx="30163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" name="Freeform 48"/>
              <p:cNvSpPr>
                <a:spLocks/>
              </p:cNvSpPr>
              <p:nvPr/>
            </p:nvSpPr>
            <p:spPr bwMode="auto">
              <a:xfrm>
                <a:off x="2817813" y="2022475"/>
                <a:ext cx="28575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0 h 8"/>
                  <a:gd name="T4" fmla="*/ 0 w 7"/>
                  <a:gd name="T5" fmla="*/ 2147483647 h 8"/>
                  <a:gd name="T6" fmla="*/ 2147483647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7" y="5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2" y="2"/>
                      <a:pt x="0" y="2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" name="Freeform 49"/>
              <p:cNvSpPr>
                <a:spLocks/>
              </p:cNvSpPr>
              <p:nvPr/>
            </p:nvSpPr>
            <p:spPr bwMode="auto">
              <a:xfrm>
                <a:off x="2774950" y="2047875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0 h 7"/>
                  <a:gd name="T4" fmla="*/ 0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6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1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6"/>
                      <a:pt x="4" y="6"/>
                      <a:pt x="6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" name="Freeform 50"/>
              <p:cNvSpPr>
                <a:spLocks/>
              </p:cNvSpPr>
              <p:nvPr/>
            </p:nvSpPr>
            <p:spPr bwMode="auto">
              <a:xfrm>
                <a:off x="2724150" y="2060575"/>
                <a:ext cx="20638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0 h 6"/>
                  <a:gd name="T4" fmla="*/ 0 w 5"/>
                  <a:gd name="T5" fmla="*/ 0 h 6"/>
                  <a:gd name="T6" fmla="*/ 2147483647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5" y="6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0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4" y="6"/>
                      <a:pt x="5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" name="Freeform 51"/>
              <p:cNvSpPr>
                <a:spLocks/>
              </p:cNvSpPr>
              <p:nvPr/>
            </p:nvSpPr>
            <p:spPr bwMode="auto">
              <a:xfrm>
                <a:off x="2673350" y="2065338"/>
                <a:ext cx="20638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" name="Freeform 52"/>
              <p:cNvSpPr>
                <a:spLocks/>
              </p:cNvSpPr>
              <p:nvPr/>
            </p:nvSpPr>
            <p:spPr bwMode="auto">
              <a:xfrm>
                <a:off x="2620963" y="2055813"/>
                <a:ext cx="22225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2147483647 h 6"/>
                  <a:gd name="T4" fmla="*/ 2147483647 w 5"/>
                  <a:gd name="T5" fmla="*/ 0 h 6"/>
                  <a:gd name="T6" fmla="*/ 0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4" y="6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2" y="0"/>
                      <a:pt x="1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4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" name="Freeform 53"/>
              <p:cNvSpPr>
                <a:spLocks/>
              </p:cNvSpPr>
              <p:nvPr/>
            </p:nvSpPr>
            <p:spPr bwMode="auto">
              <a:xfrm>
                <a:off x="2570163" y="20383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4" y="7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4" y="1"/>
                      <a:pt x="3" y="1"/>
                      <a:pt x="2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4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" name="Freeform 54"/>
              <p:cNvSpPr>
                <a:spLocks/>
              </p:cNvSpPr>
              <p:nvPr/>
            </p:nvSpPr>
            <p:spPr bwMode="auto">
              <a:xfrm>
                <a:off x="2524125" y="20129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7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4" y="1"/>
                      <a:pt x="3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3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" name="Freeform 55"/>
              <p:cNvSpPr>
                <a:spLocks/>
              </p:cNvSpPr>
              <p:nvPr/>
            </p:nvSpPr>
            <p:spPr bwMode="auto">
              <a:xfrm>
                <a:off x="2481263" y="1979613"/>
                <a:ext cx="30163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0 h 8"/>
                  <a:gd name="T6" fmla="*/ 0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3" y="8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" name="Freeform 56"/>
              <p:cNvSpPr>
                <a:spLocks/>
              </p:cNvSpPr>
              <p:nvPr/>
            </p:nvSpPr>
            <p:spPr bwMode="auto">
              <a:xfrm>
                <a:off x="2447925" y="1941513"/>
                <a:ext cx="28575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0 h 7"/>
                  <a:gd name="T6" fmla="*/ 0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2" y="7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5" y="1"/>
                      <a:pt x="5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1" y="6"/>
                      <a:pt x="2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" name="Freeform 57"/>
              <p:cNvSpPr>
                <a:spLocks/>
              </p:cNvSpPr>
              <p:nvPr/>
            </p:nvSpPr>
            <p:spPr bwMode="auto">
              <a:xfrm>
                <a:off x="2422525" y="1898650"/>
                <a:ext cx="28575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0 h 6"/>
                  <a:gd name="T6" fmla="*/ 0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2" y="6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5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4"/>
                      <a:pt x="1" y="5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" name="Freeform 58"/>
              <p:cNvSpPr>
                <a:spLocks/>
              </p:cNvSpPr>
              <p:nvPr/>
            </p:nvSpPr>
            <p:spPr bwMode="auto">
              <a:xfrm>
                <a:off x="2405063" y="1852613"/>
                <a:ext cx="30163" cy="20638"/>
              </a:xfrm>
              <a:custGeom>
                <a:avLst/>
                <a:gdLst>
                  <a:gd name="T0" fmla="*/ 2147483647 w 7"/>
                  <a:gd name="T1" fmla="*/ 2147483647 h 5"/>
                  <a:gd name="T2" fmla="*/ 2147483647 w 7"/>
                  <a:gd name="T3" fmla="*/ 2147483647 h 5"/>
                  <a:gd name="T4" fmla="*/ 2147483647 w 7"/>
                  <a:gd name="T5" fmla="*/ 0 h 5"/>
                  <a:gd name="T6" fmla="*/ 0 w 7"/>
                  <a:gd name="T7" fmla="*/ 2147483647 h 5"/>
                  <a:gd name="T8" fmla="*/ 2147483647 w 7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5"/>
                  <a:gd name="T17" fmla="*/ 7 w 7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5">
                    <a:moveTo>
                      <a:pt x="1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1" y="4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" name="Freeform 59"/>
              <p:cNvSpPr>
                <a:spLocks/>
              </p:cNvSpPr>
              <p:nvPr/>
            </p:nvSpPr>
            <p:spPr bwMode="auto">
              <a:xfrm>
                <a:off x="2397125" y="1801813"/>
                <a:ext cx="25400" cy="20638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0 h 5"/>
                  <a:gd name="T6" fmla="*/ 0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1" y="5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1" y="3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" name="Freeform 60"/>
              <p:cNvSpPr>
                <a:spLocks/>
              </p:cNvSpPr>
              <p:nvPr/>
            </p:nvSpPr>
            <p:spPr bwMode="auto">
              <a:xfrm>
                <a:off x="2400300" y="1751013"/>
                <a:ext cx="25400" cy="20638"/>
              </a:xfrm>
              <a:custGeom>
                <a:avLst/>
                <a:gdLst>
                  <a:gd name="T0" fmla="*/ 0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2147483647 h 5"/>
                  <a:gd name="T6" fmla="*/ 0 w 6"/>
                  <a:gd name="T7" fmla="*/ 0 h 5"/>
                  <a:gd name="T8" fmla="*/ 0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0" y="4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6" y="3"/>
                      <a:pt x="6" y="2"/>
                      <a:pt x="6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" name="Freeform 61"/>
              <p:cNvSpPr>
                <a:spLocks/>
              </p:cNvSpPr>
              <p:nvPr/>
            </p:nvSpPr>
            <p:spPr bwMode="auto">
              <a:xfrm>
                <a:off x="2409825" y="1695450"/>
                <a:ext cx="28575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6" y="5"/>
                      <a:pt x="6" y="4"/>
                      <a:pt x="7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" name="Freeform 62"/>
              <p:cNvSpPr>
                <a:spLocks/>
              </p:cNvSpPr>
              <p:nvPr/>
            </p:nvSpPr>
            <p:spPr bwMode="auto">
              <a:xfrm>
                <a:off x="2430463" y="1647825"/>
                <a:ext cx="30163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6" y="4"/>
                      <a:pt x="7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" name="Freeform 63"/>
              <p:cNvSpPr>
                <a:spLocks/>
              </p:cNvSpPr>
              <p:nvPr/>
            </p:nvSpPr>
            <p:spPr bwMode="auto">
              <a:xfrm>
                <a:off x="2455863" y="1601788"/>
                <a:ext cx="33338" cy="30163"/>
              </a:xfrm>
              <a:custGeom>
                <a:avLst/>
                <a:gdLst>
                  <a:gd name="T0" fmla="*/ 0 w 8"/>
                  <a:gd name="T1" fmla="*/ 2147483647 h 7"/>
                  <a:gd name="T2" fmla="*/ 2147483647 w 8"/>
                  <a:gd name="T3" fmla="*/ 2147483647 h 7"/>
                  <a:gd name="T4" fmla="*/ 2147483647 w 8"/>
                  <a:gd name="T5" fmla="*/ 2147483647 h 7"/>
                  <a:gd name="T6" fmla="*/ 2147483647 w 8"/>
                  <a:gd name="T7" fmla="*/ 0 h 7"/>
                  <a:gd name="T8" fmla="*/ 0 w 8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7"/>
                  <a:gd name="T17" fmla="*/ 8 w 8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7">
                    <a:moveTo>
                      <a:pt x="0" y="4"/>
                    </a:moveTo>
                    <a:cubicBezTo>
                      <a:pt x="5" y="7"/>
                      <a:pt x="5" y="7"/>
                      <a:pt x="5" y="7"/>
                    </a:cubicBezTo>
                    <a:cubicBezTo>
                      <a:pt x="6" y="6"/>
                      <a:pt x="7" y="5"/>
                      <a:pt x="8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" name="Freeform 64"/>
              <p:cNvSpPr>
                <a:spLocks/>
              </p:cNvSpPr>
              <p:nvPr/>
            </p:nvSpPr>
            <p:spPr bwMode="auto">
              <a:xfrm>
                <a:off x="2493963" y="1566863"/>
                <a:ext cx="30163" cy="30163"/>
              </a:xfrm>
              <a:custGeom>
                <a:avLst/>
                <a:gdLst>
                  <a:gd name="T0" fmla="*/ 0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0 h 7"/>
                  <a:gd name="T8" fmla="*/ 0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0" y="2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5" y="6"/>
                      <a:pt x="6" y="5"/>
                      <a:pt x="7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" name="Freeform 65"/>
              <p:cNvSpPr>
                <a:spLocks/>
              </p:cNvSpPr>
              <p:nvPr/>
            </p:nvSpPr>
            <p:spPr bwMode="auto">
              <a:xfrm>
                <a:off x="2536825" y="1533525"/>
                <a:ext cx="30163" cy="33338"/>
              </a:xfrm>
              <a:custGeom>
                <a:avLst/>
                <a:gdLst>
                  <a:gd name="T0" fmla="*/ 0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2147483647 h 8"/>
                  <a:gd name="T6" fmla="*/ 2147483647 w 7"/>
                  <a:gd name="T7" fmla="*/ 0 h 8"/>
                  <a:gd name="T8" fmla="*/ 0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0" y="3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4" y="7"/>
                      <a:pt x="5" y="6"/>
                      <a:pt x="7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1" y="2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" name="Freeform 66"/>
              <p:cNvSpPr>
                <a:spLocks/>
              </p:cNvSpPr>
              <p:nvPr/>
            </p:nvSpPr>
            <p:spPr bwMode="auto">
              <a:xfrm>
                <a:off x="2587625" y="1512888"/>
                <a:ext cx="20638" cy="28575"/>
              </a:xfrm>
              <a:custGeom>
                <a:avLst/>
                <a:gdLst>
                  <a:gd name="T0" fmla="*/ 0 w 5"/>
                  <a:gd name="T1" fmla="*/ 2147483647 h 7"/>
                  <a:gd name="T2" fmla="*/ 2147483647 w 5"/>
                  <a:gd name="T3" fmla="*/ 2147483647 h 7"/>
                  <a:gd name="T4" fmla="*/ 2147483647 w 5"/>
                  <a:gd name="T5" fmla="*/ 2147483647 h 7"/>
                  <a:gd name="T6" fmla="*/ 2147483647 w 5"/>
                  <a:gd name="T7" fmla="*/ 0 h 7"/>
                  <a:gd name="T8" fmla="*/ 0 w 5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7"/>
                  <a:gd name="T17" fmla="*/ 5 w 5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7">
                    <a:moveTo>
                      <a:pt x="0" y="2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3" y="7"/>
                      <a:pt x="4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" name="Freeform 67"/>
              <p:cNvSpPr>
                <a:spLocks/>
              </p:cNvSpPr>
              <p:nvPr/>
            </p:nvSpPr>
            <p:spPr bwMode="auto">
              <a:xfrm>
                <a:off x="2638425" y="1503363"/>
                <a:ext cx="22225" cy="25400"/>
              </a:xfrm>
              <a:custGeom>
                <a:avLst/>
                <a:gdLst>
                  <a:gd name="T0" fmla="*/ 0 w 5"/>
                  <a:gd name="T1" fmla="*/ 0 h 6"/>
                  <a:gd name="T2" fmla="*/ 2147483647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0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0" y="0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8" name="组合 313"/>
          <p:cNvGrpSpPr>
            <a:grpSpLocks/>
          </p:cNvGrpSpPr>
          <p:nvPr/>
        </p:nvGrpSpPr>
        <p:grpSpPr bwMode="auto">
          <a:xfrm rot="10800000">
            <a:off x="5124450" y="3100388"/>
            <a:ext cx="733425" cy="504825"/>
            <a:chOff x="2391274" y="1586037"/>
            <a:chExt cx="1193800" cy="823913"/>
          </a:xfrm>
        </p:grpSpPr>
        <p:sp>
          <p:nvSpPr>
            <p:cNvPr id="315" name="Freeform 5"/>
            <p:cNvSpPr/>
            <p:nvPr/>
          </p:nvSpPr>
          <p:spPr bwMode="auto">
            <a:xfrm>
              <a:off x="2391274" y="1586037"/>
              <a:ext cx="1193800" cy="823913"/>
            </a:xfrm>
            <a:custGeom>
              <a:avLst/>
              <a:gdLst>
                <a:gd name="T0" fmla="*/ 281 w 281"/>
                <a:gd name="T1" fmla="*/ 97 h 194"/>
                <a:gd name="T2" fmla="*/ 141 w 281"/>
                <a:gd name="T3" fmla="*/ 10 h 194"/>
                <a:gd name="T4" fmla="*/ 97 w 281"/>
                <a:gd name="T5" fmla="*/ 0 h 194"/>
                <a:gd name="T6" fmla="*/ 0 w 281"/>
                <a:gd name="T7" fmla="*/ 97 h 194"/>
                <a:gd name="T8" fmla="*/ 97 w 281"/>
                <a:gd name="T9" fmla="*/ 194 h 194"/>
                <a:gd name="T10" fmla="*/ 141 w 281"/>
                <a:gd name="T11" fmla="*/ 183 h 194"/>
                <a:gd name="T12" fmla="*/ 281 w 281"/>
                <a:gd name="T13" fmla="*/ 97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94">
                  <a:moveTo>
                    <a:pt x="281" y="97"/>
                  </a:moveTo>
                  <a:cubicBezTo>
                    <a:pt x="141" y="10"/>
                    <a:pt x="141" y="10"/>
                    <a:pt x="141" y="10"/>
                  </a:cubicBezTo>
                  <a:cubicBezTo>
                    <a:pt x="128" y="3"/>
                    <a:pt x="113" y="0"/>
                    <a:pt x="97" y="0"/>
                  </a:cubicBezTo>
                  <a:cubicBezTo>
                    <a:pt x="44" y="0"/>
                    <a:pt x="0" y="43"/>
                    <a:pt x="0" y="97"/>
                  </a:cubicBezTo>
                  <a:cubicBezTo>
                    <a:pt x="0" y="150"/>
                    <a:pt x="44" y="194"/>
                    <a:pt x="97" y="194"/>
                  </a:cubicBezTo>
                  <a:cubicBezTo>
                    <a:pt x="113" y="194"/>
                    <a:pt x="128" y="190"/>
                    <a:pt x="141" y="183"/>
                  </a:cubicBezTo>
                  <a:lnTo>
                    <a:pt x="281" y="97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pitchFamily="34" charset="0"/>
              </a:endParaRPr>
            </a:p>
          </p:txBody>
        </p:sp>
        <p:grpSp>
          <p:nvGrpSpPr>
            <p:cNvPr id="13337" name="组合 315"/>
            <p:cNvGrpSpPr>
              <a:grpSpLocks/>
            </p:cNvGrpSpPr>
            <p:nvPr/>
          </p:nvGrpSpPr>
          <p:grpSpPr bwMode="auto">
            <a:xfrm>
              <a:off x="2482263" y="1702718"/>
              <a:ext cx="590550" cy="590550"/>
              <a:chOff x="2397125" y="1500188"/>
              <a:chExt cx="590550" cy="590550"/>
            </a:xfrm>
          </p:grpSpPr>
          <p:sp>
            <p:nvSpPr>
              <p:cNvPr id="13338" name="Oval 33"/>
              <p:cNvSpPr>
                <a:spLocks noChangeArrowheads="1"/>
              </p:cNvSpPr>
              <p:nvPr/>
            </p:nvSpPr>
            <p:spPr bwMode="auto">
              <a:xfrm>
                <a:off x="2489200" y="1597025"/>
                <a:ext cx="404813" cy="407988"/>
              </a:xfrm>
              <a:prstGeom prst="ellipse">
                <a:avLst/>
              </a:prstGeom>
              <a:solidFill>
                <a:srgbClr val="E6E7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" name="Freeform 34"/>
              <p:cNvSpPr>
                <a:spLocks/>
              </p:cNvSpPr>
              <p:nvPr/>
            </p:nvSpPr>
            <p:spPr bwMode="auto">
              <a:xfrm>
                <a:off x="2693988" y="1500188"/>
                <a:ext cx="17463" cy="25400"/>
              </a:xfrm>
              <a:custGeom>
                <a:avLst/>
                <a:gdLst>
                  <a:gd name="T0" fmla="*/ 2147483647 w 4"/>
                  <a:gd name="T1" fmla="*/ 2147483647 h 6"/>
                  <a:gd name="T2" fmla="*/ 2147483647 w 4"/>
                  <a:gd name="T3" fmla="*/ 2147483647 h 6"/>
                  <a:gd name="T4" fmla="*/ 0 w 4"/>
                  <a:gd name="T5" fmla="*/ 0 h 6"/>
                  <a:gd name="T6" fmla="*/ 0 w 4"/>
                  <a:gd name="T7" fmla="*/ 2147483647 h 6"/>
                  <a:gd name="T8" fmla="*/ 2147483647 w 4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6"/>
                  <a:gd name="T17" fmla="*/ 4 w 4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6">
                    <a:moveTo>
                      <a:pt x="3" y="6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2" y="0"/>
                      <a:pt x="1" y="0"/>
                      <a:pt x="0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3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" name="Freeform 35"/>
              <p:cNvSpPr>
                <a:spLocks/>
              </p:cNvSpPr>
              <p:nvPr/>
            </p:nvSpPr>
            <p:spPr bwMode="auto">
              <a:xfrm>
                <a:off x="2740025" y="1508125"/>
                <a:ext cx="22225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3" y="6"/>
                      <a:pt x="4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3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" name="Freeform 36"/>
              <p:cNvSpPr>
                <a:spLocks/>
              </p:cNvSpPr>
              <p:nvPr/>
            </p:nvSpPr>
            <p:spPr bwMode="auto">
              <a:xfrm>
                <a:off x="2787650" y="1520825"/>
                <a:ext cx="25400" cy="30163"/>
              </a:xfrm>
              <a:custGeom>
                <a:avLst/>
                <a:gdLst>
                  <a:gd name="T0" fmla="*/ 2147483647 w 6"/>
                  <a:gd name="T1" fmla="*/ 0 h 7"/>
                  <a:gd name="T2" fmla="*/ 0 w 6"/>
                  <a:gd name="T3" fmla="*/ 2147483647 h 7"/>
                  <a:gd name="T4" fmla="*/ 2147483647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4" y="7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" name="Freeform 37"/>
              <p:cNvSpPr>
                <a:spLocks/>
              </p:cNvSpPr>
              <p:nvPr/>
            </p:nvSpPr>
            <p:spPr bwMode="auto">
              <a:xfrm>
                <a:off x="2833688" y="1546225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3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2" y="6"/>
                      <a:pt x="3" y="7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5" y="1"/>
                      <a:pt x="4" y="1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" name="Freeform 38"/>
              <p:cNvSpPr>
                <a:spLocks/>
              </p:cNvSpPr>
              <p:nvPr/>
            </p:nvSpPr>
            <p:spPr bwMode="auto">
              <a:xfrm>
                <a:off x="2871788" y="1576388"/>
                <a:ext cx="30163" cy="30163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4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" name="Freeform 39"/>
              <p:cNvSpPr>
                <a:spLocks/>
              </p:cNvSpPr>
              <p:nvPr/>
            </p:nvSpPr>
            <p:spPr bwMode="auto">
              <a:xfrm>
                <a:off x="2906713" y="1619250"/>
                <a:ext cx="30163" cy="28575"/>
              </a:xfrm>
              <a:custGeom>
                <a:avLst/>
                <a:gdLst>
                  <a:gd name="T0" fmla="*/ 2147483647 w 7"/>
                  <a:gd name="T1" fmla="*/ 0 h 7"/>
                  <a:gd name="T2" fmla="*/ 0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0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4"/>
                      <a:pt x="2" y="6"/>
                      <a:pt x="2" y="7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" name="Freeform 40"/>
              <p:cNvSpPr>
                <a:spLocks/>
              </p:cNvSpPr>
              <p:nvPr/>
            </p:nvSpPr>
            <p:spPr bwMode="auto">
              <a:xfrm>
                <a:off x="2932113" y="1665288"/>
                <a:ext cx="30163" cy="25400"/>
              </a:xfrm>
              <a:custGeom>
                <a:avLst/>
                <a:gdLst>
                  <a:gd name="T0" fmla="*/ 2147483647 w 7"/>
                  <a:gd name="T1" fmla="*/ 0 h 6"/>
                  <a:gd name="T2" fmla="*/ 0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5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1" y="5"/>
                      <a:pt x="2" y="6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" name="Freeform 41"/>
              <p:cNvSpPr>
                <a:spLocks/>
              </p:cNvSpPr>
              <p:nvPr/>
            </p:nvSpPr>
            <p:spPr bwMode="auto">
              <a:xfrm>
                <a:off x="2952750" y="1716088"/>
                <a:ext cx="25400" cy="20638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2"/>
                      <a:pt x="6" y="1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" name="Freeform 42"/>
              <p:cNvSpPr>
                <a:spLocks/>
              </p:cNvSpPr>
              <p:nvPr/>
            </p:nvSpPr>
            <p:spPr bwMode="auto">
              <a:xfrm>
                <a:off x="2962275" y="1766888"/>
                <a:ext cx="25400" cy="22225"/>
              </a:xfrm>
              <a:custGeom>
                <a:avLst/>
                <a:gdLst>
                  <a:gd name="T0" fmla="*/ 2147483647 w 6"/>
                  <a:gd name="T1" fmla="*/ 0 h 5"/>
                  <a:gd name="T2" fmla="*/ 0 w 6"/>
                  <a:gd name="T3" fmla="*/ 2147483647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0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" name="Freeform 43"/>
              <p:cNvSpPr>
                <a:spLocks/>
              </p:cNvSpPr>
              <p:nvPr/>
            </p:nvSpPr>
            <p:spPr bwMode="auto">
              <a:xfrm>
                <a:off x="2957513" y="1817688"/>
                <a:ext cx="25400" cy="22225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0 h 5"/>
                  <a:gd name="T4" fmla="*/ 0 w 6"/>
                  <a:gd name="T5" fmla="*/ 2147483647 h 5"/>
                  <a:gd name="T6" fmla="*/ 2147483647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6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" name="Freeform 44"/>
              <p:cNvSpPr>
                <a:spLocks/>
              </p:cNvSpPr>
              <p:nvPr/>
            </p:nvSpPr>
            <p:spPr bwMode="auto">
              <a:xfrm>
                <a:off x="2944813" y="1868488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1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4"/>
                      <a:pt x="7" y="3"/>
                      <a:pt x="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" name="Freeform 45"/>
              <p:cNvSpPr>
                <a:spLocks/>
              </p:cNvSpPr>
              <p:nvPr/>
            </p:nvSpPr>
            <p:spPr bwMode="auto">
              <a:xfrm>
                <a:off x="2922588" y="1916113"/>
                <a:ext cx="30163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0 h 6"/>
                  <a:gd name="T4" fmla="*/ 0 w 7"/>
                  <a:gd name="T5" fmla="*/ 2147483647 h 6"/>
                  <a:gd name="T6" fmla="*/ 2147483647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7" y="2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6" y="5"/>
                      <a:pt x="7" y="4"/>
                      <a:pt x="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" name="Freeform 46"/>
              <p:cNvSpPr>
                <a:spLocks/>
              </p:cNvSpPr>
              <p:nvPr/>
            </p:nvSpPr>
            <p:spPr bwMode="auto">
              <a:xfrm>
                <a:off x="2897188" y="1958975"/>
                <a:ext cx="30163" cy="28575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5"/>
                      <a:pt x="6" y="4"/>
                      <a:pt x="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" name="Freeform 47"/>
              <p:cNvSpPr>
                <a:spLocks/>
              </p:cNvSpPr>
              <p:nvPr/>
            </p:nvSpPr>
            <p:spPr bwMode="auto">
              <a:xfrm>
                <a:off x="2859088" y="1992313"/>
                <a:ext cx="30163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0 h 7"/>
                  <a:gd name="T4" fmla="*/ 0 w 7"/>
                  <a:gd name="T5" fmla="*/ 2147483647 h 7"/>
                  <a:gd name="T6" fmla="*/ 2147483647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7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2"/>
                      <a:pt x="0" y="3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" name="Freeform 48"/>
              <p:cNvSpPr>
                <a:spLocks/>
              </p:cNvSpPr>
              <p:nvPr/>
            </p:nvSpPr>
            <p:spPr bwMode="auto">
              <a:xfrm>
                <a:off x="2817813" y="2022475"/>
                <a:ext cx="28575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0 h 8"/>
                  <a:gd name="T4" fmla="*/ 0 w 7"/>
                  <a:gd name="T5" fmla="*/ 2147483647 h 8"/>
                  <a:gd name="T6" fmla="*/ 2147483647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7" y="5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2" y="2"/>
                      <a:pt x="0" y="2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5" y="7"/>
                      <a:pt x="6" y="6"/>
                      <a:pt x="7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" name="Freeform 49"/>
              <p:cNvSpPr>
                <a:spLocks/>
              </p:cNvSpPr>
              <p:nvPr/>
            </p:nvSpPr>
            <p:spPr bwMode="auto">
              <a:xfrm>
                <a:off x="2774950" y="2047875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0 h 7"/>
                  <a:gd name="T4" fmla="*/ 0 w 6"/>
                  <a:gd name="T5" fmla="*/ 2147483647 h 7"/>
                  <a:gd name="T6" fmla="*/ 2147483647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6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1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3" y="6"/>
                      <a:pt x="4" y="6"/>
                      <a:pt x="6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" name="Freeform 50"/>
              <p:cNvSpPr>
                <a:spLocks/>
              </p:cNvSpPr>
              <p:nvPr/>
            </p:nvSpPr>
            <p:spPr bwMode="auto">
              <a:xfrm>
                <a:off x="2724150" y="2060575"/>
                <a:ext cx="20638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0 h 6"/>
                  <a:gd name="T4" fmla="*/ 0 w 5"/>
                  <a:gd name="T5" fmla="*/ 0 h 6"/>
                  <a:gd name="T6" fmla="*/ 2147483647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5" y="6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0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4" y="6"/>
                      <a:pt x="5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" name="Freeform 51"/>
              <p:cNvSpPr>
                <a:spLocks/>
              </p:cNvSpPr>
              <p:nvPr/>
            </p:nvSpPr>
            <p:spPr bwMode="auto">
              <a:xfrm>
                <a:off x="2673350" y="2065338"/>
                <a:ext cx="20638" cy="25400"/>
              </a:xfrm>
              <a:custGeom>
                <a:avLst/>
                <a:gdLst>
                  <a:gd name="T0" fmla="*/ 2147483647 w 5"/>
                  <a:gd name="T1" fmla="*/ 0 h 6"/>
                  <a:gd name="T2" fmla="*/ 0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2147483647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1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" name="Freeform 52"/>
              <p:cNvSpPr>
                <a:spLocks/>
              </p:cNvSpPr>
              <p:nvPr/>
            </p:nvSpPr>
            <p:spPr bwMode="auto">
              <a:xfrm>
                <a:off x="2620963" y="2055813"/>
                <a:ext cx="22225" cy="25400"/>
              </a:xfrm>
              <a:custGeom>
                <a:avLst/>
                <a:gdLst>
                  <a:gd name="T0" fmla="*/ 2147483647 w 5"/>
                  <a:gd name="T1" fmla="*/ 2147483647 h 6"/>
                  <a:gd name="T2" fmla="*/ 2147483647 w 5"/>
                  <a:gd name="T3" fmla="*/ 2147483647 h 6"/>
                  <a:gd name="T4" fmla="*/ 2147483647 w 5"/>
                  <a:gd name="T5" fmla="*/ 0 h 6"/>
                  <a:gd name="T6" fmla="*/ 0 w 5"/>
                  <a:gd name="T7" fmla="*/ 2147483647 h 6"/>
                  <a:gd name="T8" fmla="*/ 2147483647 w 5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4" y="6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2" y="0"/>
                      <a:pt x="1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6"/>
                      <a:pt x="2" y="6"/>
                      <a:pt x="4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" name="Freeform 53"/>
              <p:cNvSpPr>
                <a:spLocks/>
              </p:cNvSpPr>
              <p:nvPr/>
            </p:nvSpPr>
            <p:spPr bwMode="auto">
              <a:xfrm>
                <a:off x="2570163" y="20383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4" y="7"/>
                    </a:moveTo>
                    <a:cubicBezTo>
                      <a:pt x="6" y="1"/>
                      <a:pt x="6" y="1"/>
                      <a:pt x="6" y="1"/>
                    </a:cubicBezTo>
                    <a:cubicBezTo>
                      <a:pt x="4" y="1"/>
                      <a:pt x="3" y="1"/>
                      <a:pt x="2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4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" name="Freeform 54"/>
              <p:cNvSpPr>
                <a:spLocks/>
              </p:cNvSpPr>
              <p:nvPr/>
            </p:nvSpPr>
            <p:spPr bwMode="auto">
              <a:xfrm>
                <a:off x="2524125" y="2012950"/>
                <a:ext cx="25400" cy="30163"/>
              </a:xfrm>
              <a:custGeom>
                <a:avLst/>
                <a:gdLst>
                  <a:gd name="T0" fmla="*/ 2147483647 w 6"/>
                  <a:gd name="T1" fmla="*/ 2147483647 h 7"/>
                  <a:gd name="T2" fmla="*/ 2147483647 w 6"/>
                  <a:gd name="T3" fmla="*/ 2147483647 h 7"/>
                  <a:gd name="T4" fmla="*/ 2147483647 w 6"/>
                  <a:gd name="T5" fmla="*/ 0 h 7"/>
                  <a:gd name="T6" fmla="*/ 0 w 6"/>
                  <a:gd name="T7" fmla="*/ 2147483647 h 7"/>
                  <a:gd name="T8" fmla="*/ 2147483647 w 6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7"/>
                  <a:gd name="T17" fmla="*/ 6 w 6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7">
                    <a:moveTo>
                      <a:pt x="3" y="7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5" y="2"/>
                      <a:pt x="4" y="1"/>
                      <a:pt x="3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6"/>
                      <a:pt x="3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" name="Freeform 55"/>
              <p:cNvSpPr>
                <a:spLocks/>
              </p:cNvSpPr>
              <p:nvPr/>
            </p:nvSpPr>
            <p:spPr bwMode="auto">
              <a:xfrm>
                <a:off x="2481263" y="1979613"/>
                <a:ext cx="30163" cy="33338"/>
              </a:xfrm>
              <a:custGeom>
                <a:avLst/>
                <a:gdLst>
                  <a:gd name="T0" fmla="*/ 2147483647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0 h 8"/>
                  <a:gd name="T6" fmla="*/ 0 w 7"/>
                  <a:gd name="T7" fmla="*/ 2147483647 h 8"/>
                  <a:gd name="T8" fmla="*/ 2147483647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3" y="8"/>
                    </a:moveTo>
                    <a:cubicBezTo>
                      <a:pt x="7" y="3"/>
                      <a:pt x="7" y="3"/>
                      <a:pt x="7" y="3"/>
                    </a:cubicBezTo>
                    <a:cubicBezTo>
                      <a:pt x="6" y="2"/>
                      <a:pt x="5" y="1"/>
                      <a:pt x="4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6"/>
                      <a:pt x="2" y="7"/>
                      <a:pt x="3" y="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" name="Freeform 56"/>
              <p:cNvSpPr>
                <a:spLocks/>
              </p:cNvSpPr>
              <p:nvPr/>
            </p:nvSpPr>
            <p:spPr bwMode="auto">
              <a:xfrm>
                <a:off x="2447925" y="1941513"/>
                <a:ext cx="28575" cy="30163"/>
              </a:xfrm>
              <a:custGeom>
                <a:avLst/>
                <a:gdLst>
                  <a:gd name="T0" fmla="*/ 2147483647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0 h 7"/>
                  <a:gd name="T6" fmla="*/ 0 w 7"/>
                  <a:gd name="T7" fmla="*/ 2147483647 h 7"/>
                  <a:gd name="T8" fmla="*/ 2147483647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2" y="7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3"/>
                      <a:pt x="5" y="1"/>
                      <a:pt x="5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1" y="6"/>
                      <a:pt x="2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" name="Freeform 57"/>
              <p:cNvSpPr>
                <a:spLocks/>
              </p:cNvSpPr>
              <p:nvPr/>
            </p:nvSpPr>
            <p:spPr bwMode="auto">
              <a:xfrm>
                <a:off x="2422525" y="1898650"/>
                <a:ext cx="28575" cy="25400"/>
              </a:xfrm>
              <a:custGeom>
                <a:avLst/>
                <a:gdLst>
                  <a:gd name="T0" fmla="*/ 2147483647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0 h 6"/>
                  <a:gd name="T6" fmla="*/ 0 w 7"/>
                  <a:gd name="T7" fmla="*/ 2147483647 h 6"/>
                  <a:gd name="T8" fmla="*/ 2147483647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2" y="6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5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4"/>
                      <a:pt x="1" y="5"/>
                      <a:pt x="2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" name="Freeform 58"/>
              <p:cNvSpPr>
                <a:spLocks/>
              </p:cNvSpPr>
              <p:nvPr/>
            </p:nvSpPr>
            <p:spPr bwMode="auto">
              <a:xfrm>
                <a:off x="2405063" y="1852613"/>
                <a:ext cx="30163" cy="20638"/>
              </a:xfrm>
              <a:custGeom>
                <a:avLst/>
                <a:gdLst>
                  <a:gd name="T0" fmla="*/ 2147483647 w 7"/>
                  <a:gd name="T1" fmla="*/ 2147483647 h 5"/>
                  <a:gd name="T2" fmla="*/ 2147483647 w 7"/>
                  <a:gd name="T3" fmla="*/ 2147483647 h 5"/>
                  <a:gd name="T4" fmla="*/ 2147483647 w 7"/>
                  <a:gd name="T5" fmla="*/ 0 h 5"/>
                  <a:gd name="T6" fmla="*/ 0 w 7"/>
                  <a:gd name="T7" fmla="*/ 2147483647 h 5"/>
                  <a:gd name="T8" fmla="*/ 2147483647 w 7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5"/>
                  <a:gd name="T17" fmla="*/ 7 w 7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5">
                    <a:moveTo>
                      <a:pt x="1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2"/>
                      <a:pt x="6" y="1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3"/>
                      <a:pt x="1" y="4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" name="Freeform 59"/>
              <p:cNvSpPr>
                <a:spLocks/>
              </p:cNvSpPr>
              <p:nvPr/>
            </p:nvSpPr>
            <p:spPr bwMode="auto">
              <a:xfrm>
                <a:off x="2397125" y="1801813"/>
                <a:ext cx="25400" cy="20638"/>
              </a:xfrm>
              <a:custGeom>
                <a:avLst/>
                <a:gdLst>
                  <a:gd name="T0" fmla="*/ 2147483647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0 h 5"/>
                  <a:gd name="T6" fmla="*/ 0 w 6"/>
                  <a:gd name="T7" fmla="*/ 2147483647 h 5"/>
                  <a:gd name="T8" fmla="*/ 2147483647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1" y="5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6" y="2"/>
                      <a:pt x="6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1" y="3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" name="Freeform 60"/>
              <p:cNvSpPr>
                <a:spLocks/>
              </p:cNvSpPr>
              <p:nvPr/>
            </p:nvSpPr>
            <p:spPr bwMode="auto">
              <a:xfrm>
                <a:off x="2400300" y="1751013"/>
                <a:ext cx="25400" cy="20638"/>
              </a:xfrm>
              <a:custGeom>
                <a:avLst/>
                <a:gdLst>
                  <a:gd name="T0" fmla="*/ 0 w 6"/>
                  <a:gd name="T1" fmla="*/ 2147483647 h 5"/>
                  <a:gd name="T2" fmla="*/ 2147483647 w 6"/>
                  <a:gd name="T3" fmla="*/ 2147483647 h 5"/>
                  <a:gd name="T4" fmla="*/ 2147483647 w 6"/>
                  <a:gd name="T5" fmla="*/ 2147483647 h 5"/>
                  <a:gd name="T6" fmla="*/ 0 w 6"/>
                  <a:gd name="T7" fmla="*/ 0 h 5"/>
                  <a:gd name="T8" fmla="*/ 0 w 6"/>
                  <a:gd name="T9" fmla="*/ 2147483647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"/>
                  <a:gd name="T16" fmla="*/ 0 h 5"/>
                  <a:gd name="T17" fmla="*/ 6 w 6"/>
                  <a:gd name="T18" fmla="*/ 5 h 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" h="5">
                    <a:moveTo>
                      <a:pt x="0" y="4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6" y="3"/>
                      <a:pt x="6" y="2"/>
                      <a:pt x="6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" name="Freeform 61"/>
              <p:cNvSpPr>
                <a:spLocks/>
              </p:cNvSpPr>
              <p:nvPr/>
            </p:nvSpPr>
            <p:spPr bwMode="auto">
              <a:xfrm>
                <a:off x="2409825" y="1695450"/>
                <a:ext cx="28575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6" y="5"/>
                      <a:pt x="6" y="4"/>
                      <a:pt x="7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0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" name="Freeform 62"/>
              <p:cNvSpPr>
                <a:spLocks/>
              </p:cNvSpPr>
              <p:nvPr/>
            </p:nvSpPr>
            <p:spPr bwMode="auto">
              <a:xfrm>
                <a:off x="2430463" y="1647825"/>
                <a:ext cx="30163" cy="25400"/>
              </a:xfrm>
              <a:custGeom>
                <a:avLst/>
                <a:gdLst>
                  <a:gd name="T0" fmla="*/ 0 w 7"/>
                  <a:gd name="T1" fmla="*/ 2147483647 h 6"/>
                  <a:gd name="T2" fmla="*/ 2147483647 w 7"/>
                  <a:gd name="T3" fmla="*/ 2147483647 h 6"/>
                  <a:gd name="T4" fmla="*/ 2147483647 w 7"/>
                  <a:gd name="T5" fmla="*/ 2147483647 h 6"/>
                  <a:gd name="T6" fmla="*/ 2147483647 w 7"/>
                  <a:gd name="T7" fmla="*/ 0 h 6"/>
                  <a:gd name="T8" fmla="*/ 0 w 7"/>
                  <a:gd name="T9" fmla="*/ 2147483647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6"/>
                  <a:gd name="T17" fmla="*/ 7 w 7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6">
                    <a:moveTo>
                      <a:pt x="0" y="4"/>
                    </a:move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6" y="4"/>
                      <a:pt x="7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" name="Freeform 63"/>
              <p:cNvSpPr>
                <a:spLocks/>
              </p:cNvSpPr>
              <p:nvPr/>
            </p:nvSpPr>
            <p:spPr bwMode="auto">
              <a:xfrm>
                <a:off x="2455863" y="1601788"/>
                <a:ext cx="33338" cy="30163"/>
              </a:xfrm>
              <a:custGeom>
                <a:avLst/>
                <a:gdLst>
                  <a:gd name="T0" fmla="*/ 0 w 8"/>
                  <a:gd name="T1" fmla="*/ 2147483647 h 7"/>
                  <a:gd name="T2" fmla="*/ 2147483647 w 8"/>
                  <a:gd name="T3" fmla="*/ 2147483647 h 7"/>
                  <a:gd name="T4" fmla="*/ 2147483647 w 8"/>
                  <a:gd name="T5" fmla="*/ 2147483647 h 7"/>
                  <a:gd name="T6" fmla="*/ 2147483647 w 8"/>
                  <a:gd name="T7" fmla="*/ 0 h 7"/>
                  <a:gd name="T8" fmla="*/ 0 w 8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7"/>
                  <a:gd name="T17" fmla="*/ 8 w 8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7">
                    <a:moveTo>
                      <a:pt x="0" y="4"/>
                    </a:moveTo>
                    <a:cubicBezTo>
                      <a:pt x="5" y="7"/>
                      <a:pt x="5" y="7"/>
                      <a:pt x="5" y="7"/>
                    </a:cubicBezTo>
                    <a:cubicBezTo>
                      <a:pt x="6" y="6"/>
                      <a:pt x="7" y="5"/>
                      <a:pt x="8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1"/>
                      <a:pt x="1" y="3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" name="Freeform 64"/>
              <p:cNvSpPr>
                <a:spLocks/>
              </p:cNvSpPr>
              <p:nvPr/>
            </p:nvSpPr>
            <p:spPr bwMode="auto">
              <a:xfrm>
                <a:off x="2493963" y="1566863"/>
                <a:ext cx="30163" cy="30163"/>
              </a:xfrm>
              <a:custGeom>
                <a:avLst/>
                <a:gdLst>
                  <a:gd name="T0" fmla="*/ 0 w 7"/>
                  <a:gd name="T1" fmla="*/ 2147483647 h 7"/>
                  <a:gd name="T2" fmla="*/ 2147483647 w 7"/>
                  <a:gd name="T3" fmla="*/ 2147483647 h 7"/>
                  <a:gd name="T4" fmla="*/ 2147483647 w 7"/>
                  <a:gd name="T5" fmla="*/ 2147483647 h 7"/>
                  <a:gd name="T6" fmla="*/ 2147483647 w 7"/>
                  <a:gd name="T7" fmla="*/ 0 h 7"/>
                  <a:gd name="T8" fmla="*/ 0 w 7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7"/>
                  <a:gd name="T17" fmla="*/ 7 w 7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7">
                    <a:moveTo>
                      <a:pt x="0" y="2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5" y="6"/>
                      <a:pt x="6" y="5"/>
                      <a:pt x="7" y="4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" name="Freeform 65"/>
              <p:cNvSpPr>
                <a:spLocks/>
              </p:cNvSpPr>
              <p:nvPr/>
            </p:nvSpPr>
            <p:spPr bwMode="auto">
              <a:xfrm>
                <a:off x="2536825" y="1533525"/>
                <a:ext cx="30163" cy="33338"/>
              </a:xfrm>
              <a:custGeom>
                <a:avLst/>
                <a:gdLst>
                  <a:gd name="T0" fmla="*/ 0 w 7"/>
                  <a:gd name="T1" fmla="*/ 2147483647 h 8"/>
                  <a:gd name="T2" fmla="*/ 2147483647 w 7"/>
                  <a:gd name="T3" fmla="*/ 2147483647 h 8"/>
                  <a:gd name="T4" fmla="*/ 2147483647 w 7"/>
                  <a:gd name="T5" fmla="*/ 2147483647 h 8"/>
                  <a:gd name="T6" fmla="*/ 2147483647 w 7"/>
                  <a:gd name="T7" fmla="*/ 0 h 8"/>
                  <a:gd name="T8" fmla="*/ 0 w 7"/>
                  <a:gd name="T9" fmla="*/ 2147483647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8"/>
                  <a:gd name="T17" fmla="*/ 7 w 7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8">
                    <a:moveTo>
                      <a:pt x="0" y="3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4" y="7"/>
                      <a:pt x="5" y="6"/>
                      <a:pt x="7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1"/>
                      <a:pt x="1" y="2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" name="Freeform 66"/>
              <p:cNvSpPr>
                <a:spLocks/>
              </p:cNvSpPr>
              <p:nvPr/>
            </p:nvSpPr>
            <p:spPr bwMode="auto">
              <a:xfrm>
                <a:off x="2587625" y="1512888"/>
                <a:ext cx="20638" cy="28575"/>
              </a:xfrm>
              <a:custGeom>
                <a:avLst/>
                <a:gdLst>
                  <a:gd name="T0" fmla="*/ 0 w 5"/>
                  <a:gd name="T1" fmla="*/ 2147483647 h 7"/>
                  <a:gd name="T2" fmla="*/ 2147483647 w 5"/>
                  <a:gd name="T3" fmla="*/ 2147483647 h 7"/>
                  <a:gd name="T4" fmla="*/ 2147483647 w 5"/>
                  <a:gd name="T5" fmla="*/ 2147483647 h 7"/>
                  <a:gd name="T6" fmla="*/ 2147483647 w 5"/>
                  <a:gd name="T7" fmla="*/ 0 h 7"/>
                  <a:gd name="T8" fmla="*/ 0 w 5"/>
                  <a:gd name="T9" fmla="*/ 214748364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7"/>
                  <a:gd name="T17" fmla="*/ 5 w 5"/>
                  <a:gd name="T18" fmla="*/ 7 h 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7">
                    <a:moveTo>
                      <a:pt x="0" y="2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3" y="7"/>
                      <a:pt x="4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" name="Freeform 67"/>
              <p:cNvSpPr>
                <a:spLocks/>
              </p:cNvSpPr>
              <p:nvPr/>
            </p:nvSpPr>
            <p:spPr bwMode="auto">
              <a:xfrm>
                <a:off x="2638425" y="1503363"/>
                <a:ext cx="22225" cy="25400"/>
              </a:xfrm>
              <a:custGeom>
                <a:avLst/>
                <a:gdLst>
                  <a:gd name="T0" fmla="*/ 0 w 5"/>
                  <a:gd name="T1" fmla="*/ 0 h 6"/>
                  <a:gd name="T2" fmla="*/ 2147483647 w 5"/>
                  <a:gd name="T3" fmla="*/ 2147483647 h 6"/>
                  <a:gd name="T4" fmla="*/ 2147483647 w 5"/>
                  <a:gd name="T5" fmla="*/ 2147483647 h 6"/>
                  <a:gd name="T6" fmla="*/ 2147483647 w 5"/>
                  <a:gd name="T7" fmla="*/ 0 h 6"/>
                  <a:gd name="T8" fmla="*/ 0 w 5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6"/>
                  <a:gd name="T17" fmla="*/ 5 w 5"/>
                  <a:gd name="T18" fmla="*/ 6 h 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6">
                    <a:moveTo>
                      <a:pt x="0" y="0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2" y="6"/>
                      <a:pt x="3" y="6"/>
                      <a:pt x="5" y="6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52" name="TextBox 111"/>
          <p:cNvSpPr txBox="1">
            <a:spLocks noChangeArrowheads="1"/>
          </p:cNvSpPr>
          <p:nvPr/>
        </p:nvSpPr>
        <p:spPr bwMode="auto">
          <a:xfrm>
            <a:off x="6081713" y="2673350"/>
            <a:ext cx="1490662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400" b="1">
                <a:latin typeface="微软雅黑" pitchFamily="34" charset="-122"/>
                <a:ea typeface="微软雅黑" pitchFamily="34" charset="-122"/>
              </a:rPr>
              <a:t>追赶法</a:t>
            </a:r>
            <a:endParaRPr lang="en-US" altLang="zh-CN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3" name="TextBox 112"/>
          <p:cNvSpPr txBox="1">
            <a:spLocks noChangeArrowheads="1"/>
          </p:cNvSpPr>
          <p:nvPr/>
        </p:nvSpPr>
        <p:spPr bwMode="auto">
          <a:xfrm>
            <a:off x="2354263" y="3954463"/>
            <a:ext cx="15636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>
                <a:latin typeface="微软雅黑" pitchFamily="34" charset="-122"/>
                <a:ea typeface="微软雅黑" pitchFamily="34" charset="-122"/>
              </a:rPr>
              <a:t>向量和矩阵的范数</a:t>
            </a:r>
          </a:p>
        </p:txBody>
      </p:sp>
      <p:sp>
        <p:nvSpPr>
          <p:cNvPr id="354" name="TextBox 112"/>
          <p:cNvSpPr txBox="1">
            <a:spLocks noChangeArrowheads="1"/>
          </p:cNvSpPr>
          <p:nvPr/>
        </p:nvSpPr>
        <p:spPr bwMode="auto">
          <a:xfrm>
            <a:off x="1979613" y="1922463"/>
            <a:ext cx="17970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Gauss</a:t>
            </a:r>
            <a:r>
              <a:rPr lang="zh-CN" altLang="en-US" sz="1400" b="1">
                <a:latin typeface="微软雅黑" pitchFamily="34" charset="-122"/>
                <a:ea typeface="微软雅黑" pitchFamily="34" charset="-122"/>
              </a:rPr>
              <a:t>消去法</a:t>
            </a:r>
          </a:p>
        </p:txBody>
      </p:sp>
      <p:sp>
        <p:nvSpPr>
          <p:cNvPr id="355" name="TextBox 112"/>
          <p:cNvSpPr txBox="1">
            <a:spLocks noChangeArrowheads="1"/>
          </p:cNvSpPr>
          <p:nvPr/>
        </p:nvSpPr>
        <p:spPr bwMode="auto">
          <a:xfrm>
            <a:off x="2416175" y="2917825"/>
            <a:ext cx="1574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b="1">
                <a:latin typeface="微软雅黑" pitchFamily="34" charset="-122"/>
                <a:ea typeface="微软雅黑" pitchFamily="34" charset="-122"/>
              </a:rPr>
              <a:t>平方根方法</a:t>
            </a:r>
          </a:p>
        </p:txBody>
      </p:sp>
      <p:sp>
        <p:nvSpPr>
          <p:cNvPr id="356" name="任意多边形: 形状 6"/>
          <p:cNvSpPr/>
          <p:nvPr/>
        </p:nvSpPr>
        <p:spPr>
          <a:xfrm>
            <a:off x="2149475" y="1611313"/>
            <a:ext cx="290513" cy="376237"/>
          </a:xfrm>
          <a:custGeom>
            <a:avLst/>
            <a:gdLst>
              <a:gd name="connsiteX0" fmla="*/ 0 w 290286"/>
              <a:gd name="connsiteY0" fmla="*/ 145142 h 522514"/>
              <a:gd name="connsiteX1" fmla="*/ 290286 w 290286"/>
              <a:gd name="connsiteY1" fmla="*/ 522514 h 522514"/>
              <a:gd name="connsiteX2" fmla="*/ 290286 w 290286"/>
              <a:gd name="connsiteY2" fmla="*/ 0 h 522514"/>
              <a:gd name="connsiteX3" fmla="*/ 0 w 290286"/>
              <a:gd name="connsiteY3" fmla="*/ 145142 h 522514"/>
              <a:gd name="connsiteX0-1" fmla="*/ 0 w 290286"/>
              <a:gd name="connsiteY0-2" fmla="*/ 0 h 377372"/>
              <a:gd name="connsiteX1-3" fmla="*/ 290286 w 290286"/>
              <a:gd name="connsiteY1-4" fmla="*/ 377372 h 377372"/>
              <a:gd name="connsiteX2-5" fmla="*/ 275772 w 290286"/>
              <a:gd name="connsiteY2-6" fmla="*/ 14515 h 377372"/>
              <a:gd name="connsiteX3-7" fmla="*/ 0 w 290286"/>
              <a:gd name="connsiteY3-8" fmla="*/ 0 h 3773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0286" h="377372">
                <a:moveTo>
                  <a:pt x="0" y="0"/>
                </a:moveTo>
                <a:lnTo>
                  <a:pt x="290286" y="377372"/>
                </a:lnTo>
                <a:lnTo>
                  <a:pt x="275772" y="14515"/>
                </a:lnTo>
                <a:lnTo>
                  <a:pt x="0" y="0"/>
                </a:lnTo>
                <a:close/>
              </a:path>
            </a:pathLst>
          </a:custGeom>
          <a:solidFill>
            <a:srgbClr val="00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57" name="矩形 356"/>
          <p:cNvSpPr/>
          <p:nvPr/>
        </p:nvSpPr>
        <p:spPr>
          <a:xfrm>
            <a:off x="2149475" y="1016000"/>
            <a:ext cx="1927225" cy="6238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333" name="TextBox 24"/>
          <p:cNvSpPr>
            <a:spLocks noChangeArrowheads="1"/>
          </p:cNvSpPr>
          <p:nvPr/>
        </p:nvSpPr>
        <p:spPr bwMode="auto">
          <a:xfrm>
            <a:off x="2398713" y="1184275"/>
            <a:ext cx="1428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已有研究</a:t>
            </a:r>
          </a:p>
        </p:txBody>
      </p:sp>
      <p:sp>
        <p:nvSpPr>
          <p:cNvPr id="362" name="TextBox 111"/>
          <p:cNvSpPr txBox="1">
            <a:spLocks noChangeArrowheads="1"/>
          </p:cNvSpPr>
          <p:nvPr/>
        </p:nvSpPr>
        <p:spPr bwMode="auto">
          <a:xfrm>
            <a:off x="6081713" y="1704975"/>
            <a:ext cx="16398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400" b="1">
                <a:latin typeface="微软雅黑" pitchFamily="34" charset="-122"/>
                <a:ea typeface="微软雅黑" pitchFamily="34" charset="-122"/>
              </a:rPr>
              <a:t>直接三角分解方法</a:t>
            </a:r>
            <a:endParaRPr lang="en-US" altLang="zh-CN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3" name="TextBox 112"/>
          <p:cNvSpPr txBox="1">
            <a:spLocks noChangeArrowheads="1"/>
          </p:cNvSpPr>
          <p:nvPr/>
        </p:nvSpPr>
        <p:spPr bwMode="auto">
          <a:xfrm>
            <a:off x="5918200" y="3686175"/>
            <a:ext cx="260508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b="1">
                <a:latin typeface="微软雅黑" pitchFamily="34" charset="-122"/>
                <a:ea typeface="微软雅黑" pitchFamily="34" charset="-122"/>
              </a:rPr>
              <a:t>线性方程组固有性态与误差分析</a:t>
            </a:r>
          </a:p>
        </p:txBody>
      </p:sp>
    </p:spTree>
    <p:extLst>
      <p:ext uri="{BB962C8B-B14F-4D97-AF65-F5344CB8AC3E}">
        <p14:creationId xmlns:p14="http://schemas.microsoft.com/office/powerpoint/2010/main" val="224848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352" grpId="0"/>
      <p:bldP spid="353" grpId="0"/>
      <p:bldP spid="354" grpId="0"/>
      <p:bldP spid="355" grpId="0"/>
      <p:bldP spid="362" grpId="0"/>
      <p:bldP spid="3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9" name="TextBox 69"/>
          <p:cNvSpPr txBox="1"/>
          <p:nvPr/>
        </p:nvSpPr>
        <p:spPr>
          <a:xfrm>
            <a:off x="1466850" y="1855788"/>
            <a:ext cx="1411288" cy="400050"/>
          </a:xfrm>
          <a:prstGeom prst="rect">
            <a:avLst/>
          </a:prstGeom>
          <a:solidFill>
            <a:srgbClr val="0070C0"/>
          </a:solidFill>
        </p:spPr>
        <p:txBody>
          <a:bodyPr>
            <a:spAutoFit/>
          </a:bodyPr>
          <a:lstStyle/>
          <a:p>
            <a:pPr algn="ctr" defTabSz="914400" eaLnBrk="1" hangingPunct="1">
              <a:buFont typeface="Arial" pitchFamily="34" charset="0"/>
              <a:buNone/>
              <a:defRPr/>
            </a:pPr>
            <a:r>
              <a:rPr lang="zh-CN" altLang="en-US" sz="2000" kern="0" dirty="0">
                <a:solidFill>
                  <a:srgbClr val="FFFFFF"/>
                </a:solidFill>
                <a:latin typeface="微软雅黑"/>
                <a:ea typeface="微软雅黑"/>
              </a:rPr>
              <a:t>现实意义</a:t>
            </a:r>
          </a:p>
        </p:txBody>
      </p:sp>
      <p:sp>
        <p:nvSpPr>
          <p:cNvPr id="10" name="Freeform 16"/>
          <p:cNvSpPr/>
          <p:nvPr/>
        </p:nvSpPr>
        <p:spPr bwMode="auto">
          <a:xfrm>
            <a:off x="1870075" y="1033463"/>
            <a:ext cx="604838" cy="623887"/>
          </a:xfrm>
          <a:custGeom>
            <a:avLst/>
            <a:gdLst>
              <a:gd name="T0" fmla="*/ 111 w 152"/>
              <a:gd name="T1" fmla="*/ 68 h 154"/>
              <a:gd name="T2" fmla="*/ 111 w 152"/>
              <a:gd name="T3" fmla="*/ 34 h 154"/>
              <a:gd name="T4" fmla="*/ 144 w 152"/>
              <a:gd name="T5" fmla="*/ 37 h 154"/>
              <a:gd name="T6" fmla="*/ 144 w 152"/>
              <a:gd name="T7" fmla="*/ 9 h 154"/>
              <a:gd name="T8" fmla="*/ 105 w 152"/>
              <a:gd name="T9" fmla="*/ 9 h 154"/>
              <a:gd name="T10" fmla="*/ 105 w 152"/>
              <a:gd name="T11" fmla="*/ 9 h 154"/>
              <a:gd name="T12" fmla="*/ 105 w 152"/>
              <a:gd name="T13" fmla="*/ 9 h 154"/>
              <a:gd name="T14" fmla="*/ 105 w 152"/>
              <a:gd name="T15" fmla="*/ 64 h 154"/>
              <a:gd name="T16" fmla="*/ 76 w 152"/>
              <a:gd name="T17" fmla="*/ 45 h 154"/>
              <a:gd name="T18" fmla="*/ 0 w 152"/>
              <a:gd name="T19" fmla="*/ 94 h 154"/>
              <a:gd name="T20" fmla="*/ 18 w 152"/>
              <a:gd name="T21" fmla="*/ 94 h 154"/>
              <a:gd name="T22" fmla="*/ 18 w 152"/>
              <a:gd name="T23" fmla="*/ 154 h 154"/>
              <a:gd name="T24" fmla="*/ 61 w 152"/>
              <a:gd name="T25" fmla="*/ 154 h 154"/>
              <a:gd name="T26" fmla="*/ 61 w 152"/>
              <a:gd name="T27" fmla="*/ 113 h 154"/>
              <a:gd name="T28" fmla="*/ 91 w 152"/>
              <a:gd name="T29" fmla="*/ 113 h 154"/>
              <a:gd name="T30" fmla="*/ 91 w 152"/>
              <a:gd name="T31" fmla="*/ 153 h 154"/>
              <a:gd name="T32" fmla="*/ 134 w 152"/>
              <a:gd name="T33" fmla="*/ 153 h 154"/>
              <a:gd name="T34" fmla="*/ 134 w 152"/>
              <a:gd name="T35" fmla="*/ 94 h 154"/>
              <a:gd name="T36" fmla="*/ 152 w 152"/>
              <a:gd name="T37" fmla="*/ 94 h 154"/>
              <a:gd name="T38" fmla="*/ 111 w 152"/>
              <a:gd name="T39" fmla="*/ 68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52" h="154">
                <a:moveTo>
                  <a:pt x="111" y="68"/>
                </a:moveTo>
                <a:cubicBezTo>
                  <a:pt x="111" y="34"/>
                  <a:pt x="111" y="34"/>
                  <a:pt x="111" y="34"/>
                </a:cubicBezTo>
                <a:cubicBezTo>
                  <a:pt x="122" y="33"/>
                  <a:pt x="133" y="44"/>
                  <a:pt x="144" y="37"/>
                </a:cubicBezTo>
                <a:cubicBezTo>
                  <a:pt x="144" y="9"/>
                  <a:pt x="144" y="9"/>
                  <a:pt x="144" y="9"/>
                </a:cubicBezTo>
                <a:cubicBezTo>
                  <a:pt x="131" y="17"/>
                  <a:pt x="118" y="0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64"/>
                  <a:pt x="105" y="64"/>
                  <a:pt x="105" y="64"/>
                </a:cubicBezTo>
                <a:cubicBezTo>
                  <a:pt x="76" y="45"/>
                  <a:pt x="76" y="45"/>
                  <a:pt x="76" y="45"/>
                </a:cubicBezTo>
                <a:cubicBezTo>
                  <a:pt x="0" y="94"/>
                  <a:pt x="0" y="94"/>
                  <a:pt x="0" y="94"/>
                </a:cubicBezTo>
                <a:cubicBezTo>
                  <a:pt x="18" y="94"/>
                  <a:pt x="18" y="94"/>
                  <a:pt x="18" y="94"/>
                </a:cubicBezTo>
                <a:cubicBezTo>
                  <a:pt x="18" y="154"/>
                  <a:pt x="18" y="154"/>
                  <a:pt x="18" y="154"/>
                </a:cubicBezTo>
                <a:cubicBezTo>
                  <a:pt x="61" y="154"/>
                  <a:pt x="61" y="154"/>
                  <a:pt x="61" y="154"/>
                </a:cubicBezTo>
                <a:cubicBezTo>
                  <a:pt x="61" y="113"/>
                  <a:pt x="61" y="113"/>
                  <a:pt x="61" y="113"/>
                </a:cubicBezTo>
                <a:cubicBezTo>
                  <a:pt x="91" y="113"/>
                  <a:pt x="91" y="113"/>
                  <a:pt x="91" y="113"/>
                </a:cubicBezTo>
                <a:cubicBezTo>
                  <a:pt x="91" y="153"/>
                  <a:pt x="91" y="153"/>
                  <a:pt x="91" y="153"/>
                </a:cubicBezTo>
                <a:cubicBezTo>
                  <a:pt x="134" y="153"/>
                  <a:pt x="134" y="153"/>
                  <a:pt x="134" y="153"/>
                </a:cubicBezTo>
                <a:cubicBezTo>
                  <a:pt x="134" y="94"/>
                  <a:pt x="134" y="94"/>
                  <a:pt x="134" y="94"/>
                </a:cubicBezTo>
                <a:cubicBezTo>
                  <a:pt x="152" y="94"/>
                  <a:pt x="152" y="94"/>
                  <a:pt x="152" y="94"/>
                </a:cubicBezTo>
                <a:lnTo>
                  <a:pt x="111" y="68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latin typeface="+mn-lt"/>
              <a:ea typeface="+mn-ea"/>
            </a:endParaRPr>
          </a:p>
        </p:txBody>
      </p:sp>
      <p:sp>
        <p:nvSpPr>
          <p:cNvPr id="11" name="TextBox 69"/>
          <p:cNvSpPr txBox="1"/>
          <p:nvPr/>
        </p:nvSpPr>
        <p:spPr>
          <a:xfrm>
            <a:off x="1047750" y="2808288"/>
            <a:ext cx="2209800" cy="954087"/>
          </a:xfrm>
          <a:prstGeom prst="rect">
            <a:avLst/>
          </a:prstGeom>
          <a:solidFill>
            <a:srgbClr val="0070C0"/>
          </a:solidFill>
        </p:spPr>
        <p:txBody>
          <a:bodyPr>
            <a:spAutoFit/>
          </a:bodyPr>
          <a:lstStyle/>
          <a:p>
            <a:pPr algn="ctr" defTabSz="914400" eaLnBrk="1" hangingPunct="1"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+mn-lt"/>
                <a:ea typeface="+mn-ea"/>
              </a:rPr>
              <a:t>在工程技术、自然科学和社会科学中，</a:t>
            </a:r>
            <a:endParaRPr lang="en-US" altLang="zh-CN" sz="1400" b="1" dirty="0">
              <a:solidFill>
                <a:schemeClr val="bg1"/>
              </a:solidFill>
              <a:latin typeface="+mn-lt"/>
              <a:ea typeface="+mn-ea"/>
            </a:endParaRPr>
          </a:p>
          <a:p>
            <a:pPr algn="ctr" defTabSz="914400" eaLnBrk="1" hangingPunct="1"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+mn-lt"/>
                <a:ea typeface="+mn-ea"/>
              </a:rPr>
              <a:t>经常遇到的许多问题最终都可归结为解线性方程组</a:t>
            </a:r>
            <a:endParaRPr lang="zh-CN" altLang="en-US" sz="2000" kern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 rot="5400000">
            <a:off x="2366963" y="2328862"/>
            <a:ext cx="2819400" cy="9525"/>
          </a:xfrm>
          <a:prstGeom prst="line">
            <a:avLst/>
          </a:prstGeom>
          <a:noFill/>
          <a:ln w="9525" algn="ctr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椭圆 16"/>
          <p:cNvSpPr/>
          <p:nvPr/>
        </p:nvSpPr>
        <p:spPr bwMode="auto">
          <a:xfrm>
            <a:off x="4019550" y="1095375"/>
            <a:ext cx="381000" cy="382588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914400" eaLnBrk="1" hangingPunct="1">
              <a:buFont typeface="Arial" pitchFamily="34" charset="0"/>
              <a:buNone/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+mn-ea"/>
                <a:ea typeface="+mn-ea"/>
              </a:rPr>
              <a:t>1</a:t>
            </a:r>
            <a:endParaRPr lang="zh-CN" altLang="en-US" sz="1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4019550" y="1724025"/>
            <a:ext cx="381000" cy="382588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914400" eaLnBrk="1" hangingPunct="1">
              <a:buFont typeface="Arial" pitchFamily="34" charset="0"/>
              <a:buNone/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n-ea"/>
                <a:ea typeface="+mn-ea"/>
              </a:rPr>
              <a:t>2</a:t>
            </a:r>
            <a:endParaRPr lang="zh-CN" altLang="en-US" sz="16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椭圆 18"/>
          <p:cNvSpPr/>
          <p:nvPr/>
        </p:nvSpPr>
        <p:spPr bwMode="auto">
          <a:xfrm>
            <a:off x="4019550" y="2406650"/>
            <a:ext cx="381000" cy="3810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914400" eaLnBrk="1" hangingPunct="1">
              <a:buFont typeface="Arial" pitchFamily="34" charset="0"/>
              <a:buNone/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n-ea"/>
                <a:ea typeface="+mn-ea"/>
              </a:rPr>
              <a:t>3</a:t>
            </a:r>
            <a:endParaRPr lang="zh-CN" altLang="en-US" sz="16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396" name="TextBox 19"/>
          <p:cNvSpPr txBox="1">
            <a:spLocks noChangeArrowheads="1"/>
          </p:cNvSpPr>
          <p:nvPr/>
        </p:nvSpPr>
        <p:spPr bwMode="auto">
          <a:xfrm>
            <a:off x="4733925" y="1104900"/>
            <a:ext cx="3933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宋体" pitchFamily="2" charset="-122"/>
              </a:rPr>
              <a:t>用最小二乘法求实验数据的曲线拟合问题</a:t>
            </a:r>
          </a:p>
        </p:txBody>
      </p:sp>
      <p:sp>
        <p:nvSpPr>
          <p:cNvPr id="16397" name="TextBox 20"/>
          <p:cNvSpPr txBox="1">
            <a:spLocks noChangeArrowheads="1"/>
          </p:cNvSpPr>
          <p:nvPr/>
        </p:nvSpPr>
        <p:spPr bwMode="auto">
          <a:xfrm>
            <a:off x="4714875" y="1743075"/>
            <a:ext cx="3933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宋体" pitchFamily="2" charset="-122"/>
              </a:rPr>
              <a:t>工程中的三次样条函数的插值问题</a:t>
            </a:r>
          </a:p>
        </p:txBody>
      </p:sp>
      <p:sp>
        <p:nvSpPr>
          <p:cNvPr id="16398" name="TextBox 21"/>
          <p:cNvSpPr txBox="1">
            <a:spLocks noChangeArrowheads="1"/>
          </p:cNvSpPr>
          <p:nvPr/>
        </p:nvSpPr>
        <p:spPr bwMode="auto">
          <a:xfrm>
            <a:off x="4743450" y="2419350"/>
            <a:ext cx="3933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宋体" pitchFamily="2" charset="-122"/>
              </a:rPr>
              <a:t>经济运行中的投入产出问题</a:t>
            </a:r>
          </a:p>
        </p:txBody>
      </p:sp>
      <p:sp>
        <p:nvSpPr>
          <p:cNvPr id="24" name="椭圆 23"/>
          <p:cNvSpPr/>
          <p:nvPr/>
        </p:nvSpPr>
        <p:spPr bwMode="auto">
          <a:xfrm>
            <a:off x="4010025" y="3082925"/>
            <a:ext cx="381000" cy="381000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914400" eaLnBrk="1" hangingPunct="1">
              <a:buFont typeface="Arial" pitchFamily="34" charset="0"/>
              <a:buNone/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+mn-ea"/>
                <a:ea typeface="+mn-ea"/>
              </a:rPr>
              <a:t>4</a:t>
            </a:r>
            <a:endParaRPr lang="zh-CN" altLang="en-US" sz="16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400" name="TextBox 24"/>
          <p:cNvSpPr txBox="1">
            <a:spLocks noChangeArrowheads="1"/>
          </p:cNvSpPr>
          <p:nvPr/>
        </p:nvSpPr>
        <p:spPr bwMode="auto">
          <a:xfrm>
            <a:off x="4733925" y="3086100"/>
            <a:ext cx="41052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宋体" pitchFamily="2" charset="-122"/>
              </a:rPr>
              <a:t>大地测量、机械与建筑结构的设计计算问题</a:t>
            </a:r>
          </a:p>
        </p:txBody>
      </p:sp>
      <p:sp>
        <p:nvSpPr>
          <p:cNvPr id="26" name="下箭头 25"/>
          <p:cNvSpPr/>
          <p:nvPr/>
        </p:nvSpPr>
        <p:spPr>
          <a:xfrm>
            <a:off x="1990725" y="2371725"/>
            <a:ext cx="400050" cy="390525"/>
          </a:xfrm>
          <a:prstGeom prst="downArrow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9" name="左弧形箭头 28"/>
          <p:cNvSpPr/>
          <p:nvPr/>
        </p:nvSpPr>
        <p:spPr>
          <a:xfrm>
            <a:off x="3514725" y="3600450"/>
            <a:ext cx="600075" cy="609600"/>
          </a:xfrm>
          <a:prstGeom prst="curvedRightArrow">
            <a:avLst>
              <a:gd name="adj1" fmla="val 22581"/>
              <a:gd name="adj2" fmla="val 46800"/>
              <a:gd name="adj3" fmla="val 25000"/>
            </a:avLst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1" name="流程图: 过程 30"/>
          <p:cNvSpPr/>
          <p:nvPr/>
        </p:nvSpPr>
        <p:spPr>
          <a:xfrm>
            <a:off x="4295775" y="3733800"/>
            <a:ext cx="3676650" cy="784225"/>
          </a:xfrm>
          <a:prstGeom prst="flowChartProcess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4375" y="3781425"/>
            <a:ext cx="3152775" cy="715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b="1" dirty="0">
                <a:solidFill>
                  <a:schemeClr val="bg1"/>
                </a:solidFill>
                <a:latin typeface="+mn-lt"/>
                <a:ea typeface="+mn-ea"/>
              </a:rPr>
              <a:t>都可归结为求解线性方程组</a:t>
            </a:r>
            <a:r>
              <a:rPr lang="en-US" altLang="zh-CN" sz="1350" b="1" dirty="0">
                <a:solidFill>
                  <a:schemeClr val="bg1"/>
                </a:solidFill>
                <a:latin typeface="+mn-lt"/>
                <a:ea typeface="+mn-ea"/>
              </a:rPr>
              <a:t>(</a:t>
            </a:r>
            <a:r>
              <a:rPr lang="zh-CN" altLang="en-US" sz="1350" b="1" dirty="0">
                <a:solidFill>
                  <a:schemeClr val="bg1"/>
                </a:solidFill>
                <a:latin typeface="+mn-lt"/>
                <a:ea typeface="+mn-ea"/>
              </a:rPr>
              <a:t>或非线性方程组</a:t>
            </a:r>
            <a:r>
              <a:rPr lang="en-US" altLang="zh-CN" sz="1350" b="1" dirty="0">
                <a:solidFill>
                  <a:schemeClr val="bg1"/>
                </a:solidFill>
                <a:latin typeface="+mn-lt"/>
                <a:ea typeface="+mn-ea"/>
              </a:rPr>
              <a:t>)</a:t>
            </a:r>
            <a:r>
              <a:rPr lang="zh-CN" altLang="en-US" sz="1350" b="1" dirty="0">
                <a:solidFill>
                  <a:schemeClr val="bg1"/>
                </a:solidFill>
                <a:latin typeface="+mn-lt"/>
                <a:ea typeface="+mn-ea"/>
              </a:rPr>
              <a:t>的数学问题。因此线性方程组的求解对于实际问题是</a:t>
            </a:r>
            <a:r>
              <a:rPr lang="zh-CN" altLang="en-US" sz="1350" b="1" dirty="0">
                <a:solidFill>
                  <a:srgbClr val="FF0000"/>
                </a:solidFill>
                <a:latin typeface="+mn-lt"/>
                <a:ea typeface="+mn-ea"/>
              </a:rPr>
              <a:t>极其重要</a:t>
            </a:r>
            <a:r>
              <a:rPr lang="zh-CN" altLang="en-US" sz="1350" b="1" dirty="0">
                <a:solidFill>
                  <a:schemeClr val="bg1"/>
                </a:solidFill>
                <a:latin typeface="+mn-lt"/>
                <a:ea typeface="+mn-ea"/>
              </a:rPr>
              <a:t>的</a:t>
            </a:r>
            <a:endParaRPr lang="zh-CN" altLang="en-US" sz="1350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17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2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1" grpId="0" animBg="1"/>
      <p:bldP spid="17" grpId="0" animBg="1"/>
      <p:bldP spid="18" grpId="0" animBg="1"/>
      <p:bldP spid="19" grpId="0" animBg="1"/>
      <p:bldP spid="16396" grpId="0"/>
      <p:bldP spid="16397" grpId="0"/>
      <p:bldP spid="16398" grpId="0"/>
      <p:bldP spid="24" grpId="0" animBg="1"/>
      <p:bldP spid="16400" grpId="0"/>
      <p:bldP spid="26" grpId="0" animBg="1"/>
      <p:bldP spid="29" grpId="0" animBg="1"/>
      <p:bldP spid="31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495300"/>
            <a:ext cx="4057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宋体" pitchFamily="2" charset="-122"/>
              </a:rPr>
              <a:t>    </a:t>
            </a:r>
            <a:r>
              <a:rPr kumimoji="1" lang="zh-CN" altLang="en-US" sz="1800">
                <a:latin typeface="宋体" pitchFamily="2" charset="-122"/>
              </a:rPr>
              <a:t>本节讨论</a:t>
            </a:r>
            <a:r>
              <a:rPr kumimoji="1" lang="en-US" altLang="zh-CN" sz="1800">
                <a:latin typeface="宋体" pitchFamily="2" charset="-122"/>
              </a:rPr>
              <a:t>n</a:t>
            </a:r>
            <a:r>
              <a:rPr kumimoji="1" lang="zh-CN" altLang="en-US" sz="1800">
                <a:latin typeface="宋体" pitchFamily="2" charset="-122"/>
              </a:rPr>
              <a:t>元线性方程组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647950" y="1071563"/>
          <a:ext cx="29527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6" name="Equation" r:id="rId3" imgW="4127500" imgH="1917700" progId="Equation.3">
                  <p:embed/>
                </p:oleObj>
              </mc:Choice>
              <mc:Fallback>
                <p:oleObj name="Equation" r:id="rId3" imgW="41275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1071563"/>
                        <a:ext cx="295275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569075" y="1562100"/>
            <a:ext cx="793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  <a:ea typeface="黑体" pitchFamily="49" charset="-122"/>
              </a:rPr>
              <a:t>（</a:t>
            </a:r>
            <a:r>
              <a:rPr kumimoji="1" lang="en-US" altLang="zh-CN" sz="1800">
                <a:latin typeface="宋体" pitchFamily="2" charset="-122"/>
                <a:ea typeface="黑体" pitchFamily="49" charset="-122"/>
              </a:rPr>
              <a:t>1</a:t>
            </a:r>
            <a:r>
              <a:rPr kumimoji="1" lang="zh-CN" altLang="en-US" sz="1800">
                <a:latin typeface="宋体" pitchFamily="2" charset="-122"/>
                <a:ea typeface="黑体" pitchFamily="49" charset="-122"/>
              </a:rPr>
              <a:t>） 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57225" y="2573338"/>
            <a:ext cx="5705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的直接解法。方程组</a:t>
            </a:r>
            <a:r>
              <a:rPr kumimoji="1" lang="en-US" altLang="zh-CN" sz="1800">
                <a:latin typeface="宋体" pitchFamily="2" charset="-122"/>
              </a:rPr>
              <a:t>(1)</a:t>
            </a:r>
            <a:r>
              <a:rPr kumimoji="1" lang="zh-CN" altLang="en-US" sz="1800">
                <a:latin typeface="宋体" pitchFamily="2" charset="-122"/>
              </a:rPr>
              <a:t>的矩阵形式为   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4849813" y="2530475"/>
            <a:ext cx="243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宋体" pitchFamily="2" charset="-122"/>
                <a:ea typeface="黑体" pitchFamily="49" charset="-122"/>
              </a:rPr>
              <a:t> </a:t>
            </a:r>
            <a:r>
              <a:rPr kumimoji="1" lang="en-US" altLang="zh-CN" sz="2400" b="1">
                <a:latin typeface="PMingLiU" pitchFamily="18" charset="-120"/>
                <a:ea typeface="PMingLiU" pitchFamily="18" charset="-120"/>
              </a:rPr>
              <a:t>A</a:t>
            </a:r>
            <a:r>
              <a:rPr kumimoji="1" lang="en-US" altLang="zh-CN" sz="2400" b="1">
                <a:latin typeface="Times New Roman" pitchFamily="18" charset="0"/>
                <a:ea typeface="PMingLiU" pitchFamily="18" charset="-120"/>
              </a:rPr>
              <a:t>x</a:t>
            </a:r>
            <a:r>
              <a:rPr kumimoji="1" lang="en-US" altLang="zh-CN" sz="2400" b="1">
                <a:latin typeface="PMingLiU" pitchFamily="18" charset="-120"/>
                <a:ea typeface="PMingLiU" pitchFamily="18" charset="-120"/>
              </a:rPr>
              <a:t>=b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752475" y="3268663"/>
            <a:ext cx="3048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其中   </a:t>
            </a: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827213" y="3168650"/>
          <a:ext cx="2763837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7" name="Equation" r:id="rId5" imgW="3390900" imgH="1917700" progId="Equation.3">
                  <p:embed/>
                </p:oleObj>
              </mc:Choice>
              <mc:Fallback>
                <p:oleObj name="Equation" r:id="rId5" imgW="33909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213" y="3168650"/>
                        <a:ext cx="2763837" cy="156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4838700" y="3076575"/>
          <a:ext cx="1143000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8" name="Equation" r:id="rId7" imgW="1320800" imgH="1917700" progId="Equation.3">
                  <p:embed/>
                </p:oleObj>
              </mc:Choice>
              <mc:Fallback>
                <p:oleObj name="Equation" r:id="rId7" imgW="13208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3076575"/>
                        <a:ext cx="1143000" cy="165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6219825" y="3114675"/>
          <a:ext cx="1168400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9" name="Equation" r:id="rId9" imgW="1320800" imgH="1917700" progId="Equation.3">
                  <p:embed/>
                </p:oleObj>
              </mc:Choice>
              <mc:Fallback>
                <p:oleObj name="Equation" r:id="rId9" imgW="13208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825" y="3114675"/>
                        <a:ext cx="1168400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761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8" grpId="0" autoUpdateAnimBg="0"/>
      <p:bldP spid="9" grpId="0" autoUpdateAnimBg="0"/>
      <p:bldP spid="10" grpId="0" build="p" autoUpdateAnimBg="0" advAuto="2000"/>
      <p:bldP spid="1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28600" y="619125"/>
            <a:ext cx="5876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若矩阵</a:t>
            </a:r>
            <a:r>
              <a:rPr kumimoji="1" lang="en-US" altLang="zh-CN" sz="1800" b="1">
                <a:latin typeface="宋体" pitchFamily="2" charset="-122"/>
              </a:rPr>
              <a:t>A</a:t>
            </a:r>
            <a:r>
              <a:rPr kumimoji="1" lang="zh-CN" altLang="en-US" sz="1800">
                <a:latin typeface="宋体" pitchFamily="2" charset="-122"/>
              </a:rPr>
              <a:t>非奇异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即</a:t>
            </a:r>
            <a:r>
              <a:rPr kumimoji="1" lang="en-US" altLang="zh-CN" sz="1800">
                <a:latin typeface="宋体" pitchFamily="2" charset="-122"/>
              </a:rPr>
              <a:t>det(</a:t>
            </a:r>
            <a:r>
              <a:rPr kumimoji="1" lang="en-US" altLang="zh-CN" sz="1800" b="1">
                <a:latin typeface="宋体" pitchFamily="2" charset="-122"/>
              </a:rPr>
              <a:t>A</a:t>
            </a:r>
            <a:r>
              <a:rPr kumimoji="1" lang="en-US" altLang="zh-CN" sz="1800">
                <a:latin typeface="宋体" pitchFamily="2" charset="-122"/>
              </a:rPr>
              <a:t>)≠0,</a:t>
            </a:r>
            <a:r>
              <a:rPr kumimoji="1" lang="zh-CN" altLang="en-US" sz="1800">
                <a:latin typeface="宋体" pitchFamily="2" charset="-122"/>
              </a:rPr>
              <a:t>则方程组</a:t>
            </a:r>
            <a:r>
              <a:rPr kumimoji="1" lang="en-US" altLang="zh-CN" sz="1800">
                <a:latin typeface="宋体" pitchFamily="2" charset="-122"/>
              </a:rPr>
              <a:t>(1)</a:t>
            </a:r>
            <a:r>
              <a:rPr kumimoji="1" lang="zh-CN" altLang="en-US" sz="1800">
                <a:latin typeface="宋体" pitchFamily="2" charset="-122"/>
              </a:rPr>
              <a:t>有唯一解</a:t>
            </a:r>
            <a:r>
              <a:rPr kumimoji="1" lang="zh-CN" altLang="en-US" sz="2800">
                <a:latin typeface="宋体" pitchFamily="2" charset="-122"/>
              </a:rPr>
              <a:t>。   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28600" y="1209675"/>
            <a:ext cx="84867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solidFill>
                  <a:srgbClr val="FF0000"/>
                </a:solidFill>
                <a:latin typeface="宋体" pitchFamily="2" charset="-122"/>
                <a:ea typeface="黑体" pitchFamily="49" charset="-122"/>
              </a:rPr>
              <a:t>    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所谓直接解法是指，若不考虑计算过程中的舍入误差，经过有限次算术运算就能求出线性方程组的精确解的方法。</a:t>
            </a:r>
            <a:r>
              <a:rPr kumimoji="1" lang="zh-CN" altLang="en-US" sz="1800">
                <a:latin typeface="宋体" pitchFamily="2" charset="-122"/>
              </a:rPr>
              <a:t>但由于实际计算中舍入误差的存在，用直接解法一般也只能求出方程组的近似解。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7650" y="2124075"/>
            <a:ext cx="7334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  <a:ea typeface="黑体" pitchFamily="49" charset="-122"/>
              </a:rPr>
              <a:t>    </a:t>
            </a:r>
            <a:r>
              <a:rPr kumimoji="1" lang="en-US" altLang="zh-CN" sz="1800">
                <a:latin typeface="宋体" pitchFamily="2" charset="-122"/>
              </a:rPr>
              <a:t>Cramer</a:t>
            </a:r>
            <a:r>
              <a:rPr kumimoji="1" lang="zh-CN" altLang="en-US" sz="1800">
                <a:latin typeface="宋体" pitchFamily="2" charset="-122"/>
              </a:rPr>
              <a:t>法则是一种不实用的直接法，下面介绍几种实用的直接法。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76275" y="2676525"/>
            <a:ext cx="8020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1800" b="1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消去法是一种规则化的加减消元法，其基本思想是通过逐次消元计算，把一般线性方程组的求解转化为等价的上三角形方程组的求解。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19075" y="3590925"/>
            <a:ext cx="527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   </a:t>
            </a:r>
            <a:r>
              <a:rPr kumimoji="1" lang="zh-CN" altLang="en-US" sz="1800">
                <a:latin typeface="宋体" pitchFamily="2" charset="-122"/>
              </a:rPr>
              <a:t>为了清楚起见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先看一个简单的例子</a:t>
            </a:r>
            <a:r>
              <a:rPr kumimoji="1" lang="en-US" altLang="zh-CN" sz="1800">
                <a:latin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871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0" y="557213"/>
            <a:ext cx="3409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  <a:ea typeface="黑体" pitchFamily="49" charset="-122"/>
              </a:rPr>
              <a:t>    </a:t>
            </a:r>
            <a:r>
              <a:rPr kumimoji="1" lang="zh-CN" altLang="en-US" sz="1800">
                <a:latin typeface="宋体" pitchFamily="2" charset="-122"/>
                <a:ea typeface="黑体" pitchFamily="49" charset="-122"/>
              </a:rPr>
              <a:t>考虑线性方程组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866775" y="1114425"/>
          <a:ext cx="210502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0" name="Equation" r:id="rId3" imgW="2705100" imgH="1409700" progId="Equation.DSMT4">
                  <p:embed/>
                </p:oleObj>
              </mc:Choice>
              <mc:Fallback>
                <p:oleObj name="Equation" r:id="rId3" imgW="2705100" imgH="1409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1114425"/>
                        <a:ext cx="2105025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右箭头 6"/>
          <p:cNvSpPr/>
          <p:nvPr/>
        </p:nvSpPr>
        <p:spPr>
          <a:xfrm>
            <a:off x="3390900" y="1733550"/>
            <a:ext cx="1771650" cy="247650"/>
          </a:xfrm>
          <a:prstGeom prst="rightArrow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059" name="TextBox 7"/>
          <p:cNvSpPr txBox="1">
            <a:spLocks noChangeArrowheads="1"/>
          </p:cNvSpPr>
          <p:nvPr/>
        </p:nvSpPr>
        <p:spPr bwMode="auto">
          <a:xfrm>
            <a:off x="3276600" y="1371600"/>
            <a:ext cx="1949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1400">
                <a:latin typeface="宋体" pitchFamily="2" charset="-122"/>
                <a:ea typeface="黑体" pitchFamily="49" charset="-122"/>
              </a:rPr>
              <a:t>消去后两个方程中的</a:t>
            </a:r>
            <a:r>
              <a:rPr kumimoji="1" lang="en-US" altLang="zh-CN" sz="1400">
                <a:latin typeface="宋体" pitchFamily="2" charset="-122"/>
                <a:ea typeface="黑体" pitchFamily="49" charset="-122"/>
              </a:rPr>
              <a:t>x</a:t>
            </a:r>
            <a:r>
              <a:rPr kumimoji="1" lang="en-US" altLang="zh-CN" sz="1400" baseline="-25000">
                <a:latin typeface="宋体" pitchFamily="2" charset="-122"/>
                <a:ea typeface="黑体" pitchFamily="49" charset="-122"/>
              </a:rPr>
              <a:t>1</a:t>
            </a:r>
            <a:endParaRPr kumimoji="1" lang="zh-CN" altLang="en-US" sz="1400">
              <a:latin typeface="宋体" pitchFamily="2" charset="-122"/>
              <a:ea typeface="黑体" pitchFamily="49" charset="-122"/>
            </a:endParaRP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5573713" y="1085850"/>
          <a:ext cx="2522537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1" name="Equation" r:id="rId5" imgW="3022600" imgH="1409700" progId="Equation.3">
                  <p:embed/>
                </p:oleObj>
              </mc:Choice>
              <mc:Fallback>
                <p:oleObj name="Equation" r:id="rId5" imgW="30226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3" y="1085850"/>
                        <a:ext cx="2522537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右箭头 9"/>
          <p:cNvSpPr/>
          <p:nvPr/>
        </p:nvSpPr>
        <p:spPr>
          <a:xfrm>
            <a:off x="533400" y="3514725"/>
            <a:ext cx="1885950" cy="247650"/>
          </a:xfrm>
          <a:prstGeom prst="rightArrow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061" name="TextBox 10"/>
          <p:cNvSpPr txBox="1">
            <a:spLocks noChangeArrowheads="1"/>
          </p:cNvSpPr>
          <p:nvPr/>
        </p:nvSpPr>
        <p:spPr bwMode="auto">
          <a:xfrm>
            <a:off x="419100" y="3152775"/>
            <a:ext cx="21288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400">
                <a:latin typeface="宋体" pitchFamily="2" charset="-122"/>
                <a:ea typeface="黑体" pitchFamily="49" charset="-122"/>
              </a:rPr>
              <a:t>再消去最后一个方程的</a:t>
            </a:r>
            <a:r>
              <a:rPr kumimoji="1" lang="en-US" altLang="zh-CN" sz="1400">
                <a:latin typeface="宋体" pitchFamily="2" charset="-122"/>
                <a:ea typeface="黑体" pitchFamily="49" charset="-122"/>
              </a:rPr>
              <a:t>x</a:t>
            </a:r>
            <a:r>
              <a:rPr kumimoji="1" lang="en-US" altLang="zh-CN" sz="1400" baseline="-25000">
                <a:latin typeface="宋体" pitchFamily="2" charset="-122"/>
                <a:ea typeface="黑体" pitchFamily="49" charset="-122"/>
              </a:rPr>
              <a:t>2</a:t>
            </a:r>
            <a:endParaRPr kumimoji="1" lang="zh-CN" altLang="en-US" sz="1400">
              <a:latin typeface="宋体" pitchFamily="2" charset="-122"/>
              <a:ea typeface="黑体" pitchFamily="49" charset="-122"/>
            </a:endParaRPr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2571750" y="2884488"/>
          <a:ext cx="2108200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2" name="Equation" r:id="rId7" imgW="3022600" imgH="1968500" progId="Equation.3">
                  <p:embed/>
                </p:oleObj>
              </mc:Choice>
              <mc:Fallback>
                <p:oleObj name="Equation" r:id="rId7" imgW="3022600" imgH="196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2884488"/>
                        <a:ext cx="2108200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右箭头 12"/>
          <p:cNvSpPr/>
          <p:nvPr/>
        </p:nvSpPr>
        <p:spPr>
          <a:xfrm>
            <a:off x="4838700" y="3562350"/>
            <a:ext cx="1885950" cy="247650"/>
          </a:xfrm>
          <a:prstGeom prst="rightArrow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063" name="TextBox 13"/>
          <p:cNvSpPr txBox="1">
            <a:spLocks noChangeArrowheads="1"/>
          </p:cNvSpPr>
          <p:nvPr/>
        </p:nvSpPr>
        <p:spPr bwMode="auto">
          <a:xfrm>
            <a:off x="4724400" y="3200400"/>
            <a:ext cx="2159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400">
                <a:latin typeface="宋体" pitchFamily="2" charset="-122"/>
                <a:ea typeface="黑体" pitchFamily="49" charset="-122"/>
              </a:rPr>
              <a:t>消元结束</a:t>
            </a:r>
            <a:r>
              <a:rPr kumimoji="1" lang="en-US" altLang="zh-CN" sz="1400">
                <a:latin typeface="宋体" pitchFamily="2" charset="-122"/>
                <a:ea typeface="黑体" pitchFamily="49" charset="-122"/>
              </a:rPr>
              <a:t>,</a:t>
            </a:r>
            <a:r>
              <a:rPr kumimoji="1" lang="zh-CN" altLang="en-US" sz="1400">
                <a:latin typeface="宋体" pitchFamily="2" charset="-122"/>
                <a:ea typeface="黑体" pitchFamily="49" charset="-122"/>
              </a:rPr>
              <a:t>经过回代得解</a:t>
            </a:r>
            <a:r>
              <a:rPr kumimoji="1" lang="en-US" altLang="zh-CN" sz="1400">
                <a:latin typeface="宋体" pitchFamily="2" charset="-122"/>
                <a:ea typeface="黑体" pitchFamily="49" charset="-122"/>
              </a:rPr>
              <a:t>:</a:t>
            </a:r>
            <a:endParaRPr kumimoji="1" lang="zh-CN" altLang="en-US" sz="1400">
              <a:latin typeface="宋体" pitchFamily="2" charset="-122"/>
              <a:ea typeface="黑体" pitchFamily="49" charset="-122"/>
            </a:endParaRPr>
          </a:p>
        </p:txBody>
      </p:sp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6965950" y="2657475"/>
          <a:ext cx="747713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3" name="Equation" r:id="rId9" imgW="508000" imgH="1244600" progId="Equation.3">
                  <p:embed/>
                </p:oleObj>
              </mc:Choice>
              <mc:Fallback>
                <p:oleObj name="Equation" r:id="rId9" imgW="508000" imgH="1244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950" y="2657475"/>
                        <a:ext cx="747713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35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7" grpId="0" animBg="1"/>
      <p:bldP spid="2059" grpId="0"/>
      <p:bldP spid="10" grpId="0" animBg="1"/>
      <p:bldP spid="2061" grpId="0"/>
      <p:bldP spid="13" grpId="0" animBg="1"/>
      <p:bldP spid="20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00050" y="790575"/>
            <a:ext cx="4162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上述求解的消元过程可用矩阵表示为</a:t>
            </a:r>
            <a:r>
              <a:rPr kumimoji="1" lang="en-US" altLang="zh-CN" sz="1800">
                <a:latin typeface="宋体" pitchFamily="2" charset="-122"/>
              </a:rPr>
              <a:t>: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305050" y="1552575"/>
            <a:ext cx="152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宋体" pitchFamily="2" charset="-122"/>
                <a:ea typeface="黑体" pitchFamily="49" charset="-122"/>
              </a:rPr>
              <a:t>(</a:t>
            </a:r>
            <a:r>
              <a:rPr kumimoji="1" lang="en-US" altLang="zh-CN" sz="2000" b="1">
                <a:latin typeface="PMingLiU" pitchFamily="18" charset="-120"/>
                <a:ea typeface="PMingLiU" pitchFamily="18" charset="-120"/>
              </a:rPr>
              <a:t>A,b</a:t>
            </a:r>
            <a:r>
              <a:rPr kumimoji="1" lang="en-US" altLang="zh-CN" sz="2000">
                <a:latin typeface="宋体" pitchFamily="2" charset="-122"/>
                <a:ea typeface="黑体" pitchFamily="49" charset="-122"/>
              </a:rPr>
              <a:t>)=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3352800" y="1181100"/>
          <a:ext cx="20764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10" name="Equation" r:id="rId3" imgW="2578100" imgH="1409700" progId="Equation.3">
                  <p:embed/>
                </p:oleObj>
              </mc:Choice>
              <mc:Fallback>
                <p:oleObj name="Equation" r:id="rId3" imgW="25781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181100"/>
                        <a:ext cx="207645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1362075" y="2400300"/>
          <a:ext cx="271145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11" name="Equation" r:id="rId5" imgW="3213100" imgH="1409700" progId="Equation.3">
                  <p:embed/>
                </p:oleObj>
              </mc:Choice>
              <mc:Fallback>
                <p:oleObj name="Equation" r:id="rId5" imgW="32131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2400300"/>
                        <a:ext cx="2711450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4457700" y="2409825"/>
          <a:ext cx="25717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12" name="Equation" r:id="rId7" imgW="3213100" imgH="1460500" progId="Equation.3">
                  <p:embed/>
                </p:oleObj>
              </mc:Choice>
              <mc:Fallback>
                <p:oleObj name="Equation" r:id="rId7" imgW="32131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2409825"/>
                        <a:ext cx="2571750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47650" y="3829050"/>
            <a:ext cx="8315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这是</a:t>
            </a:r>
            <a:r>
              <a:rPr kumimoji="1" lang="en-US" altLang="zh-CN" sz="1800" b="1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消去法的计算形式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新的增广矩阵对应的线性方程组就是上三角形方程组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可进行回代求解。</a:t>
            </a:r>
          </a:p>
        </p:txBody>
      </p:sp>
    </p:spTree>
    <p:extLst>
      <p:ext uri="{BB962C8B-B14F-4D97-AF65-F5344CB8AC3E}">
        <p14:creationId xmlns:p14="http://schemas.microsoft.com/office/powerpoint/2010/main" val="183184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6" grpId="0" autoUpdateAnimBg="0"/>
      <p:bldP spid="1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924050" y="742950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现在介绍求解线性方程组</a:t>
            </a:r>
            <a:r>
              <a:rPr kumimoji="1" lang="en-US" altLang="zh-CN" sz="1800">
                <a:latin typeface="宋体" pitchFamily="2" charset="-122"/>
              </a:rPr>
              <a:t>(1)</a:t>
            </a:r>
            <a:r>
              <a:rPr kumimoji="1" lang="zh-CN" altLang="en-US" sz="1800">
                <a:latin typeface="宋体" pitchFamily="2" charset="-122"/>
              </a:rPr>
              <a:t>的顺序</a:t>
            </a:r>
            <a:r>
              <a:rPr kumimoji="1" lang="en-US" altLang="zh-CN" sz="1800" b="1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</a:t>
            </a:r>
            <a:r>
              <a:rPr kumimoji="1" lang="en-US" altLang="zh-CN" sz="1800">
                <a:latin typeface="宋体" pitchFamily="2" charset="-122"/>
              </a:rPr>
              <a:t>: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895475" y="1228725"/>
            <a:ext cx="687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记</a:t>
            </a:r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3073400" y="1262063"/>
          <a:ext cx="398938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0" name="Equation" r:id="rId3" imgW="4635500" imgH="482600" progId="Equation.3">
                  <p:embed/>
                </p:oleObj>
              </mc:Choice>
              <mc:Fallback>
                <p:oleObj name="Equation" r:id="rId3" imgW="4635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1262063"/>
                        <a:ext cx="3989388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981200" y="1828800"/>
            <a:ext cx="4152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则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线性方程组</a:t>
            </a:r>
            <a:r>
              <a:rPr kumimoji="1" lang="en-US" altLang="zh-CN" sz="1800">
                <a:latin typeface="宋体" pitchFamily="2" charset="-122"/>
              </a:rPr>
              <a:t>(1)</a:t>
            </a:r>
            <a:r>
              <a:rPr kumimoji="1" lang="zh-CN" altLang="en-US" sz="1800">
                <a:latin typeface="宋体" pitchFamily="2" charset="-122"/>
              </a:rPr>
              <a:t>的增广矩阵为</a:t>
            </a: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162175" y="2409825"/>
          <a:ext cx="4749800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1" name="Equation" r:id="rId5" imgW="6045200" imgH="2451100" progId="Equation.DSMT4">
                  <p:embed/>
                </p:oleObj>
              </mc:Choice>
              <mc:Fallback>
                <p:oleObj name="Equation" r:id="rId5" imgW="6045200" imgH="2451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2409825"/>
                        <a:ext cx="4749800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617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6" grpId="0" build="p" autoUpdateAnimBg="0"/>
      <p:bldP spid="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571625" y="752475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第一步</a:t>
            </a:r>
            <a:r>
              <a:rPr kumimoji="1" lang="en-US" altLang="zh-CN" sz="1800">
                <a:latin typeface="宋体" pitchFamily="2" charset="-122"/>
              </a:rPr>
              <a:t>.</a:t>
            </a:r>
            <a:r>
              <a:rPr kumimoji="1" lang="zh-CN" altLang="en-US" sz="1800">
                <a:latin typeface="宋体" pitchFamily="2" charset="-122"/>
              </a:rPr>
              <a:t>设        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依次用</a:t>
            </a:r>
            <a:endParaRPr kumimoji="1" lang="en-US" altLang="zh-CN" sz="1800">
              <a:latin typeface="宋体" pitchFamily="2" charset="-122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552575" y="1323975"/>
            <a:ext cx="5800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乘矩阵的第</a:t>
            </a:r>
            <a:r>
              <a:rPr kumimoji="1" lang="en-US" altLang="zh-CN" sz="1800">
                <a:latin typeface="宋体" pitchFamily="2" charset="-122"/>
              </a:rPr>
              <a:t>1</a:t>
            </a:r>
            <a:r>
              <a:rPr kumimoji="1" lang="zh-CN" altLang="en-US" sz="1800">
                <a:latin typeface="宋体" pitchFamily="2" charset="-122"/>
              </a:rPr>
              <a:t>行加到第</a:t>
            </a:r>
            <a:r>
              <a:rPr kumimoji="1" lang="en-US" altLang="zh-CN" sz="1800">
                <a:latin typeface="宋体" pitchFamily="2" charset="-122"/>
              </a:rPr>
              <a:t>i</a:t>
            </a:r>
            <a:r>
              <a:rPr kumimoji="1" lang="zh-CN" altLang="en-US" sz="1800">
                <a:latin typeface="宋体" pitchFamily="2" charset="-122"/>
              </a:rPr>
              <a:t>行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得到矩阵</a:t>
            </a:r>
            <a:r>
              <a:rPr kumimoji="1" lang="en-US" altLang="zh-CN" sz="1800">
                <a:latin typeface="宋体" pitchFamily="2" charset="-122"/>
              </a:rPr>
              <a:t>:</a:t>
            </a:r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2703513" y="768350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58" name="Equation" r:id="rId3" imgW="1002865" imgH="444307" progId="Equation.3">
                  <p:embed/>
                </p:oleObj>
              </mc:Choice>
              <mc:Fallback>
                <p:oleObj name="Equation" r:id="rId3" imgW="1002865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768350"/>
                        <a:ext cx="88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4860925" y="622300"/>
          <a:ext cx="260508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59" name="Equation" r:id="rId5" imgW="3860800" imgH="927100" progId="Equation.3">
                  <p:embed/>
                </p:oleObj>
              </mc:Choice>
              <mc:Fallback>
                <p:oleObj name="Equation" r:id="rId5" imgW="38608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622300"/>
                        <a:ext cx="2605088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1439863" y="1930400"/>
          <a:ext cx="5969000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0" name="Equation" r:id="rId7" imgW="6261100" imgH="2451100" progId="Equation.3">
                  <p:embed/>
                </p:oleObj>
              </mc:Choice>
              <mc:Fallback>
                <p:oleObj name="Equation" r:id="rId7" imgW="6261100" imgH="2451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1930400"/>
                        <a:ext cx="5969000" cy="233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214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581150" y="552450"/>
            <a:ext cx="781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其中</a:t>
            </a:r>
            <a:endParaRPr kumimoji="1" lang="en-US" altLang="zh-CN" sz="1800">
              <a:latin typeface="宋体" pitchFamily="2" charset="-122"/>
            </a:endParaRPr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2305050" y="857250"/>
          <a:ext cx="30099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90" name="Equation" r:id="rId3" imgW="4368800" imgH="482600" progId="Equation.3">
                  <p:embed/>
                </p:oleObj>
              </mc:Choice>
              <mc:Fallback>
                <p:oleObj name="Equation" r:id="rId3" imgW="43688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857250"/>
                        <a:ext cx="30099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2314575" y="1295400"/>
          <a:ext cx="277336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91" name="Equation" r:id="rId5" imgW="4025900" imgH="444500" progId="Equation.3">
                  <p:embed/>
                </p:oleObj>
              </mc:Choice>
              <mc:Fallback>
                <p:oleObj name="Equation" r:id="rId5" imgW="4025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1295400"/>
                        <a:ext cx="2773363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543050" y="1647825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第二步</a:t>
            </a:r>
            <a:r>
              <a:rPr kumimoji="1" lang="en-US" altLang="zh-CN" sz="1800">
                <a:latin typeface="宋体" pitchFamily="2" charset="-122"/>
              </a:rPr>
              <a:t>.</a:t>
            </a:r>
            <a:r>
              <a:rPr kumimoji="1" lang="zh-CN" altLang="en-US" sz="1800">
                <a:latin typeface="宋体" pitchFamily="2" charset="-122"/>
              </a:rPr>
              <a:t>设        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依次用</a:t>
            </a:r>
            <a:endParaRPr kumimoji="1" lang="en-US" altLang="zh-CN" sz="1800">
              <a:latin typeface="宋体" pitchFamily="2" charset="-122"/>
            </a:endParaRPr>
          </a:p>
        </p:txBody>
      </p:sp>
      <p:graphicFrame>
        <p:nvGraphicFramePr>
          <p:cNvPr id="32775" name="Object 7"/>
          <p:cNvGraphicFramePr>
            <a:graphicFrameLocks noChangeAspect="1"/>
          </p:cNvGraphicFramePr>
          <p:nvPr/>
        </p:nvGraphicFramePr>
        <p:xfrm>
          <a:off x="2714625" y="1695450"/>
          <a:ext cx="69215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92" name="Equation" r:id="rId7" imgW="1040948" imgH="444307" progId="Equation.3">
                  <p:embed/>
                </p:oleObj>
              </mc:Choice>
              <mc:Fallback>
                <p:oleObj name="Equation" r:id="rId7" imgW="1040948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1695450"/>
                        <a:ext cx="69215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/>
        </p:nvGraphicFramePr>
        <p:xfrm>
          <a:off x="4464050" y="1619250"/>
          <a:ext cx="24034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93" name="Equation" r:id="rId9" imgW="3937000" imgH="927100" progId="Equation.3">
                  <p:embed/>
                </p:oleObj>
              </mc:Choice>
              <mc:Fallback>
                <p:oleObj name="Equation" r:id="rId9" imgW="39370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1619250"/>
                        <a:ext cx="24034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095375" y="2209800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乘矩阵的第</a:t>
            </a:r>
            <a:r>
              <a:rPr kumimoji="1" lang="en-US" altLang="zh-CN" sz="1800">
                <a:latin typeface="宋体" pitchFamily="2" charset="-122"/>
              </a:rPr>
              <a:t>2</a:t>
            </a:r>
            <a:r>
              <a:rPr kumimoji="1" lang="zh-CN" altLang="en-US" sz="1800">
                <a:latin typeface="宋体" pitchFamily="2" charset="-122"/>
              </a:rPr>
              <a:t>行加到第</a:t>
            </a:r>
            <a:r>
              <a:rPr kumimoji="1" lang="en-US" altLang="zh-CN" sz="1800">
                <a:latin typeface="宋体" pitchFamily="2" charset="-122"/>
              </a:rPr>
              <a:t>i</a:t>
            </a:r>
            <a:r>
              <a:rPr kumimoji="1" lang="zh-CN" altLang="en-US" sz="1800">
                <a:latin typeface="宋体" pitchFamily="2" charset="-122"/>
              </a:rPr>
              <a:t>行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得到矩阵</a:t>
            </a:r>
            <a:r>
              <a:rPr kumimoji="1" lang="en-US" altLang="zh-CN" sz="1800">
                <a:latin typeface="宋体" pitchFamily="2" charset="-122"/>
              </a:rPr>
              <a:t>:</a:t>
            </a:r>
          </a:p>
        </p:txBody>
      </p:sp>
      <p:graphicFrame>
        <p:nvGraphicFramePr>
          <p:cNvPr id="32777" name="Object 9"/>
          <p:cNvGraphicFramePr>
            <a:graphicFrameLocks noChangeAspect="1"/>
          </p:cNvGraphicFramePr>
          <p:nvPr/>
        </p:nvGraphicFramePr>
        <p:xfrm>
          <a:off x="2035175" y="2819400"/>
          <a:ext cx="4298950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94" name="Equation" r:id="rId11" imgW="6210300" imgH="2451100" progId="Equation.3">
                  <p:embed/>
                </p:oleObj>
              </mc:Choice>
              <mc:Fallback>
                <p:oleObj name="Equation" r:id="rId11" imgW="6210300" imgH="2451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2819400"/>
                        <a:ext cx="4298950" cy="169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804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  <p:bldP spid="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581150" y="552450"/>
            <a:ext cx="781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其中</a:t>
            </a:r>
            <a:endParaRPr kumimoji="1" lang="en-US" altLang="zh-CN" sz="1800">
              <a:latin typeface="宋体" pitchFamily="2" charset="-122"/>
            </a:endParaRPr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2663825" y="790575"/>
          <a:ext cx="281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6" name="Equation" r:id="rId3" imgW="4470400" imgH="482600" progId="Equation.3">
                  <p:embed/>
                </p:oleObj>
              </mc:Choice>
              <mc:Fallback>
                <p:oleObj name="Equation" r:id="rId3" imgW="4470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790575"/>
                        <a:ext cx="281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2701925" y="1228725"/>
          <a:ext cx="26035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7" name="Equation" r:id="rId5" imgW="4127500" imgH="444500" progId="Equation.3">
                  <p:embed/>
                </p:oleObj>
              </mc:Choice>
              <mc:Fallback>
                <p:oleObj name="Equation" r:id="rId5" imgW="41275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925" y="1228725"/>
                        <a:ext cx="2603500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514475" y="1628775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如此继续消元下去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第</a:t>
            </a:r>
            <a:r>
              <a:rPr kumimoji="1" lang="en-US" altLang="zh-CN" sz="1800">
                <a:latin typeface="宋体" pitchFamily="2" charset="-122"/>
              </a:rPr>
              <a:t>n-1</a:t>
            </a:r>
            <a:r>
              <a:rPr kumimoji="1" lang="zh-CN" altLang="en-US" sz="1800">
                <a:latin typeface="宋体" pitchFamily="2" charset="-122"/>
              </a:rPr>
              <a:t>步结束后得到矩阵</a:t>
            </a:r>
            <a:r>
              <a:rPr kumimoji="1" lang="en-US" altLang="zh-CN" sz="1800">
                <a:latin typeface="宋体" pitchFamily="2" charset="-122"/>
              </a:rPr>
              <a:t>:</a:t>
            </a:r>
          </a:p>
        </p:txBody>
      </p:sp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1755775" y="2228850"/>
          <a:ext cx="4511675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8" name="Equation" r:id="rId7" imgW="6248400" imgH="2451100" progId="Equation.3">
                  <p:embed/>
                </p:oleObj>
              </mc:Choice>
              <mc:Fallback>
                <p:oleObj name="Equation" r:id="rId7" imgW="6248400" imgH="2451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2228850"/>
                        <a:ext cx="4511675" cy="177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447800" y="4181475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这就完成了消元程。对应的方程组变成：</a:t>
            </a:r>
          </a:p>
        </p:txBody>
      </p:sp>
    </p:spTree>
    <p:extLst>
      <p:ext uri="{BB962C8B-B14F-4D97-AF65-F5344CB8AC3E}">
        <p14:creationId xmlns:p14="http://schemas.microsoft.com/office/powerpoint/2010/main" val="152698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utoUpdateAnimBg="0"/>
      <p:bldP spid="15" grpId="0" autoUpdateAnimBg="0"/>
      <p:bldP spid="1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2705100" y="723900"/>
          <a:ext cx="3419475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6" name="Equation" r:id="rId3" imgW="4533900" imgH="1968500" progId="Equation.3">
                  <p:embed/>
                </p:oleObj>
              </mc:Choice>
              <mc:Fallback>
                <p:oleObj name="Equation" r:id="rId3" imgW="4533900" imgH="196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723900"/>
                        <a:ext cx="3419475" cy="148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800225" y="2343150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对此方程组进行回代，就可求出方程组的解。</a:t>
            </a:r>
          </a:p>
        </p:txBody>
      </p:sp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1466850" y="2895600"/>
          <a:ext cx="55499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7" name="Equation" r:id="rId5" imgW="6553200" imgH="1181100" progId="Equation.3">
                  <p:embed/>
                </p:oleObj>
              </mc:Choice>
              <mc:Fallback>
                <p:oleObj name="Equation" r:id="rId5" imgW="6553200" imgH="1181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2895600"/>
                        <a:ext cx="55499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371600" y="4133850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顺序</a:t>
            </a:r>
            <a:r>
              <a:rPr kumimoji="1" lang="en-US" altLang="zh-CN" sz="1800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消去法求解</a:t>
            </a:r>
            <a:r>
              <a:rPr kumimoji="1" lang="en-US" altLang="zh-CN" sz="1800">
                <a:latin typeface="宋体" pitchFamily="2" charset="-122"/>
              </a:rPr>
              <a:t>n</a:t>
            </a:r>
            <a:r>
              <a:rPr kumimoji="1" lang="zh-CN" altLang="en-US" sz="1800">
                <a:latin typeface="宋体" pitchFamily="2" charset="-122"/>
              </a:rPr>
              <a:t>元线性方程组的乘除运算量是</a:t>
            </a:r>
            <a:r>
              <a:rPr kumimoji="1" lang="zh-CN" altLang="en-US" sz="1800">
                <a:latin typeface="宋体" pitchFamily="2" charset="-122"/>
                <a:sym typeface="Wingdings" pitchFamily="2" charset="2"/>
              </a:rPr>
              <a:t>：</a:t>
            </a:r>
            <a:endParaRPr kumimoji="1" lang="zh-CN" altLang="en-US" sz="180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430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utoUpdateAnimBg="0"/>
      <p:bldP spid="1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552825" y="136525"/>
            <a:ext cx="2209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顺序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2128838" y="873125"/>
          <a:ext cx="4643437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0" name="Equation" r:id="rId3" imgW="3073400" imgH="1092200" progId="Equation.3">
                  <p:embed/>
                </p:oleObj>
              </mc:Choice>
              <mc:Fallback>
                <p:oleObj name="Equation" r:id="rId3" imgW="3073400" imgH="109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873125"/>
                        <a:ext cx="4643437" cy="164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343025" y="2657475"/>
            <a:ext cx="65341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n=20</a:t>
            </a:r>
            <a:r>
              <a:rPr kumimoji="1" lang="zh-CN" altLang="en-US" sz="1800">
                <a:latin typeface="宋体" pitchFamily="2" charset="-122"/>
              </a:rPr>
              <a:t>时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顺序</a:t>
            </a:r>
            <a:r>
              <a:rPr kumimoji="1" lang="en-US" altLang="zh-CN" sz="1800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消去法只需</a:t>
            </a:r>
            <a:r>
              <a:rPr kumimoji="1" lang="en-US" altLang="zh-CN" sz="1800">
                <a:latin typeface="宋体" pitchFamily="2" charset="-122"/>
              </a:rPr>
              <a:t>3060</a:t>
            </a:r>
            <a:r>
              <a:rPr kumimoji="1" lang="zh-CN" altLang="en-US" sz="1800">
                <a:latin typeface="宋体" pitchFamily="2" charset="-122"/>
              </a:rPr>
              <a:t>次乘除法运算（</a:t>
            </a:r>
            <a:r>
              <a:rPr kumimoji="1" lang="en-US" altLang="zh-CN" sz="1800">
                <a:latin typeface="宋体" pitchFamily="2" charset="-122"/>
              </a:rPr>
              <a:t>9.7*10</a:t>
            </a:r>
            <a:r>
              <a:rPr kumimoji="1" lang="en-US" altLang="zh-CN" sz="1800" baseline="30000">
                <a:latin typeface="宋体" pitchFamily="2" charset="-122"/>
              </a:rPr>
              <a:t>20</a:t>
            </a:r>
            <a:r>
              <a:rPr kumimoji="1" lang="zh-CN" altLang="en-US" sz="1800">
                <a:latin typeface="宋体" pitchFamily="2" charset="-122"/>
              </a:rPr>
              <a:t>）</a:t>
            </a:r>
            <a:endParaRPr kumimoji="1" lang="en-US" altLang="zh-CN" sz="1800">
              <a:latin typeface="宋体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顺序</a:t>
            </a:r>
            <a:r>
              <a:rPr kumimoji="1" lang="en-US" altLang="zh-CN" sz="1800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消去法通常也简称为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Gauss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消去法</a:t>
            </a:r>
            <a:r>
              <a:rPr kumimoji="1" lang="en-US" altLang="zh-CN" sz="1800" b="1">
                <a:latin typeface="宋体" pitchFamily="2" charset="-122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顺序</a:t>
            </a:r>
            <a:r>
              <a:rPr kumimoji="1" lang="en-US" altLang="zh-CN" sz="1800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消去法中的                称为</a:t>
            </a:r>
            <a:r>
              <a:rPr kumimoji="1" lang="zh-CN" altLang="en-US" sz="1800" b="1">
                <a:latin typeface="宋体" pitchFamily="2" charset="-122"/>
              </a:rPr>
              <a:t>主元素</a:t>
            </a:r>
            <a:r>
              <a:rPr kumimoji="1" lang="en-US" altLang="zh-CN" sz="1800" b="1">
                <a:latin typeface="宋体" pitchFamily="2" charset="-122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主元素都不为零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矩阵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A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的各阶顺序主子式都不为零</a:t>
            </a:r>
            <a:r>
              <a:rPr kumimoji="1" lang="en-US" altLang="zh-CN" sz="180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.</a:t>
            </a:r>
            <a:endParaRPr kumimoji="1" lang="en-US" altLang="zh-CN" sz="1800" b="1">
              <a:latin typeface="宋体" pitchFamily="2" charset="-122"/>
            </a:endParaRP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3663950" y="3486150"/>
          <a:ext cx="171767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1" name="Equation" r:id="rId5" imgW="2260600" imgH="444500" progId="Equation.3">
                  <p:embed/>
                </p:oleObj>
              </mc:Choice>
              <mc:Fallback>
                <p:oleObj name="Equation" r:id="rId5" imgW="22606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3486150"/>
                        <a:ext cx="171767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4912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列主元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924050" y="742950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solidFill>
                  <a:schemeClr val="accent2"/>
                </a:solidFill>
              </a:rPr>
              <a:t>例</a:t>
            </a:r>
            <a:r>
              <a:rPr lang="en-US" altLang="zh-CN" sz="1800" b="1">
                <a:solidFill>
                  <a:schemeClr val="accent2"/>
                </a:solidFill>
              </a:rPr>
              <a:t>1</a:t>
            </a:r>
            <a:r>
              <a:rPr lang="en-US" altLang="zh-CN" sz="1800">
                <a:solidFill>
                  <a:schemeClr val="accent2"/>
                </a:solidFill>
              </a:rPr>
              <a:t>   </a:t>
            </a:r>
            <a:r>
              <a:rPr lang="zh-CN" altLang="en-US" sz="1800">
                <a:solidFill>
                  <a:schemeClr val="accent2"/>
                </a:solidFill>
              </a:rPr>
              <a:t>解线性方程组</a:t>
            </a:r>
            <a:r>
              <a:rPr kumimoji="1" lang="en-US" altLang="zh-CN" sz="1800">
                <a:solidFill>
                  <a:schemeClr val="accent2"/>
                </a:solidFill>
              </a:rPr>
              <a:t>(</a:t>
            </a:r>
            <a:r>
              <a:rPr kumimoji="1" lang="zh-CN" altLang="en-US" sz="1800">
                <a:solidFill>
                  <a:schemeClr val="accent2"/>
                </a:solidFill>
              </a:rPr>
              <a:t>用十进制四位浮点计算</a:t>
            </a:r>
            <a:r>
              <a:rPr kumimoji="1" lang="en-US" altLang="zh-CN" sz="1800">
                <a:solidFill>
                  <a:schemeClr val="accent2"/>
                </a:solidFill>
              </a:rPr>
              <a:t>):</a:t>
            </a:r>
            <a:endParaRPr kumimoji="1" lang="en-US" altLang="zh-CN" sz="1800">
              <a:latin typeface="宋体" pitchFamily="2" charset="-122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619250" y="1943100"/>
            <a:ext cx="5810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(</a:t>
            </a:r>
            <a:r>
              <a:rPr kumimoji="1" lang="zh-CN" altLang="en-US" sz="1800">
                <a:latin typeface="宋体" pitchFamily="2" charset="-122"/>
              </a:rPr>
              <a:t>用</a:t>
            </a:r>
            <a:r>
              <a:rPr kumimoji="1" lang="en-US" altLang="zh-CN" sz="1800">
                <a:latin typeface="宋体" pitchFamily="2" charset="-122"/>
              </a:rPr>
              <a:t>Cramer</a:t>
            </a:r>
            <a:r>
              <a:rPr kumimoji="1" lang="zh-CN" altLang="en-US" sz="1800">
                <a:latin typeface="宋体" pitchFamily="2" charset="-122"/>
              </a:rPr>
              <a:t>法则可得精确解</a:t>
            </a:r>
            <a:r>
              <a:rPr kumimoji="1" lang="en-US" altLang="zh-CN" sz="1800">
                <a:latin typeface="宋体" pitchFamily="2" charset="-122"/>
              </a:rPr>
              <a:t>x</a:t>
            </a:r>
            <a:r>
              <a:rPr kumimoji="1" lang="en-US" altLang="zh-CN" sz="1800" baseline="-25000">
                <a:latin typeface="宋体" pitchFamily="2" charset="-122"/>
              </a:rPr>
              <a:t>1</a:t>
            </a:r>
            <a:r>
              <a:rPr kumimoji="1" lang="en-US" altLang="zh-CN" sz="1800" baseline="30000">
                <a:latin typeface="宋体" pitchFamily="2" charset="-122"/>
              </a:rPr>
              <a:t>*</a:t>
            </a:r>
            <a:r>
              <a:rPr kumimoji="1" lang="en-US" altLang="zh-CN" sz="1800">
                <a:latin typeface="宋体" pitchFamily="2" charset="-122"/>
              </a:rPr>
              <a:t>=1.00010 ,x</a:t>
            </a:r>
            <a:r>
              <a:rPr kumimoji="1" lang="en-US" altLang="zh-CN" sz="1800" baseline="-25000">
                <a:latin typeface="宋体" pitchFamily="2" charset="-122"/>
              </a:rPr>
              <a:t>2</a:t>
            </a:r>
            <a:r>
              <a:rPr kumimoji="1" lang="en-US" altLang="zh-CN" sz="1800" baseline="30000">
                <a:latin typeface="宋体" pitchFamily="2" charset="-122"/>
              </a:rPr>
              <a:t>*</a:t>
            </a:r>
            <a:r>
              <a:rPr kumimoji="1" lang="en-US" altLang="zh-CN" sz="1800">
                <a:latin typeface="宋体" pitchFamily="2" charset="-122"/>
              </a:rPr>
              <a:t>=0.99990)</a:t>
            </a:r>
            <a:endParaRPr kumimoji="1" lang="zh-CN" altLang="en-US" sz="1800">
              <a:latin typeface="宋体" pitchFamily="2" charset="-122"/>
            </a:endParaRPr>
          </a:p>
        </p:txBody>
      </p:sp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2762250" y="1171575"/>
          <a:ext cx="29622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4" name="Equation" r:id="rId3" imgW="3752957" imgH="838080" progId="Equation.3">
                  <p:embed/>
                </p:oleObj>
              </mc:Choice>
              <mc:Fallback>
                <p:oleObj name="Equation" r:id="rId3" imgW="3752957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1171575"/>
                        <a:ext cx="2962275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619250" y="2352675"/>
            <a:ext cx="5810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latin typeface="宋体" pitchFamily="2" charset="-122"/>
              </a:rPr>
              <a:t>解</a:t>
            </a:r>
            <a:r>
              <a:rPr kumimoji="1" lang="zh-CN" altLang="en-US" sz="1800">
                <a:latin typeface="宋体" pitchFamily="2" charset="-122"/>
              </a:rPr>
              <a:t>  用顺序</a:t>
            </a:r>
            <a:r>
              <a:rPr kumimoji="1" lang="en-US" altLang="zh-CN" sz="1800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</a:t>
            </a:r>
            <a:r>
              <a:rPr kumimoji="1" lang="en-US" altLang="zh-CN" sz="1800">
                <a:latin typeface="宋体" pitchFamily="2" charset="-122"/>
              </a:rPr>
              <a:t>, </a:t>
            </a:r>
            <a:r>
              <a:rPr kumimoji="1" lang="zh-CN" altLang="en-US" sz="1800">
                <a:latin typeface="宋体" pitchFamily="2" charset="-122"/>
              </a:rPr>
              <a:t>消元得</a:t>
            </a:r>
          </a:p>
        </p:txBody>
      </p:sp>
      <p:graphicFrame>
        <p:nvGraphicFramePr>
          <p:cNvPr id="1035" name="Object 11"/>
          <p:cNvGraphicFramePr>
            <a:graphicFrameLocks noChangeAspect="1"/>
          </p:cNvGraphicFramePr>
          <p:nvPr/>
        </p:nvGraphicFramePr>
        <p:xfrm>
          <a:off x="2697163" y="2773363"/>
          <a:ext cx="318452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5" name="公式" r:id="rId5" imgW="1739900" imgH="482600" progId="Equation.3">
                  <p:embed/>
                </p:oleObj>
              </mc:Choice>
              <mc:Fallback>
                <p:oleObj name="公式" r:id="rId5" imgW="1739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2773363"/>
                        <a:ext cx="3184525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581275" y="3848100"/>
            <a:ext cx="373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回代得解</a:t>
            </a:r>
            <a:r>
              <a:rPr kumimoji="1" lang="en-US" altLang="zh-CN" sz="1800">
                <a:latin typeface="宋体" pitchFamily="2" charset="-122"/>
              </a:rPr>
              <a:t>:x</a:t>
            </a:r>
            <a:r>
              <a:rPr kumimoji="1" lang="en-US" altLang="zh-CN" sz="1800" baseline="-25000">
                <a:latin typeface="宋体" pitchFamily="2" charset="-122"/>
              </a:rPr>
              <a:t>2</a:t>
            </a:r>
            <a:r>
              <a:rPr kumimoji="1" lang="en-US" altLang="zh-CN" sz="1800">
                <a:latin typeface="宋体" pitchFamily="2" charset="-122"/>
              </a:rPr>
              <a:t>=1.00 ,x</a:t>
            </a:r>
            <a:r>
              <a:rPr kumimoji="1" lang="en-US" altLang="zh-CN" sz="1800" baseline="-25000">
                <a:latin typeface="宋体" pitchFamily="2" charset="-122"/>
              </a:rPr>
              <a:t>1</a:t>
            </a:r>
            <a:r>
              <a:rPr kumimoji="1" lang="en-US" altLang="zh-CN" sz="1800">
                <a:latin typeface="宋体" pitchFamily="2" charset="-122"/>
              </a:rPr>
              <a:t>=0.00</a:t>
            </a:r>
          </a:p>
        </p:txBody>
      </p:sp>
    </p:spTree>
    <p:extLst>
      <p:ext uri="{BB962C8B-B14F-4D97-AF65-F5344CB8AC3E}">
        <p14:creationId xmlns:p14="http://schemas.microsoft.com/office/powerpoint/2010/main" val="322915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8" grpId="0" autoUpdateAnimBg="0"/>
      <p:bldP spid="11" grpId="0" autoUpdateAnimBg="0"/>
      <p:bldP spid="1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343275" y="136525"/>
            <a:ext cx="25527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列主元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571625" y="752475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若将方程组改写成</a:t>
            </a:r>
            <a:r>
              <a:rPr kumimoji="1" lang="en-US" altLang="zh-CN" sz="1800">
                <a:latin typeface="宋体" pitchFamily="2" charset="-122"/>
              </a:rPr>
              <a:t>:</a:t>
            </a:r>
          </a:p>
        </p:txBody>
      </p:sp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2476500" y="1187450"/>
          <a:ext cx="29337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8" name="Equation" r:id="rId3" imgW="3835400" imgH="927100" progId="Equation.3">
                  <p:embed/>
                </p:oleObj>
              </mc:Choice>
              <mc:Fallback>
                <p:oleObj name="Equation" r:id="rId3" imgW="38354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1187450"/>
                        <a:ext cx="29337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571625" y="1962150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用顺序</a:t>
            </a:r>
            <a:r>
              <a:rPr kumimoji="1" lang="en-US" altLang="zh-CN" sz="1800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</a:t>
            </a:r>
            <a:r>
              <a:rPr kumimoji="1" lang="en-US" altLang="zh-CN" sz="1800">
                <a:latin typeface="宋体" pitchFamily="2" charset="-122"/>
              </a:rPr>
              <a:t>, </a:t>
            </a:r>
            <a:r>
              <a:rPr kumimoji="1" lang="zh-CN" altLang="en-US" sz="1800">
                <a:latin typeface="宋体" pitchFamily="2" charset="-122"/>
              </a:rPr>
              <a:t>消元得</a:t>
            </a:r>
          </a:p>
        </p:txBody>
      </p:sp>
      <p:graphicFrame>
        <p:nvGraphicFramePr>
          <p:cNvPr id="2059" name="Object 11"/>
          <p:cNvGraphicFramePr>
            <a:graphicFrameLocks noChangeAspect="1"/>
          </p:cNvGraphicFramePr>
          <p:nvPr/>
        </p:nvGraphicFramePr>
        <p:xfrm>
          <a:off x="2486025" y="2466975"/>
          <a:ext cx="24765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9" name="Equation" r:id="rId5" imgW="3175000" imgH="927100" progId="Equation.3">
                  <p:embed/>
                </p:oleObj>
              </mc:Choice>
              <mc:Fallback>
                <p:oleObj name="Equation" r:id="rId5" imgW="31750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2466975"/>
                        <a:ext cx="24765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143125" y="3267075"/>
            <a:ext cx="373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回代得解</a:t>
            </a:r>
            <a:r>
              <a:rPr kumimoji="1" lang="en-US" altLang="zh-CN" sz="1800">
                <a:latin typeface="宋体" pitchFamily="2" charset="-122"/>
              </a:rPr>
              <a:t>:x</a:t>
            </a:r>
            <a:r>
              <a:rPr kumimoji="1" lang="en-US" altLang="zh-CN" sz="1800" baseline="-25000">
                <a:latin typeface="宋体" pitchFamily="2" charset="-122"/>
              </a:rPr>
              <a:t>2</a:t>
            </a:r>
            <a:r>
              <a:rPr kumimoji="1" lang="en-US" altLang="zh-CN" sz="1800">
                <a:latin typeface="宋体" pitchFamily="2" charset="-122"/>
              </a:rPr>
              <a:t>=1.00 ,x</a:t>
            </a:r>
            <a:r>
              <a:rPr kumimoji="1" lang="en-US" altLang="zh-CN" sz="1800" baseline="-25000">
                <a:latin typeface="宋体" pitchFamily="2" charset="-122"/>
              </a:rPr>
              <a:t>1</a:t>
            </a:r>
            <a:r>
              <a:rPr kumimoji="1" lang="en-US" altLang="zh-CN" sz="1800">
                <a:latin typeface="宋体" pitchFamily="2" charset="-122"/>
              </a:rPr>
              <a:t>=1.00</a:t>
            </a:r>
          </a:p>
        </p:txBody>
      </p:sp>
      <p:sp>
        <p:nvSpPr>
          <p:cNvPr id="15" name="椭圆 14"/>
          <p:cNvSpPr/>
          <p:nvPr/>
        </p:nvSpPr>
        <p:spPr>
          <a:xfrm>
            <a:off x="5229225" y="2219325"/>
            <a:ext cx="3305175" cy="2009775"/>
          </a:xfrm>
          <a:prstGeom prst="ellipse">
            <a:avLst/>
          </a:prstGeom>
          <a:solidFill>
            <a:srgbClr val="FF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b="1" dirty="0">
              <a:solidFill>
                <a:srgbClr val="00B05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" name="TextBox 15"/>
          <p:cNvSpPr txBox="1">
            <a:spLocks noChangeArrowheads="1"/>
          </p:cNvSpPr>
          <p:nvPr/>
        </p:nvSpPr>
        <p:spPr bwMode="auto">
          <a:xfrm>
            <a:off x="5772150" y="2628900"/>
            <a:ext cx="219075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1400">
                <a:latin typeface="宋体" pitchFamily="2" charset="-122"/>
              </a:rPr>
              <a:t>为了提高计算的数值稳定性</a:t>
            </a:r>
            <a:r>
              <a:rPr kumimoji="1" lang="en-US" altLang="zh-CN" sz="1400">
                <a:latin typeface="宋体" pitchFamily="2" charset="-122"/>
              </a:rPr>
              <a:t>,</a:t>
            </a:r>
            <a:r>
              <a:rPr kumimoji="1" lang="zh-CN" altLang="en-US" sz="1400">
                <a:latin typeface="宋体" pitchFamily="2" charset="-122"/>
              </a:rPr>
              <a:t>在消元过程中采用选择主元的方法</a:t>
            </a:r>
            <a:r>
              <a:rPr kumimoji="1" lang="en-US" altLang="zh-CN" sz="1400">
                <a:latin typeface="宋体" pitchFamily="2" charset="-122"/>
              </a:rPr>
              <a:t>.</a:t>
            </a:r>
            <a:r>
              <a:rPr kumimoji="1" lang="zh-CN" altLang="en-US" sz="1400">
                <a:latin typeface="宋体" pitchFamily="2" charset="-122"/>
              </a:rPr>
              <a:t>常采用的是</a:t>
            </a:r>
            <a:r>
              <a:rPr kumimoji="1" lang="zh-CN" altLang="en-US" sz="1400" b="1">
                <a:solidFill>
                  <a:srgbClr val="FF0000"/>
                </a:solidFill>
                <a:latin typeface="宋体" pitchFamily="2" charset="-122"/>
              </a:rPr>
              <a:t>列主元消去法</a:t>
            </a:r>
            <a:r>
              <a:rPr kumimoji="1" lang="zh-CN" altLang="en-US" sz="1400" b="1">
                <a:latin typeface="宋体" pitchFamily="2" charset="-122"/>
              </a:rPr>
              <a:t>和</a:t>
            </a:r>
            <a:r>
              <a:rPr kumimoji="1" lang="zh-CN" altLang="en-US" sz="1400" b="1">
                <a:solidFill>
                  <a:srgbClr val="FF0000"/>
                </a:solidFill>
                <a:latin typeface="宋体" pitchFamily="2" charset="-122"/>
              </a:rPr>
              <a:t>全主元消去法</a:t>
            </a:r>
            <a:r>
              <a:rPr kumimoji="1" lang="en-US" altLang="zh-CN" sz="1400" b="1">
                <a:latin typeface="宋体" pitchFamily="2" charset="-122"/>
              </a:rPr>
              <a:t>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94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11" grpId="0" autoUpdateAnimBg="0"/>
      <p:bldP spid="13" grpId="0" autoUpdateAnimBg="0"/>
      <p:bldP spid="15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352800" y="136525"/>
            <a:ext cx="25336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列主元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266825" y="552450"/>
            <a:ext cx="7143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    给定线性方程组</a:t>
            </a:r>
            <a:r>
              <a:rPr kumimoji="1" lang="en-US" altLang="zh-CN" sz="1800" b="1">
                <a:latin typeface="宋体" pitchFamily="2" charset="-122"/>
              </a:rPr>
              <a:t>Ax</a:t>
            </a:r>
            <a:r>
              <a:rPr kumimoji="1" lang="en-US" altLang="zh-CN" sz="1800">
                <a:latin typeface="宋体" pitchFamily="2" charset="-122"/>
              </a:rPr>
              <a:t>=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>
                <a:latin typeface="宋体" pitchFamily="2" charset="-122"/>
              </a:rPr>
              <a:t>, </a:t>
            </a:r>
            <a:r>
              <a:rPr kumimoji="1" lang="zh-CN" altLang="en-US" sz="1800">
                <a:latin typeface="宋体" pitchFamily="2" charset="-122"/>
              </a:rPr>
              <a:t>记</a:t>
            </a:r>
            <a:r>
              <a:rPr kumimoji="1" lang="en-US" altLang="zh-CN" sz="1800" b="1">
                <a:latin typeface="宋体" pitchFamily="2" charset="-122"/>
              </a:rPr>
              <a:t>A</a:t>
            </a:r>
            <a:r>
              <a:rPr kumimoji="1" lang="en-US" altLang="zh-CN" sz="1800" baseline="30000">
                <a:latin typeface="宋体" pitchFamily="2" charset="-122"/>
              </a:rPr>
              <a:t>(1)</a:t>
            </a:r>
            <a:r>
              <a:rPr kumimoji="1" lang="en-US" altLang="zh-CN" sz="1800">
                <a:latin typeface="宋体" pitchFamily="2" charset="-122"/>
              </a:rPr>
              <a:t>=</a:t>
            </a:r>
            <a:r>
              <a:rPr kumimoji="1" lang="en-US" altLang="zh-CN" sz="1800" b="1">
                <a:latin typeface="宋体" pitchFamily="2" charset="-122"/>
              </a:rPr>
              <a:t>A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 baseline="30000">
                <a:latin typeface="宋体" pitchFamily="2" charset="-122"/>
              </a:rPr>
              <a:t>(1)</a:t>
            </a:r>
            <a:r>
              <a:rPr kumimoji="1" lang="en-US" altLang="zh-CN" sz="1800">
                <a:latin typeface="宋体" pitchFamily="2" charset="-122"/>
              </a:rPr>
              <a:t>=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列主元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Gauss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消去法</a:t>
            </a:r>
            <a:r>
              <a:rPr kumimoji="1" lang="zh-CN" altLang="en-US" sz="1800">
                <a:latin typeface="宋体" pitchFamily="2" charset="-122"/>
              </a:rPr>
              <a:t>的具体过程如下</a:t>
            </a:r>
            <a:r>
              <a:rPr kumimoji="1" lang="en-US" altLang="zh-CN" sz="1800">
                <a:latin typeface="宋体" pitchFamily="2" charset="-122"/>
              </a:rPr>
              <a:t>:</a:t>
            </a: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638300" y="1152525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首先在增广矩阵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 baseline="30000">
                <a:latin typeface="宋体" pitchFamily="2" charset="-122"/>
              </a:rPr>
              <a:t>(1)</a:t>
            </a:r>
            <a:r>
              <a:rPr kumimoji="1" lang="en-US" altLang="zh-CN" sz="1800">
                <a:latin typeface="宋体" pitchFamily="2" charset="-122"/>
              </a:rPr>
              <a:t>=(</a:t>
            </a:r>
            <a:r>
              <a:rPr kumimoji="1" lang="en-US" altLang="zh-CN" sz="1800" b="1">
                <a:latin typeface="宋体" pitchFamily="2" charset="-122"/>
              </a:rPr>
              <a:t>A</a:t>
            </a:r>
            <a:r>
              <a:rPr kumimoji="1" lang="en-US" altLang="zh-CN" sz="1800" baseline="30000">
                <a:latin typeface="宋体" pitchFamily="2" charset="-122"/>
              </a:rPr>
              <a:t>(1)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 baseline="30000">
                <a:latin typeface="宋体" pitchFamily="2" charset="-122"/>
              </a:rPr>
              <a:t>(1)</a:t>
            </a:r>
            <a:r>
              <a:rPr kumimoji="1" lang="en-US" altLang="zh-CN" sz="1800">
                <a:latin typeface="宋体" pitchFamily="2" charset="-122"/>
              </a:rPr>
              <a:t>)</a:t>
            </a:r>
            <a:r>
              <a:rPr kumimoji="1" lang="zh-CN" altLang="en-US" sz="1800">
                <a:latin typeface="宋体" pitchFamily="2" charset="-122"/>
              </a:rPr>
              <a:t>的第一列元素中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取</a:t>
            </a:r>
            <a:endParaRPr kumimoji="1" lang="en-US" altLang="zh-CN" sz="1800">
              <a:latin typeface="宋体" pitchFamily="2" charset="-122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524000" y="2181225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</a:t>
            </a:r>
            <a:r>
              <a:rPr kumimoji="1" lang="zh-CN" altLang="en-US" sz="1800">
                <a:latin typeface="宋体" pitchFamily="2" charset="-122"/>
              </a:rPr>
              <a:t>再在矩阵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 baseline="30000">
                <a:latin typeface="宋体" pitchFamily="2" charset="-122"/>
              </a:rPr>
              <a:t>(2)</a:t>
            </a:r>
            <a:r>
              <a:rPr kumimoji="1" lang="en-US" altLang="zh-CN" sz="1800">
                <a:latin typeface="宋体" pitchFamily="2" charset="-122"/>
              </a:rPr>
              <a:t>=(</a:t>
            </a:r>
            <a:r>
              <a:rPr kumimoji="1" lang="en-US" altLang="zh-CN" sz="1800" b="1">
                <a:latin typeface="宋体" pitchFamily="2" charset="-122"/>
              </a:rPr>
              <a:t>A</a:t>
            </a:r>
            <a:r>
              <a:rPr kumimoji="1" lang="en-US" altLang="zh-CN" sz="1800" baseline="30000">
                <a:latin typeface="宋体" pitchFamily="2" charset="-122"/>
              </a:rPr>
              <a:t>(2)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 baseline="30000">
                <a:latin typeface="宋体" pitchFamily="2" charset="-122"/>
              </a:rPr>
              <a:t>(2)</a:t>
            </a:r>
            <a:r>
              <a:rPr kumimoji="1" lang="en-US" altLang="zh-CN" sz="1800">
                <a:latin typeface="宋体" pitchFamily="2" charset="-122"/>
              </a:rPr>
              <a:t>)</a:t>
            </a:r>
            <a:r>
              <a:rPr kumimoji="1" lang="zh-CN" altLang="en-US" sz="1800">
                <a:latin typeface="宋体" pitchFamily="2" charset="-122"/>
              </a:rPr>
              <a:t>的第二列元素中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取  </a:t>
            </a:r>
            <a:endParaRPr kumimoji="1" lang="en-US" altLang="zh-CN" sz="1800">
              <a:latin typeface="宋体" pitchFamily="2" charset="-122"/>
            </a:endParaRPr>
          </a:p>
        </p:txBody>
      </p:sp>
      <p:graphicFrame>
        <p:nvGraphicFramePr>
          <p:cNvPr id="3085" name="Object 13"/>
          <p:cNvGraphicFramePr>
            <a:graphicFrameLocks noChangeAspect="1"/>
          </p:cNvGraphicFramePr>
          <p:nvPr/>
        </p:nvGraphicFramePr>
        <p:xfrm>
          <a:off x="2219325" y="1635125"/>
          <a:ext cx="33131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2" name="Equation" r:id="rId3" imgW="4800600" imgH="584200" progId="Equation.3">
                  <p:embed/>
                </p:oleObj>
              </mc:Choice>
              <mc:Fallback>
                <p:oleObj name="Equation" r:id="rId3" imgW="48006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1635125"/>
                        <a:ext cx="33131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15"/>
          <p:cNvGraphicFramePr>
            <a:graphicFrameLocks noChangeAspect="1"/>
          </p:cNvGraphicFramePr>
          <p:nvPr/>
        </p:nvGraphicFramePr>
        <p:xfrm>
          <a:off x="2178050" y="2657475"/>
          <a:ext cx="35988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3" name="Equation" r:id="rId5" imgW="5016500" imgH="584200" progId="Equation.3">
                  <p:embed/>
                </p:oleObj>
              </mc:Choice>
              <mc:Fallback>
                <p:oleObj name="Equation" r:id="rId5" imgW="50165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2657475"/>
                        <a:ext cx="35988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266825" y="3238500"/>
            <a:ext cx="59912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按此方法继续进行下去</a:t>
            </a:r>
            <a:r>
              <a:rPr kumimoji="1" lang="en-US" altLang="zh-CN" sz="1800">
                <a:latin typeface="宋体" pitchFamily="2" charset="-122"/>
              </a:rPr>
              <a:t>, </a:t>
            </a:r>
            <a:r>
              <a:rPr kumimoji="1" lang="zh-CN" altLang="en-US" sz="1800">
                <a:latin typeface="宋体" pitchFamily="2" charset="-122"/>
              </a:rPr>
              <a:t>经过</a:t>
            </a:r>
            <a:r>
              <a:rPr kumimoji="1" lang="en-US" altLang="zh-CN" sz="1800">
                <a:latin typeface="宋体" pitchFamily="2" charset="-122"/>
              </a:rPr>
              <a:t>n-1</a:t>
            </a:r>
            <a:r>
              <a:rPr kumimoji="1" lang="zh-CN" altLang="en-US" sz="1800">
                <a:latin typeface="宋体" pitchFamily="2" charset="-122"/>
              </a:rPr>
              <a:t>步选主元和消元运算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得到增广矩阵</a:t>
            </a:r>
            <a:r>
              <a:rPr kumimoji="1" lang="en-US" altLang="zh-CN" sz="1800" b="1">
                <a:latin typeface="Times New Roman" pitchFamily="18" charset="0"/>
              </a:rPr>
              <a:t>B</a:t>
            </a:r>
            <a:r>
              <a:rPr kumimoji="1" lang="en-US" altLang="zh-CN" sz="1800" baseline="30000">
                <a:latin typeface="Times New Roman" pitchFamily="18" charset="0"/>
              </a:rPr>
              <a:t>(n)</a:t>
            </a:r>
            <a:r>
              <a:rPr kumimoji="1" lang="en-US" altLang="zh-CN" sz="1800">
                <a:latin typeface="Times New Roman" pitchFamily="18" charset="0"/>
              </a:rPr>
              <a:t>=(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(n)</a:t>
            </a:r>
            <a:r>
              <a:rPr kumimoji="1" lang="en-US" altLang="zh-CN" sz="1800">
                <a:latin typeface="Times New Roman" pitchFamily="18" charset="0"/>
              </a:rPr>
              <a:t>,</a:t>
            </a:r>
            <a:r>
              <a:rPr kumimoji="1" lang="en-US" altLang="zh-CN" sz="1800" b="1">
                <a:latin typeface="Times New Roman" pitchFamily="18" charset="0"/>
              </a:rPr>
              <a:t>b</a:t>
            </a:r>
            <a:r>
              <a:rPr kumimoji="1" lang="en-US" altLang="zh-CN" sz="1800" baseline="30000">
                <a:latin typeface="Times New Roman" pitchFamily="18" charset="0"/>
              </a:rPr>
              <a:t>(n)</a:t>
            </a:r>
            <a:r>
              <a:rPr kumimoji="1" lang="en-US" altLang="zh-CN" sz="1800">
                <a:latin typeface="Times New Roman" pitchFamily="18" charset="0"/>
              </a:rPr>
              <a:t>)</a:t>
            </a:r>
            <a:r>
              <a:rPr kumimoji="1" lang="en-US" altLang="zh-CN" sz="1800">
                <a:latin typeface="宋体" pitchFamily="2" charset="-122"/>
              </a:rPr>
              <a:t>.</a:t>
            </a:r>
            <a:r>
              <a:rPr kumimoji="1" lang="zh-CN" altLang="en-US" sz="1800">
                <a:latin typeface="宋体" pitchFamily="2" charset="-122"/>
              </a:rPr>
              <a:t>则方程组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(n)</a:t>
            </a:r>
            <a:r>
              <a:rPr kumimoji="1" lang="en-US" altLang="zh-CN" sz="1800" b="1">
                <a:latin typeface="Times New Roman" pitchFamily="18" charset="0"/>
              </a:rPr>
              <a:t>x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b</a:t>
            </a:r>
            <a:r>
              <a:rPr kumimoji="1" lang="en-US" altLang="zh-CN" sz="1800" baseline="30000">
                <a:latin typeface="Times New Roman" pitchFamily="18" charset="0"/>
              </a:rPr>
              <a:t>(n)</a:t>
            </a:r>
            <a:r>
              <a:rPr kumimoji="1" lang="zh-CN" altLang="en-US" sz="1800">
                <a:latin typeface="宋体" pitchFamily="2" charset="-122"/>
              </a:rPr>
              <a:t>是与原方程组等价的上三角形方程组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可进行回代求解</a:t>
            </a:r>
            <a:r>
              <a:rPr kumimoji="1" lang="en-US" altLang="zh-CN" sz="1800">
                <a:latin typeface="宋体" pitchFamily="2" charset="-122"/>
              </a:rPr>
              <a:t>. 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247775" y="4248150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易证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只要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|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|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0,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列主元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Gauss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消去法就可顺利进行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824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12" grpId="0" autoUpdateAnimBg="0"/>
      <p:bldP spid="15" grpId="0" autoUpdateAnimBg="0"/>
      <p:bldP spid="16" grpId="0" autoUpdateAnimBg="0"/>
      <p:bldP spid="1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571625" y="723900"/>
            <a:ext cx="6610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chemeClr val="accent2"/>
                </a:solidFill>
                <a:latin typeface="宋体" pitchFamily="2" charset="-122"/>
              </a:rPr>
              <a:t>例</a:t>
            </a:r>
            <a:r>
              <a:rPr kumimoji="1" lang="en-US" altLang="zh-CN" sz="1800" b="1">
                <a:solidFill>
                  <a:schemeClr val="accent2"/>
                </a:solidFill>
                <a:latin typeface="宋体" pitchFamily="2" charset="-122"/>
              </a:rPr>
              <a:t>2. </a:t>
            </a:r>
            <a:r>
              <a:rPr kumimoji="1" lang="zh-CN" altLang="en-US" sz="1800">
                <a:solidFill>
                  <a:schemeClr val="accent2"/>
                </a:solidFill>
                <a:latin typeface="宋体" pitchFamily="2" charset="-122"/>
              </a:rPr>
              <a:t>采用十进制四位浮点计算</a:t>
            </a:r>
            <a:r>
              <a:rPr kumimoji="1" lang="en-US" altLang="zh-CN" sz="1800">
                <a:solidFill>
                  <a:schemeClr val="accent2"/>
                </a:solidFill>
                <a:latin typeface="宋体" pitchFamily="2" charset="-122"/>
              </a:rPr>
              <a:t>,</a:t>
            </a:r>
            <a:r>
              <a:rPr kumimoji="1" lang="zh-CN" altLang="en-US" sz="1800">
                <a:solidFill>
                  <a:schemeClr val="accent2"/>
                </a:solidFill>
                <a:latin typeface="宋体" pitchFamily="2" charset="-122"/>
              </a:rPr>
              <a:t>分别用顺序</a:t>
            </a:r>
            <a:r>
              <a:rPr kumimoji="1" lang="en-US" altLang="zh-CN" sz="1800">
                <a:solidFill>
                  <a:schemeClr val="accent2"/>
                </a:solidFill>
                <a:latin typeface="宋体" pitchFamily="2" charset="-122"/>
              </a:rPr>
              <a:t>Gauss</a:t>
            </a:r>
            <a:r>
              <a:rPr kumimoji="1" lang="zh-CN" altLang="en-US" sz="1800">
                <a:solidFill>
                  <a:schemeClr val="accent2"/>
                </a:solidFill>
                <a:latin typeface="宋体" pitchFamily="2" charset="-122"/>
              </a:rPr>
              <a:t>消去法和列主元</a:t>
            </a:r>
            <a:r>
              <a:rPr kumimoji="1" lang="en-US" altLang="zh-CN" sz="1800">
                <a:solidFill>
                  <a:schemeClr val="accent2"/>
                </a:solidFill>
                <a:latin typeface="宋体" pitchFamily="2" charset="-122"/>
              </a:rPr>
              <a:t>Gauss</a:t>
            </a:r>
            <a:r>
              <a:rPr kumimoji="1" lang="zh-CN" altLang="en-US" sz="1800">
                <a:solidFill>
                  <a:schemeClr val="accent2"/>
                </a:solidFill>
                <a:latin typeface="宋体" pitchFamily="2" charset="-122"/>
              </a:rPr>
              <a:t>消去法求解线性方程组</a:t>
            </a:r>
            <a:r>
              <a:rPr kumimoji="1" lang="en-US" altLang="zh-CN" sz="1800">
                <a:solidFill>
                  <a:schemeClr val="accent2"/>
                </a:solidFill>
                <a:latin typeface="宋体" pitchFamily="2" charset="-122"/>
              </a:rPr>
              <a:t>:</a:t>
            </a:r>
            <a:endParaRPr kumimoji="1" lang="en-US" altLang="zh-CN" sz="1800">
              <a:latin typeface="宋体" pitchFamily="2" charset="-122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590675" y="2800350"/>
            <a:ext cx="48768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方程组具有四位有效数字的精确解为              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       </a:t>
            </a:r>
            <a:r>
              <a:rPr kumimoji="1" lang="en-US" altLang="zh-CN" sz="1800">
                <a:latin typeface="宋体" pitchFamily="2" charset="-122"/>
              </a:rPr>
              <a:t>x</a:t>
            </a:r>
            <a:r>
              <a:rPr kumimoji="1" lang="en-US" altLang="zh-CN" sz="1800" baseline="-25000">
                <a:latin typeface="宋体" pitchFamily="2" charset="-122"/>
              </a:rPr>
              <a:t>1</a:t>
            </a:r>
            <a:r>
              <a:rPr kumimoji="1" lang="en-US" altLang="zh-CN" sz="1800" baseline="30000">
                <a:latin typeface="宋体" pitchFamily="2" charset="-122"/>
              </a:rPr>
              <a:t>*</a:t>
            </a:r>
            <a:r>
              <a:rPr kumimoji="1" lang="en-US" altLang="zh-CN" sz="1800">
                <a:latin typeface="宋体" pitchFamily="2" charset="-122"/>
              </a:rPr>
              <a:t>=17.46, x</a:t>
            </a:r>
            <a:r>
              <a:rPr kumimoji="1" lang="en-US" altLang="zh-CN" sz="1800" baseline="-25000">
                <a:latin typeface="宋体" pitchFamily="2" charset="-122"/>
              </a:rPr>
              <a:t>2</a:t>
            </a:r>
            <a:r>
              <a:rPr kumimoji="1" lang="en-US" altLang="zh-CN" sz="1800" baseline="30000">
                <a:latin typeface="宋体" pitchFamily="2" charset="-122"/>
              </a:rPr>
              <a:t>*</a:t>
            </a:r>
            <a:r>
              <a:rPr kumimoji="1" lang="en-US" altLang="zh-CN" sz="1800">
                <a:latin typeface="宋体" pitchFamily="2" charset="-122"/>
              </a:rPr>
              <a:t>=-45.76, x</a:t>
            </a:r>
            <a:r>
              <a:rPr kumimoji="1" lang="en-US" altLang="zh-CN" sz="1800" baseline="-25000">
                <a:latin typeface="宋体" pitchFamily="2" charset="-122"/>
              </a:rPr>
              <a:t>3</a:t>
            </a:r>
            <a:r>
              <a:rPr kumimoji="1" lang="en-US" altLang="zh-CN" sz="1800" baseline="30000">
                <a:latin typeface="宋体" pitchFamily="2" charset="-122"/>
              </a:rPr>
              <a:t>*</a:t>
            </a:r>
            <a:r>
              <a:rPr kumimoji="1" lang="en-US" altLang="zh-CN" sz="1800">
                <a:latin typeface="宋体" pitchFamily="2" charset="-122"/>
              </a:rPr>
              <a:t>=5.546</a:t>
            </a:r>
            <a:endParaRPr kumimoji="1" lang="en-US" altLang="zh-CN" sz="1800" b="1">
              <a:solidFill>
                <a:schemeClr val="accent2"/>
              </a:solidFill>
              <a:latin typeface="宋体" pitchFamily="2" charset="-122"/>
            </a:endParaRPr>
          </a:p>
        </p:txBody>
      </p:sp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2266950" y="1428750"/>
          <a:ext cx="385762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2" name="Equation" r:id="rId3" imgW="4981522" imgH="1352430" progId="Equation.3">
                  <p:embed/>
                </p:oleObj>
              </mc:Choice>
              <mc:Fallback>
                <p:oleObj name="Equation" r:id="rId3" imgW="4981522" imgH="13524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1428750"/>
                        <a:ext cx="3857625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500"/>
          <p:cNvSpPr txBox="1"/>
          <p:nvPr/>
        </p:nvSpPr>
        <p:spPr>
          <a:xfrm>
            <a:off x="3352800" y="136525"/>
            <a:ext cx="25336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列主元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</p:spTree>
    <p:extLst>
      <p:ext uri="{BB962C8B-B14F-4D97-AF65-F5344CB8AC3E}">
        <p14:creationId xmlns:p14="http://schemas.microsoft.com/office/powerpoint/2010/main" val="427584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5" grpId="0" autoUpdateAnimBg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895475" y="4238625"/>
            <a:ext cx="47529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回代得</a:t>
            </a:r>
            <a:r>
              <a:rPr kumimoji="1" lang="en-US" altLang="zh-CN" sz="1800">
                <a:latin typeface="宋体" pitchFamily="2" charset="-122"/>
              </a:rPr>
              <a:t>: x</a:t>
            </a:r>
            <a:r>
              <a:rPr kumimoji="1" lang="en-US" altLang="zh-CN" sz="1800" baseline="-25000">
                <a:latin typeface="宋体" pitchFamily="2" charset="-122"/>
              </a:rPr>
              <a:t>3</a:t>
            </a:r>
            <a:r>
              <a:rPr kumimoji="1" lang="en-US" altLang="zh-CN" sz="1800">
                <a:latin typeface="宋体" pitchFamily="2" charset="-122"/>
              </a:rPr>
              <a:t>=5.546, x</a:t>
            </a:r>
            <a:r>
              <a:rPr kumimoji="1" lang="en-US" altLang="zh-CN" sz="1800" baseline="-25000">
                <a:latin typeface="宋体" pitchFamily="2" charset="-122"/>
              </a:rPr>
              <a:t>2</a:t>
            </a:r>
            <a:r>
              <a:rPr kumimoji="1" lang="en-US" altLang="zh-CN" sz="1800">
                <a:latin typeface="宋体" pitchFamily="2" charset="-122"/>
              </a:rPr>
              <a:t>=100.0, x</a:t>
            </a:r>
            <a:r>
              <a:rPr kumimoji="1" lang="en-US" altLang="zh-CN" sz="1800" baseline="-25000">
                <a:latin typeface="宋体" pitchFamily="2" charset="-122"/>
              </a:rPr>
              <a:t>1</a:t>
            </a:r>
            <a:r>
              <a:rPr kumimoji="1" lang="en-US" altLang="zh-CN" sz="1800">
                <a:latin typeface="宋体" pitchFamily="2" charset="-122"/>
              </a:rPr>
              <a:t>=-104.0</a:t>
            </a:r>
            <a:endParaRPr kumimoji="1" lang="en-US" altLang="zh-CN" sz="1800" b="1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9" name="TextBox 500"/>
          <p:cNvSpPr txBox="1"/>
          <p:nvPr/>
        </p:nvSpPr>
        <p:spPr>
          <a:xfrm>
            <a:off x="3352800" y="136525"/>
            <a:ext cx="25336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列主元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676400" y="790575"/>
            <a:ext cx="4876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 b="1">
                <a:latin typeface="宋体" pitchFamily="2" charset="-122"/>
              </a:rPr>
              <a:t>解  </a:t>
            </a:r>
            <a:r>
              <a:rPr kumimoji="1" lang="en-US" altLang="zh-CN" sz="1800" b="1">
                <a:latin typeface="宋体" pitchFamily="2" charset="-122"/>
              </a:rPr>
              <a:t>1. </a:t>
            </a:r>
            <a:r>
              <a:rPr kumimoji="1" lang="zh-CN" altLang="en-US" sz="1800">
                <a:latin typeface="宋体" pitchFamily="2" charset="-122"/>
              </a:rPr>
              <a:t>用顺序</a:t>
            </a:r>
            <a:r>
              <a:rPr kumimoji="1" lang="en-US" altLang="zh-CN" sz="1800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消去法求解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消元过程为</a:t>
            </a:r>
            <a:endParaRPr kumimoji="1" lang="zh-CN" altLang="en-US" sz="1800" b="1">
              <a:solidFill>
                <a:schemeClr val="accent2"/>
              </a:solidFill>
              <a:latin typeface="宋体" pitchFamily="2" charset="-122"/>
            </a:endParaRPr>
          </a:p>
        </p:txBody>
      </p:sp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2427288" y="1123950"/>
          <a:ext cx="3144837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74" name="Equation" r:id="rId3" imgW="4699000" imgH="1409700" progId="Equation.3">
                  <p:embed/>
                </p:oleObj>
              </mc:Choice>
              <mc:Fallback>
                <p:oleObj name="Equation" r:id="rId3" imgW="46990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1123950"/>
                        <a:ext cx="3144837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1560513" y="2130425"/>
          <a:ext cx="45497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75" name="Equation" r:id="rId5" imgW="7213600" imgH="1409700" progId="Equation.3">
                  <p:embed/>
                </p:oleObj>
              </mc:Choice>
              <mc:Fallback>
                <p:oleObj name="Equation" r:id="rId5" imgW="72136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2130425"/>
                        <a:ext cx="454977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1562100" y="3130550"/>
          <a:ext cx="48482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76" name="Equation" r:id="rId7" imgW="7378700" imgH="1409700" progId="Equation.3">
                  <p:embed/>
                </p:oleObj>
              </mc:Choice>
              <mc:Fallback>
                <p:oleObj name="Equation" r:id="rId7" imgW="73787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3130550"/>
                        <a:ext cx="4848225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171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9" grpId="0"/>
      <p:bldP spid="1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500"/>
          <p:cNvSpPr txBox="1"/>
          <p:nvPr/>
        </p:nvSpPr>
        <p:spPr>
          <a:xfrm>
            <a:off x="3352800" y="136525"/>
            <a:ext cx="25336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列主元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952625" y="676275"/>
            <a:ext cx="4876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</a:t>
            </a:r>
            <a:r>
              <a:rPr kumimoji="1" lang="zh-CN" altLang="en-US" sz="1800">
                <a:latin typeface="宋体" pitchFamily="2" charset="-122"/>
              </a:rPr>
              <a:t>用列主元</a:t>
            </a:r>
            <a:r>
              <a:rPr kumimoji="1" lang="en-US" altLang="zh-CN" sz="1800">
                <a:latin typeface="宋体" pitchFamily="2" charset="-122"/>
              </a:rPr>
              <a:t>Gauss</a:t>
            </a:r>
            <a:r>
              <a:rPr kumimoji="1" lang="zh-CN" altLang="en-US" sz="1800">
                <a:latin typeface="宋体" pitchFamily="2" charset="-122"/>
              </a:rPr>
              <a:t>消去法求解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消元过程为</a:t>
            </a:r>
            <a:endParaRPr kumimoji="1" lang="zh-CN" altLang="en-US" sz="1800" b="1">
              <a:solidFill>
                <a:schemeClr val="accent2"/>
              </a:solidFill>
              <a:latin typeface="宋体" pitchFamily="2" charset="-122"/>
            </a:endParaRPr>
          </a:p>
        </p:txBody>
      </p:sp>
      <p:graphicFrame>
        <p:nvGraphicFramePr>
          <p:cNvPr id="6154" name="Object 10"/>
          <p:cNvGraphicFramePr>
            <a:graphicFrameLocks noChangeAspect="1"/>
          </p:cNvGraphicFramePr>
          <p:nvPr/>
        </p:nvGraphicFramePr>
        <p:xfrm>
          <a:off x="2655888" y="1033463"/>
          <a:ext cx="275113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6" name="Equation" r:id="rId3" imgW="4864100" imgH="1409700" progId="Equation.3">
                  <p:embed/>
                </p:oleObj>
              </mc:Choice>
              <mc:Fallback>
                <p:oleObj name="Equation" r:id="rId3" imgW="48641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1033463"/>
                        <a:ext cx="2751137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1355725" y="2043113"/>
          <a:ext cx="3095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7" name="Equation" r:id="rId5" imgW="5473700" imgH="1409700" progId="Equation.3">
                  <p:embed/>
                </p:oleObj>
              </mc:Choice>
              <mc:Fallback>
                <p:oleObj name="Equation" r:id="rId5" imgW="54737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2043113"/>
                        <a:ext cx="30956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5314950" y="2020888"/>
          <a:ext cx="302418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8" name="Equation" r:id="rId7" imgW="5346700" imgH="1409700" progId="Equation.3">
                  <p:embed/>
                </p:oleObj>
              </mc:Choice>
              <mc:Fallback>
                <p:oleObj name="Equation" r:id="rId7" imgW="53467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2020888"/>
                        <a:ext cx="3024188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1552575" y="3125788"/>
          <a:ext cx="2714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09" name="Equation" r:id="rId9" imgW="4800600" imgH="1409700" progId="Equation.3">
                  <p:embed/>
                </p:oleObj>
              </mc:Choice>
              <mc:Fallback>
                <p:oleObj name="Equation" r:id="rId9" imgW="48006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125788"/>
                        <a:ext cx="27146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14"/>
          <p:cNvGraphicFramePr>
            <a:graphicFrameLocks noChangeAspect="1"/>
          </p:cNvGraphicFramePr>
          <p:nvPr/>
        </p:nvGraphicFramePr>
        <p:xfrm>
          <a:off x="5314950" y="3105150"/>
          <a:ext cx="27574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0" name="Equation" r:id="rId11" imgW="4800600" imgH="1409700" progId="Equation.3">
                  <p:embed/>
                </p:oleObj>
              </mc:Choice>
              <mc:Fallback>
                <p:oleObj name="Equation" r:id="rId11" imgW="48006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3105150"/>
                        <a:ext cx="275748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箭头 16"/>
          <p:cNvSpPr/>
          <p:nvPr/>
        </p:nvSpPr>
        <p:spPr>
          <a:xfrm>
            <a:off x="866775" y="2305050"/>
            <a:ext cx="409575" cy="295275"/>
          </a:xfrm>
          <a:prstGeom prst="rightArrow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4714875" y="2286000"/>
            <a:ext cx="409575" cy="295275"/>
          </a:xfrm>
          <a:prstGeom prst="rightArrow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866775" y="3371850"/>
            <a:ext cx="409575" cy="295275"/>
          </a:xfrm>
          <a:prstGeom prst="rightArrow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4714875" y="3362325"/>
            <a:ext cx="409575" cy="295275"/>
          </a:xfrm>
          <a:prstGeom prst="rightArrow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828800" y="4143375"/>
            <a:ext cx="4876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回代得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: x</a:t>
            </a:r>
            <a:r>
              <a:rPr kumimoji="1" lang="en-US" altLang="zh-CN" sz="1800" b="1" baseline="-25000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=5.545, x</a:t>
            </a:r>
            <a:r>
              <a:rPr kumimoji="1" lang="en-US" altLang="zh-CN" sz="1800" b="1" baseline="-2500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=-45.77, x</a:t>
            </a:r>
            <a:r>
              <a:rPr kumimoji="1" lang="en-US" altLang="zh-CN" sz="1800" b="1" baseline="-2500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=17.46</a:t>
            </a:r>
          </a:p>
        </p:txBody>
      </p:sp>
    </p:spTree>
    <p:extLst>
      <p:ext uri="{BB962C8B-B14F-4D97-AF65-F5344CB8AC3E}">
        <p14:creationId xmlns:p14="http://schemas.microsoft.com/office/powerpoint/2010/main" val="74025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utoUpdateAnimBg="0"/>
      <p:bldP spid="17" grpId="0" animBg="1"/>
      <p:bldP spid="18" grpId="0" animBg="1"/>
      <p:bldP spid="19" grpId="0" animBg="1"/>
      <p:bldP spid="20" grpId="0" animBg="1"/>
      <p:bldP spid="2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500"/>
          <p:cNvSpPr txBox="1"/>
          <p:nvPr/>
        </p:nvSpPr>
        <p:spPr>
          <a:xfrm>
            <a:off x="3352800" y="136525"/>
            <a:ext cx="25336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列主元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Gauss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消去法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952625" y="1228725"/>
            <a:ext cx="5867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000">
                <a:solidFill>
                  <a:srgbClr val="FF0000"/>
                </a:solidFill>
                <a:latin typeface="宋体" pitchFamily="2" charset="-122"/>
              </a:rPr>
              <a:t>    可见，列主元</a:t>
            </a:r>
            <a:r>
              <a:rPr kumimoji="1" lang="en-US" altLang="zh-CN" sz="2000">
                <a:solidFill>
                  <a:srgbClr val="FF0000"/>
                </a:solidFill>
                <a:latin typeface="宋体" pitchFamily="2" charset="-122"/>
              </a:rPr>
              <a:t>Gauss</a:t>
            </a:r>
            <a:r>
              <a:rPr kumimoji="1" lang="zh-CN" altLang="en-US" sz="2000">
                <a:solidFill>
                  <a:srgbClr val="FF0000"/>
                </a:solidFill>
                <a:latin typeface="宋体" pitchFamily="2" charset="-122"/>
              </a:rPr>
              <a:t>消去法是在每一步消元前</a:t>
            </a:r>
            <a:r>
              <a:rPr kumimoji="1" lang="en-US" altLang="zh-CN" sz="2000">
                <a:solidFill>
                  <a:srgbClr val="FF0000"/>
                </a:solidFill>
                <a:latin typeface="宋体" pitchFamily="2" charset="-122"/>
              </a:rPr>
              <a:t>,</a:t>
            </a:r>
            <a:r>
              <a:rPr kumimoji="1" lang="zh-CN" altLang="en-US" sz="2000">
                <a:solidFill>
                  <a:srgbClr val="FF0000"/>
                </a:solidFill>
                <a:latin typeface="宋体" pitchFamily="2" charset="-122"/>
              </a:rPr>
              <a:t>在主元所在的一列选取绝对值最大的元素作为主元素</a:t>
            </a:r>
            <a:r>
              <a:rPr kumimoji="1" lang="en-US" altLang="zh-CN" sz="2000">
                <a:solidFill>
                  <a:srgbClr val="FF0000"/>
                </a:solidFill>
                <a:latin typeface="宋体" pitchFamily="2" charset="-122"/>
              </a:rPr>
              <a:t>.</a:t>
            </a:r>
            <a:r>
              <a:rPr kumimoji="1" lang="zh-CN" altLang="en-US" sz="2000">
                <a:solidFill>
                  <a:srgbClr val="FF0000"/>
                </a:solidFill>
                <a:latin typeface="宋体" pitchFamily="2" charset="-122"/>
              </a:rPr>
              <a:t>而全主元</a:t>
            </a:r>
            <a:r>
              <a:rPr kumimoji="1" lang="en-US" altLang="zh-CN" sz="2000">
                <a:solidFill>
                  <a:srgbClr val="FF0000"/>
                </a:solidFill>
                <a:latin typeface="宋体" pitchFamily="2" charset="-122"/>
              </a:rPr>
              <a:t>Gauss</a:t>
            </a:r>
            <a:r>
              <a:rPr kumimoji="1" lang="zh-CN" altLang="en-US" sz="2000">
                <a:solidFill>
                  <a:srgbClr val="FF0000"/>
                </a:solidFill>
                <a:latin typeface="宋体" pitchFamily="2" charset="-122"/>
              </a:rPr>
              <a:t>消去法是在每一步消元前</a:t>
            </a:r>
            <a:r>
              <a:rPr kumimoji="1" lang="en-US" altLang="zh-CN" sz="2000">
                <a:solidFill>
                  <a:srgbClr val="FF0000"/>
                </a:solidFill>
                <a:latin typeface="宋体" pitchFamily="2" charset="-122"/>
              </a:rPr>
              <a:t>,</a:t>
            </a:r>
            <a:r>
              <a:rPr kumimoji="1" lang="zh-CN" altLang="en-US" sz="2000">
                <a:solidFill>
                  <a:srgbClr val="FF0000"/>
                </a:solidFill>
                <a:latin typeface="宋体" pitchFamily="2" charset="-122"/>
              </a:rPr>
              <a:t>在所有元素中选取绝对值最大的元素作为主元素</a:t>
            </a:r>
            <a:r>
              <a:rPr kumimoji="1" lang="en-US" altLang="zh-CN" sz="2000">
                <a:solidFill>
                  <a:srgbClr val="FF0000"/>
                </a:solidFill>
                <a:latin typeface="宋体" pitchFamily="2" charset="-122"/>
              </a:rPr>
              <a:t>.</a:t>
            </a:r>
            <a:r>
              <a:rPr kumimoji="1" lang="zh-CN" altLang="en-US" sz="2000">
                <a:solidFill>
                  <a:srgbClr val="FF0000"/>
                </a:solidFill>
                <a:latin typeface="宋体" pitchFamily="2" charset="-122"/>
              </a:rPr>
              <a:t>但由于运算量大增</a:t>
            </a:r>
            <a:r>
              <a:rPr kumimoji="1" lang="en-US" altLang="zh-CN" sz="2000">
                <a:solidFill>
                  <a:srgbClr val="FF0000"/>
                </a:solidFill>
                <a:latin typeface="宋体" pitchFamily="2" charset="-122"/>
              </a:rPr>
              <a:t>,</a:t>
            </a:r>
            <a:r>
              <a:rPr kumimoji="1" lang="zh-CN" altLang="en-US" sz="2000">
                <a:solidFill>
                  <a:srgbClr val="FF0000"/>
                </a:solidFill>
                <a:latin typeface="宋体" pitchFamily="2" charset="-122"/>
              </a:rPr>
              <a:t>实际应用中并不经常使用</a:t>
            </a:r>
            <a:r>
              <a:rPr kumimoji="1" lang="en-US" altLang="zh-CN" sz="2000">
                <a:solidFill>
                  <a:srgbClr val="FF0000"/>
                </a:solidFill>
                <a:latin typeface="宋体" pitchFamily="2" charset="-122"/>
              </a:rPr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endParaRPr kumimoji="1" lang="en-US" altLang="zh-CN" sz="1800">
              <a:solidFill>
                <a:srgbClr val="FF0000"/>
              </a:solidFill>
              <a:latin typeface="宋体" pitchFamily="2" charset="-122"/>
            </a:endParaRPr>
          </a:p>
        </p:txBody>
      </p:sp>
      <p:pic>
        <p:nvPicPr>
          <p:cNvPr id="31750" name="图片 5" descr="330865-14050P222587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1325"/>
            <a:ext cx="145732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443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矩阵三角分解法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924050" y="742950"/>
            <a:ext cx="599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chemeClr val="accent2"/>
                </a:solidFill>
                <a:latin typeface="宋体" pitchFamily="2" charset="-122"/>
              </a:rPr>
              <a:t>Gauss</a:t>
            </a:r>
            <a:r>
              <a:rPr kumimoji="1" lang="zh-CN" altLang="en-US" sz="1800" b="1">
                <a:solidFill>
                  <a:schemeClr val="accent2"/>
                </a:solidFill>
                <a:latin typeface="宋体" pitchFamily="2" charset="-122"/>
              </a:rPr>
              <a:t>消去法的矩阵运算</a:t>
            </a:r>
            <a:endParaRPr kumimoji="1" lang="en-US" altLang="zh-CN" sz="1800">
              <a:latin typeface="宋体" pitchFamily="2" charset="-122"/>
            </a:endParaRPr>
          </a:p>
        </p:txBody>
      </p:sp>
      <p:sp>
        <p:nvSpPr>
          <p:cNvPr id="1034" name="矩形 11"/>
          <p:cNvSpPr>
            <a:spLocks noChangeArrowheads="1"/>
          </p:cNvSpPr>
          <p:nvPr/>
        </p:nvSpPr>
        <p:spPr bwMode="auto">
          <a:xfrm>
            <a:off x="1898650" y="1731963"/>
            <a:ext cx="977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1400">
                <a:latin typeface="宋体" pitchFamily="2" charset="-122"/>
              </a:rPr>
              <a:t> </a:t>
            </a:r>
            <a:r>
              <a:rPr kumimoji="1" lang="zh-CN" altLang="en-US" sz="1800">
                <a:latin typeface="宋体" pitchFamily="2" charset="-122"/>
              </a:rPr>
              <a:t>对矩阵</a:t>
            </a:r>
            <a:endParaRPr lang="zh-CN" altLang="en-US" sz="1800"/>
          </a:p>
        </p:txBody>
      </p:sp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3052763" y="1390650"/>
          <a:ext cx="214788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26" name="Equation" r:id="rId3" imgW="3771900" imgH="1968500" progId="Equation.3">
                  <p:embed/>
                </p:oleObj>
              </mc:Choice>
              <mc:Fallback>
                <p:oleObj name="Equation" r:id="rId3" imgW="3771900" imgH="196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1390650"/>
                        <a:ext cx="2147887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" name="矩形 16"/>
          <p:cNvSpPr>
            <a:spLocks noChangeArrowheads="1"/>
          </p:cNvSpPr>
          <p:nvPr/>
        </p:nvSpPr>
        <p:spPr bwMode="auto">
          <a:xfrm>
            <a:off x="1312863" y="2668588"/>
            <a:ext cx="468312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若</a:t>
            </a:r>
            <a:endParaRPr kumimoji="1" lang="zh-CN" altLang="en-US" sz="1800" b="1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1036" name="矩形 17"/>
          <p:cNvSpPr>
            <a:spLocks noChangeArrowheads="1"/>
          </p:cNvSpPr>
          <p:nvPr/>
        </p:nvSpPr>
        <p:spPr bwMode="auto">
          <a:xfrm>
            <a:off x="2417763" y="259873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800">
                <a:latin typeface="宋体" pitchFamily="2" charset="-122"/>
              </a:rPr>
              <a:t>令</a:t>
            </a:r>
            <a:endParaRPr lang="zh-CN" altLang="en-US" sz="1800"/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1676400" y="2619375"/>
          <a:ext cx="7810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27" name="Equation" r:id="rId5" imgW="1066337" imgH="444307" progId="Equation.3">
                  <p:embed/>
                </p:oleObj>
              </mc:Choice>
              <mc:Fallback>
                <p:oleObj name="Equation" r:id="rId5" imgW="106633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619375"/>
                        <a:ext cx="781050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2797175" y="2600325"/>
          <a:ext cx="28194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28" name="Equation" r:id="rId7" imgW="3556000" imgH="444500" progId="Equation.3">
                  <p:embed/>
                </p:oleObj>
              </mc:Choice>
              <mc:Fallback>
                <p:oleObj name="Equation" r:id="rId7" imgW="3556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2600325"/>
                        <a:ext cx="28194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19"/>
          <p:cNvSpPr>
            <a:spLocks noChangeArrowheads="1"/>
          </p:cNvSpPr>
          <p:nvPr/>
        </p:nvSpPr>
        <p:spPr bwMode="auto">
          <a:xfrm>
            <a:off x="5684838" y="2609850"/>
            <a:ext cx="36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1800">
                <a:latin typeface="宋体" pitchFamily="2" charset="-122"/>
              </a:rPr>
              <a:t>记</a:t>
            </a:r>
            <a:endParaRPr lang="zh-CN" altLang="en-US" sz="1800"/>
          </a:p>
        </p:txBody>
      </p:sp>
      <p:graphicFrame>
        <p:nvGraphicFramePr>
          <p:cNvPr id="1038" name="Object 14"/>
          <p:cNvGraphicFramePr>
            <a:graphicFrameLocks noChangeAspect="1"/>
          </p:cNvGraphicFramePr>
          <p:nvPr/>
        </p:nvGraphicFramePr>
        <p:xfrm>
          <a:off x="3133725" y="3190875"/>
          <a:ext cx="1933575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29" name="Equation" r:id="rId9" imgW="3556000" imgH="2400300" progId="Equation.3">
                  <p:embed/>
                </p:oleObj>
              </mc:Choice>
              <mc:Fallback>
                <p:oleObj name="Equation" r:id="rId9" imgW="3556000" imgH="240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3190875"/>
                        <a:ext cx="1933575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880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1034" grpId="0"/>
      <p:bldP spid="1035" grpId="0"/>
      <p:bldP spid="103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矩阵三角分解法</a:t>
            </a:r>
          </a:p>
        </p:txBody>
      </p:sp>
      <p:sp>
        <p:nvSpPr>
          <p:cNvPr id="2057" name="矩形 26"/>
          <p:cNvSpPr>
            <a:spLocks noChangeArrowheads="1"/>
          </p:cNvSpPr>
          <p:nvPr/>
        </p:nvSpPr>
        <p:spPr bwMode="auto">
          <a:xfrm>
            <a:off x="1385888" y="715963"/>
            <a:ext cx="646112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则有</a:t>
            </a:r>
          </a:p>
        </p:txBody>
      </p:sp>
      <p:graphicFrame>
        <p:nvGraphicFramePr>
          <p:cNvPr id="2064" name="Object 16"/>
          <p:cNvGraphicFramePr>
            <a:graphicFrameLocks noChangeAspect="1"/>
          </p:cNvGraphicFramePr>
          <p:nvPr/>
        </p:nvGraphicFramePr>
        <p:xfrm>
          <a:off x="3556000" y="809625"/>
          <a:ext cx="28702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0" name="Equation" r:id="rId3" imgW="4178300" imgH="1968500" progId="Equation.DSMT4">
                  <p:embed/>
                </p:oleObj>
              </mc:Choice>
              <mc:Fallback>
                <p:oleObj name="Equation" r:id="rId3" imgW="4178300" imgH="196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809625"/>
                        <a:ext cx="28702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矩形 27"/>
          <p:cNvSpPr>
            <a:spLocks noChangeArrowheads="1"/>
          </p:cNvSpPr>
          <p:nvPr/>
        </p:nvSpPr>
        <p:spPr bwMode="auto">
          <a:xfrm>
            <a:off x="2828925" y="1274763"/>
            <a:ext cx="755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800">
                <a:latin typeface="Times New Roman" pitchFamily="18" charset="0"/>
              </a:rPr>
              <a:t> 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宋体" pitchFamily="2" charset="-122"/>
              </a:rPr>
              <a:t>(2)</a:t>
            </a:r>
            <a:r>
              <a:rPr kumimoji="1" lang="en-US" altLang="zh-CN" sz="1800">
                <a:latin typeface="宋体" pitchFamily="2" charset="-122"/>
              </a:rPr>
              <a:t>=</a:t>
            </a:r>
            <a:endParaRPr lang="zh-CN" altLang="en-US" sz="1800"/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5000625" y="2171700"/>
            <a:ext cx="42862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                                </a:t>
            </a:r>
            <a:r>
              <a:rPr kumimoji="1" lang="zh-CN" altLang="en-US" sz="1800">
                <a:latin typeface="宋体" pitchFamily="2" charset="-122"/>
              </a:rPr>
              <a:t>记</a:t>
            </a:r>
            <a:endParaRPr kumimoji="1" lang="zh-CN" altLang="en-US" sz="1800" b="1">
              <a:solidFill>
                <a:schemeClr val="accent2"/>
              </a:solidFill>
              <a:latin typeface="宋体" pitchFamily="2" charset="-122"/>
            </a:endParaRPr>
          </a:p>
        </p:txBody>
      </p:sp>
      <p:graphicFrame>
        <p:nvGraphicFramePr>
          <p:cNvPr id="30" name="Object 17"/>
          <p:cNvGraphicFramePr>
            <a:graphicFrameLocks noChangeAspect="1"/>
          </p:cNvGraphicFramePr>
          <p:nvPr/>
        </p:nvGraphicFramePr>
        <p:xfrm>
          <a:off x="2911475" y="2305050"/>
          <a:ext cx="216058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1" name="Equation" r:id="rId5" imgW="3670300" imgH="444500" progId="Equation.3">
                  <p:embed/>
                </p:oleObj>
              </mc:Choice>
              <mc:Fallback>
                <p:oleObj name="Equation" r:id="rId5" imgW="3670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2305050"/>
                        <a:ext cx="216058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2524125" y="2362200"/>
            <a:ext cx="3714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令</a:t>
            </a:r>
            <a:endParaRPr kumimoji="1" lang="zh-CN" altLang="en-US" sz="1800" b="1">
              <a:solidFill>
                <a:schemeClr val="accent2"/>
              </a:solidFill>
              <a:latin typeface="宋体" pitchFamily="2" charset="-122"/>
            </a:endParaRPr>
          </a:p>
        </p:txBody>
      </p:sp>
      <p:graphicFrame>
        <p:nvGraphicFramePr>
          <p:cNvPr id="32" name="Object 18"/>
          <p:cNvGraphicFramePr>
            <a:graphicFrameLocks noChangeAspect="1"/>
          </p:cNvGraphicFramePr>
          <p:nvPr/>
        </p:nvGraphicFramePr>
        <p:xfrm>
          <a:off x="1809750" y="2286000"/>
          <a:ext cx="7032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2" name="Equation" r:id="rId7" imgW="1104900" imgH="444500" progId="Equation.3">
                  <p:embed/>
                </p:oleObj>
              </mc:Choice>
              <mc:Fallback>
                <p:oleObj name="Equation" r:id="rId7" imgW="1104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2286000"/>
                        <a:ext cx="70326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1466850" y="2362200"/>
            <a:ext cx="4000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若</a:t>
            </a:r>
            <a:endParaRPr kumimoji="1" lang="zh-CN" altLang="en-US" sz="1800" b="1">
              <a:solidFill>
                <a:schemeClr val="accent2"/>
              </a:solidFill>
              <a:latin typeface="宋体" pitchFamily="2" charset="-122"/>
            </a:endParaRPr>
          </a:p>
        </p:txBody>
      </p:sp>
      <p:graphicFrame>
        <p:nvGraphicFramePr>
          <p:cNvPr id="2067" name="Object 19"/>
          <p:cNvGraphicFramePr>
            <a:graphicFrameLocks noChangeAspect="1"/>
          </p:cNvGraphicFramePr>
          <p:nvPr/>
        </p:nvGraphicFramePr>
        <p:xfrm>
          <a:off x="3571875" y="2724150"/>
          <a:ext cx="2238375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3" name="Equation" r:id="rId9" imgW="3632200" imgH="2400300" progId="Equation.3">
                  <p:embed/>
                </p:oleObj>
              </mc:Choice>
              <mc:Fallback>
                <p:oleObj name="Equation" r:id="rId9" imgW="3632200" imgH="240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724150"/>
                        <a:ext cx="2238375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2" name="矩形 33"/>
          <p:cNvSpPr>
            <a:spLocks noChangeArrowheads="1"/>
          </p:cNvSpPr>
          <p:nvPr/>
        </p:nvSpPr>
        <p:spPr bwMode="auto">
          <a:xfrm>
            <a:off x="1490663" y="4135438"/>
            <a:ext cx="646112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则有</a:t>
            </a:r>
          </a:p>
        </p:txBody>
      </p:sp>
    </p:spTree>
    <p:extLst>
      <p:ext uri="{BB962C8B-B14F-4D97-AF65-F5344CB8AC3E}">
        <p14:creationId xmlns:p14="http://schemas.microsoft.com/office/powerpoint/2010/main" val="54694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057" grpId="0"/>
      <p:bldP spid="2058" grpId="0"/>
      <p:bldP spid="29" grpId="0"/>
      <p:bldP spid="31" grpId="0"/>
      <p:bldP spid="33" grpId="0"/>
      <p:bldP spid="206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矩阵三角分解法</a:t>
            </a:r>
          </a:p>
        </p:txBody>
      </p:sp>
      <p:graphicFrame>
        <p:nvGraphicFramePr>
          <p:cNvPr id="3084" name="Object 12"/>
          <p:cNvGraphicFramePr>
            <a:graphicFrameLocks noChangeAspect="1"/>
          </p:cNvGraphicFramePr>
          <p:nvPr/>
        </p:nvGraphicFramePr>
        <p:xfrm>
          <a:off x="2854325" y="676275"/>
          <a:ext cx="3232150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66" name="Equation" r:id="rId3" imgW="5041900" imgH="2451100" progId="Equation.3">
                  <p:embed/>
                </p:oleObj>
              </mc:Choice>
              <mc:Fallback>
                <p:oleObj name="Equation" r:id="rId3" imgW="5041900" imgH="2451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676275"/>
                        <a:ext cx="3232150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矩形 13"/>
          <p:cNvSpPr>
            <a:spLocks noChangeArrowheads="1"/>
          </p:cNvSpPr>
          <p:nvPr/>
        </p:nvSpPr>
        <p:spPr bwMode="auto">
          <a:xfrm>
            <a:off x="2095500" y="1255713"/>
            <a:ext cx="755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800">
                <a:latin typeface="Times New Roman" pitchFamily="18" charset="0"/>
              </a:rPr>
              <a:t> 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宋体" pitchFamily="2" charset="-122"/>
              </a:rPr>
              <a:t>(3)</a:t>
            </a:r>
            <a:r>
              <a:rPr kumimoji="1" lang="en-US" altLang="zh-CN" sz="1800">
                <a:latin typeface="宋体" pitchFamily="2" charset="-122"/>
              </a:rPr>
              <a:t>=</a:t>
            </a:r>
            <a:endParaRPr lang="zh-CN" altLang="en-US" sz="1800"/>
          </a:p>
        </p:txBody>
      </p:sp>
      <p:sp>
        <p:nvSpPr>
          <p:cNvPr id="3080" name="矩形 17"/>
          <p:cNvSpPr>
            <a:spLocks noChangeArrowheads="1"/>
          </p:cNvSpPr>
          <p:nvPr/>
        </p:nvSpPr>
        <p:spPr bwMode="auto">
          <a:xfrm>
            <a:off x="1363663" y="2392363"/>
            <a:ext cx="30384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Times New Roman" pitchFamily="18" charset="0"/>
              </a:rPr>
              <a:t>如此进行下去</a:t>
            </a:r>
            <a:r>
              <a:rPr kumimoji="1" lang="en-US" altLang="zh-CN" sz="1800">
                <a:latin typeface="Times New Roman" pitchFamily="18" charset="0"/>
              </a:rPr>
              <a:t>, </a:t>
            </a:r>
            <a:r>
              <a:rPr kumimoji="1" lang="zh-CN" altLang="en-US" sz="1800">
                <a:latin typeface="Times New Roman" pitchFamily="18" charset="0"/>
              </a:rPr>
              <a:t>第</a:t>
            </a:r>
            <a:r>
              <a:rPr kumimoji="1" lang="en-US" altLang="zh-CN" sz="1800">
                <a:latin typeface="Times New Roman" pitchFamily="18" charset="0"/>
              </a:rPr>
              <a:t>n-1</a:t>
            </a:r>
            <a:r>
              <a:rPr kumimoji="1" lang="zh-CN" altLang="en-US" sz="1800">
                <a:latin typeface="Times New Roman" pitchFamily="18" charset="0"/>
              </a:rPr>
              <a:t>步得到</a:t>
            </a:r>
            <a:r>
              <a:rPr kumimoji="1" lang="en-US" altLang="zh-CN" sz="1800">
                <a:latin typeface="Times New Roman" pitchFamily="18" charset="0"/>
              </a:rPr>
              <a:t>:</a:t>
            </a:r>
            <a:endParaRPr kumimoji="1" lang="en-US" altLang="zh-CN" sz="1800">
              <a:latin typeface="宋体" pitchFamily="2" charset="-122"/>
            </a:endParaRPr>
          </a:p>
        </p:txBody>
      </p:sp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2844800" y="2695575"/>
          <a:ext cx="3355975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67" name="Equation" r:id="rId5" imgW="4660900" imgH="1968500" progId="Equation.3">
                  <p:embed/>
                </p:oleObj>
              </mc:Choice>
              <mc:Fallback>
                <p:oleObj name="Equation" r:id="rId5" imgW="4660900" imgH="196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2695575"/>
                        <a:ext cx="3355975" cy="141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矩形 18"/>
          <p:cNvSpPr>
            <a:spLocks noChangeArrowheads="1"/>
          </p:cNvSpPr>
          <p:nvPr/>
        </p:nvSpPr>
        <p:spPr bwMode="auto">
          <a:xfrm>
            <a:off x="2124075" y="3198813"/>
            <a:ext cx="755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800">
                <a:latin typeface="Times New Roman" pitchFamily="18" charset="0"/>
              </a:rPr>
              <a:t> 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宋体" pitchFamily="2" charset="-122"/>
              </a:rPr>
              <a:t>(n)</a:t>
            </a:r>
            <a:r>
              <a:rPr kumimoji="1" lang="en-US" altLang="zh-CN" sz="1800">
                <a:latin typeface="宋体" pitchFamily="2" charset="-122"/>
              </a:rPr>
              <a:t>=</a:t>
            </a:r>
            <a:endParaRPr lang="zh-CN" altLang="en-US" sz="1800"/>
          </a:p>
        </p:txBody>
      </p:sp>
      <p:sp>
        <p:nvSpPr>
          <p:cNvPr id="3082" name="矩形 19"/>
          <p:cNvSpPr>
            <a:spLocks noChangeArrowheads="1"/>
          </p:cNvSpPr>
          <p:nvPr/>
        </p:nvSpPr>
        <p:spPr bwMode="auto">
          <a:xfrm>
            <a:off x="1414463" y="4106863"/>
            <a:ext cx="646112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其中</a:t>
            </a:r>
          </a:p>
        </p:txBody>
      </p:sp>
    </p:spTree>
    <p:extLst>
      <p:ext uri="{BB962C8B-B14F-4D97-AF65-F5344CB8AC3E}">
        <p14:creationId xmlns:p14="http://schemas.microsoft.com/office/powerpoint/2010/main" val="276844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079" grpId="0"/>
      <p:bldP spid="3080" grpId="0"/>
      <p:bldP spid="3081" grpId="0"/>
      <p:bldP spid="308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矩阵三角分解法</a:t>
            </a:r>
          </a:p>
        </p:txBody>
      </p:sp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3162300" y="631825"/>
          <a:ext cx="2505075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0" name="Equation" r:id="rId3" imgW="4089400" imgH="2451100" progId="Equation.3">
                  <p:embed/>
                </p:oleObj>
              </mc:Choice>
              <mc:Fallback>
                <p:oleObj name="Equation" r:id="rId3" imgW="4089400" imgH="2451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631825"/>
                        <a:ext cx="2505075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矩形 11"/>
          <p:cNvSpPr>
            <a:spLocks noChangeArrowheads="1"/>
          </p:cNvSpPr>
          <p:nvPr/>
        </p:nvSpPr>
        <p:spPr bwMode="auto">
          <a:xfrm>
            <a:off x="1452563" y="2192338"/>
            <a:ext cx="9398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Times New Roman" pitchFamily="18" charset="0"/>
              </a:rPr>
              <a:t>也就是</a:t>
            </a:r>
            <a:r>
              <a:rPr kumimoji="1" lang="en-US" altLang="zh-CN" sz="1800">
                <a:latin typeface="Times New Roman" pitchFamily="18" charset="0"/>
              </a:rPr>
              <a:t>:</a:t>
            </a:r>
            <a:endParaRPr kumimoji="1" lang="en-US" altLang="zh-CN" sz="1800">
              <a:latin typeface="宋体" pitchFamily="2" charset="-122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809750" y="2647950"/>
            <a:ext cx="56292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(n)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n-1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(n-1)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809750" y="2647950"/>
            <a:ext cx="56292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</a:t>
            </a:r>
            <a:r>
              <a:rPr kumimoji="1" lang="en-US" altLang="zh-CN" sz="1800" b="1">
                <a:latin typeface="Times New Roman" pitchFamily="18" charset="0"/>
              </a:rPr>
              <a:t>                       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n-1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n-2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(n-2)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1809750" y="2647950"/>
            <a:ext cx="56292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</a:t>
            </a:r>
            <a:r>
              <a:rPr kumimoji="1" lang="en-US" altLang="zh-CN" sz="1800" b="1">
                <a:latin typeface="Times New Roman" pitchFamily="18" charset="0"/>
              </a:rPr>
              <a:t>                       </a:t>
            </a:r>
            <a:r>
              <a:rPr kumimoji="1" lang="en-US" altLang="zh-CN" sz="1800">
                <a:latin typeface="Times New Roman" pitchFamily="18" charset="0"/>
              </a:rPr>
              <a:t>                        =…= 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n-1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n-2</a:t>
            </a:r>
            <a:r>
              <a:rPr kumimoji="1" lang="en-US" altLang="zh-CN" sz="1800">
                <a:latin typeface="Times New Roman" pitchFamily="18" charset="0"/>
              </a:rPr>
              <a:t>…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2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1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(1)</a:t>
            </a:r>
          </a:p>
        </p:txBody>
      </p:sp>
      <p:sp>
        <p:nvSpPr>
          <p:cNvPr id="4107" name="矩形 16"/>
          <p:cNvSpPr>
            <a:spLocks noChangeArrowheads="1"/>
          </p:cNvSpPr>
          <p:nvPr/>
        </p:nvSpPr>
        <p:spPr bwMode="auto">
          <a:xfrm>
            <a:off x="1471613" y="3116263"/>
            <a:ext cx="646112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其中</a:t>
            </a:r>
          </a:p>
        </p:txBody>
      </p:sp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2686050" y="3170238"/>
          <a:ext cx="3971925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1" name="Equation" r:id="rId5" imgW="2959100" imgH="1117600" progId="Equation.3">
                  <p:embed/>
                </p:oleObj>
              </mc:Choice>
              <mc:Fallback>
                <p:oleObj name="Equation" r:id="rId5" imgW="2959100" imgH="111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3170238"/>
                        <a:ext cx="3971925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700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103" grpId="0"/>
      <p:bldP spid="13" grpId="0"/>
      <p:bldP spid="14" grpId="0"/>
      <p:bldP spid="16" grpId="0"/>
      <p:bldP spid="410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矩阵三角分解法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485775" y="657225"/>
            <a:ext cx="1409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Times New Roman" pitchFamily="18" charset="0"/>
              </a:rPr>
              <a:t>所以有</a:t>
            </a:r>
            <a:r>
              <a:rPr kumimoji="1" lang="en-US" altLang="zh-CN" sz="1800">
                <a:latin typeface="Times New Roman" pitchFamily="18" charset="0"/>
              </a:rPr>
              <a:t>:</a:t>
            </a:r>
            <a:endParaRPr kumimoji="1" lang="en-US" altLang="zh-CN" sz="1800">
              <a:latin typeface="宋体" pitchFamily="2" charset="-122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390650" y="1009650"/>
            <a:ext cx="64008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        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(1)</a:t>
            </a:r>
            <a:r>
              <a:rPr kumimoji="1" lang="en-US" altLang="zh-CN" sz="1800">
                <a:latin typeface="Times New Roman" pitchFamily="18" charset="0"/>
              </a:rPr>
              <a:t>= 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1</a:t>
            </a:r>
            <a:r>
              <a:rPr kumimoji="1" lang="en-US" altLang="zh-CN" sz="1800" baseline="30000">
                <a:latin typeface="Times New Roman" pitchFamily="18" charset="0"/>
              </a:rPr>
              <a:t>-1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2</a:t>
            </a:r>
            <a:r>
              <a:rPr kumimoji="1" lang="en-US" altLang="zh-CN" sz="1800" baseline="30000">
                <a:latin typeface="Times New Roman" pitchFamily="18" charset="0"/>
              </a:rPr>
              <a:t>-1</a:t>
            </a:r>
            <a:r>
              <a:rPr kumimoji="1" lang="en-US" altLang="zh-CN" sz="1800">
                <a:latin typeface="Times New Roman" pitchFamily="18" charset="0"/>
              </a:rPr>
              <a:t>…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n-1</a:t>
            </a:r>
            <a:r>
              <a:rPr kumimoji="1" lang="en-US" altLang="zh-CN" sz="1800" baseline="30000">
                <a:latin typeface="Times New Roman" pitchFamily="18" charset="0"/>
              </a:rPr>
              <a:t>-1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(n)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LU   </a:t>
            </a:r>
            <a:r>
              <a:rPr kumimoji="1" lang="en-US" altLang="zh-CN" sz="1800">
                <a:latin typeface="Times New Roman" pitchFamily="18" charset="0"/>
              </a:rPr>
              <a:t>A</a:t>
            </a:r>
            <a:r>
              <a:rPr kumimoji="1" lang="zh-CN" altLang="en-US" sz="1800">
                <a:latin typeface="宋体" pitchFamily="2" charset="-122"/>
              </a:rPr>
              <a:t>的</a:t>
            </a:r>
            <a:r>
              <a:rPr kumimoji="1" lang="en-US" altLang="zh-CN" sz="1800">
                <a:latin typeface="Times New Roman" pitchFamily="18" charset="0"/>
              </a:rPr>
              <a:t>LU</a:t>
            </a:r>
            <a:r>
              <a:rPr kumimoji="1" lang="zh-CN" altLang="en-US" sz="1800">
                <a:latin typeface="宋体" pitchFamily="2" charset="-122"/>
              </a:rPr>
              <a:t>三角分解</a:t>
            </a:r>
            <a:endParaRPr kumimoji="1" lang="zh-CN" altLang="en-US" sz="1800" baseline="30000">
              <a:latin typeface="宋体" pitchFamily="2" charset="-122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438150" y="1362075"/>
            <a:ext cx="33051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Times New Roman" pitchFamily="18" charset="0"/>
              </a:rPr>
              <a:t>其中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1</a:t>
            </a:r>
            <a:r>
              <a:rPr kumimoji="1" lang="en-US" altLang="zh-CN" sz="1800" baseline="30000">
                <a:latin typeface="Times New Roman" pitchFamily="18" charset="0"/>
              </a:rPr>
              <a:t>-1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2</a:t>
            </a:r>
            <a:r>
              <a:rPr kumimoji="1" lang="en-US" altLang="zh-CN" sz="1800" baseline="30000">
                <a:latin typeface="Times New Roman" pitchFamily="18" charset="0"/>
              </a:rPr>
              <a:t>-1</a:t>
            </a:r>
            <a:r>
              <a:rPr kumimoji="1" lang="en-US" altLang="zh-CN" sz="1800">
                <a:latin typeface="Times New Roman" pitchFamily="18" charset="0"/>
              </a:rPr>
              <a:t>…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-25000">
                <a:latin typeface="Times New Roman" pitchFamily="18" charset="0"/>
              </a:rPr>
              <a:t>n-1</a:t>
            </a:r>
            <a:r>
              <a:rPr kumimoji="1" lang="en-US" altLang="zh-CN" sz="1800" baseline="30000">
                <a:latin typeface="Times New Roman" pitchFamily="18" charset="0"/>
              </a:rPr>
              <a:t>-1</a:t>
            </a:r>
            <a:r>
              <a:rPr kumimoji="1" lang="en-US" altLang="zh-CN" sz="1800">
                <a:latin typeface="Times New Roman" pitchFamily="18" charset="0"/>
              </a:rPr>
              <a:t>,  </a:t>
            </a:r>
            <a:r>
              <a:rPr kumimoji="1" lang="en-US" altLang="zh-CN" sz="1800" b="1">
                <a:latin typeface="Times New Roman" pitchFamily="18" charset="0"/>
              </a:rPr>
              <a:t>U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 baseline="30000">
                <a:latin typeface="Times New Roman" pitchFamily="18" charset="0"/>
              </a:rPr>
              <a:t>(n)</a:t>
            </a:r>
            <a:r>
              <a:rPr kumimoji="1" lang="en-US" altLang="zh-CN" sz="1800">
                <a:latin typeface="Times New Roman" pitchFamily="18" charset="0"/>
              </a:rPr>
              <a:t> .</a:t>
            </a:r>
            <a:endParaRPr kumimoji="1" lang="en-US" altLang="zh-CN" sz="1800" baseline="30000">
              <a:latin typeface="Times New Roman" pitchFamily="18" charset="0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447675" y="1738313"/>
            <a:ext cx="15906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而且有</a:t>
            </a: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2019300" y="1743075"/>
          <a:ext cx="2057400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8" name="Equation" r:id="rId3" imgW="4229100" imgH="2908300" progId="Equation.3">
                  <p:embed/>
                </p:oleObj>
              </mc:Choice>
              <mc:Fallback>
                <p:oleObj name="Equation" r:id="rId3" imgW="4229100" imgH="290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1743075"/>
                        <a:ext cx="2057400" cy="141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12"/>
          <p:cNvGraphicFramePr>
            <a:graphicFrameLocks noChangeAspect="1"/>
          </p:cNvGraphicFramePr>
          <p:nvPr/>
        </p:nvGraphicFramePr>
        <p:xfrm>
          <a:off x="4651375" y="1685925"/>
          <a:ext cx="22352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9" name="Equation" r:id="rId5" imgW="3721100" imgH="2400300" progId="Equation.3">
                  <p:embed/>
                </p:oleObj>
              </mc:Choice>
              <mc:Fallback>
                <p:oleObj name="Equation" r:id="rId5" imgW="3721100" imgH="240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75" y="1685925"/>
                        <a:ext cx="22352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Object 13"/>
          <p:cNvGraphicFramePr>
            <a:graphicFrameLocks noChangeAspect="1"/>
          </p:cNvGraphicFramePr>
          <p:nvPr/>
        </p:nvGraphicFramePr>
        <p:xfrm>
          <a:off x="4705350" y="3419475"/>
          <a:ext cx="248602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0" name="Equation" r:id="rId7" imgW="3568700" imgH="1968500" progId="Equation.3">
                  <p:embed/>
                </p:oleObj>
              </mc:Choice>
              <mc:Fallback>
                <p:oleObj name="Equation" r:id="rId7" imgW="3568700" imgH="196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3419475"/>
                        <a:ext cx="248602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椭圆 21"/>
          <p:cNvSpPr/>
          <p:nvPr/>
        </p:nvSpPr>
        <p:spPr>
          <a:xfrm>
            <a:off x="1238250" y="3352800"/>
            <a:ext cx="2600325" cy="1371600"/>
          </a:xfrm>
          <a:prstGeom prst="ellipse">
            <a:avLst/>
          </a:prstGeom>
          <a:solidFill>
            <a:srgbClr val="FF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" name="TextBox 22"/>
          <p:cNvSpPr txBox="1">
            <a:spLocks noChangeArrowheads="1"/>
          </p:cNvSpPr>
          <p:nvPr/>
        </p:nvSpPr>
        <p:spPr bwMode="auto">
          <a:xfrm>
            <a:off x="1552575" y="3600450"/>
            <a:ext cx="19812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solidFill>
                  <a:srgbClr val="FF0000"/>
                </a:solidFill>
                <a:latin typeface="宋体" pitchFamily="2" charset="-122"/>
              </a:rPr>
              <a:t>L</a:t>
            </a:r>
            <a:r>
              <a:rPr kumimoji="1" lang="zh-CN" altLang="en-US" sz="1600">
                <a:solidFill>
                  <a:srgbClr val="FF0000"/>
                </a:solidFill>
                <a:latin typeface="宋体" pitchFamily="2" charset="-122"/>
              </a:rPr>
              <a:t>为单位下三角矩阵</a:t>
            </a:r>
            <a:r>
              <a:rPr kumimoji="1" lang="en-US" altLang="zh-CN" sz="1600">
                <a:solidFill>
                  <a:srgbClr val="FF0000"/>
                </a:solidFill>
                <a:latin typeface="宋体" pitchFamily="2" charset="-122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solidFill>
                  <a:srgbClr val="FF0000"/>
                </a:solidFill>
                <a:latin typeface="宋体" pitchFamily="2" charset="-122"/>
              </a:rPr>
              <a:t>U</a:t>
            </a:r>
            <a:r>
              <a:rPr kumimoji="1" lang="zh-CN" altLang="en-US" sz="1600">
                <a:solidFill>
                  <a:srgbClr val="FF0000"/>
                </a:solidFill>
                <a:latin typeface="宋体" pitchFamily="2" charset="-122"/>
              </a:rPr>
              <a:t>是上三角矩阵</a:t>
            </a:r>
            <a:r>
              <a:rPr kumimoji="1" lang="en-US" altLang="zh-CN" sz="1600">
                <a:solidFill>
                  <a:srgbClr val="FF0000"/>
                </a:solidFill>
                <a:latin typeface="宋体" pitchFamily="2" charset="-122"/>
              </a:rPr>
              <a:t>.</a:t>
            </a:r>
            <a:endParaRPr kumimoji="1" lang="en-US" altLang="zh-CN" sz="1600" b="1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44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 autoUpdateAnimBg="0"/>
      <p:bldP spid="16" grpId="0" autoUpdateAnimBg="0"/>
      <p:bldP spid="17" grpId="0" autoUpdateAnimBg="0"/>
      <p:bldP spid="18" grpId="0" autoUpdateAnimBg="0"/>
      <p:bldP spid="22" grpId="0" animBg="1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直接三角分解法</a:t>
            </a:r>
          </a:p>
        </p:txBody>
      </p:sp>
      <p:sp>
        <p:nvSpPr>
          <p:cNvPr id="1033" name="矩形 11"/>
          <p:cNvSpPr>
            <a:spLocks noChangeArrowheads="1"/>
          </p:cNvSpPr>
          <p:nvPr/>
        </p:nvSpPr>
        <p:spPr bwMode="auto">
          <a:xfrm>
            <a:off x="1190625" y="1660525"/>
            <a:ext cx="393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1800" b="1">
                <a:latin typeface="宋体" pitchFamily="2" charset="-122"/>
              </a:rPr>
              <a:t>证明  </a:t>
            </a:r>
            <a:r>
              <a:rPr kumimoji="1" lang="zh-CN" altLang="en-US" sz="1800">
                <a:latin typeface="宋体" pitchFamily="2" charset="-122"/>
              </a:rPr>
              <a:t>只证唯一性</a:t>
            </a:r>
            <a:r>
              <a:rPr kumimoji="1" lang="en-US" altLang="zh-CN" sz="1800">
                <a:latin typeface="宋体" pitchFamily="2" charset="-122"/>
              </a:rPr>
              <a:t>, </a:t>
            </a:r>
            <a:r>
              <a:rPr kumimoji="1" lang="zh-CN" altLang="en-US" sz="1800">
                <a:latin typeface="宋体" pitchFamily="2" charset="-122"/>
              </a:rPr>
              <a:t>设有两种分解</a:t>
            </a:r>
            <a:endParaRPr lang="zh-CN" altLang="en-US" sz="1800"/>
          </a:p>
        </p:txBody>
      </p:sp>
      <p:sp>
        <p:nvSpPr>
          <p:cNvPr id="15" name="圆角矩形 14"/>
          <p:cNvSpPr/>
          <p:nvPr/>
        </p:nvSpPr>
        <p:spPr>
          <a:xfrm>
            <a:off x="1085850" y="676275"/>
            <a:ext cx="6800850" cy="847725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35" name="TextBox 15"/>
          <p:cNvSpPr txBox="1">
            <a:spLocks noChangeArrowheads="1"/>
          </p:cNvSpPr>
          <p:nvPr/>
        </p:nvSpPr>
        <p:spPr bwMode="auto">
          <a:xfrm>
            <a:off x="1676400" y="752475"/>
            <a:ext cx="5610225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solidFill>
                  <a:srgbClr val="FFFF00"/>
                </a:solidFill>
              </a:rPr>
              <a:t>定理</a:t>
            </a:r>
            <a:r>
              <a:rPr lang="en-US" altLang="zh-CN" sz="1800" b="1">
                <a:solidFill>
                  <a:srgbClr val="FFFF00"/>
                </a:solidFill>
              </a:rPr>
              <a:t>1     </a:t>
            </a:r>
            <a:r>
              <a:rPr kumimoji="1" lang="zh-CN" altLang="en-US" sz="1800">
                <a:solidFill>
                  <a:schemeClr val="bg1"/>
                </a:solidFill>
                <a:latin typeface="宋体" pitchFamily="2" charset="-122"/>
              </a:rPr>
              <a:t>设</a:t>
            </a:r>
            <a:r>
              <a:rPr kumimoji="1" lang="en-US" altLang="zh-CN" sz="1800">
                <a:solidFill>
                  <a:schemeClr val="bg1"/>
                </a:solidFill>
                <a:latin typeface="宋体" pitchFamily="2" charset="-122"/>
              </a:rPr>
              <a:t>n</a:t>
            </a:r>
            <a:r>
              <a:rPr kumimoji="1" lang="zh-CN" altLang="en-US" sz="1800">
                <a:solidFill>
                  <a:schemeClr val="bg1"/>
                </a:solidFill>
                <a:latin typeface="宋体" pitchFamily="2" charset="-122"/>
              </a:rPr>
              <a:t>阶方阵</a:t>
            </a:r>
            <a:r>
              <a:rPr kumimoji="1" lang="en-US" altLang="zh-CN" sz="1800" b="1">
                <a:solidFill>
                  <a:schemeClr val="bg1"/>
                </a:solidFill>
                <a:latin typeface="Times New Roman" pitchFamily="18" charset="0"/>
              </a:rPr>
              <a:t>A</a:t>
            </a:r>
            <a:r>
              <a:rPr kumimoji="1" lang="zh-CN" altLang="en-US" sz="1800">
                <a:solidFill>
                  <a:schemeClr val="bg1"/>
                </a:solidFill>
                <a:latin typeface="宋体" pitchFamily="2" charset="-122"/>
              </a:rPr>
              <a:t>的各阶顺序主子式不为零</a:t>
            </a:r>
            <a:r>
              <a:rPr kumimoji="1" lang="en-US" altLang="zh-CN" sz="1800">
                <a:solidFill>
                  <a:schemeClr val="bg1"/>
                </a:solidFill>
                <a:latin typeface="宋体" pitchFamily="2" charset="-122"/>
              </a:rPr>
              <a:t>,</a:t>
            </a:r>
            <a:r>
              <a:rPr kumimoji="1" lang="zh-CN" altLang="en-US" sz="1800">
                <a:solidFill>
                  <a:schemeClr val="bg1"/>
                </a:solidFill>
                <a:latin typeface="宋体" pitchFamily="2" charset="-122"/>
              </a:rPr>
              <a:t>则存在唯一单位下三角矩阵</a:t>
            </a:r>
            <a:r>
              <a:rPr kumimoji="1" lang="en-US" altLang="zh-CN" sz="1800" b="1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kumimoji="1" lang="zh-CN" altLang="en-US" sz="1800">
                <a:solidFill>
                  <a:schemeClr val="bg1"/>
                </a:solidFill>
                <a:latin typeface="宋体" pitchFamily="2" charset="-122"/>
              </a:rPr>
              <a:t>和上三角矩阵</a:t>
            </a:r>
            <a:r>
              <a:rPr kumimoji="1" lang="en-US" altLang="zh-CN" sz="1800" b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kumimoji="1" lang="zh-CN" altLang="en-US" sz="1800">
                <a:solidFill>
                  <a:schemeClr val="bg1"/>
                </a:solidFill>
                <a:latin typeface="宋体" pitchFamily="2" charset="-122"/>
              </a:rPr>
              <a:t>使</a:t>
            </a:r>
            <a:r>
              <a:rPr kumimoji="1" lang="en-US" altLang="zh-CN" sz="1800" b="1">
                <a:solidFill>
                  <a:schemeClr val="bg1"/>
                </a:solidFill>
                <a:latin typeface="Times New Roman" pitchFamily="18" charset="0"/>
              </a:rPr>
              <a:t>A</a:t>
            </a:r>
            <a:r>
              <a:rPr kumimoji="1" lang="en-US" altLang="zh-CN" sz="1800">
                <a:solidFill>
                  <a:schemeClr val="bg1"/>
                </a:solidFill>
                <a:latin typeface="Times New Roman" pitchFamily="18" charset="0"/>
              </a:rPr>
              <a:t>=</a:t>
            </a:r>
            <a:r>
              <a:rPr kumimoji="1" lang="en-US" altLang="zh-CN" sz="1800" b="1">
                <a:solidFill>
                  <a:schemeClr val="bg1"/>
                </a:solidFill>
                <a:latin typeface="Times New Roman" pitchFamily="18" charset="0"/>
              </a:rPr>
              <a:t>LU</a:t>
            </a:r>
            <a:r>
              <a:rPr kumimoji="1" lang="en-US" altLang="zh-CN" sz="1800">
                <a:solidFill>
                  <a:schemeClr val="bg1"/>
                </a:solidFill>
                <a:latin typeface="宋体" pitchFamily="2" charset="-122"/>
              </a:rPr>
              <a:t> .</a:t>
            </a:r>
          </a:p>
          <a:p>
            <a:pPr eaLnBrk="1" hangingPunct="1"/>
            <a:endParaRPr lang="zh-CN" altLang="en-US"/>
          </a:p>
        </p:txBody>
      </p:sp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3690938" y="2116138"/>
          <a:ext cx="17399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6" name="Equation" r:id="rId3" imgW="901309" imgH="215806" progId="Equation.3">
                  <p:embed/>
                </p:oleObj>
              </mc:Choice>
              <mc:Fallback>
                <p:oleObj name="Equation" r:id="rId3" imgW="90130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8" y="2116138"/>
                        <a:ext cx="17399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矩形 17"/>
          <p:cNvSpPr>
            <a:spLocks noChangeArrowheads="1"/>
          </p:cNvSpPr>
          <p:nvPr/>
        </p:nvSpPr>
        <p:spPr bwMode="auto">
          <a:xfrm>
            <a:off x="681038" y="2665413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则有</a:t>
            </a:r>
            <a:endParaRPr kumimoji="1" lang="zh-CN" altLang="en-US" sz="1800" b="1">
              <a:latin typeface="Times New Roman" pitchFamily="18" charset="0"/>
            </a:endParaRPr>
          </a:p>
        </p:txBody>
      </p:sp>
      <p:graphicFrame>
        <p:nvGraphicFramePr>
          <p:cNvPr id="1040" name="Object 16"/>
          <p:cNvGraphicFramePr>
            <a:graphicFrameLocks noChangeAspect="1"/>
          </p:cNvGraphicFramePr>
          <p:nvPr/>
        </p:nvGraphicFramePr>
        <p:xfrm>
          <a:off x="6022975" y="2774950"/>
          <a:ext cx="18018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7" name="Equation" r:id="rId5" imgW="850531" imgH="241195" progId="Equation.3">
                  <p:embed/>
                </p:oleObj>
              </mc:Choice>
              <mc:Fallback>
                <p:oleObj name="Equation" r:id="rId5" imgW="850531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2774950"/>
                        <a:ext cx="18018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矩形 20"/>
          <p:cNvSpPr>
            <a:spLocks noChangeArrowheads="1"/>
          </p:cNvSpPr>
          <p:nvPr/>
        </p:nvSpPr>
        <p:spPr bwMode="auto">
          <a:xfrm>
            <a:off x="4953000" y="2836863"/>
            <a:ext cx="8778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所以得</a:t>
            </a:r>
            <a:endParaRPr kumimoji="1" lang="zh-CN" altLang="en-US" sz="1800" b="1">
              <a:latin typeface="Times New Roman" pitchFamily="18" charset="0"/>
            </a:endParaRPr>
          </a:p>
        </p:txBody>
      </p:sp>
      <p:sp>
        <p:nvSpPr>
          <p:cNvPr id="1038" name="矩形 21"/>
          <p:cNvSpPr>
            <a:spLocks noChangeArrowheads="1"/>
          </p:cNvSpPr>
          <p:nvPr/>
        </p:nvSpPr>
        <p:spPr bwMode="auto">
          <a:xfrm>
            <a:off x="635000" y="3865563"/>
            <a:ext cx="3092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800">
                <a:latin typeface="宋体" pitchFamily="2" charset="-122"/>
              </a:rPr>
              <a:t>于是    </a:t>
            </a:r>
            <a:r>
              <a:rPr kumimoji="1" lang="en-US" altLang="zh-CN" sz="1800" b="1">
                <a:latin typeface="Times New Roman" pitchFamily="18" charset="0"/>
              </a:rPr>
              <a:t>Ax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b   </a:t>
            </a:r>
            <a:r>
              <a:rPr kumimoji="1" lang="en-US" altLang="zh-CN" sz="1800" b="1">
                <a:latin typeface="Times New Roman" pitchFamily="18" charset="0"/>
                <a:sym typeface="Symbol" pitchFamily="18" charset="2"/>
              </a:rPr>
              <a:t>  LUx</a:t>
            </a:r>
            <a:r>
              <a:rPr kumimoji="1" lang="en-US" altLang="zh-CN" sz="1800">
                <a:latin typeface="Times New Roman" pitchFamily="18" charset="0"/>
                <a:sym typeface="Symbol" pitchFamily="18" charset="2"/>
              </a:rPr>
              <a:t>=</a:t>
            </a:r>
            <a:r>
              <a:rPr kumimoji="1" lang="en-US" altLang="zh-CN" sz="1800" b="1">
                <a:latin typeface="Times New Roman" pitchFamily="18" charset="0"/>
                <a:sym typeface="Symbol" pitchFamily="18" charset="2"/>
              </a:rPr>
              <a:t>b</a:t>
            </a:r>
            <a:r>
              <a:rPr kumimoji="1" lang="en-US" altLang="zh-CN" sz="1800" b="1">
                <a:latin typeface="宋体" pitchFamily="2" charset="-122"/>
              </a:rPr>
              <a:t> </a:t>
            </a:r>
            <a:r>
              <a:rPr kumimoji="1" lang="zh-CN" altLang="en-US" sz="1800">
                <a:latin typeface="宋体" pitchFamily="2" charset="-122"/>
              </a:rPr>
              <a:t> </a:t>
            </a:r>
            <a:endParaRPr lang="zh-CN" altLang="en-US" sz="1800"/>
          </a:p>
        </p:txBody>
      </p:sp>
      <p:sp>
        <p:nvSpPr>
          <p:cNvPr id="1039" name="矩形 22"/>
          <p:cNvSpPr>
            <a:spLocks noChangeArrowheads="1"/>
          </p:cNvSpPr>
          <p:nvPr/>
        </p:nvSpPr>
        <p:spPr bwMode="auto">
          <a:xfrm>
            <a:off x="3749675" y="3870325"/>
            <a:ext cx="152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令</a:t>
            </a:r>
            <a:r>
              <a:rPr kumimoji="1" lang="zh-CN" altLang="en-US" sz="1800" b="1">
                <a:latin typeface="宋体" pitchFamily="2" charset="-122"/>
              </a:rPr>
              <a:t> </a:t>
            </a:r>
            <a:r>
              <a:rPr kumimoji="1" lang="en-US" altLang="zh-CN" sz="1800" b="1">
                <a:latin typeface="Times New Roman" pitchFamily="18" charset="0"/>
              </a:rPr>
              <a:t>Ux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y</a:t>
            </a:r>
            <a:r>
              <a:rPr kumimoji="1" lang="en-US" altLang="zh-CN" sz="1800" b="1">
                <a:latin typeface="宋体" pitchFamily="2" charset="-122"/>
              </a:rPr>
              <a:t>  </a:t>
            </a:r>
            <a:r>
              <a:rPr kumimoji="1" lang="zh-CN" altLang="en-US" sz="1800">
                <a:latin typeface="宋体" pitchFamily="2" charset="-122"/>
              </a:rPr>
              <a:t>得</a:t>
            </a:r>
            <a:endParaRPr kumimoji="1" lang="zh-CN" altLang="en-US" sz="1800">
              <a:latin typeface="Times New Roman" pitchFamily="18" charset="0"/>
            </a:endParaRPr>
          </a:p>
        </p:txBody>
      </p:sp>
      <p:graphicFrame>
        <p:nvGraphicFramePr>
          <p:cNvPr id="1041" name="Object 17"/>
          <p:cNvGraphicFramePr>
            <a:graphicFrameLocks noChangeAspect="1"/>
          </p:cNvGraphicFramePr>
          <p:nvPr/>
        </p:nvGraphicFramePr>
        <p:xfrm>
          <a:off x="5915025" y="3733800"/>
          <a:ext cx="9080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8" name="Equation" r:id="rId7" imgW="1129810" imgH="901309" progId="Equation.3">
                  <p:embed/>
                </p:oleObj>
              </mc:Choice>
              <mc:Fallback>
                <p:oleObj name="Equation" r:id="rId7" imgW="1129810" imgH="9013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025" y="3733800"/>
                        <a:ext cx="9080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" name="Object 18"/>
          <p:cNvGraphicFramePr>
            <a:graphicFrameLocks noChangeAspect="1"/>
          </p:cNvGraphicFramePr>
          <p:nvPr/>
        </p:nvGraphicFramePr>
        <p:xfrm>
          <a:off x="1682750" y="2554288"/>
          <a:ext cx="271780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9" name="Equation" r:id="rId9" imgW="1333500" imgH="533400" progId="Equation.3">
                  <p:embed/>
                </p:oleObj>
              </mc:Choice>
              <mc:Fallback>
                <p:oleObj name="Equation" r:id="rId9" imgW="13335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2554288"/>
                        <a:ext cx="2717800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842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33" grpId="0"/>
      <p:bldP spid="15" grpId="0" animBg="1"/>
      <p:bldP spid="1035" grpId="0"/>
      <p:bldP spid="1036" grpId="0"/>
      <p:bldP spid="1037" grpId="0"/>
      <p:bldP spid="1038" grpId="0"/>
      <p:bldP spid="10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直接三角分解法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200150" y="606425"/>
            <a:ext cx="5924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   </a:t>
            </a:r>
            <a:r>
              <a:rPr kumimoji="1" lang="zh-CN" altLang="en-US" sz="1800">
                <a:latin typeface="宋体" pitchFamily="2" charset="-122"/>
              </a:rPr>
              <a:t>下面介绍矩阵三角分解的</a:t>
            </a:r>
            <a:r>
              <a:rPr kumimoji="1" lang="en-US" altLang="zh-CN" sz="1800">
                <a:latin typeface="宋体" pitchFamily="2" charset="-122"/>
              </a:rPr>
              <a:t>Doolittle</a:t>
            </a:r>
            <a:r>
              <a:rPr kumimoji="1" lang="zh-CN" altLang="en-US" sz="1800">
                <a:latin typeface="宋体" pitchFamily="2" charset="-122"/>
              </a:rPr>
              <a:t>分解方法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设</a:t>
            </a:r>
            <a:r>
              <a:rPr kumimoji="1" lang="en-US" altLang="zh-CN" sz="1800">
                <a:latin typeface="宋体" pitchFamily="2" charset="-122"/>
              </a:rPr>
              <a:t> </a:t>
            </a:r>
          </a:p>
        </p:txBody>
      </p:sp>
      <p:graphicFrame>
        <p:nvGraphicFramePr>
          <p:cNvPr id="4" name="Object 16"/>
          <p:cNvGraphicFramePr>
            <a:graphicFrameLocks noChangeAspect="1"/>
          </p:cNvGraphicFramePr>
          <p:nvPr/>
        </p:nvGraphicFramePr>
        <p:xfrm>
          <a:off x="1646238" y="1014413"/>
          <a:ext cx="191452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2" name="Equation" r:id="rId3" imgW="2794000" imgH="1917700" progId="Equation.3">
                  <p:embed/>
                </p:oleObj>
              </mc:Choice>
              <mc:Fallback>
                <p:oleObj name="Equation" r:id="rId3" imgW="27940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1014413"/>
                        <a:ext cx="1914525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5" name="Object 17"/>
          <p:cNvGraphicFramePr>
            <a:graphicFrameLocks noChangeAspect="1"/>
          </p:cNvGraphicFramePr>
          <p:nvPr/>
        </p:nvGraphicFramePr>
        <p:xfrm>
          <a:off x="3568700" y="995363"/>
          <a:ext cx="1939925" cy="140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3" name="Equation" r:id="rId5" imgW="3314700" imgH="2400300" progId="Equation.3">
                  <p:embed/>
                </p:oleObj>
              </mc:Choice>
              <mc:Fallback>
                <p:oleObj name="Equation" r:id="rId5" imgW="3314700" imgH="240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995363"/>
                        <a:ext cx="1939925" cy="140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6" name="Object 18"/>
          <p:cNvGraphicFramePr>
            <a:graphicFrameLocks noChangeAspect="1"/>
          </p:cNvGraphicFramePr>
          <p:nvPr/>
        </p:nvGraphicFramePr>
        <p:xfrm>
          <a:off x="5600700" y="1011238"/>
          <a:ext cx="2066925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4" name="Equation" r:id="rId7" imgW="2882900" imgH="1917700" progId="Equation.3">
                  <p:embed/>
                </p:oleObj>
              </mc:Choice>
              <mc:Fallback>
                <p:oleObj name="Equation" r:id="rId7" imgW="28829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1011238"/>
                        <a:ext cx="2066925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矩形 19"/>
          <p:cNvSpPr>
            <a:spLocks noChangeArrowheads="1"/>
          </p:cNvSpPr>
          <p:nvPr/>
        </p:nvSpPr>
        <p:spPr bwMode="auto">
          <a:xfrm>
            <a:off x="1179513" y="2417763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则得</a:t>
            </a: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627313" y="2598738"/>
          <a:ext cx="20510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5" name="Equation" r:id="rId9" imgW="2755900" imgH="431800" progId="Equation.3">
                  <p:embed/>
                </p:oleObj>
              </mc:Choice>
              <mc:Fallback>
                <p:oleObj name="Equation" r:id="rId9" imgW="2755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598738"/>
                        <a:ext cx="205105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579688" y="3090863"/>
          <a:ext cx="25701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6" name="Equation" r:id="rId11" imgW="3454400" imgH="393700" progId="Equation.3">
                  <p:embed/>
                </p:oleObj>
              </mc:Choice>
              <mc:Fallback>
                <p:oleObj name="Equation" r:id="rId11" imgW="3454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3090863"/>
                        <a:ext cx="25701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522538" y="3900488"/>
          <a:ext cx="36671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7" name="Equation" r:id="rId13" imgW="4927600" imgH="660400" progId="Equation.3">
                  <p:embed/>
                </p:oleObj>
              </mc:Choice>
              <mc:Fallback>
                <p:oleObj name="Equation" r:id="rId13" imgW="49276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3900488"/>
                        <a:ext cx="36671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457450" y="3481388"/>
            <a:ext cx="3119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对</a:t>
            </a:r>
            <a:r>
              <a:rPr kumimoji="1" lang="en-US" altLang="zh-CN" sz="1800">
                <a:latin typeface="宋体" pitchFamily="2" charset="-122"/>
              </a:rPr>
              <a:t>k=2,3,</a:t>
            </a:r>
            <a:r>
              <a:rPr kumimoji="1" lang="en-US" altLang="zh-CN" sz="1800">
                <a:latin typeface="Times New Roman" pitchFamily="18" charset="0"/>
              </a:rPr>
              <a:t>…</a:t>
            </a:r>
            <a:r>
              <a:rPr kumimoji="1" lang="en-US" altLang="zh-CN" sz="1800">
                <a:latin typeface="宋体" pitchFamily="2" charset="-122"/>
              </a:rPr>
              <a:t>,n,</a:t>
            </a:r>
            <a:r>
              <a:rPr kumimoji="1" lang="zh-CN" altLang="en-US" sz="1800">
                <a:latin typeface="宋体" pitchFamily="2" charset="-122"/>
              </a:rPr>
              <a:t>计算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252663" y="2549525"/>
          <a:ext cx="5049837" cy="235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8" name="Equation" r:id="rId15" imgW="6553200" imgH="3060700" progId="Equation.3">
                  <p:embed/>
                </p:oleObj>
              </mc:Choice>
              <mc:Fallback>
                <p:oleObj name="Equation" r:id="rId15" imgW="6553200" imgH="306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2549525"/>
                        <a:ext cx="5049837" cy="235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102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6" grpId="0"/>
      <p:bldP spid="2061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直接三角分解法</a:t>
            </a:r>
          </a:p>
        </p:txBody>
      </p:sp>
      <p:graphicFrame>
        <p:nvGraphicFramePr>
          <p:cNvPr id="3083" name="Object 11"/>
          <p:cNvGraphicFramePr>
            <a:graphicFrameLocks noChangeAspect="1"/>
          </p:cNvGraphicFramePr>
          <p:nvPr/>
        </p:nvGraphicFramePr>
        <p:xfrm>
          <a:off x="2000250" y="760413"/>
          <a:ext cx="2089150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0" name="Equation" r:id="rId3" imgW="2794000" imgH="1917700" progId="Equation.3">
                  <p:embed/>
                </p:oleObj>
              </mc:Choice>
              <mc:Fallback>
                <p:oleObj name="Equation" r:id="rId3" imgW="27940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760413"/>
                        <a:ext cx="2089150" cy="143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/>
          <p:cNvGraphicFramePr>
            <a:graphicFrameLocks noChangeAspect="1"/>
          </p:cNvGraphicFramePr>
          <p:nvPr/>
        </p:nvGraphicFramePr>
        <p:xfrm>
          <a:off x="4256088" y="779463"/>
          <a:ext cx="2401887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1" name="Equation" r:id="rId5" imgW="3213100" imgH="1917700" progId="Equation.3">
                  <p:embed/>
                </p:oleObj>
              </mc:Choice>
              <mc:Fallback>
                <p:oleObj name="Equation" r:id="rId5" imgW="32131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088" y="779463"/>
                        <a:ext cx="2401887" cy="143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13"/>
          <p:cNvGraphicFramePr>
            <a:graphicFrameLocks noChangeAspect="1"/>
          </p:cNvGraphicFramePr>
          <p:nvPr/>
        </p:nvGraphicFramePr>
        <p:xfrm>
          <a:off x="419100" y="2244725"/>
          <a:ext cx="4495800" cy="251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2" name="Equation" r:id="rId7" imgW="6070600" imgH="3390900" progId="Equation.DSMT4">
                  <p:embed/>
                </p:oleObj>
              </mc:Choice>
              <mc:Fallback>
                <p:oleObj name="Equation" r:id="rId7" imgW="6070600" imgH="339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2244725"/>
                        <a:ext cx="4495800" cy="251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15"/>
          <p:cNvGraphicFramePr>
            <a:graphicFrameLocks noChangeAspect="1"/>
          </p:cNvGraphicFramePr>
          <p:nvPr/>
        </p:nvGraphicFramePr>
        <p:xfrm>
          <a:off x="5140325" y="2363788"/>
          <a:ext cx="1601788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3" name="Equation" r:id="rId9" imgW="2755900" imgH="431800" progId="Equation.3">
                  <p:embed/>
                </p:oleObj>
              </mc:Choice>
              <mc:Fallback>
                <p:oleObj name="Equation" r:id="rId9" imgW="2755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325" y="2363788"/>
                        <a:ext cx="1601788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16"/>
          <p:cNvGraphicFramePr>
            <a:graphicFrameLocks noChangeAspect="1"/>
          </p:cNvGraphicFramePr>
          <p:nvPr/>
        </p:nvGraphicFramePr>
        <p:xfrm>
          <a:off x="5191125" y="2751138"/>
          <a:ext cx="2008188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4" name="Equation" r:id="rId11" imgW="3454400" imgH="393700" progId="Equation.3">
                  <p:embed/>
                </p:oleObj>
              </mc:Choice>
              <mc:Fallback>
                <p:oleObj name="Equation" r:id="rId11" imgW="3454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2751138"/>
                        <a:ext cx="2008188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17"/>
          <p:cNvGraphicFramePr>
            <a:graphicFrameLocks noChangeAspect="1"/>
          </p:cNvGraphicFramePr>
          <p:nvPr/>
        </p:nvGraphicFramePr>
        <p:xfrm>
          <a:off x="5162550" y="3500438"/>
          <a:ext cx="28654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5" name="Equation" r:id="rId13" imgW="4927600" imgH="660400" progId="Equation.3">
                  <p:embed/>
                </p:oleObj>
              </mc:Choice>
              <mc:Fallback>
                <p:oleObj name="Equation" r:id="rId13" imgW="49276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50" y="3500438"/>
                        <a:ext cx="286543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4" name="Text Box 5"/>
          <p:cNvSpPr txBox="1">
            <a:spLocks noChangeArrowheads="1"/>
          </p:cNvSpPr>
          <p:nvPr/>
        </p:nvSpPr>
        <p:spPr bwMode="auto">
          <a:xfrm>
            <a:off x="5162550" y="3130550"/>
            <a:ext cx="24368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对</a:t>
            </a:r>
            <a:r>
              <a:rPr kumimoji="1" lang="en-US" altLang="zh-CN" sz="1800">
                <a:latin typeface="宋体" pitchFamily="2" charset="-122"/>
              </a:rPr>
              <a:t>k=2,3,</a:t>
            </a:r>
            <a:r>
              <a:rPr kumimoji="1" lang="en-US" altLang="zh-CN" sz="1800">
                <a:latin typeface="Times New Roman" pitchFamily="18" charset="0"/>
              </a:rPr>
              <a:t>…</a:t>
            </a:r>
            <a:r>
              <a:rPr kumimoji="1" lang="en-US" altLang="zh-CN" sz="1800">
                <a:latin typeface="宋体" pitchFamily="2" charset="-122"/>
              </a:rPr>
              <a:t>,n,</a:t>
            </a:r>
            <a:r>
              <a:rPr kumimoji="1" lang="zh-CN" altLang="en-US" sz="1800">
                <a:latin typeface="宋体" pitchFamily="2" charset="-122"/>
              </a:rPr>
              <a:t>计算</a:t>
            </a:r>
          </a:p>
        </p:txBody>
      </p:sp>
      <p:graphicFrame>
        <p:nvGraphicFramePr>
          <p:cNvPr id="3080" name="Object 18"/>
          <p:cNvGraphicFramePr>
            <a:graphicFrameLocks noChangeAspect="1"/>
          </p:cNvGraphicFramePr>
          <p:nvPr/>
        </p:nvGraphicFramePr>
        <p:xfrm>
          <a:off x="4992688" y="2257425"/>
          <a:ext cx="377825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6" name="Equation" r:id="rId15" imgW="6553200" imgH="3060700" progId="Equation.DSMT4">
                  <p:embed/>
                </p:oleObj>
              </mc:Choice>
              <mc:Fallback>
                <p:oleObj name="Equation" r:id="rId15" imgW="6553200" imgH="306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2257425"/>
                        <a:ext cx="377825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5" name="Object 9"/>
          <p:cNvGraphicFramePr>
            <a:graphicFrameLocks noChangeAspect="1"/>
          </p:cNvGraphicFramePr>
          <p:nvPr/>
        </p:nvGraphicFramePr>
        <p:xfrm>
          <a:off x="4211638" y="762000"/>
          <a:ext cx="2484437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7" name="Equation" r:id="rId17" imgW="3213100" imgH="1917700" progId="Equation.DSMT4">
                  <p:embed/>
                </p:oleObj>
              </mc:Choice>
              <mc:Fallback>
                <p:oleObj name="Equation" r:id="rId17" imgW="3213100" imgH="1917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762000"/>
                        <a:ext cx="2484437" cy="148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712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08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直接三角分解法</a:t>
            </a:r>
          </a:p>
        </p:txBody>
      </p:sp>
      <p:sp>
        <p:nvSpPr>
          <p:cNvPr id="4107" name="矩形 14"/>
          <p:cNvSpPr>
            <a:spLocks noChangeArrowheads="1"/>
          </p:cNvSpPr>
          <p:nvPr/>
        </p:nvSpPr>
        <p:spPr bwMode="auto">
          <a:xfrm>
            <a:off x="741363" y="636588"/>
            <a:ext cx="515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由</a:t>
            </a:r>
          </a:p>
        </p:txBody>
      </p:sp>
      <p:graphicFrame>
        <p:nvGraphicFramePr>
          <p:cNvPr id="4108" name="Object 12"/>
          <p:cNvGraphicFramePr>
            <a:graphicFrameLocks noChangeAspect="1"/>
          </p:cNvGraphicFramePr>
          <p:nvPr/>
        </p:nvGraphicFramePr>
        <p:xfrm>
          <a:off x="1312863" y="923925"/>
          <a:ext cx="3078162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6" name="Equation" r:id="rId3" imgW="4051300" imgH="1917700" progId="Equation.3">
                  <p:embed/>
                </p:oleObj>
              </mc:Choice>
              <mc:Fallback>
                <p:oleObj name="Equation" r:id="rId3" imgW="40513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923925"/>
                        <a:ext cx="3078162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13"/>
          <p:cNvGraphicFramePr>
            <a:graphicFrameLocks noChangeAspect="1"/>
          </p:cNvGraphicFramePr>
          <p:nvPr/>
        </p:nvGraphicFramePr>
        <p:xfrm>
          <a:off x="4486275" y="887413"/>
          <a:ext cx="3333750" cy="154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7" name="Equation" r:id="rId5" imgW="4660900" imgH="1917700" progId="Equation.3">
                  <p:embed/>
                </p:oleObj>
              </mc:Choice>
              <mc:Fallback>
                <p:oleObj name="Equation" r:id="rId5" imgW="46609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275" y="887413"/>
                        <a:ext cx="3333750" cy="154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16"/>
          <p:cNvSpPr>
            <a:spLocks noChangeArrowheads="1"/>
          </p:cNvSpPr>
          <p:nvPr/>
        </p:nvSpPr>
        <p:spPr bwMode="auto">
          <a:xfrm>
            <a:off x="738188" y="2570163"/>
            <a:ext cx="652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可得</a:t>
            </a:r>
          </a:p>
        </p:txBody>
      </p:sp>
      <p:graphicFrame>
        <p:nvGraphicFramePr>
          <p:cNvPr id="4111" name="Object 15"/>
          <p:cNvGraphicFramePr>
            <a:graphicFrameLocks noChangeAspect="1"/>
          </p:cNvGraphicFramePr>
          <p:nvPr/>
        </p:nvGraphicFramePr>
        <p:xfrm>
          <a:off x="2476500" y="2774950"/>
          <a:ext cx="73818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8" name="Equation" r:id="rId7" imgW="939392" imgH="393529" progId="Equation.3">
                  <p:embed/>
                </p:oleObj>
              </mc:Choice>
              <mc:Fallback>
                <p:oleObj name="Equation" r:id="rId7" imgW="93939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2774950"/>
                        <a:ext cx="738188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2" name="Object 16"/>
          <p:cNvGraphicFramePr>
            <a:graphicFrameLocks noChangeAspect="1"/>
          </p:cNvGraphicFramePr>
          <p:nvPr/>
        </p:nvGraphicFramePr>
        <p:xfrm>
          <a:off x="2470150" y="2995613"/>
          <a:ext cx="33369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9" name="Equation" r:id="rId9" imgW="4254500" imgH="660400" progId="Equation.3">
                  <p:embed/>
                </p:oleObj>
              </mc:Choice>
              <mc:Fallback>
                <p:oleObj name="Equation" r:id="rId9" imgW="42545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2995613"/>
                        <a:ext cx="33369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3" name="Object 17"/>
          <p:cNvGraphicFramePr>
            <a:graphicFrameLocks noChangeAspect="1"/>
          </p:cNvGraphicFramePr>
          <p:nvPr/>
        </p:nvGraphicFramePr>
        <p:xfrm>
          <a:off x="2484438" y="3475038"/>
          <a:ext cx="14351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0" name="Equation" r:id="rId11" imgW="1459866" imgH="342751" progId="Equation.3">
                  <p:embed/>
                </p:oleObj>
              </mc:Choice>
              <mc:Fallback>
                <p:oleObj name="Equation" r:id="rId11" imgW="1459866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475038"/>
                        <a:ext cx="1435100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4" name="Object 18"/>
          <p:cNvGraphicFramePr>
            <a:graphicFrameLocks noChangeAspect="1"/>
          </p:cNvGraphicFramePr>
          <p:nvPr/>
        </p:nvGraphicFramePr>
        <p:xfrm>
          <a:off x="2390775" y="2620963"/>
          <a:ext cx="3743325" cy="186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1" name="Equation" r:id="rId13" imgW="2794000" imgH="1168400" progId="Equation.DSMT4">
                  <p:embed/>
                </p:oleObj>
              </mc:Choice>
              <mc:Fallback>
                <p:oleObj name="Equation" r:id="rId13" imgW="2794000" imgH="116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2620963"/>
                        <a:ext cx="3743325" cy="186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椭圆 21"/>
          <p:cNvSpPr/>
          <p:nvPr/>
        </p:nvSpPr>
        <p:spPr>
          <a:xfrm>
            <a:off x="6067425" y="2924175"/>
            <a:ext cx="2600325" cy="1371600"/>
          </a:xfrm>
          <a:prstGeom prst="ellipse">
            <a:avLst/>
          </a:prstGeom>
          <a:solidFill>
            <a:srgbClr val="FF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110" name="TextBox 22"/>
          <p:cNvSpPr txBox="1">
            <a:spLocks noChangeArrowheads="1"/>
          </p:cNvSpPr>
          <p:nvPr/>
        </p:nvSpPr>
        <p:spPr bwMode="auto">
          <a:xfrm>
            <a:off x="6381750" y="3171825"/>
            <a:ext cx="1981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600">
                <a:solidFill>
                  <a:srgbClr val="FF0000"/>
                </a:solidFill>
                <a:latin typeface="宋体" pitchFamily="2" charset="-122"/>
              </a:rPr>
              <a:t>这就是求解方程组</a:t>
            </a:r>
            <a:r>
              <a:rPr kumimoji="1" lang="en-US" altLang="zh-CN" sz="1600" b="1">
                <a:solidFill>
                  <a:srgbClr val="FF0000"/>
                </a:solidFill>
                <a:latin typeface="宋体" pitchFamily="2" charset="-122"/>
              </a:rPr>
              <a:t>Ax</a:t>
            </a:r>
            <a:r>
              <a:rPr kumimoji="1" lang="en-US" altLang="zh-CN" sz="1600">
                <a:solidFill>
                  <a:srgbClr val="FF0000"/>
                </a:solidFill>
                <a:latin typeface="宋体" pitchFamily="2" charset="-122"/>
              </a:rPr>
              <a:t>=</a:t>
            </a:r>
            <a:r>
              <a:rPr kumimoji="1" lang="en-US" altLang="zh-CN" sz="1600" b="1">
                <a:solidFill>
                  <a:srgbClr val="FF0000"/>
                </a:solidFill>
                <a:latin typeface="宋体" pitchFamily="2" charset="-122"/>
              </a:rPr>
              <a:t>b</a:t>
            </a:r>
            <a:r>
              <a:rPr kumimoji="1" lang="zh-CN" altLang="en-US" sz="1600">
                <a:solidFill>
                  <a:srgbClr val="FF0000"/>
                </a:solidFill>
                <a:latin typeface="宋体" pitchFamily="2" charset="-122"/>
              </a:rPr>
              <a:t>的</a:t>
            </a:r>
            <a:r>
              <a:rPr kumimoji="1" lang="en-US" altLang="zh-CN" sz="1600">
                <a:solidFill>
                  <a:srgbClr val="FF0000"/>
                </a:solidFill>
                <a:latin typeface="宋体" pitchFamily="2" charset="-122"/>
              </a:rPr>
              <a:t>Doolittle</a:t>
            </a:r>
            <a:r>
              <a:rPr kumimoji="1" lang="zh-CN" altLang="en-US" sz="1600">
                <a:solidFill>
                  <a:srgbClr val="FF0000"/>
                </a:solidFill>
                <a:latin typeface="宋体" pitchFamily="2" charset="-122"/>
              </a:rPr>
              <a:t>三角分解方法。</a:t>
            </a:r>
          </a:p>
        </p:txBody>
      </p:sp>
    </p:spTree>
    <p:extLst>
      <p:ext uri="{BB962C8B-B14F-4D97-AF65-F5344CB8AC3E}">
        <p14:creationId xmlns:p14="http://schemas.microsoft.com/office/powerpoint/2010/main" val="94444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107" grpId="0"/>
      <p:bldP spid="4" grpId="0"/>
      <p:bldP spid="22" grpId="0" animBg="1"/>
      <p:bldP spid="41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直接三角分解法</a:t>
            </a:r>
          </a:p>
        </p:txBody>
      </p:sp>
      <p:sp>
        <p:nvSpPr>
          <p:cNvPr id="1040" name="矩形 21"/>
          <p:cNvSpPr>
            <a:spLocks noChangeArrowheads="1"/>
          </p:cNvSpPr>
          <p:nvPr/>
        </p:nvSpPr>
        <p:spPr bwMode="auto">
          <a:xfrm>
            <a:off x="1216025" y="3379788"/>
            <a:ext cx="646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/>
              <a:t>所以</a:t>
            </a:r>
          </a:p>
        </p:txBody>
      </p:sp>
      <p:sp>
        <p:nvSpPr>
          <p:cNvPr id="1041" name="矩形 15"/>
          <p:cNvSpPr>
            <a:spLocks noChangeArrowheads="1"/>
          </p:cNvSpPr>
          <p:nvPr/>
        </p:nvSpPr>
        <p:spPr bwMode="auto">
          <a:xfrm>
            <a:off x="2127250" y="636588"/>
            <a:ext cx="3878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chemeClr val="accent2"/>
                </a:solidFill>
                <a:latin typeface="宋体" pitchFamily="2" charset="-122"/>
              </a:rPr>
              <a:t>例</a:t>
            </a:r>
            <a:r>
              <a:rPr kumimoji="1" lang="zh-CN" altLang="en-US" sz="1800">
                <a:solidFill>
                  <a:schemeClr val="accent2"/>
                </a:solidFill>
                <a:latin typeface="宋体" pitchFamily="2" charset="-122"/>
              </a:rPr>
              <a:t>：利用三角分解方法解线性方程组</a:t>
            </a:r>
          </a:p>
        </p:txBody>
      </p:sp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3352800" y="1095375"/>
          <a:ext cx="1933575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0" name="Equation" r:id="rId3" imgW="1066755" imgH="600210" progId="Equation.DSMT4">
                  <p:embed/>
                </p:oleObj>
              </mc:Choice>
              <mc:Fallback>
                <p:oleObj name="Equation" r:id="rId3" imgW="1066755" imgH="6002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095375"/>
                        <a:ext cx="1933575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2" name="矩形 17"/>
          <p:cNvSpPr>
            <a:spLocks noChangeArrowheads="1"/>
          </p:cNvSpPr>
          <p:nvPr/>
        </p:nvSpPr>
        <p:spPr bwMode="auto">
          <a:xfrm>
            <a:off x="1169988" y="2189163"/>
            <a:ext cx="122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800">
                <a:latin typeface="宋体" pitchFamily="2" charset="-122"/>
              </a:rPr>
              <a:t> </a:t>
            </a:r>
            <a:r>
              <a:rPr kumimoji="1" lang="zh-CN" altLang="en-US" sz="1800" b="1">
                <a:latin typeface="宋体" pitchFamily="2" charset="-122"/>
              </a:rPr>
              <a:t>解  </a:t>
            </a:r>
            <a:r>
              <a:rPr kumimoji="1" lang="zh-CN" altLang="en-US" sz="1800">
                <a:latin typeface="宋体" pitchFamily="2" charset="-122"/>
              </a:rPr>
              <a:t>因为</a:t>
            </a:r>
            <a:endParaRPr lang="zh-CN" altLang="en-US" sz="1800"/>
          </a:p>
        </p:txBody>
      </p:sp>
      <p:graphicFrame>
        <p:nvGraphicFramePr>
          <p:cNvPr id="6" name="Object 17"/>
          <p:cNvGraphicFramePr>
            <a:graphicFrameLocks noChangeAspect="1"/>
          </p:cNvGraphicFramePr>
          <p:nvPr/>
        </p:nvGraphicFramePr>
        <p:xfrm>
          <a:off x="2749550" y="2438400"/>
          <a:ext cx="15462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1" name="Equation" r:id="rId5" imgW="2514600" imgH="1409700" progId="Equation.3">
                  <p:embed/>
                </p:oleObj>
              </mc:Choice>
              <mc:Fallback>
                <p:oleObj name="Equation" r:id="rId5" imgW="25146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2438400"/>
                        <a:ext cx="15462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/>
          <p:cNvGraphicFramePr>
            <a:graphicFrameLocks noChangeAspect="1"/>
          </p:cNvGraphicFramePr>
          <p:nvPr/>
        </p:nvGraphicFramePr>
        <p:xfrm>
          <a:off x="4559300" y="2419350"/>
          <a:ext cx="14605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2" name="Equation" r:id="rId7" imgW="2374900" imgH="1460500" progId="Equation.3">
                  <p:embed/>
                </p:oleObj>
              </mc:Choice>
              <mc:Fallback>
                <p:oleObj name="Equation" r:id="rId7" imgW="23749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0" y="2419350"/>
                        <a:ext cx="14605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3" name="Object 19"/>
          <p:cNvGraphicFramePr>
            <a:graphicFrameLocks noChangeAspect="1"/>
          </p:cNvGraphicFramePr>
          <p:nvPr/>
        </p:nvGraphicFramePr>
        <p:xfrm>
          <a:off x="4543425" y="2419350"/>
          <a:ext cx="14128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3" name="Equation" r:id="rId9" imgW="2298700" imgH="1460500" progId="Equation.3">
                  <p:embed/>
                </p:oleObj>
              </mc:Choice>
              <mc:Fallback>
                <p:oleObj name="Equation" r:id="rId9" imgW="22987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425" y="2419350"/>
                        <a:ext cx="14128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" name="Object 20"/>
          <p:cNvGraphicFramePr>
            <a:graphicFrameLocks noChangeAspect="1"/>
          </p:cNvGraphicFramePr>
          <p:nvPr/>
        </p:nvGraphicFramePr>
        <p:xfrm>
          <a:off x="4543425" y="2457450"/>
          <a:ext cx="14128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4" name="Equation" r:id="rId11" imgW="2298700" imgH="1409700" progId="Equation.3">
                  <p:embed/>
                </p:oleObj>
              </mc:Choice>
              <mc:Fallback>
                <p:oleObj name="Equation" r:id="rId11" imgW="22987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425" y="2457450"/>
                        <a:ext cx="14128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5" name="Object 21"/>
          <p:cNvGraphicFramePr>
            <a:graphicFrameLocks noChangeAspect="1"/>
          </p:cNvGraphicFramePr>
          <p:nvPr/>
        </p:nvGraphicFramePr>
        <p:xfrm>
          <a:off x="4530725" y="2457450"/>
          <a:ext cx="14128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5" name="Equation" r:id="rId13" imgW="2298700" imgH="1409700" progId="Equation.3">
                  <p:embed/>
                </p:oleObj>
              </mc:Choice>
              <mc:Fallback>
                <p:oleObj name="Equation" r:id="rId13" imgW="22987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5" y="2457450"/>
                        <a:ext cx="14128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" name="Object 22"/>
          <p:cNvGraphicFramePr>
            <a:graphicFrameLocks noChangeAspect="1"/>
          </p:cNvGraphicFramePr>
          <p:nvPr/>
        </p:nvGraphicFramePr>
        <p:xfrm>
          <a:off x="4454525" y="2457450"/>
          <a:ext cx="12731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6" name="Equation" r:id="rId15" imgW="2070100" imgH="1409700" progId="Equation.3">
                  <p:embed/>
                </p:oleObj>
              </mc:Choice>
              <mc:Fallback>
                <p:oleObj name="Equation" r:id="rId15" imgW="20701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525" y="2457450"/>
                        <a:ext cx="12731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" name="Object 23"/>
          <p:cNvGraphicFramePr>
            <a:graphicFrameLocks noChangeAspect="1"/>
          </p:cNvGraphicFramePr>
          <p:nvPr/>
        </p:nvGraphicFramePr>
        <p:xfrm>
          <a:off x="4443413" y="2457450"/>
          <a:ext cx="12652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7" name="Equation" r:id="rId17" imgW="2057400" imgH="1409700" progId="Equation.3">
                  <p:embed/>
                </p:oleObj>
              </mc:Choice>
              <mc:Fallback>
                <p:oleObj name="Equation" r:id="rId17" imgW="20574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413" y="2457450"/>
                        <a:ext cx="126523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" name="Object 24"/>
          <p:cNvGraphicFramePr>
            <a:graphicFrameLocks noChangeAspect="1"/>
          </p:cNvGraphicFramePr>
          <p:nvPr/>
        </p:nvGraphicFramePr>
        <p:xfrm>
          <a:off x="2657475" y="3676650"/>
          <a:ext cx="151288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8" name="Equation" r:id="rId19" imgW="2514600" imgH="1409700" progId="Equation.3">
                  <p:embed/>
                </p:oleObj>
              </mc:Choice>
              <mc:Fallback>
                <p:oleObj name="Equation" r:id="rId19" imgW="25146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3676650"/>
                        <a:ext cx="151288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" name="Object 25"/>
          <p:cNvGraphicFramePr>
            <a:graphicFrameLocks noChangeAspect="1"/>
          </p:cNvGraphicFramePr>
          <p:nvPr/>
        </p:nvGraphicFramePr>
        <p:xfrm>
          <a:off x="4238625" y="3667125"/>
          <a:ext cx="1017588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9" name="Equation" r:id="rId20" imgW="1689100" imgH="1460500" progId="Equation.3">
                  <p:embed/>
                </p:oleObj>
              </mc:Choice>
              <mc:Fallback>
                <p:oleObj name="Equation" r:id="rId20" imgW="16891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5" y="3667125"/>
                        <a:ext cx="1017588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" name="Object 26"/>
          <p:cNvGraphicFramePr>
            <a:graphicFrameLocks noChangeAspect="1"/>
          </p:cNvGraphicFramePr>
          <p:nvPr/>
        </p:nvGraphicFramePr>
        <p:xfrm>
          <a:off x="5337175" y="3670300"/>
          <a:ext cx="12414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80" name="Equation" r:id="rId22" imgW="1968500" imgH="1460500" progId="Equation.3">
                  <p:embed/>
                </p:oleObj>
              </mc:Choice>
              <mc:Fallback>
                <p:oleObj name="Equation" r:id="rId22" imgW="19685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3670300"/>
                        <a:ext cx="124142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555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40" grpId="0"/>
      <p:bldP spid="1041" grpId="0"/>
      <p:bldP spid="104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直接三角分解法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695450" y="1000125"/>
            <a:ext cx="5962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先解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527300" y="676275"/>
          <a:ext cx="19970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0" name="Equation" r:id="rId3" imgW="2882900" imgH="1460500" progId="Equation.3">
                  <p:embed/>
                </p:oleObj>
              </mc:Choice>
              <mc:Fallback>
                <p:oleObj name="Equation" r:id="rId3" imgW="28829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676275"/>
                        <a:ext cx="19970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495800" y="866775"/>
            <a:ext cx="1181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得</a:t>
            </a:r>
          </a:p>
        </p:txBody>
      </p:sp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5070475" y="657225"/>
          <a:ext cx="5000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1" name="Equation" r:id="rId5" imgW="698500" imgH="1409700" progId="Equation.3">
                  <p:embed/>
                </p:oleObj>
              </mc:Choice>
              <mc:Fallback>
                <p:oleObj name="Equation" r:id="rId5" imgW="6985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657225"/>
                        <a:ext cx="50006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5762625" y="682625"/>
          <a:ext cx="8636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2" name="Equation" r:id="rId7" imgW="1206500" imgH="1409700" progId="Equation.3">
                  <p:embed/>
                </p:oleObj>
              </mc:Choice>
              <mc:Fallback>
                <p:oleObj name="Equation" r:id="rId7" imgW="12065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682625"/>
                        <a:ext cx="8636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5749925" y="695325"/>
          <a:ext cx="8636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3" name="Equation" r:id="rId9" imgW="1206500" imgH="1409700" progId="Equation.3">
                  <p:embed/>
                </p:oleObj>
              </mc:Choice>
              <mc:Fallback>
                <p:oleObj name="Equation" r:id="rId9" imgW="12065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9925" y="695325"/>
                        <a:ext cx="8636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/>
        </p:nvGraphicFramePr>
        <p:xfrm>
          <a:off x="5622925" y="657225"/>
          <a:ext cx="7731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4" name="Equation" r:id="rId11" imgW="1079032" imgH="1459866" progId="Equation.3">
                  <p:embed/>
                </p:oleObj>
              </mc:Choice>
              <mc:Fallback>
                <p:oleObj name="Equation" r:id="rId11" imgW="1079032" imgH="14598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5" y="657225"/>
                        <a:ext cx="773113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Object 16"/>
          <p:cNvGraphicFramePr>
            <a:graphicFrameLocks noChangeAspect="1"/>
          </p:cNvGraphicFramePr>
          <p:nvPr/>
        </p:nvGraphicFramePr>
        <p:xfrm>
          <a:off x="2311400" y="1835150"/>
          <a:ext cx="27844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5" name="Equation" r:id="rId13" imgW="3746500" imgH="1460500" progId="Equation.3">
                  <p:embed/>
                </p:oleObj>
              </mc:Choice>
              <mc:Fallback>
                <p:oleObj name="Equation" r:id="rId13" imgW="37465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1835150"/>
                        <a:ext cx="278447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/>
        </p:nvGraphicFramePr>
        <p:xfrm>
          <a:off x="5654675" y="1857375"/>
          <a:ext cx="51911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6" name="Equation" r:id="rId15" imgW="698500" imgH="1409700" progId="Equation.3">
                  <p:embed/>
                </p:oleObj>
              </mc:Choice>
              <mc:Fallback>
                <p:oleObj name="Equation" r:id="rId15" imgW="6985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675" y="1857375"/>
                        <a:ext cx="519113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/>
          <p:cNvGraphicFramePr>
            <a:graphicFrameLocks noChangeAspect="1"/>
          </p:cNvGraphicFramePr>
          <p:nvPr/>
        </p:nvGraphicFramePr>
        <p:xfrm>
          <a:off x="6340475" y="1857375"/>
          <a:ext cx="57626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7" name="Equation" r:id="rId17" imgW="774364" imgH="1409088" progId="Equation.3">
                  <p:embed/>
                </p:oleObj>
              </mc:Choice>
              <mc:Fallback>
                <p:oleObj name="Equation" r:id="rId17" imgW="774364" imgH="1409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0475" y="1857375"/>
                        <a:ext cx="576263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7" name="Object 19"/>
          <p:cNvGraphicFramePr>
            <a:graphicFrameLocks noChangeAspect="1"/>
          </p:cNvGraphicFramePr>
          <p:nvPr/>
        </p:nvGraphicFramePr>
        <p:xfrm>
          <a:off x="6353175" y="1857375"/>
          <a:ext cx="57626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8" name="Equation" r:id="rId19" imgW="774364" imgH="1409088" progId="Equation.3">
                  <p:embed/>
                </p:oleObj>
              </mc:Choice>
              <mc:Fallback>
                <p:oleObj name="Equation" r:id="rId19" imgW="774364" imgH="1409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1857375"/>
                        <a:ext cx="576263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" name="Object 20"/>
          <p:cNvGraphicFramePr>
            <a:graphicFrameLocks noChangeAspect="1"/>
          </p:cNvGraphicFramePr>
          <p:nvPr/>
        </p:nvGraphicFramePr>
        <p:xfrm>
          <a:off x="6353175" y="1895475"/>
          <a:ext cx="57626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9" name="Equation" r:id="rId21" imgW="774364" imgH="1409088" progId="Equation.3">
                  <p:embed/>
                </p:oleObj>
              </mc:Choice>
              <mc:Fallback>
                <p:oleObj name="Equation" r:id="rId21" imgW="774364" imgH="1409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1895475"/>
                        <a:ext cx="576263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1657350" y="2143125"/>
            <a:ext cx="5962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再解</a:t>
            </a: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5019675" y="2028825"/>
            <a:ext cx="1181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得</a:t>
            </a:r>
          </a:p>
        </p:txBody>
      </p:sp>
      <p:sp>
        <p:nvSpPr>
          <p:cNvPr id="4" name="矩形 26"/>
          <p:cNvSpPr>
            <a:spLocks noChangeArrowheads="1"/>
          </p:cNvSpPr>
          <p:nvPr/>
        </p:nvSpPr>
        <p:spPr bwMode="auto">
          <a:xfrm>
            <a:off x="1409700" y="2941638"/>
            <a:ext cx="66579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1800">
                <a:solidFill>
                  <a:srgbClr val="FF0000"/>
                </a:solidFill>
                <a:latin typeface="宋体" pitchFamily="2" charset="-122"/>
              </a:rPr>
              <a:t> 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解线性方程组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Ax=b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的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Doolittle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三角分解法的计算量约为（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1/3)n</a:t>
            </a:r>
            <a:r>
              <a:rPr kumimoji="1" lang="en-US" altLang="zh-CN" sz="1800" b="1" baseline="30000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,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与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Gauss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消去法基本相同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.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其优点在于求一系列同系数的线性方程组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Ax=b</a:t>
            </a:r>
            <a:r>
              <a:rPr kumimoji="1" lang="en-US" altLang="zh-CN" sz="1800" b="1" baseline="-25000">
                <a:solidFill>
                  <a:srgbClr val="FF0000"/>
                </a:solidFill>
                <a:latin typeface="Times New Roman" pitchFamily="18" charset="0"/>
              </a:rPr>
              <a:t>k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 ,(k=1,2,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…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,m)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时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,</a:t>
            </a:r>
            <a:r>
              <a:rPr kumimoji="1" lang="zh-CN" altLang="en-US" sz="1800" b="1">
                <a:solidFill>
                  <a:srgbClr val="FF0000"/>
                </a:solidFill>
                <a:latin typeface="宋体" pitchFamily="2" charset="-122"/>
              </a:rPr>
              <a:t>可大大节省运算量</a:t>
            </a:r>
            <a:r>
              <a:rPr kumimoji="1" lang="en-US" altLang="zh-CN" sz="1800" b="1">
                <a:solidFill>
                  <a:srgbClr val="FF0000"/>
                </a:solidFill>
                <a:latin typeface="宋体" pitchFamily="2" charset="-122"/>
              </a:rPr>
              <a:t>.</a:t>
            </a:r>
            <a:endParaRPr lang="zh-CN" altLang="en-US" sz="1800" b="1"/>
          </a:p>
        </p:txBody>
      </p:sp>
      <p:sp>
        <p:nvSpPr>
          <p:cNvPr id="5" name="矩形 27"/>
          <p:cNvSpPr>
            <a:spLocks noChangeArrowheads="1"/>
          </p:cNvSpPr>
          <p:nvPr/>
        </p:nvSpPr>
        <p:spPr bwMode="auto">
          <a:xfrm>
            <a:off x="2019300" y="3922713"/>
            <a:ext cx="601027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例如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求上例中矩阵</a:t>
            </a:r>
            <a:r>
              <a:rPr kumimoji="1" lang="en-US" altLang="zh-CN" sz="1800" b="1">
                <a:latin typeface="宋体" pitchFamily="2" charset="-122"/>
              </a:rPr>
              <a:t>A</a:t>
            </a:r>
            <a:r>
              <a:rPr kumimoji="1" lang="zh-CN" altLang="en-US" sz="1800">
                <a:latin typeface="宋体" pitchFamily="2" charset="-122"/>
              </a:rPr>
              <a:t>的逆矩阵</a:t>
            </a:r>
            <a:r>
              <a:rPr kumimoji="1" lang="en-US" altLang="zh-CN" sz="1800">
                <a:latin typeface="宋体" pitchFamily="2" charset="-122"/>
              </a:rPr>
              <a:t>.</a:t>
            </a:r>
            <a:r>
              <a:rPr kumimoji="1" lang="zh-CN" altLang="en-US" sz="1800">
                <a:latin typeface="宋体" pitchFamily="2" charset="-122"/>
              </a:rPr>
              <a:t>可分别取常向量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   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 baseline="-25000">
                <a:latin typeface="宋体" pitchFamily="2" charset="-122"/>
              </a:rPr>
              <a:t>1</a:t>
            </a:r>
            <a:r>
              <a:rPr kumimoji="1" lang="en-US" altLang="zh-CN" sz="1800">
                <a:latin typeface="宋体" pitchFamily="2" charset="-122"/>
              </a:rPr>
              <a:t>=(1,0,0)</a:t>
            </a:r>
            <a:r>
              <a:rPr kumimoji="1" lang="en-US" altLang="zh-CN" sz="1800" baseline="30000">
                <a:latin typeface="宋体" pitchFamily="2" charset="-122"/>
              </a:rPr>
              <a:t>T</a:t>
            </a:r>
            <a:r>
              <a:rPr kumimoji="1" lang="en-US" altLang="zh-CN" sz="1800">
                <a:latin typeface="宋体" pitchFamily="2" charset="-122"/>
              </a:rPr>
              <a:t>, 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 baseline="-25000">
                <a:latin typeface="宋体" pitchFamily="2" charset="-122"/>
              </a:rPr>
              <a:t>2</a:t>
            </a:r>
            <a:r>
              <a:rPr kumimoji="1" lang="en-US" altLang="zh-CN" sz="1800">
                <a:latin typeface="宋体" pitchFamily="2" charset="-122"/>
              </a:rPr>
              <a:t>=(0,1,0)</a:t>
            </a:r>
            <a:r>
              <a:rPr kumimoji="1" lang="en-US" altLang="zh-CN" sz="1800" baseline="30000">
                <a:latin typeface="宋体" pitchFamily="2" charset="-122"/>
              </a:rPr>
              <a:t>T</a:t>
            </a:r>
            <a:r>
              <a:rPr kumimoji="1" lang="en-US" altLang="zh-CN" sz="1800">
                <a:latin typeface="宋体" pitchFamily="2" charset="-122"/>
              </a:rPr>
              <a:t>, </a:t>
            </a:r>
            <a:r>
              <a:rPr kumimoji="1" lang="en-US" altLang="zh-CN" sz="1800" b="1">
                <a:latin typeface="宋体" pitchFamily="2" charset="-122"/>
              </a:rPr>
              <a:t>b</a:t>
            </a:r>
            <a:r>
              <a:rPr kumimoji="1" lang="en-US" altLang="zh-CN" sz="1800" baseline="-25000">
                <a:latin typeface="宋体" pitchFamily="2" charset="-122"/>
              </a:rPr>
              <a:t>3</a:t>
            </a:r>
            <a:r>
              <a:rPr kumimoji="1" lang="en-US" altLang="zh-CN" sz="1800">
                <a:latin typeface="宋体" pitchFamily="2" charset="-122"/>
              </a:rPr>
              <a:t>=(0,0,1)</a:t>
            </a:r>
            <a:r>
              <a:rPr kumimoji="1" lang="en-US" altLang="zh-CN" sz="1800" baseline="30000">
                <a:latin typeface="宋体" pitchFamily="2" charset="-122"/>
              </a:rPr>
              <a:t>T</a:t>
            </a:r>
            <a:r>
              <a:rPr kumimoji="1" lang="en-US" altLang="zh-CN" sz="1800">
                <a:latin typeface="宋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59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1" grpId="0" autoUpdateAnimBg="0"/>
      <p:bldP spid="13" grpId="0" autoUpdateAnimBg="0"/>
      <p:bldP spid="24" grpId="0" autoUpdateAnimBg="0"/>
      <p:bldP spid="25" grpId="0" autoUpdateAnimBg="0"/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直接三角分解法</a:t>
            </a:r>
          </a:p>
        </p:txBody>
      </p:sp>
      <p:graphicFrame>
        <p:nvGraphicFramePr>
          <p:cNvPr id="3085" name="Object 13"/>
          <p:cNvGraphicFramePr>
            <a:graphicFrameLocks noChangeAspect="1"/>
          </p:cNvGraphicFramePr>
          <p:nvPr/>
        </p:nvGraphicFramePr>
        <p:xfrm>
          <a:off x="1257300" y="971550"/>
          <a:ext cx="22098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0" name="Equation" r:id="rId3" imgW="2895600" imgH="1460500" progId="Equation.3">
                  <p:embed/>
                </p:oleObj>
              </mc:Choice>
              <mc:Fallback>
                <p:oleObj name="Equation" r:id="rId3" imgW="28956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971550"/>
                        <a:ext cx="220980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6" name="Object 14"/>
          <p:cNvGraphicFramePr>
            <a:graphicFrameLocks noChangeAspect="1"/>
          </p:cNvGraphicFramePr>
          <p:nvPr/>
        </p:nvGraphicFramePr>
        <p:xfrm>
          <a:off x="3452813" y="984250"/>
          <a:ext cx="2849562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1" name="Equation" r:id="rId5" imgW="3733800" imgH="1460500" progId="Equation.3">
                  <p:embed/>
                </p:oleObj>
              </mc:Choice>
              <mc:Fallback>
                <p:oleObj name="Equation" r:id="rId5" imgW="37338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984250"/>
                        <a:ext cx="2849562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15"/>
          <p:cNvGraphicFramePr>
            <a:graphicFrameLocks noChangeAspect="1"/>
          </p:cNvGraphicFramePr>
          <p:nvPr/>
        </p:nvGraphicFramePr>
        <p:xfrm>
          <a:off x="6400800" y="974725"/>
          <a:ext cx="17145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2" name="Equation" r:id="rId7" imgW="2247900" imgH="1460500" progId="Equation.3">
                  <p:embed/>
                </p:oleObj>
              </mc:Choice>
              <mc:Fallback>
                <p:oleObj name="Equation" r:id="rId7" imgW="22479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974725"/>
                        <a:ext cx="171450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655638" y="579438"/>
            <a:ext cx="515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由</a:t>
            </a:r>
          </a:p>
        </p:txBody>
      </p:sp>
      <p:graphicFrame>
        <p:nvGraphicFramePr>
          <p:cNvPr id="3088" name="Object 16"/>
          <p:cNvGraphicFramePr>
            <a:graphicFrameLocks noChangeAspect="1"/>
          </p:cNvGraphicFramePr>
          <p:nvPr/>
        </p:nvGraphicFramePr>
        <p:xfrm>
          <a:off x="1362075" y="2187575"/>
          <a:ext cx="20383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3" name="Equation" r:id="rId9" imgW="2895600" imgH="1460500" progId="Equation.3">
                  <p:embed/>
                </p:oleObj>
              </mc:Choice>
              <mc:Fallback>
                <p:oleObj name="Equation" r:id="rId9" imgW="28956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2187575"/>
                        <a:ext cx="20383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9" name="Object 17"/>
          <p:cNvGraphicFramePr>
            <a:graphicFrameLocks noChangeAspect="1"/>
          </p:cNvGraphicFramePr>
          <p:nvPr/>
        </p:nvGraphicFramePr>
        <p:xfrm>
          <a:off x="3494088" y="2190750"/>
          <a:ext cx="26590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4" name="Equation" r:id="rId11" imgW="3733800" imgH="1460500" progId="Equation.3">
                  <p:embed/>
                </p:oleObj>
              </mc:Choice>
              <mc:Fallback>
                <p:oleObj name="Equation" r:id="rId11" imgW="37338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88" y="2190750"/>
                        <a:ext cx="2659062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0" name="Object 18"/>
          <p:cNvGraphicFramePr>
            <a:graphicFrameLocks noChangeAspect="1"/>
          </p:cNvGraphicFramePr>
          <p:nvPr/>
        </p:nvGraphicFramePr>
        <p:xfrm>
          <a:off x="6381750" y="2133600"/>
          <a:ext cx="16573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5" name="Equation" r:id="rId13" imgW="2006600" imgH="1460500" progId="Equation.3">
                  <p:embed/>
                </p:oleObj>
              </mc:Choice>
              <mc:Fallback>
                <p:oleObj name="Equation" r:id="rId13" imgW="20066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2133600"/>
                        <a:ext cx="165735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1" name="Object 19"/>
          <p:cNvGraphicFramePr>
            <a:graphicFrameLocks noChangeAspect="1"/>
          </p:cNvGraphicFramePr>
          <p:nvPr/>
        </p:nvGraphicFramePr>
        <p:xfrm>
          <a:off x="1390650" y="3390900"/>
          <a:ext cx="20478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6" name="Equation" r:id="rId15" imgW="2895600" imgH="1460500" progId="Equation.3">
                  <p:embed/>
                </p:oleObj>
              </mc:Choice>
              <mc:Fallback>
                <p:oleObj name="Equation" r:id="rId15" imgW="28956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3390900"/>
                        <a:ext cx="204787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" name="Object 20"/>
          <p:cNvGraphicFramePr>
            <a:graphicFrameLocks noChangeAspect="1"/>
          </p:cNvGraphicFramePr>
          <p:nvPr/>
        </p:nvGraphicFramePr>
        <p:xfrm>
          <a:off x="3525838" y="3419475"/>
          <a:ext cx="2560637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7" name="Equation" r:id="rId17" imgW="3733800" imgH="1460500" progId="Equation.3">
                  <p:embed/>
                </p:oleObj>
              </mc:Choice>
              <mc:Fallback>
                <p:oleObj name="Equation" r:id="rId17" imgW="37338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3419475"/>
                        <a:ext cx="2560637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3" name="Object 21"/>
          <p:cNvGraphicFramePr>
            <a:graphicFrameLocks noChangeAspect="1"/>
          </p:cNvGraphicFramePr>
          <p:nvPr/>
        </p:nvGraphicFramePr>
        <p:xfrm>
          <a:off x="6367463" y="3429000"/>
          <a:ext cx="1709737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8" name="Equation" r:id="rId18" imgW="2247900" imgH="1460500" progId="Equation.3">
                  <p:embed/>
                </p:oleObj>
              </mc:Choice>
              <mc:Fallback>
                <p:oleObj name="Equation" r:id="rId18" imgW="22479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463" y="3429000"/>
                        <a:ext cx="1709737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2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32422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905500" y="371475"/>
            <a:ext cx="3238500" cy="285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直接三角分解法</a:t>
            </a:r>
          </a:p>
        </p:txBody>
      </p:sp>
      <p:sp>
        <p:nvSpPr>
          <p:cNvPr id="4103" name="矩形 14"/>
          <p:cNvSpPr>
            <a:spLocks noChangeArrowheads="1"/>
          </p:cNvSpPr>
          <p:nvPr/>
        </p:nvSpPr>
        <p:spPr bwMode="auto">
          <a:xfrm>
            <a:off x="741363" y="6365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所以</a:t>
            </a:r>
          </a:p>
        </p:txBody>
      </p:sp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1885950" y="1127125"/>
          <a:ext cx="29337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6" name="Equation" r:id="rId3" imgW="2933700" imgH="1460500" progId="Equation.3">
                  <p:embed/>
                </p:oleObj>
              </mc:Choice>
              <mc:Fallback>
                <p:oleObj name="Equation" r:id="rId3" imgW="29337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1127125"/>
                        <a:ext cx="29337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/>
          <p:cNvGraphicFramePr>
            <a:graphicFrameLocks noChangeAspect="1"/>
          </p:cNvGraphicFramePr>
          <p:nvPr/>
        </p:nvGraphicFramePr>
        <p:xfrm>
          <a:off x="4867275" y="1171575"/>
          <a:ext cx="24892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7" name="Equation" r:id="rId5" imgW="2489200" imgH="1409700" progId="Equation.3">
                  <p:embed/>
                </p:oleObj>
              </mc:Choice>
              <mc:Fallback>
                <p:oleObj name="Equation" r:id="rId5" imgW="24892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1171575"/>
                        <a:ext cx="24892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21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10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0" y="361950"/>
            <a:ext cx="3810000" cy="952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238750" y="371475"/>
            <a:ext cx="3686175" cy="952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平方根法</a:t>
            </a: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0" y="438150"/>
            <a:ext cx="6069013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800">
                <a:latin typeface="宋体" pitchFamily="2" charset="-122"/>
              </a:rPr>
              <a:t>    </a:t>
            </a:r>
            <a:r>
              <a:rPr kumimoji="1" lang="zh-CN" altLang="en-US" sz="1800">
                <a:latin typeface="宋体" pitchFamily="2" charset="-122"/>
              </a:rPr>
              <a:t>设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zh-CN" altLang="en-US" sz="1800">
                <a:latin typeface="宋体" pitchFamily="2" charset="-122"/>
              </a:rPr>
              <a:t>为对称正定矩阵</a:t>
            </a:r>
            <a:r>
              <a:rPr kumimoji="1" lang="en-US" altLang="zh-CN" sz="1800">
                <a:latin typeface="宋体" pitchFamily="2" charset="-122"/>
              </a:rPr>
              <a:t>, </a:t>
            </a:r>
            <a:r>
              <a:rPr kumimoji="1" lang="zh-CN" altLang="en-US" sz="1800">
                <a:latin typeface="宋体" pitchFamily="2" charset="-122"/>
              </a:rPr>
              <a:t>则有唯一分解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LU</a:t>
            </a:r>
            <a:r>
              <a:rPr kumimoji="1" lang="en-US" altLang="zh-CN" sz="1800">
                <a:latin typeface="Times New Roman" pitchFamily="18" charset="0"/>
              </a:rPr>
              <a:t>, </a:t>
            </a:r>
            <a:r>
              <a:rPr kumimoji="1" lang="zh-CN" altLang="en-US" sz="1800">
                <a:latin typeface="Times New Roman" pitchFamily="18" charset="0"/>
              </a:rPr>
              <a:t>且</a:t>
            </a:r>
            <a:r>
              <a:rPr kumimoji="1" lang="en-US" altLang="zh-CN" sz="1800">
                <a:latin typeface="Times New Roman" pitchFamily="18" charset="0"/>
              </a:rPr>
              <a:t>u</a:t>
            </a:r>
            <a:r>
              <a:rPr kumimoji="1" lang="en-US" altLang="zh-CN" sz="1800" baseline="-25000">
                <a:latin typeface="Times New Roman" pitchFamily="18" charset="0"/>
              </a:rPr>
              <a:t>kk</a:t>
            </a:r>
            <a:r>
              <a:rPr kumimoji="1" lang="en-US" altLang="zh-CN" sz="1800">
                <a:latin typeface="Times New Roman" pitchFamily="18" charset="0"/>
              </a:rPr>
              <a:t>&gt;0.</a:t>
            </a:r>
          </a:p>
        </p:txBody>
      </p:sp>
      <p:graphicFrame>
        <p:nvGraphicFramePr>
          <p:cNvPr id="22" name="Object 19"/>
          <p:cNvGraphicFramePr>
            <a:graphicFrameLocks noChangeAspect="1"/>
          </p:cNvGraphicFramePr>
          <p:nvPr/>
        </p:nvGraphicFramePr>
        <p:xfrm>
          <a:off x="946150" y="1019175"/>
          <a:ext cx="2198688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0" name="Equation" r:id="rId3" imgW="2616200" imgH="1638300" progId="Equation.3">
                  <p:embed/>
                </p:oleObj>
              </mc:Choice>
              <mc:Fallback>
                <p:oleObj name="Equation" r:id="rId3" imgW="2616200" imgH="163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1019175"/>
                        <a:ext cx="2198688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0"/>
          <p:cNvGraphicFramePr>
            <a:graphicFrameLocks noChangeAspect="1"/>
          </p:cNvGraphicFramePr>
          <p:nvPr/>
        </p:nvGraphicFramePr>
        <p:xfrm>
          <a:off x="4364038" y="2465388"/>
          <a:ext cx="24622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1" name="Equation" r:id="rId5" imgW="2641600" imgH="927100" progId="Equation.3">
                  <p:embed/>
                </p:oleObj>
              </mc:Choice>
              <mc:Fallback>
                <p:oleObj name="Equation" r:id="rId5" imgW="2641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038" y="2465388"/>
                        <a:ext cx="24622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0" y="2524125"/>
            <a:ext cx="10914063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800">
                <a:latin typeface="宋体" pitchFamily="2" charset="-122"/>
              </a:rPr>
              <a:t>    </a:t>
            </a:r>
            <a:r>
              <a:rPr kumimoji="1" lang="zh-CN" altLang="en-US" sz="1800">
                <a:latin typeface="宋体" pitchFamily="2" charset="-122"/>
              </a:rPr>
              <a:t>则有     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LDM</a:t>
            </a:r>
            <a:endParaRPr kumimoji="1" lang="en-US" altLang="zh-CN" sz="1800">
              <a:latin typeface="Times New Roman" pitchFamily="18" charset="0"/>
            </a:endParaRPr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598488" y="2960688"/>
            <a:ext cx="7142162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又因为    </a:t>
            </a:r>
            <a:r>
              <a:rPr kumimoji="1" lang="en-US" altLang="zh-CN" sz="1800">
                <a:latin typeface="宋体" pitchFamily="2" charset="-122"/>
              </a:rPr>
              <a:t>(</a:t>
            </a:r>
            <a:r>
              <a:rPr kumimoji="1" lang="en-US" altLang="zh-CN" sz="1800" b="1">
                <a:latin typeface="Times New Roman" pitchFamily="18" charset="0"/>
              </a:rPr>
              <a:t>LDM</a:t>
            </a:r>
            <a:r>
              <a:rPr kumimoji="1" lang="en-US" altLang="zh-CN" sz="1800">
                <a:latin typeface="Times New Roman" pitchFamily="18" charset="0"/>
              </a:rPr>
              <a:t>)</a:t>
            </a:r>
            <a:r>
              <a:rPr kumimoji="1" lang="en-US" altLang="zh-CN" sz="1800" baseline="30000">
                <a:latin typeface="Times New Roman" pitchFamily="18" charset="0"/>
              </a:rPr>
              <a:t>T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M</a:t>
            </a:r>
            <a:r>
              <a:rPr kumimoji="1" lang="en-US" altLang="zh-CN" sz="1800" baseline="30000">
                <a:latin typeface="Times New Roman" pitchFamily="18" charset="0"/>
              </a:rPr>
              <a:t>T</a:t>
            </a:r>
            <a:r>
              <a:rPr kumimoji="1" lang="en-US" altLang="zh-CN" sz="1800" b="1">
                <a:latin typeface="Times New Roman" pitchFamily="18" charset="0"/>
              </a:rPr>
              <a:t>DL</a:t>
            </a:r>
            <a:r>
              <a:rPr kumimoji="1" lang="en-US" altLang="zh-CN" sz="1800" baseline="30000">
                <a:latin typeface="Times New Roman" pitchFamily="18" charset="0"/>
              </a:rPr>
              <a:t>T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LDM        </a:t>
            </a:r>
            <a:r>
              <a:rPr kumimoji="1" lang="zh-CN" altLang="en-US" sz="1800">
                <a:latin typeface="Times New Roman" pitchFamily="18" charset="0"/>
              </a:rPr>
              <a:t>所以  </a:t>
            </a:r>
            <a:r>
              <a:rPr kumimoji="1" lang="en-US" altLang="zh-CN" sz="1800" b="1">
                <a:latin typeface="Times New Roman" pitchFamily="18" charset="0"/>
              </a:rPr>
              <a:t>M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</a:t>
            </a:r>
            <a:r>
              <a:rPr kumimoji="1" lang="en-US" altLang="zh-CN" sz="1800" baseline="30000">
                <a:latin typeface="Times New Roman" pitchFamily="18" charset="0"/>
              </a:rPr>
              <a:t>T</a:t>
            </a:r>
            <a:endParaRPr kumimoji="1" lang="en-US" altLang="zh-CN" sz="1800">
              <a:latin typeface="Times New Roman" pitchFamily="18" charset="0"/>
            </a:endParaRP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2533650" y="2544763"/>
            <a:ext cx="24098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800">
                <a:latin typeface="宋体" pitchFamily="2" charset="-122"/>
              </a:rPr>
              <a:t> </a:t>
            </a:r>
            <a:r>
              <a:rPr kumimoji="1" lang="en-US" altLang="zh-CN" sz="2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LDL</a:t>
            </a:r>
            <a:r>
              <a:rPr kumimoji="1" lang="en-US" altLang="zh-CN" sz="1800" baseline="30000">
                <a:latin typeface="Times New Roman" pitchFamily="18" charset="0"/>
              </a:rPr>
              <a:t>T</a:t>
            </a:r>
            <a:endParaRPr kumimoji="1" lang="en-US" altLang="zh-CN" sz="1800">
              <a:latin typeface="Times New Roman" pitchFamily="18" charset="0"/>
            </a:endParaRPr>
          </a:p>
        </p:txBody>
      </p:sp>
      <p:graphicFrame>
        <p:nvGraphicFramePr>
          <p:cNvPr id="27" name="Object 21"/>
          <p:cNvGraphicFramePr>
            <a:graphicFrameLocks noChangeAspect="1"/>
          </p:cNvGraphicFramePr>
          <p:nvPr/>
        </p:nvGraphicFramePr>
        <p:xfrm>
          <a:off x="725488" y="3319463"/>
          <a:ext cx="547052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2" name="Equation" r:id="rId7" imgW="9093200" imgH="1943100" progId="Equation.3">
                  <p:embed/>
                </p:oleObj>
              </mc:Choice>
              <mc:Fallback>
                <p:oleObj name="Equation" r:id="rId7" imgW="9093200" imgH="194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3319463"/>
                        <a:ext cx="5470525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9"/>
          <p:cNvSpPr>
            <a:spLocks noChangeArrowheads="1"/>
          </p:cNvSpPr>
          <p:nvPr/>
        </p:nvSpPr>
        <p:spPr bwMode="auto">
          <a:xfrm>
            <a:off x="898525" y="4495800"/>
            <a:ext cx="4965700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1800">
                <a:latin typeface="宋体" pitchFamily="2" charset="-122"/>
              </a:rPr>
              <a:t>则有  </a:t>
            </a:r>
            <a:endParaRPr kumimoji="1" lang="zh-CN" altLang="en-US" sz="1800">
              <a:latin typeface="Times New Roman" pitchFamily="18" charset="0"/>
            </a:endParaRPr>
          </a:p>
        </p:txBody>
      </p:sp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2128838" y="4481513"/>
          <a:ext cx="399573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3" name="Equation" r:id="rId9" imgW="5181600" imgH="520700" progId="Equation.3">
                  <p:embed/>
                </p:oleObj>
              </mc:Choice>
              <mc:Fallback>
                <p:oleObj name="Equation" r:id="rId9" imgW="51816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4481513"/>
                        <a:ext cx="3995737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3"/>
          <p:cNvGraphicFramePr>
            <a:graphicFrameLocks noChangeAspect="1"/>
          </p:cNvGraphicFramePr>
          <p:nvPr/>
        </p:nvGraphicFramePr>
        <p:xfrm>
          <a:off x="6211888" y="4418013"/>
          <a:ext cx="1765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4" name="Equation" r:id="rId11" imgW="1968500" imgH="508000" progId="Equation.3">
                  <p:embed/>
                </p:oleObj>
              </mc:Choice>
              <mc:Fallback>
                <p:oleObj name="Equation" r:id="rId11" imgW="19685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888" y="4418013"/>
                        <a:ext cx="1765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4"/>
          <p:cNvGraphicFramePr>
            <a:graphicFrameLocks noChangeAspect="1"/>
          </p:cNvGraphicFramePr>
          <p:nvPr/>
        </p:nvGraphicFramePr>
        <p:xfrm>
          <a:off x="3360738" y="1050925"/>
          <a:ext cx="2160587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5" name="Equation" r:id="rId13" imgW="2552700" imgH="1638300" progId="Equation.3">
                  <p:embed/>
                </p:oleObj>
              </mc:Choice>
              <mc:Fallback>
                <p:oleObj name="Equation" r:id="rId13" imgW="2552700" imgH="163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1050925"/>
                        <a:ext cx="2160587" cy="138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5"/>
          <p:cNvGraphicFramePr>
            <a:graphicFrameLocks noChangeAspect="1"/>
          </p:cNvGraphicFramePr>
          <p:nvPr/>
        </p:nvGraphicFramePr>
        <p:xfrm>
          <a:off x="5586413" y="1085850"/>
          <a:ext cx="1485900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6" name="Equation" r:id="rId15" imgW="1930400" imgH="1663700" progId="Equation.3">
                  <p:embed/>
                </p:oleObj>
              </mc:Choice>
              <mc:Fallback>
                <p:oleObj name="Equation" r:id="rId15" imgW="1930400" imgH="166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6413" y="1085850"/>
                        <a:ext cx="1485900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86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4" grpId="0" autoUpdateAnimBg="0"/>
      <p:bldP spid="25" grpId="0" autoUpdateAnimBg="0"/>
      <p:bldP spid="26" grpId="0" autoUpdateAnimBg="0"/>
      <p:bldP spid="2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0" y="360363"/>
            <a:ext cx="3906838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292725" y="360363"/>
            <a:ext cx="3851275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087438" y="455613"/>
            <a:ext cx="91440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   </a:t>
            </a:r>
            <a:r>
              <a:rPr kumimoji="1" lang="zh-CN" altLang="en-US" sz="1800">
                <a:latin typeface="宋体" pitchFamily="2" charset="-122"/>
              </a:rPr>
              <a:t>分解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GG</a:t>
            </a:r>
            <a:r>
              <a:rPr kumimoji="1" lang="en-US" altLang="zh-CN" sz="1800" baseline="30000">
                <a:latin typeface="Times New Roman" pitchFamily="18" charset="0"/>
              </a:rPr>
              <a:t>T</a:t>
            </a:r>
            <a:r>
              <a:rPr kumimoji="1" lang="zh-CN" altLang="en-US" sz="1800">
                <a:latin typeface="Times New Roman" pitchFamily="18" charset="0"/>
              </a:rPr>
              <a:t>称为对称正定矩阵的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Cholesky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分解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.</a:t>
            </a:r>
            <a:endParaRPr kumimoji="1" lang="en-US" altLang="zh-CN" sz="180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1087438" y="895350"/>
            <a:ext cx="914400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 </a:t>
            </a:r>
            <a:r>
              <a:rPr kumimoji="1" lang="en-US" altLang="zh-CN" sz="1800" b="1">
                <a:latin typeface="Times New Roman" pitchFamily="18" charset="0"/>
              </a:rPr>
              <a:t>Ax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b</a:t>
            </a:r>
            <a:r>
              <a:rPr kumimoji="1" lang="en-US" altLang="zh-CN" sz="1800">
                <a:latin typeface="Times New Roman" pitchFamily="18" charset="0"/>
              </a:rPr>
              <a:t> </a:t>
            </a:r>
            <a:r>
              <a:rPr kumimoji="1" lang="zh-CN" altLang="en-US" sz="1800">
                <a:latin typeface="Times New Roman" pitchFamily="18" charset="0"/>
              </a:rPr>
              <a:t>转换为 </a:t>
            </a:r>
            <a:r>
              <a:rPr kumimoji="1" lang="en-US" altLang="zh-CN" sz="1800" b="1">
                <a:latin typeface="Times New Roman" pitchFamily="18" charset="0"/>
              </a:rPr>
              <a:t>Gy=b</a:t>
            </a:r>
            <a:r>
              <a:rPr kumimoji="1" lang="en-US" altLang="zh-CN" sz="1800">
                <a:latin typeface="Times New Roman" pitchFamily="18" charset="0"/>
              </a:rPr>
              <a:t> , </a:t>
            </a:r>
            <a:r>
              <a:rPr kumimoji="1" lang="en-US" altLang="zh-CN" sz="1800" b="1">
                <a:latin typeface="Times New Roman" pitchFamily="18" charset="0"/>
              </a:rPr>
              <a:t>G</a:t>
            </a:r>
            <a:r>
              <a:rPr kumimoji="1" lang="en-US" altLang="zh-CN" sz="1800" baseline="30000">
                <a:latin typeface="Times New Roman" pitchFamily="18" charset="0"/>
              </a:rPr>
              <a:t>T</a:t>
            </a:r>
            <a:r>
              <a:rPr kumimoji="1" lang="en-US" altLang="zh-CN" sz="1800" b="1">
                <a:latin typeface="Times New Roman" pitchFamily="18" charset="0"/>
              </a:rPr>
              <a:t>x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y </a:t>
            </a:r>
            <a:endParaRPr kumimoji="1" lang="en-US" altLang="zh-CN" sz="1800">
              <a:latin typeface="Times New Roman" pitchFamily="18" charset="0"/>
            </a:endParaRP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1087438" y="1333500"/>
            <a:ext cx="914400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   </a:t>
            </a:r>
            <a:r>
              <a:rPr kumimoji="1" lang="zh-CN" altLang="en-US" sz="1800">
                <a:latin typeface="宋体" pitchFamily="2" charset="-122"/>
              </a:rPr>
              <a:t>若记</a:t>
            </a:r>
            <a:r>
              <a:rPr kumimoji="1" lang="en-US" altLang="zh-CN" sz="1800" b="1">
                <a:latin typeface="宋体" pitchFamily="2" charset="-122"/>
              </a:rPr>
              <a:t>G</a:t>
            </a:r>
            <a:r>
              <a:rPr kumimoji="1" lang="en-US" altLang="zh-CN" sz="1800">
                <a:latin typeface="宋体" pitchFamily="2" charset="-122"/>
              </a:rPr>
              <a:t>=(g</a:t>
            </a:r>
            <a:r>
              <a:rPr kumimoji="1" lang="en-US" altLang="zh-CN" sz="1800" baseline="-25000">
                <a:latin typeface="宋体" pitchFamily="2" charset="-122"/>
              </a:rPr>
              <a:t>ij</a:t>
            </a:r>
            <a:r>
              <a:rPr kumimoji="1" lang="en-US" altLang="zh-CN" sz="1800">
                <a:latin typeface="宋体" pitchFamily="2" charset="-122"/>
              </a:rPr>
              <a:t>), </a:t>
            </a:r>
            <a:r>
              <a:rPr kumimoji="1" lang="zh-CN" altLang="en-US" sz="1800">
                <a:latin typeface="宋体" pitchFamily="2" charset="-122"/>
              </a:rPr>
              <a:t>则有</a:t>
            </a:r>
            <a:r>
              <a:rPr kumimoji="1" lang="en-US" altLang="zh-CN" sz="1800">
                <a:latin typeface="宋体" pitchFamily="2" charset="-122"/>
              </a:rPr>
              <a:t>: </a:t>
            </a:r>
            <a:r>
              <a:rPr kumimoji="1" lang="zh-CN" altLang="en-US" sz="1800">
                <a:latin typeface="宋体" pitchFamily="2" charset="-122"/>
              </a:rPr>
              <a:t>对</a:t>
            </a:r>
            <a:r>
              <a:rPr kumimoji="1" lang="en-US" altLang="zh-CN" sz="1800">
                <a:latin typeface="宋体" pitchFamily="2" charset="-122"/>
              </a:rPr>
              <a:t>k=1,2,</a:t>
            </a:r>
            <a:r>
              <a:rPr kumimoji="1" lang="en-US" altLang="zh-CN" sz="1800">
                <a:latin typeface="Times New Roman" pitchFamily="18" charset="0"/>
              </a:rPr>
              <a:t>…</a:t>
            </a:r>
            <a:r>
              <a:rPr kumimoji="1" lang="en-US" altLang="zh-CN" sz="1800">
                <a:latin typeface="宋体" pitchFamily="2" charset="-122"/>
              </a:rPr>
              <a:t>,n</a:t>
            </a:r>
            <a:endParaRPr kumimoji="1" lang="en-US" altLang="zh-CN" sz="1800">
              <a:latin typeface="Times New Roman" pitchFamily="18" charset="0"/>
            </a:endParaRPr>
          </a:p>
        </p:txBody>
      </p:sp>
      <p:graphicFrame>
        <p:nvGraphicFramePr>
          <p:cNvPr id="27" name="Object 21"/>
          <p:cNvGraphicFramePr>
            <a:graphicFrameLocks noChangeAspect="1"/>
          </p:cNvGraphicFramePr>
          <p:nvPr/>
        </p:nvGraphicFramePr>
        <p:xfrm>
          <a:off x="2541588" y="1751013"/>
          <a:ext cx="417353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8" name="Equation" r:id="rId3" imgW="6235700" imgH="1460500" progId="Equation.3">
                  <p:embed/>
                </p:oleObj>
              </mc:Choice>
              <mc:Fallback>
                <p:oleObj name="Equation" r:id="rId3" imgW="62357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1751013"/>
                        <a:ext cx="417353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1087438" y="2754313"/>
            <a:ext cx="91440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宋体" pitchFamily="2" charset="-122"/>
              </a:rPr>
              <a:t>    </a:t>
            </a:r>
            <a:r>
              <a:rPr kumimoji="1" lang="zh-CN" altLang="en-US" sz="1800">
                <a:latin typeface="宋体" pitchFamily="2" charset="-122"/>
              </a:rPr>
              <a:t>实际计算时</a:t>
            </a:r>
            <a:r>
              <a:rPr kumimoji="1" lang="en-US" altLang="zh-CN" sz="1800">
                <a:latin typeface="宋体" pitchFamily="2" charset="-122"/>
              </a:rPr>
              <a:t>,</a:t>
            </a:r>
            <a:r>
              <a:rPr kumimoji="1" lang="zh-CN" altLang="en-US" sz="1800">
                <a:latin typeface="宋体" pitchFamily="2" charset="-122"/>
              </a:rPr>
              <a:t>可采用紧凑格式</a:t>
            </a:r>
            <a:endParaRPr kumimoji="1" lang="zh-CN" altLang="en-US" sz="1800">
              <a:latin typeface="Times New Roman" pitchFamily="18" charset="0"/>
            </a:endParaRPr>
          </a:p>
        </p:txBody>
      </p:sp>
      <p:graphicFrame>
        <p:nvGraphicFramePr>
          <p:cNvPr id="29" name="Object 22"/>
          <p:cNvGraphicFramePr>
            <a:graphicFrameLocks noChangeAspect="1"/>
          </p:cNvGraphicFramePr>
          <p:nvPr/>
        </p:nvGraphicFramePr>
        <p:xfrm>
          <a:off x="1949450" y="3130550"/>
          <a:ext cx="2433638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9" name="Equation" r:id="rId5" imgW="4191000" imgH="2908300" progId="Equation.3">
                  <p:embed/>
                </p:oleObj>
              </mc:Choice>
              <mc:Fallback>
                <p:oleObj name="Equation" r:id="rId5" imgW="4191000" imgH="290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3130550"/>
                        <a:ext cx="2433638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3"/>
          <p:cNvGraphicFramePr>
            <a:graphicFrameLocks noChangeAspect="1"/>
          </p:cNvGraphicFramePr>
          <p:nvPr/>
        </p:nvGraphicFramePr>
        <p:xfrm>
          <a:off x="4530725" y="2987675"/>
          <a:ext cx="2892425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60" name="Equation" r:id="rId7" imgW="4622800" imgH="2908300" progId="Equation.3">
                  <p:embed/>
                </p:oleObj>
              </mc:Choice>
              <mc:Fallback>
                <p:oleObj name="Equation" r:id="rId7" imgW="4622800" imgH="290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5" y="2987675"/>
                        <a:ext cx="2892425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1087438" y="909638"/>
            <a:ext cx="91440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 </a:t>
            </a:r>
            <a:r>
              <a:rPr kumimoji="1" lang="en-US" altLang="zh-CN" sz="1800" b="1">
                <a:latin typeface="Times New Roman" pitchFamily="18" charset="0"/>
              </a:rPr>
              <a:t>                                                 ______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平方根法</a:t>
            </a:r>
            <a:r>
              <a:rPr kumimoji="1" lang="en-US" altLang="zh-CN" sz="1800" b="1">
                <a:latin typeface="Times New Roman" pitchFamily="18" charset="0"/>
              </a:rPr>
              <a:t>.</a:t>
            </a:r>
            <a:endParaRPr kumimoji="1" lang="en-US" altLang="zh-CN" sz="1800">
              <a:latin typeface="Times New Roman" pitchFamily="18" charset="0"/>
            </a:endParaRPr>
          </a:p>
        </p:txBody>
      </p:sp>
      <p:sp>
        <p:nvSpPr>
          <p:cNvPr id="32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平方根法</a:t>
            </a:r>
          </a:p>
        </p:txBody>
      </p:sp>
    </p:spTree>
    <p:extLst>
      <p:ext uri="{BB962C8B-B14F-4D97-AF65-F5344CB8AC3E}">
        <p14:creationId xmlns:p14="http://schemas.microsoft.com/office/powerpoint/2010/main" val="363476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2" grpId="0" autoUpdateAnimBg="0"/>
      <p:bldP spid="23" grpId="0" autoUpdateAnimBg="0"/>
      <p:bldP spid="28" grpId="0" autoUpdateAnimBg="0"/>
      <p:bldP spid="31" grpId="0" autoUpdateAnimBg="0"/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865563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307013" y="346075"/>
            <a:ext cx="3836987" cy="2540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228600" y="501650"/>
            <a:ext cx="9144000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 </a:t>
            </a:r>
            <a:r>
              <a:rPr kumimoji="1" lang="zh-CN" altLang="en-US" sz="1800">
                <a:latin typeface="Times New Roman" pitchFamily="18" charset="0"/>
              </a:rPr>
              <a:t>解三角方程 </a:t>
            </a:r>
            <a:r>
              <a:rPr kumimoji="1" lang="en-US" altLang="zh-CN" sz="1800" b="1">
                <a:latin typeface="Times New Roman" pitchFamily="18" charset="0"/>
              </a:rPr>
              <a:t>Gy=b</a:t>
            </a:r>
            <a:r>
              <a:rPr kumimoji="1" lang="en-US" altLang="zh-CN" sz="1800">
                <a:latin typeface="Times New Roman" pitchFamily="18" charset="0"/>
              </a:rPr>
              <a:t> , </a:t>
            </a:r>
            <a:r>
              <a:rPr kumimoji="1" lang="en-US" altLang="zh-CN" sz="1800" b="1">
                <a:latin typeface="Times New Roman" pitchFamily="18" charset="0"/>
              </a:rPr>
              <a:t>G</a:t>
            </a:r>
            <a:r>
              <a:rPr kumimoji="1" lang="en-US" altLang="zh-CN" sz="1800" baseline="30000">
                <a:latin typeface="Times New Roman" pitchFamily="18" charset="0"/>
              </a:rPr>
              <a:t>T</a:t>
            </a:r>
            <a:r>
              <a:rPr kumimoji="1" lang="en-US" altLang="zh-CN" sz="1800" b="1">
                <a:latin typeface="Times New Roman" pitchFamily="18" charset="0"/>
              </a:rPr>
              <a:t>x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y  </a:t>
            </a:r>
            <a:r>
              <a:rPr kumimoji="1" lang="zh-CN" altLang="en-US" sz="1800">
                <a:latin typeface="Times New Roman" pitchFamily="18" charset="0"/>
              </a:rPr>
              <a:t>可得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323975" y="922338"/>
          <a:ext cx="50387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2" name="Equation" r:id="rId3" imgW="6642100" imgH="1460500" progId="Equation.3">
                  <p:embed/>
                </p:oleObj>
              </mc:Choice>
              <mc:Fallback>
                <p:oleObj name="Equation" r:id="rId3" imgW="66421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5" y="922338"/>
                        <a:ext cx="503872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2663825" y="2497138"/>
          <a:ext cx="216535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3" name="Equation" r:id="rId5" imgW="2819377" imgH="1352430" progId="Equation.3">
                  <p:embed/>
                </p:oleObj>
              </mc:Choice>
              <mc:Fallback>
                <p:oleObj name="Equation" r:id="rId5" imgW="2819377" imgH="13524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2497138"/>
                        <a:ext cx="2165350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0" y="3571875"/>
            <a:ext cx="661987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 </a:t>
            </a:r>
            <a:r>
              <a:rPr kumimoji="1" lang="zh-CN" altLang="en-US" sz="1800" b="1">
                <a:latin typeface="Times New Roman" pitchFamily="18" charset="0"/>
              </a:rPr>
              <a:t>解</a:t>
            </a:r>
            <a:endParaRPr kumimoji="1" lang="zh-CN" altLang="en-US" sz="1800">
              <a:latin typeface="Times New Roman" pitchFamily="18" charset="0"/>
            </a:endParaRPr>
          </a:p>
        </p:txBody>
      </p:sp>
      <p:graphicFrame>
        <p:nvGraphicFramePr>
          <p:cNvPr id="19" name="Object 17"/>
          <p:cNvGraphicFramePr>
            <a:graphicFrameLocks noChangeAspect="1"/>
          </p:cNvGraphicFramePr>
          <p:nvPr/>
        </p:nvGraphicFramePr>
        <p:xfrm>
          <a:off x="2330450" y="3762375"/>
          <a:ext cx="11271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4" name="Equation" r:id="rId7" imgW="1638300" imgH="1409700" progId="Equation.3">
                  <p:embed/>
                </p:oleObj>
              </mc:Choice>
              <mc:Fallback>
                <p:oleObj name="Equation" r:id="rId7" imgW="16383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3762375"/>
                        <a:ext cx="11271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/>
        </p:nvGraphicFramePr>
        <p:xfrm>
          <a:off x="3530600" y="3695700"/>
          <a:ext cx="13620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5" name="Equation" r:id="rId9" imgW="1816100" imgH="1409700" progId="Equation.3">
                  <p:embed/>
                </p:oleObj>
              </mc:Choice>
              <mc:Fallback>
                <p:oleObj name="Equation" r:id="rId9" imgW="18161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3695700"/>
                        <a:ext cx="13620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/>
          <p:cNvGraphicFramePr>
            <a:graphicFrameLocks noChangeAspect="1"/>
          </p:cNvGraphicFramePr>
          <p:nvPr/>
        </p:nvGraphicFramePr>
        <p:xfrm>
          <a:off x="3517900" y="3733800"/>
          <a:ext cx="13620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6" name="Equation" r:id="rId11" imgW="1816100" imgH="1409700" progId="Equation.3">
                  <p:embed/>
                </p:oleObj>
              </mc:Choice>
              <mc:Fallback>
                <p:oleObj name="Equation" r:id="rId11" imgW="18161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3733800"/>
                        <a:ext cx="13620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/>
          <p:cNvGraphicFramePr>
            <a:graphicFrameLocks noChangeAspect="1"/>
          </p:cNvGraphicFramePr>
          <p:nvPr/>
        </p:nvGraphicFramePr>
        <p:xfrm>
          <a:off x="3505200" y="3733800"/>
          <a:ext cx="13620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7" name="Equation" r:id="rId13" imgW="1816100" imgH="1409700" progId="Equation.3">
                  <p:embed/>
                </p:oleObj>
              </mc:Choice>
              <mc:Fallback>
                <p:oleObj name="Equation" r:id="rId13" imgW="18161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733800"/>
                        <a:ext cx="13620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1"/>
          <p:cNvGraphicFramePr>
            <a:graphicFrameLocks noChangeAspect="1"/>
          </p:cNvGraphicFramePr>
          <p:nvPr/>
        </p:nvGraphicFramePr>
        <p:xfrm>
          <a:off x="3467100" y="3733800"/>
          <a:ext cx="15144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8" name="Equation" r:id="rId15" imgW="2019300" imgH="1409700" progId="Equation.3">
                  <p:embed/>
                </p:oleObj>
              </mc:Choice>
              <mc:Fallback>
                <p:oleObj name="Equation" r:id="rId15" imgW="20193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3733800"/>
                        <a:ext cx="15144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/>
        </p:nvGraphicFramePr>
        <p:xfrm>
          <a:off x="3505200" y="3733800"/>
          <a:ext cx="15144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9" name="Equation" r:id="rId17" imgW="2019300" imgH="1409700" progId="Equation.3">
                  <p:embed/>
                </p:oleObj>
              </mc:Choice>
              <mc:Fallback>
                <p:oleObj name="Equation" r:id="rId17" imgW="20193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733800"/>
                        <a:ext cx="15144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2"/>
          <p:cNvSpPr txBox="1">
            <a:spLocks noChangeArrowheads="1"/>
          </p:cNvSpPr>
          <p:nvPr/>
        </p:nvSpPr>
        <p:spPr>
          <a:xfrm>
            <a:off x="704850" y="2095500"/>
            <a:ext cx="6850063" cy="40798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defTabSz="914400">
              <a:defRPr/>
            </a:pPr>
            <a:r>
              <a:rPr lang="en-US" altLang="zh-CN" sz="1800" b="1" cap="all" spc="-6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</a:t>
            </a:r>
            <a:r>
              <a:rPr lang="zh-CN" altLang="en-US" sz="1800" b="1" cap="all" spc="-6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例</a:t>
            </a:r>
            <a:r>
              <a:rPr lang="zh-CN" altLang="en-US" sz="1800" cap="all" spc="-6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  解线性方程组</a:t>
            </a:r>
          </a:p>
        </p:txBody>
      </p:sp>
      <p:sp>
        <p:nvSpPr>
          <p:cNvPr id="26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平方根法</a:t>
            </a:r>
          </a:p>
        </p:txBody>
      </p:sp>
    </p:spTree>
    <p:extLst>
      <p:ext uri="{BB962C8B-B14F-4D97-AF65-F5344CB8AC3E}">
        <p14:creationId xmlns:p14="http://schemas.microsoft.com/office/powerpoint/2010/main" val="248106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8" grpId="0" autoUpdateAnimBg="0"/>
      <p:bldP spid="25" grpId="0" autoUpdateAnimBg="0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0" y="360363"/>
            <a:ext cx="3921125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348288" y="360363"/>
            <a:ext cx="3795712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2203450" y="612775"/>
          <a:ext cx="390683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4" name="Equation" r:id="rId3" imgW="5600700" imgH="1409700" progId="Equation.3">
                  <p:embed/>
                </p:oleObj>
              </mc:Choice>
              <mc:Fallback>
                <p:oleObj name="Equation" r:id="rId3" imgW="56007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612775"/>
                        <a:ext cx="3906838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1828800" y="1635125"/>
          <a:ext cx="32051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5" name="Equation" r:id="rId5" imgW="4445000" imgH="1409700" progId="Equation.3">
                  <p:embed/>
                </p:oleObj>
              </mc:Choice>
              <mc:Fallback>
                <p:oleObj name="Equation" r:id="rId5" imgW="44450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35125"/>
                        <a:ext cx="32051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5159375" y="1589088"/>
          <a:ext cx="1566863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6" name="Equation" r:id="rId7" imgW="2171700" imgH="1409700" progId="Equation.3">
                  <p:embed/>
                </p:oleObj>
              </mc:Choice>
              <mc:Fallback>
                <p:oleObj name="Equation" r:id="rId7" imgW="21717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1589088"/>
                        <a:ext cx="1566863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1719263" y="2654300"/>
          <a:ext cx="33512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7" name="Equation" r:id="rId9" imgW="4648200" imgH="1409700" progId="Equation.3">
                  <p:embed/>
                </p:oleObj>
              </mc:Choice>
              <mc:Fallback>
                <p:oleObj name="Equation" r:id="rId9" imgW="46482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263" y="2654300"/>
                        <a:ext cx="3351212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2"/>
          <p:cNvGraphicFramePr>
            <a:graphicFrameLocks noChangeAspect="1"/>
          </p:cNvGraphicFramePr>
          <p:nvPr/>
        </p:nvGraphicFramePr>
        <p:xfrm>
          <a:off x="5124450" y="2663825"/>
          <a:ext cx="16938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18" name="Equation" r:id="rId11" imgW="2349500" imgH="1409700" progId="Equation.3">
                  <p:embed/>
                </p:oleObj>
              </mc:Choice>
              <mc:Fallback>
                <p:oleObj name="Equation" r:id="rId11" imgW="2349500" imgH="140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0" y="2663825"/>
                        <a:ext cx="16938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平方根法</a:t>
            </a:r>
          </a:p>
        </p:txBody>
      </p:sp>
      <p:sp>
        <p:nvSpPr>
          <p:cNvPr id="12" name="右箭头标注 11"/>
          <p:cNvSpPr/>
          <p:nvPr/>
        </p:nvSpPr>
        <p:spPr>
          <a:xfrm>
            <a:off x="523875" y="3819525"/>
            <a:ext cx="895350" cy="752475"/>
          </a:xfrm>
          <a:prstGeom prst="rightArrowCallout">
            <a:avLst>
              <a:gd name="adj1" fmla="val 25000"/>
              <a:gd name="adj2" fmla="val 37658"/>
              <a:gd name="adj3" fmla="val 25000"/>
              <a:gd name="adj4" fmla="val 64977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552575" y="3752850"/>
            <a:ext cx="6257925" cy="914400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990725" y="3781425"/>
            <a:ext cx="54292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</a:rPr>
              <a:t>平方根法是求对称正定系数线性方程组的三角分解法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,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</a:rPr>
              <a:t>对称正定矩阵的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Cholesky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</a:rPr>
              <a:t>分解的计算量和存贮量均约为一般矩阵的</a:t>
            </a:r>
            <a:r>
              <a:rPr kumimoji="1" lang="en-US" altLang="zh-CN" sz="1600" b="1">
                <a:solidFill>
                  <a:schemeClr val="bg1"/>
                </a:solidFill>
                <a:latin typeface="Times New Roman" pitchFamily="18" charset="0"/>
              </a:rPr>
              <a:t>LU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</a:rPr>
              <a:t>分解的一半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. 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</a:rPr>
              <a:t>且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Cholesky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</a:rPr>
              <a:t>分解具有数值稳定性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6" name="左箭头标注 15"/>
          <p:cNvSpPr/>
          <p:nvPr/>
        </p:nvSpPr>
        <p:spPr>
          <a:xfrm>
            <a:off x="7943850" y="3781425"/>
            <a:ext cx="914400" cy="809625"/>
          </a:xfrm>
          <a:prstGeom prst="leftArrowCallout">
            <a:avLst>
              <a:gd name="adj1" fmla="val 25000"/>
              <a:gd name="adj2" fmla="val 33235"/>
              <a:gd name="adj3" fmla="val 25000"/>
              <a:gd name="adj4" fmla="val 64977"/>
            </a:avLst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1783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 animBg="1"/>
      <p:bldP spid="13" grpId="0" animBg="1"/>
      <p:bldP spid="15" grpId="0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0" y="361950"/>
            <a:ext cx="3810000" cy="952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1">
            <a:off x="5238750" y="371475"/>
            <a:ext cx="3686175" cy="952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追赶法</a:t>
            </a: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877888" y="496888"/>
            <a:ext cx="7002462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solidFill>
                  <a:srgbClr val="FF0000"/>
                </a:solidFill>
                <a:latin typeface="Times New Roman" pitchFamily="18" charset="0"/>
              </a:rPr>
              <a:t>        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追赶法是求三对角线性方程组的三角分解法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.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即方程</a:t>
            </a: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2173288" y="866775"/>
          <a:ext cx="3565525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2" name="Equation" r:id="rId3" imgW="5867400" imgH="2400300" progId="Equation.3">
                  <p:embed/>
                </p:oleObj>
              </mc:Choice>
              <mc:Fallback>
                <p:oleObj name="Equation" r:id="rId3" imgW="5867400" imgH="240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866775"/>
                        <a:ext cx="3565525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571500" y="2322513"/>
            <a:ext cx="700405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solidFill>
                  <a:schemeClr val="accent2"/>
                </a:solidFill>
                <a:latin typeface="Times New Roman" pitchFamily="18" charset="0"/>
              </a:rPr>
              <a:t>        </a:t>
            </a:r>
            <a:r>
              <a:rPr kumimoji="1" lang="zh-CN" altLang="en-US" sz="1800">
                <a:latin typeface="Times New Roman" pitchFamily="18" charset="0"/>
              </a:rPr>
              <a:t>三对角矩阵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zh-CN" altLang="en-US" sz="1800">
                <a:latin typeface="Times New Roman" pitchFamily="18" charset="0"/>
              </a:rPr>
              <a:t>的各阶顺序主子式都不为零的一个充分条件是</a:t>
            </a:r>
            <a:r>
              <a:rPr kumimoji="1" lang="en-US" altLang="zh-CN" sz="1800">
                <a:latin typeface="Times New Roman" pitchFamily="18" charset="0"/>
              </a:rPr>
              <a:t>:</a:t>
            </a:r>
            <a:endParaRPr kumimoji="1" lang="en-US" altLang="zh-CN" sz="180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1485900" y="2784475"/>
            <a:ext cx="41894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|a</a:t>
            </a:r>
            <a:r>
              <a:rPr kumimoji="1" lang="en-US" altLang="zh-CN" sz="1800" baseline="-25000">
                <a:latin typeface="Times New Roman" pitchFamily="18" charset="0"/>
              </a:rPr>
              <a:t>1</a:t>
            </a:r>
            <a:r>
              <a:rPr kumimoji="1" lang="en-US" altLang="zh-CN" sz="1800">
                <a:latin typeface="Times New Roman" pitchFamily="18" charset="0"/>
              </a:rPr>
              <a:t>|&gt;|c</a:t>
            </a:r>
            <a:r>
              <a:rPr kumimoji="1" lang="en-US" altLang="zh-CN" sz="1800" baseline="-25000">
                <a:latin typeface="Times New Roman" pitchFamily="18" charset="0"/>
              </a:rPr>
              <a:t>1</a:t>
            </a:r>
            <a:r>
              <a:rPr kumimoji="1" lang="en-US" altLang="zh-CN" sz="1800">
                <a:latin typeface="Times New Roman" pitchFamily="18" charset="0"/>
              </a:rPr>
              <a:t>|&gt;0 ; |a</a:t>
            </a:r>
            <a:r>
              <a:rPr kumimoji="1" lang="en-US" altLang="zh-CN" sz="1800" baseline="-25000">
                <a:latin typeface="Times New Roman" pitchFamily="18" charset="0"/>
              </a:rPr>
              <a:t>n</a:t>
            </a:r>
            <a:r>
              <a:rPr kumimoji="1" lang="en-US" altLang="zh-CN" sz="1800">
                <a:latin typeface="Times New Roman" pitchFamily="18" charset="0"/>
              </a:rPr>
              <a:t>|&gt;|d</a:t>
            </a:r>
            <a:r>
              <a:rPr kumimoji="1" lang="en-US" altLang="zh-CN" sz="1800" baseline="-25000">
                <a:latin typeface="Times New Roman" pitchFamily="18" charset="0"/>
              </a:rPr>
              <a:t>n</a:t>
            </a:r>
            <a:r>
              <a:rPr kumimoji="1" lang="en-US" altLang="zh-CN" sz="1800">
                <a:latin typeface="Times New Roman" pitchFamily="18" charset="0"/>
              </a:rPr>
              <a:t>|&gt;0 ; |a</a:t>
            </a:r>
            <a:r>
              <a:rPr kumimoji="1" lang="en-US" altLang="zh-CN" sz="1800" baseline="-25000">
                <a:latin typeface="Times New Roman" pitchFamily="18" charset="0"/>
              </a:rPr>
              <a:t>i</a:t>
            </a:r>
            <a:r>
              <a:rPr kumimoji="1" lang="en-US" altLang="zh-CN" sz="1800">
                <a:latin typeface="Times New Roman" pitchFamily="18" charset="0"/>
              </a:rPr>
              <a:t>|</a:t>
            </a:r>
            <a:r>
              <a:rPr kumimoji="1" lang="en-US" altLang="zh-CN" sz="1800">
                <a:latin typeface="Times New Roman" pitchFamily="18" charset="0"/>
                <a:sym typeface="Symbol" pitchFamily="18" charset="2"/>
              </a:rPr>
              <a:t>|c</a:t>
            </a:r>
            <a:r>
              <a:rPr kumimoji="1" lang="en-US" altLang="zh-CN" sz="18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1800">
                <a:latin typeface="Times New Roman" pitchFamily="18" charset="0"/>
                <a:sym typeface="Symbol" pitchFamily="18" charset="2"/>
              </a:rPr>
              <a:t>|+|d</a:t>
            </a:r>
            <a:r>
              <a:rPr kumimoji="1" lang="en-US" altLang="zh-CN" sz="18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1800">
                <a:latin typeface="Times New Roman" pitchFamily="18" charset="0"/>
                <a:sym typeface="Symbol" pitchFamily="18" charset="2"/>
              </a:rPr>
              <a:t>| , c</a:t>
            </a:r>
            <a:r>
              <a:rPr kumimoji="1" lang="en-US" altLang="zh-CN" sz="18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1800">
                <a:latin typeface="Times New Roman" pitchFamily="18" charset="0"/>
                <a:sym typeface="Symbol" pitchFamily="18" charset="2"/>
              </a:rPr>
              <a:t>d</a:t>
            </a:r>
            <a:r>
              <a:rPr kumimoji="1" lang="en-US" altLang="zh-CN" sz="1800" baseline="-25000"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1800">
                <a:latin typeface="Times New Roman" pitchFamily="18" charset="0"/>
                <a:sym typeface="Symbol" pitchFamily="18" charset="2"/>
              </a:rPr>
              <a:t> 0 ,i=2,3,…,n-1.</a:t>
            </a:r>
          </a:p>
        </p:txBody>
      </p:sp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1071563" y="3425825"/>
            <a:ext cx="7004050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1800">
                <a:latin typeface="Times New Roman" pitchFamily="18" charset="0"/>
              </a:rPr>
              <a:t>在此条件下</a:t>
            </a:r>
            <a:r>
              <a:rPr kumimoji="1" lang="en-US" altLang="zh-CN" sz="1800">
                <a:latin typeface="Times New Roman" pitchFamily="18" charset="0"/>
              </a:rPr>
              <a:t>, 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LDM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TM</a:t>
            </a:r>
            <a:r>
              <a:rPr kumimoji="1" lang="en-US" altLang="zh-CN" sz="1800">
                <a:latin typeface="Times New Roman" pitchFamily="18" charset="0"/>
              </a:rPr>
              <a:t> , </a:t>
            </a:r>
            <a:r>
              <a:rPr kumimoji="1" lang="zh-CN" altLang="en-US" sz="1800">
                <a:latin typeface="Times New Roman" pitchFamily="18" charset="0"/>
              </a:rPr>
              <a:t>称之为矩阵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zh-CN" altLang="en-US" sz="1800">
                <a:latin typeface="Times New Roman" pitchFamily="18" charset="0"/>
              </a:rPr>
              <a:t>的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Crout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分解</a:t>
            </a:r>
            <a:r>
              <a:rPr kumimoji="1" lang="en-US" altLang="zh-CN" sz="1800" b="1">
                <a:solidFill>
                  <a:srgbClr val="FF0000"/>
                </a:solidFill>
                <a:latin typeface="Times New Roman" pitchFamily="18" charset="0"/>
              </a:rPr>
              <a:t>.</a:t>
            </a:r>
            <a:endParaRPr kumimoji="1" lang="en-US" altLang="zh-CN" sz="180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1473200" y="3929063"/>
            <a:ext cx="700405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 </a:t>
            </a:r>
            <a:r>
              <a:rPr kumimoji="1" lang="zh-CN" altLang="en-US" sz="1800">
                <a:latin typeface="Times New Roman" pitchFamily="18" charset="0"/>
              </a:rPr>
              <a:t>对三对角矩阵</a:t>
            </a:r>
            <a:r>
              <a:rPr kumimoji="1" lang="en-US" altLang="zh-CN" sz="1800" b="1">
                <a:latin typeface="Times New Roman" pitchFamily="18" charset="0"/>
              </a:rPr>
              <a:t>A</a:t>
            </a:r>
            <a:r>
              <a:rPr kumimoji="1" lang="zh-CN" altLang="en-US" sz="1800">
                <a:latin typeface="Times New Roman" pitchFamily="18" charset="0"/>
              </a:rPr>
              <a:t>进行</a:t>
            </a:r>
            <a:r>
              <a:rPr kumimoji="1" lang="en-US" altLang="zh-CN" sz="1800">
                <a:latin typeface="Times New Roman" pitchFamily="18" charset="0"/>
              </a:rPr>
              <a:t>Crout</a:t>
            </a:r>
            <a:r>
              <a:rPr kumimoji="1" lang="zh-CN" altLang="en-US" sz="1800">
                <a:latin typeface="Times New Roman" pitchFamily="18" charset="0"/>
              </a:rPr>
              <a:t>分解</a:t>
            </a:r>
            <a:r>
              <a:rPr kumimoji="1" lang="en-US" altLang="zh-CN" sz="1800">
                <a:latin typeface="Times New Roman" pitchFamily="18" charset="0"/>
              </a:rPr>
              <a:t>,</a:t>
            </a:r>
            <a:r>
              <a:rPr kumimoji="1" lang="zh-CN" altLang="en-US" sz="1800">
                <a:latin typeface="Times New Roman" pitchFamily="18" charset="0"/>
              </a:rPr>
              <a:t>有</a:t>
            </a:r>
          </a:p>
        </p:txBody>
      </p:sp>
    </p:spTree>
    <p:extLst>
      <p:ext uri="{BB962C8B-B14F-4D97-AF65-F5344CB8AC3E}">
        <p14:creationId xmlns:p14="http://schemas.microsoft.com/office/powerpoint/2010/main" val="335353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 autoUpdateAnimBg="0"/>
      <p:bldP spid="20" grpId="0" autoUpdateAnimBg="0"/>
      <p:bldP spid="33" grpId="0" autoUpdateAnimBg="0"/>
      <p:bldP spid="34" grpId="0" autoUpdateAnimBg="0"/>
      <p:bldP spid="3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0" y="360363"/>
            <a:ext cx="3906838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292725" y="360363"/>
            <a:ext cx="3851275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追赶法</a:t>
            </a: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1746250" y="493713"/>
          <a:ext cx="5153025" cy="164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4" name="Equation" r:id="rId3" imgW="7531100" imgH="2400300" progId="Equation.3">
                  <p:embed/>
                </p:oleObj>
              </mc:Choice>
              <mc:Fallback>
                <p:oleObj name="Equation" r:id="rId3" imgW="7531100" imgH="240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493713"/>
                        <a:ext cx="5153025" cy="164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550863" y="2120900"/>
            <a:ext cx="6256337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1800">
                <a:latin typeface="Times New Roman" pitchFamily="18" charset="0"/>
              </a:rPr>
              <a:t>其中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525713" y="2295525"/>
          <a:ext cx="373697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5" name="Equation" r:id="rId5" imgW="5461000" imgH="1435100" progId="Equation.3">
                  <p:embed/>
                </p:oleObj>
              </mc:Choice>
              <mc:Fallback>
                <p:oleObj name="Equation" r:id="rId5" imgW="5461000" imgH="1435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3" y="2295525"/>
                        <a:ext cx="3736975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201738" y="3243263"/>
            <a:ext cx="6257925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 </a:t>
            </a:r>
            <a:r>
              <a:rPr kumimoji="1" lang="zh-CN" altLang="en-US" sz="1800">
                <a:latin typeface="Times New Roman" pitchFamily="18" charset="0"/>
              </a:rPr>
              <a:t>解三角方程 </a:t>
            </a:r>
            <a:r>
              <a:rPr kumimoji="1" lang="en-US" altLang="zh-CN" sz="1800" b="1">
                <a:latin typeface="Times New Roman" pitchFamily="18" charset="0"/>
              </a:rPr>
              <a:t>Ty=b</a:t>
            </a:r>
            <a:r>
              <a:rPr kumimoji="1" lang="en-US" altLang="zh-CN" sz="1800">
                <a:latin typeface="Times New Roman" pitchFamily="18" charset="0"/>
              </a:rPr>
              <a:t> , </a:t>
            </a:r>
            <a:r>
              <a:rPr kumimoji="1" lang="en-US" altLang="zh-CN" sz="1800" b="1">
                <a:latin typeface="Times New Roman" pitchFamily="18" charset="0"/>
              </a:rPr>
              <a:t>Mx</a:t>
            </a:r>
            <a:r>
              <a:rPr kumimoji="1" lang="en-US" altLang="zh-CN" sz="1800">
                <a:latin typeface="Times New Roman" pitchFamily="18" charset="0"/>
              </a:rPr>
              <a:t>=</a:t>
            </a:r>
            <a:r>
              <a:rPr kumimoji="1" lang="en-US" altLang="zh-CN" sz="1800" b="1">
                <a:latin typeface="Times New Roman" pitchFamily="18" charset="0"/>
              </a:rPr>
              <a:t>y  </a:t>
            </a:r>
            <a:r>
              <a:rPr kumimoji="1" lang="zh-CN" altLang="en-US" sz="1800">
                <a:latin typeface="Times New Roman" pitchFamily="18" charset="0"/>
              </a:rPr>
              <a:t>可得</a:t>
            </a:r>
          </a:p>
        </p:txBody>
      </p:sp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2517775" y="3622675"/>
          <a:ext cx="414178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6" name="Equation" r:id="rId7" imgW="5397500" imgH="800100" progId="Equation.3">
                  <p:embed/>
                </p:oleObj>
              </mc:Choice>
              <mc:Fallback>
                <p:oleObj name="Equation" r:id="rId7" imgW="53975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3622675"/>
                        <a:ext cx="414178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2005013" y="4340225"/>
            <a:ext cx="625792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1800">
                <a:latin typeface="Times New Roman" pitchFamily="18" charset="0"/>
              </a:rPr>
              <a:t>称之为解三对角方程组的</a:t>
            </a:r>
            <a:r>
              <a:rPr kumimoji="1" lang="zh-CN" altLang="en-US" sz="1800" b="1">
                <a:solidFill>
                  <a:srgbClr val="FF0000"/>
                </a:solidFill>
                <a:latin typeface="Times New Roman" pitchFamily="18" charset="0"/>
              </a:rPr>
              <a:t>追赶法</a:t>
            </a:r>
            <a:r>
              <a:rPr kumimoji="1" lang="en-US" altLang="zh-CN" sz="1800">
                <a:latin typeface="Times New Roman" pitchFamily="18" charset="0"/>
              </a:rPr>
              <a:t>.</a:t>
            </a:r>
          </a:p>
        </p:txBody>
      </p:sp>
      <p:sp>
        <p:nvSpPr>
          <p:cNvPr id="11" name="椭圆 10"/>
          <p:cNvSpPr/>
          <p:nvPr/>
        </p:nvSpPr>
        <p:spPr>
          <a:xfrm rot="519747">
            <a:off x="6564313" y="2998788"/>
            <a:ext cx="1433512" cy="749300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 rot="756370">
            <a:off x="6865938" y="3189288"/>
            <a:ext cx="963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chemeClr val="bg1"/>
                </a:solidFill>
              </a:rPr>
              <a:t>追赶法</a:t>
            </a:r>
          </a:p>
        </p:txBody>
      </p:sp>
    </p:spTree>
    <p:extLst>
      <p:ext uri="{BB962C8B-B14F-4D97-AF65-F5344CB8AC3E}">
        <p14:creationId xmlns:p14="http://schemas.microsoft.com/office/powerpoint/2010/main" val="317296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14" grpId="0" autoUpdateAnimBg="0"/>
      <p:bldP spid="16" grpId="0" autoUpdateAnimBg="0"/>
      <p:bldP spid="18" grpId="0" autoUpdateAnimBg="0"/>
      <p:bldP spid="11" grpId="0" animBg="1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75"/>
            <a:ext cx="3865563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307013" y="346075"/>
            <a:ext cx="3836987" cy="2540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追赶法</a:t>
            </a:r>
          </a:p>
        </p:txBody>
      </p:sp>
      <p:graphicFrame>
        <p:nvGraphicFramePr>
          <p:cNvPr id="27" name="Object 16"/>
          <p:cNvGraphicFramePr>
            <a:graphicFrameLocks noChangeAspect="1"/>
          </p:cNvGraphicFramePr>
          <p:nvPr/>
        </p:nvGraphicFramePr>
        <p:xfrm>
          <a:off x="2719388" y="735013"/>
          <a:ext cx="2946400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2" name="Equation" r:id="rId3" imgW="3990944" imgH="1828710" progId="Equation.3">
                  <p:embed/>
                </p:oleObj>
              </mc:Choice>
              <mc:Fallback>
                <p:oleObj name="Equation" r:id="rId3" imgW="3990944" imgH="18287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388" y="735013"/>
                        <a:ext cx="2946400" cy="1385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"/>
          <p:cNvSpPr>
            <a:spLocks noChangeArrowheads="1"/>
          </p:cNvSpPr>
          <p:nvPr/>
        </p:nvSpPr>
        <p:spPr bwMode="auto">
          <a:xfrm>
            <a:off x="0" y="2546350"/>
            <a:ext cx="91440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800">
                <a:latin typeface="Times New Roman" pitchFamily="18" charset="0"/>
              </a:rPr>
              <a:t>        </a:t>
            </a:r>
            <a:r>
              <a:rPr kumimoji="1" lang="zh-CN" altLang="en-US" sz="1800" b="1">
                <a:latin typeface="Times New Roman" pitchFamily="18" charset="0"/>
              </a:rPr>
              <a:t>解</a:t>
            </a:r>
            <a:endParaRPr kumimoji="1" lang="zh-CN" altLang="en-US" sz="1800">
              <a:latin typeface="Times New Roman" pitchFamily="18" charset="0"/>
            </a:endParaRPr>
          </a:p>
        </p:txBody>
      </p:sp>
      <p:graphicFrame>
        <p:nvGraphicFramePr>
          <p:cNvPr id="29" name="Object 17"/>
          <p:cNvGraphicFramePr>
            <a:graphicFrameLocks noChangeAspect="1"/>
          </p:cNvGraphicFramePr>
          <p:nvPr/>
        </p:nvGraphicFramePr>
        <p:xfrm>
          <a:off x="1301750" y="2333625"/>
          <a:ext cx="2951163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3" name="Equation" r:id="rId5" imgW="3060700" imgH="1892300" progId="Equation.3">
                  <p:embed/>
                </p:oleObj>
              </mc:Choice>
              <mc:Fallback>
                <p:oleObj name="Equation" r:id="rId5" imgW="3060700" imgH="189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2333625"/>
                        <a:ext cx="2951163" cy="182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8"/>
          <p:cNvGraphicFramePr>
            <a:graphicFrameLocks noChangeAspect="1"/>
          </p:cNvGraphicFramePr>
          <p:nvPr/>
        </p:nvGraphicFramePr>
        <p:xfrm>
          <a:off x="4448175" y="2360613"/>
          <a:ext cx="245110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4" name="Equation" r:id="rId7" imgW="2451100" imgH="1892300" progId="Equation.3">
                  <p:embed/>
                </p:oleObj>
              </mc:Choice>
              <mc:Fallback>
                <p:oleObj name="Equation" r:id="rId7" imgW="2451100" imgH="189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175" y="2360613"/>
                        <a:ext cx="2451100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9"/>
          <p:cNvGraphicFramePr>
            <a:graphicFrameLocks noChangeAspect="1"/>
          </p:cNvGraphicFramePr>
          <p:nvPr/>
        </p:nvGraphicFramePr>
        <p:xfrm>
          <a:off x="4473575" y="2347913"/>
          <a:ext cx="26543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5" name="Equation" r:id="rId9" imgW="2654300" imgH="1917700" progId="Equation.3">
                  <p:embed/>
                </p:oleObj>
              </mc:Choice>
              <mc:Fallback>
                <p:oleObj name="Equation" r:id="rId9" imgW="26543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3575" y="2347913"/>
                        <a:ext cx="265430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0"/>
          <p:cNvGraphicFramePr>
            <a:graphicFrameLocks noChangeAspect="1"/>
          </p:cNvGraphicFramePr>
          <p:nvPr/>
        </p:nvGraphicFramePr>
        <p:xfrm>
          <a:off x="4435475" y="2347913"/>
          <a:ext cx="27051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6" name="Equation" r:id="rId11" imgW="2705100" imgH="1917700" progId="Equation.3">
                  <p:embed/>
                </p:oleObj>
              </mc:Choice>
              <mc:Fallback>
                <p:oleObj name="Equation" r:id="rId11" imgW="27051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2347913"/>
                        <a:ext cx="270510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1"/>
          <p:cNvGraphicFramePr>
            <a:graphicFrameLocks noChangeAspect="1"/>
          </p:cNvGraphicFramePr>
          <p:nvPr/>
        </p:nvGraphicFramePr>
        <p:xfrm>
          <a:off x="4391025" y="2347913"/>
          <a:ext cx="28448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7" name="Equation" r:id="rId13" imgW="2844800" imgH="1917700" progId="Equation.3">
                  <p:embed/>
                </p:oleObj>
              </mc:Choice>
              <mc:Fallback>
                <p:oleObj name="Equation" r:id="rId13" imgW="28448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2347913"/>
                        <a:ext cx="284480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2"/>
          <p:cNvGraphicFramePr>
            <a:graphicFrameLocks noChangeAspect="1"/>
          </p:cNvGraphicFramePr>
          <p:nvPr/>
        </p:nvGraphicFramePr>
        <p:xfrm>
          <a:off x="4416425" y="2347913"/>
          <a:ext cx="29337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8" name="Equation" r:id="rId15" imgW="2933700" imgH="1917700" progId="Equation.3">
                  <p:embed/>
                </p:oleObj>
              </mc:Choice>
              <mc:Fallback>
                <p:oleObj name="Equation" r:id="rId15" imgW="29337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347913"/>
                        <a:ext cx="293370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3"/>
          <p:cNvGraphicFramePr>
            <a:graphicFrameLocks noChangeAspect="1"/>
          </p:cNvGraphicFramePr>
          <p:nvPr/>
        </p:nvGraphicFramePr>
        <p:xfrm>
          <a:off x="4416425" y="2309813"/>
          <a:ext cx="2871788" cy="18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9" name="Equation" r:id="rId17" imgW="3022600" imgH="1943100" progId="Equation.3">
                  <p:embed/>
                </p:oleObj>
              </mc:Choice>
              <mc:Fallback>
                <p:oleObj name="Equation" r:id="rId17" imgW="3022600" imgH="194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2309813"/>
                        <a:ext cx="2871788" cy="184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4"/>
          <p:cNvGraphicFramePr>
            <a:graphicFrameLocks noChangeAspect="1"/>
          </p:cNvGraphicFramePr>
          <p:nvPr/>
        </p:nvGraphicFramePr>
        <p:xfrm>
          <a:off x="4460875" y="2347913"/>
          <a:ext cx="24511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10" name="Equation" r:id="rId19" imgW="2451100" imgH="1917700" progId="Equation.3">
                  <p:embed/>
                </p:oleObj>
              </mc:Choice>
              <mc:Fallback>
                <p:oleObj name="Equation" r:id="rId19" imgW="24511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2347913"/>
                        <a:ext cx="245110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13"/>
          <p:cNvSpPr txBox="1">
            <a:spLocks noChangeArrowheads="1"/>
          </p:cNvSpPr>
          <p:nvPr/>
        </p:nvSpPr>
        <p:spPr>
          <a:xfrm>
            <a:off x="284163" y="512763"/>
            <a:ext cx="7543800" cy="5334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defTabSz="914400">
              <a:defRPr/>
            </a:pPr>
            <a:r>
              <a:rPr lang="en-US" altLang="zh-CN" sz="1800" b="1" cap="all" spc="-6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</a:t>
            </a:r>
            <a:r>
              <a:rPr lang="zh-CN" altLang="en-US" sz="1800" b="1" cap="all" spc="-6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例 </a:t>
            </a:r>
            <a:r>
              <a:rPr lang="zh-CN" altLang="en-US" sz="1800" cap="all" spc="-6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  解线性方程组</a:t>
            </a:r>
          </a:p>
        </p:txBody>
      </p:sp>
    </p:spTree>
    <p:extLst>
      <p:ext uri="{BB962C8B-B14F-4D97-AF65-F5344CB8AC3E}">
        <p14:creationId xmlns:p14="http://schemas.microsoft.com/office/powerpoint/2010/main" val="44599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 autoUpdateAnimBg="0"/>
      <p:bldP spid="3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0" y="360363"/>
            <a:ext cx="3921125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348288" y="360363"/>
            <a:ext cx="3795712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追赶法</a:t>
            </a: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1244600" y="544513"/>
          <a:ext cx="6181725" cy="183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02" name="Equation" r:id="rId3" imgW="6527800" imgH="1943100" progId="Equation.3">
                  <p:embed/>
                </p:oleObj>
              </mc:Choice>
              <mc:Fallback>
                <p:oleObj name="Equation" r:id="rId3" imgW="6527800" imgH="194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44513"/>
                        <a:ext cx="6181725" cy="183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2" name="Object 16"/>
          <p:cNvGraphicFramePr>
            <a:graphicFrameLocks noChangeAspect="1"/>
          </p:cNvGraphicFramePr>
          <p:nvPr/>
        </p:nvGraphicFramePr>
        <p:xfrm>
          <a:off x="823913" y="2555875"/>
          <a:ext cx="5272087" cy="188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03" name="Equation" r:id="rId5" imgW="5435600" imgH="1943100" progId="Equation.3">
                  <p:embed/>
                </p:oleObj>
              </mc:Choice>
              <mc:Fallback>
                <p:oleObj name="Equation" r:id="rId5" imgW="5435600" imgH="194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13" y="2555875"/>
                        <a:ext cx="5272087" cy="188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3" name="Object 17"/>
          <p:cNvGraphicFramePr>
            <a:graphicFrameLocks noChangeAspect="1"/>
          </p:cNvGraphicFramePr>
          <p:nvPr/>
        </p:nvGraphicFramePr>
        <p:xfrm>
          <a:off x="6169025" y="2592388"/>
          <a:ext cx="2141538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04" name="Equation" r:id="rId7" imgW="2336800" imgH="1917700" progId="Equation.3">
                  <p:embed/>
                </p:oleObj>
              </mc:Choice>
              <mc:Fallback>
                <p:oleObj name="Equation" r:id="rId7" imgW="23368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5" y="2592388"/>
                        <a:ext cx="2141538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745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0" y="360363"/>
            <a:ext cx="3921125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348288" y="360363"/>
            <a:ext cx="3795712" cy="11112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/>
          <p:cNvSpPr txBox="1"/>
          <p:nvPr/>
        </p:nvSpPr>
        <p:spPr>
          <a:xfrm>
            <a:off x="3314700" y="136525"/>
            <a:ext cx="25812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追赶法</a:t>
            </a: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1220788" y="650875"/>
          <a:ext cx="4214812" cy="155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22" name="Equation" r:id="rId3" imgW="5194300" imgH="1917700" progId="Equation.3">
                  <p:embed/>
                </p:oleObj>
              </mc:Choice>
              <mc:Fallback>
                <p:oleObj name="Equation" r:id="rId3" imgW="51943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650875"/>
                        <a:ext cx="4214812" cy="155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5629275" y="554038"/>
          <a:ext cx="1763713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23" name="Equation" r:id="rId5" imgW="2171700" imgH="1917700" progId="Equation.3">
                  <p:embed/>
                </p:oleObj>
              </mc:Choice>
              <mc:Fallback>
                <p:oleObj name="Equation" r:id="rId5" imgW="2171700" imgH="191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554038"/>
                        <a:ext cx="1763713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圆角矩形 7"/>
          <p:cNvSpPr/>
          <p:nvPr/>
        </p:nvSpPr>
        <p:spPr>
          <a:xfrm>
            <a:off x="1323975" y="2657475"/>
            <a:ext cx="6315075" cy="1504950"/>
          </a:xfrm>
          <a:prstGeom prst="round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924050" y="2781300"/>
            <a:ext cx="5381625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</a:rPr>
              <a:t>当满足条件                                                                  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|a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|&gt;|c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|&gt;0 ; |a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</a:rPr>
              <a:t>n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|&gt;|d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</a:rPr>
              <a:t>n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|&gt;0 ; |a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</a:rPr>
              <a:t>|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|c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|+|d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| , c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d</a:t>
            </a:r>
            <a:r>
              <a:rPr kumimoji="1" lang="en-US" altLang="zh-CN" sz="160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 0 ,i=2,3,…,n-1.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时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, 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追赶法是数值稳定的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, 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追赶法具有计算程序简单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, 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存贮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量少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,</a:t>
            </a:r>
            <a:r>
              <a:rPr kumimoji="1" lang="zh-CN" altLang="en-US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计算量小的优点</a:t>
            </a:r>
            <a:r>
              <a:rPr kumimoji="1" lang="en-US" altLang="zh-CN" sz="16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.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25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6EF4757-9F3A-41D5-A174-AE5084FC5853}"/>
              </a:ext>
            </a:extLst>
          </p:cNvPr>
          <p:cNvCxnSpPr>
            <a:cxnSpLocks/>
          </p:cNvCxnSpPr>
          <p:nvPr/>
        </p:nvCxnSpPr>
        <p:spPr>
          <a:xfrm>
            <a:off x="5738813" y="371475"/>
            <a:ext cx="3405187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A44ADE78-7650-4166-AA04-ED4E971F832A}"/>
              </a:ext>
            </a:extLst>
          </p:cNvPr>
          <p:cNvSpPr txBox="1"/>
          <p:nvPr/>
        </p:nvSpPr>
        <p:spPr>
          <a:xfrm>
            <a:off x="2038350" y="157163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2.9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75FDDAF-B5B7-420C-96A9-BAB3EDF7074F}"/>
              </a:ext>
            </a:extLst>
          </p:cNvPr>
          <p:cNvCxnSpPr>
            <a:cxnSpLocks/>
          </p:cNvCxnSpPr>
          <p:nvPr/>
        </p:nvCxnSpPr>
        <p:spPr>
          <a:xfrm flipV="1">
            <a:off x="436563" y="357188"/>
            <a:ext cx="3333750" cy="14287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58EB8F3-98ED-4937-9287-37B424A9B53A}"/>
                  </a:ext>
                </a:extLst>
              </p:cNvPr>
              <p:cNvSpPr txBox="1"/>
              <p:nvPr/>
            </p:nvSpPr>
            <p:spPr>
              <a:xfrm>
                <a:off x="946150" y="1437265"/>
                <a:ext cx="2279650" cy="707886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设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有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精确解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 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，有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近似解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.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58EB8F3-98ED-4937-9287-37B424A9B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50" y="1437265"/>
                <a:ext cx="2279650" cy="707886"/>
              </a:xfrm>
              <a:prstGeom prst="rect">
                <a:avLst/>
              </a:prstGeom>
              <a:blipFill>
                <a:blip r:embed="rId2"/>
                <a:stretch>
                  <a:fillRect r="-266" b="-14407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F0C2E44-FEB7-4C84-89FD-06C1DDFEDF8E}"/>
              </a:ext>
            </a:extLst>
          </p:cNvPr>
          <p:cNvCxnSpPr>
            <a:cxnSpLocks/>
          </p:cNvCxnSpPr>
          <p:nvPr/>
        </p:nvCxnSpPr>
        <p:spPr>
          <a:xfrm flipV="1">
            <a:off x="3232150" y="1786486"/>
            <a:ext cx="190500" cy="47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7AEFB15-78FA-4DA6-BF29-A599E6D179E3}"/>
              </a:ext>
            </a:extLst>
          </p:cNvPr>
          <p:cNvCxnSpPr>
            <a:cxnSpLocks/>
          </p:cNvCxnSpPr>
          <p:nvPr/>
        </p:nvCxnSpPr>
        <p:spPr>
          <a:xfrm flipH="1">
            <a:off x="3429000" y="1176886"/>
            <a:ext cx="6350" cy="12827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9F6A5D7-2079-470A-A5C0-9A6DD22396C9}"/>
              </a:ext>
            </a:extLst>
          </p:cNvPr>
          <p:cNvCxnSpPr/>
          <p:nvPr/>
        </p:nvCxnSpPr>
        <p:spPr>
          <a:xfrm>
            <a:off x="3416300" y="1176886"/>
            <a:ext cx="5588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B32CA32-FDBD-48B2-88D8-676A4C5175CD}"/>
              </a:ext>
            </a:extLst>
          </p:cNvPr>
          <p:cNvCxnSpPr/>
          <p:nvPr/>
        </p:nvCxnSpPr>
        <p:spPr>
          <a:xfrm>
            <a:off x="3435350" y="1786486"/>
            <a:ext cx="5588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004DC30-8E87-4378-987B-4E754B570EBA}"/>
              </a:ext>
            </a:extLst>
          </p:cNvPr>
          <p:cNvCxnSpPr/>
          <p:nvPr/>
        </p:nvCxnSpPr>
        <p:spPr>
          <a:xfrm>
            <a:off x="3429000" y="2421486"/>
            <a:ext cx="5588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EA1B771-A2B5-4055-AE40-CF50C274B182}"/>
                  </a:ext>
                </a:extLst>
              </p:cNvPr>
              <p:cNvSpPr txBox="1"/>
              <p:nvPr/>
            </p:nvSpPr>
            <p:spPr>
              <a:xfrm>
                <a:off x="3975100" y="983181"/>
                <a:ext cx="3498849" cy="40011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 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和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的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近似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程度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如何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衡量</m:t>
                      </m:r>
                      <m:r>
                        <m:rPr>
                          <m:nor/>
                        </m:rPr>
                        <a:rPr lang="zh-CN" altLang="en-US" sz="2000" dirty="0"/>
                        <m:t>？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EA1B771-A2B5-4055-AE40-CF50C274B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00" y="983181"/>
                <a:ext cx="3498849" cy="400110"/>
              </a:xfrm>
              <a:prstGeom prst="rect">
                <a:avLst/>
              </a:prstGeom>
              <a:blipFill>
                <a:blip r:embed="rId3"/>
                <a:stretch>
                  <a:fillRect b="-10294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FCADD7A-1C36-4A1D-8FDD-CFFFB7C26FAE}"/>
                  </a:ext>
                </a:extLst>
              </p:cNvPr>
              <p:cNvSpPr txBox="1"/>
              <p:nvPr/>
            </p:nvSpPr>
            <p:spPr>
              <a:xfrm>
                <a:off x="3994150" y="1586431"/>
                <a:ext cx="3498849" cy="40011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如何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对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方程组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进行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误差分析</m:t>
                    </m:r>
                  </m:oMath>
                </a14:m>
                <a:r>
                  <a:rPr lang="zh-CN" altLang="en-US" sz="2000" dirty="0"/>
                  <a:t>？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FCADD7A-1C36-4A1D-8FDD-CFFFB7C26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150" y="1586431"/>
                <a:ext cx="3498849" cy="400110"/>
              </a:xfrm>
              <a:prstGeom prst="rect">
                <a:avLst/>
              </a:prstGeom>
              <a:blipFill>
                <a:blip r:embed="rId4"/>
                <a:stretch>
                  <a:fillRect l="-347" t="-8824" r="-1389" b="-20588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FA27D0C-1470-45BF-ABF3-1E48D1FADCAF}"/>
                  </a:ext>
                </a:extLst>
              </p:cNvPr>
              <p:cNvSpPr txBox="1"/>
              <p:nvPr/>
            </p:nvSpPr>
            <p:spPr>
              <a:xfrm>
                <a:off x="3994150" y="2205586"/>
                <a:ext cx="3498849" cy="40011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向量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和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矩阵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的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大小如何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度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量</m:t>
                      </m:r>
                      <m:r>
                        <m:rPr>
                          <m:nor/>
                        </m:rPr>
                        <a:rPr lang="zh-CN" altLang="en-US" sz="2000" dirty="0"/>
                        <m:t>？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FA27D0C-1470-45BF-ABF3-1E48D1FAD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150" y="2205586"/>
                <a:ext cx="3498849" cy="400110"/>
              </a:xfrm>
              <a:prstGeom prst="rect">
                <a:avLst/>
              </a:prstGeom>
              <a:blipFill>
                <a:blip r:embed="rId5"/>
                <a:stretch>
                  <a:fillRect l="-174" b="-13433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FF26B52-0AE5-4B80-A002-19466FE8451C}"/>
              </a:ext>
            </a:extLst>
          </p:cNvPr>
          <p:cNvSpPr/>
          <p:nvPr/>
        </p:nvSpPr>
        <p:spPr>
          <a:xfrm>
            <a:off x="728662" y="2767643"/>
            <a:ext cx="7034109" cy="1694091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20F090F-0728-4F35-8C1B-BEE2FF6B4321}"/>
              </a:ext>
            </a:extLst>
          </p:cNvPr>
          <p:cNvSpPr txBox="1"/>
          <p:nvPr/>
        </p:nvSpPr>
        <p:spPr>
          <a:xfrm>
            <a:off x="952500" y="2875760"/>
            <a:ext cx="64150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为了研究线性方程组近似解的误差估计和迭代法的收敛性，我们引入度量向量和矩阵的“大小”的量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范数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3A87217-D4E3-411E-930C-3BAA564D1081}"/>
              </a:ext>
            </a:extLst>
          </p:cNvPr>
          <p:cNvSpPr txBox="1"/>
          <p:nvPr/>
        </p:nvSpPr>
        <p:spPr>
          <a:xfrm>
            <a:off x="819058" y="3596371"/>
            <a:ext cx="644525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向量范数概念是实数的绝对值，复数的模的概念的推广，在数值分析中起着重要作用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EB9FC7-E63A-4CBC-8CC5-673EE07B1E75}"/>
              </a:ext>
            </a:extLst>
          </p:cNvPr>
          <p:cNvSpPr txBox="1"/>
          <p:nvPr/>
        </p:nvSpPr>
        <p:spPr>
          <a:xfrm>
            <a:off x="585273" y="677044"/>
            <a:ext cx="3123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为何引入向量范数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27" grpId="0" animBg="1"/>
      <p:bldP spid="28" grpId="0" animBg="1"/>
      <p:bldP spid="29" grpId="0" animBg="1"/>
      <p:bldP spid="31" grpId="0" animBg="1"/>
      <p:bldP spid="32" grpId="0"/>
      <p:bldP spid="33" grpId="0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281D825-E292-4F2B-BBA4-DFE7C6F94837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458817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61AD923-8F99-4315-BC7E-AF1C386D382E}"/>
              </a:ext>
            </a:extLst>
          </p:cNvPr>
          <p:cNvCxnSpPr>
            <a:cxnSpLocks/>
          </p:cNvCxnSpPr>
          <p:nvPr/>
        </p:nvCxnSpPr>
        <p:spPr>
          <a:xfrm>
            <a:off x="5357191" y="371475"/>
            <a:ext cx="3786809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58D663C0-DA80-4349-AE80-F1E368DE4FD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FEFCC0-B598-4CF1-AB7B-CAC4977DD27E}"/>
              </a:ext>
            </a:extLst>
          </p:cNvPr>
          <p:cNvSpPr/>
          <p:nvPr/>
        </p:nvSpPr>
        <p:spPr>
          <a:xfrm>
            <a:off x="2112963" y="741363"/>
            <a:ext cx="4859337" cy="4873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EDD1D0-CB46-4AEE-B857-33B3B4D0D17F}"/>
              </a:ext>
            </a:extLst>
          </p:cNvPr>
          <p:cNvSpPr txBox="1"/>
          <p:nvPr/>
        </p:nvSpPr>
        <p:spPr>
          <a:xfrm>
            <a:off x="970209" y="1544167"/>
            <a:ext cx="523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研究矩阵和向量的大小度量和误差估计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41794A-5351-40DA-960C-642EE5E63D89}"/>
              </a:ext>
            </a:extLst>
          </p:cNvPr>
          <p:cNvSpPr txBox="1"/>
          <p:nvPr/>
        </p:nvSpPr>
        <p:spPr>
          <a:xfrm>
            <a:off x="970209" y="2267530"/>
            <a:ext cx="523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研究矩阵序列和向量序列收敛准则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AE4212A-5907-450F-9AC1-9626970BA096}"/>
              </a:ext>
            </a:extLst>
          </p:cNvPr>
          <p:cNvSpPr txBox="1"/>
          <p:nvPr/>
        </p:nvSpPr>
        <p:spPr>
          <a:xfrm>
            <a:off x="974503" y="2948069"/>
            <a:ext cx="5237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研究线性方程组解的误差估计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2D9D406-ACF3-4291-AFB1-DF5BD3B34193}"/>
              </a:ext>
            </a:extLst>
          </p:cNvPr>
          <p:cNvSpPr/>
          <p:nvPr/>
        </p:nvSpPr>
        <p:spPr>
          <a:xfrm>
            <a:off x="777026" y="681046"/>
            <a:ext cx="6385774" cy="718772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AD446A-41AB-4A1D-A4E9-CFA61CD411D1}"/>
              </a:ext>
            </a:extLst>
          </p:cNvPr>
          <p:cNvSpPr txBox="1"/>
          <p:nvPr/>
        </p:nvSpPr>
        <p:spPr>
          <a:xfrm>
            <a:off x="970209" y="852717"/>
            <a:ext cx="5415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范数的主要意义和作用：</a:t>
            </a:r>
          </a:p>
        </p:txBody>
      </p:sp>
    </p:spTree>
    <p:extLst>
      <p:ext uri="{BB962C8B-B14F-4D97-AF65-F5344CB8AC3E}">
        <p14:creationId xmlns:p14="http://schemas.microsoft.com/office/powerpoint/2010/main" val="396697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8" grpId="0" animBg="1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613C6C1-3C20-4C50-854F-C0D3B7464208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021013" cy="317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C15CB6F-8E1B-4C44-93E4-5DC61D3F8964}"/>
              </a:ext>
            </a:extLst>
          </p:cNvPr>
          <p:cNvCxnSpPr>
            <a:cxnSpLocks/>
          </p:cNvCxnSpPr>
          <p:nvPr/>
        </p:nvCxnSpPr>
        <p:spPr>
          <a:xfrm>
            <a:off x="5337175" y="371475"/>
            <a:ext cx="3637860" cy="317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500">
            <a:extLst>
              <a:ext uri="{FF2B5EF4-FFF2-40B4-BE49-F238E27FC236}">
                <a16:creationId xmlns:a16="http://schemas.microsoft.com/office/drawing/2014/main" id="{30783344-BCD3-4293-BDE3-735AE8D04483}"/>
              </a:ext>
            </a:extLst>
          </p:cNvPr>
          <p:cNvSpPr txBox="1"/>
          <p:nvPr/>
        </p:nvSpPr>
        <p:spPr>
          <a:xfrm>
            <a:off x="1555750" y="203200"/>
            <a:ext cx="549751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B10D7AF-3A07-497F-A9CB-144F41AF6DD1}"/>
              </a:ext>
            </a:extLst>
          </p:cNvPr>
          <p:cNvSpPr/>
          <p:nvPr/>
        </p:nvSpPr>
        <p:spPr>
          <a:xfrm>
            <a:off x="792050" y="933718"/>
            <a:ext cx="7759521" cy="3522372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7DDC3B-F086-4F88-8269-F9CB8148AB13}"/>
              </a:ext>
            </a:extLst>
          </p:cNvPr>
          <p:cNvSpPr txBox="1"/>
          <p:nvPr/>
        </p:nvSpPr>
        <p:spPr>
          <a:xfrm>
            <a:off x="1153117" y="733633"/>
            <a:ext cx="714778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34743BE-2EF8-4DCA-8E34-7BC56738A63B}"/>
                  </a:ext>
                </a:extLst>
              </p:cNvPr>
              <p:cNvSpPr txBox="1"/>
              <p:nvPr/>
            </p:nvSpPr>
            <p:spPr>
              <a:xfrm>
                <a:off x="1056066" y="1224066"/>
                <a:ext cx="59178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是向量空间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</a:t>
                </a:r>
                <a:r>
                  <a:rPr lang="en-US" altLang="zh-CN" sz="2000" baseline="30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上的实值函数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且满足条件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34743BE-2EF8-4DCA-8E34-7BC56738A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66" y="1224066"/>
                <a:ext cx="5917842" cy="400110"/>
              </a:xfrm>
              <a:prstGeom prst="rect">
                <a:avLst/>
              </a:prstGeom>
              <a:blipFill>
                <a:blip r:embed="rId2"/>
                <a:stretch>
                  <a:fillRect l="-1030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83BFC0FE-5332-41A4-9CC3-D46849B9CB54}"/>
              </a:ext>
            </a:extLst>
          </p:cNvPr>
          <p:cNvSpPr txBox="1"/>
          <p:nvPr/>
        </p:nvSpPr>
        <p:spPr>
          <a:xfrm>
            <a:off x="920837" y="1737563"/>
            <a:ext cx="1867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）非负性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D7CC48-E69A-48C5-827D-EC12A9C77F1C}"/>
              </a:ext>
            </a:extLst>
          </p:cNvPr>
          <p:cNvSpPr txBox="1"/>
          <p:nvPr/>
        </p:nvSpPr>
        <p:spPr>
          <a:xfrm>
            <a:off x="937163" y="2462016"/>
            <a:ext cx="1719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）齐次性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6870136-FAC8-4DE8-8374-08C2AEBDE076}"/>
                  </a:ext>
                </a:extLst>
              </p:cNvPr>
              <p:cNvSpPr txBox="1"/>
              <p:nvPr/>
            </p:nvSpPr>
            <p:spPr>
              <a:xfrm>
                <a:off x="2656952" y="2462016"/>
                <a:ext cx="56920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对任何向量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和实数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 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6870136-FAC8-4DE8-8374-08C2AEBDE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952" y="2462016"/>
                <a:ext cx="5692005" cy="400110"/>
              </a:xfrm>
              <a:prstGeom prst="rect">
                <a:avLst/>
              </a:prstGeom>
              <a:blipFill>
                <a:blip r:embed="rId3"/>
                <a:stretch>
                  <a:fillRect t="-1212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ED312EA5-3C30-42C3-8C38-89B5EBFD4391}"/>
              </a:ext>
            </a:extLst>
          </p:cNvPr>
          <p:cNvSpPr txBox="1"/>
          <p:nvPr/>
        </p:nvSpPr>
        <p:spPr>
          <a:xfrm>
            <a:off x="924747" y="2986414"/>
            <a:ext cx="2146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）三角不等式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C5FBE85-5740-4FC9-85DD-EB3756EF60A7}"/>
                  </a:ext>
                </a:extLst>
              </p:cNvPr>
              <p:cNvSpPr txBox="1"/>
              <p:nvPr/>
            </p:nvSpPr>
            <p:spPr>
              <a:xfrm>
                <a:off x="3118072" y="2979460"/>
                <a:ext cx="49454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对任何向量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y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</m:oMath>
                </a14:m>
                <a:endParaRPr lang="en-US" altLang="zh-CN" sz="2000" b="0" i="0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y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 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+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C5FBE85-5740-4FC9-85DD-EB3756EF6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072" y="2979460"/>
                <a:ext cx="4945487" cy="707886"/>
              </a:xfrm>
              <a:prstGeom prst="rect">
                <a:avLst/>
              </a:prstGeom>
              <a:blipFill>
                <a:blip r:embed="rId4"/>
                <a:stretch>
                  <a:fillRect l="-1232" t="-4310" b="-5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64A0C9D-5C9F-4BB9-A4B6-1EF2E97B1265}"/>
                  </a:ext>
                </a:extLst>
              </p:cNvPr>
              <p:cNvSpPr txBox="1"/>
              <p:nvPr/>
            </p:nvSpPr>
            <p:spPr>
              <a:xfrm>
                <a:off x="1099069" y="3849873"/>
                <a:ext cx="63681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则称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为空间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上的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为向量</a:t>
                </a:r>
                <a14:m>
                  <m:oMath xmlns:m="http://schemas.openxmlformats.org/officeDocument/2006/math">
                    <m:r>
                      <a:rPr lang="en-US" altLang="zh-CN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范数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.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64A0C9D-5C9F-4BB9-A4B6-1EF2E97B1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069" y="3849873"/>
                <a:ext cx="6368145" cy="400110"/>
              </a:xfrm>
              <a:prstGeom prst="rect">
                <a:avLst/>
              </a:prstGeom>
              <a:blipFill>
                <a:blip r:embed="rId5"/>
                <a:stretch>
                  <a:fillRect l="-957" t="-10769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16A5D4D-675B-47F6-B23A-22C9A59F33BB}"/>
                  </a:ext>
                </a:extLst>
              </p:cNvPr>
              <p:cNvSpPr txBox="1"/>
              <p:nvPr/>
            </p:nvSpPr>
            <p:spPr>
              <a:xfrm>
                <a:off x="2663393" y="1734117"/>
                <a:ext cx="48038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对任何向量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≥0;</m:t>
                    </m:r>
                  </m:oMath>
                </a14:m>
                <a:endParaRPr lang="en-US" altLang="zh-CN" sz="2000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=0</m:t>
                      </m:r>
                      <m:r>
                        <a:rPr lang="zh-CN" altLang="en-US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当且仅当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=0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16A5D4D-675B-47F6-B23A-22C9A59F3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93" y="1734117"/>
                <a:ext cx="4803821" cy="707886"/>
              </a:xfrm>
              <a:prstGeom prst="rect">
                <a:avLst/>
              </a:prstGeom>
              <a:blipFill>
                <a:blip r:embed="rId6"/>
                <a:stretch>
                  <a:fillRect t="-3419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  <p:bldP spid="4" grpId="0" animBg="1"/>
      <p:bldP spid="5" grpId="0"/>
      <p:bldP spid="8" grpId="0"/>
      <p:bldP spid="14" grpId="0"/>
      <p:bldP spid="17" grpId="0"/>
      <p:bldP spid="20" grpId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C040C31-4E6E-4E34-BCA0-349072CB6A2D}"/>
              </a:ext>
            </a:extLst>
          </p:cNvPr>
          <p:cNvCxnSpPr>
            <a:cxnSpLocks/>
          </p:cNvCxnSpPr>
          <p:nvPr/>
        </p:nvCxnSpPr>
        <p:spPr>
          <a:xfrm>
            <a:off x="0" y="313329"/>
            <a:ext cx="3412439" cy="3668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78567D4-2FFD-44AD-95C4-049C745C684D}"/>
              </a:ext>
            </a:extLst>
          </p:cNvPr>
          <p:cNvCxnSpPr>
            <a:cxnSpLocks/>
          </p:cNvCxnSpPr>
          <p:nvPr/>
        </p:nvCxnSpPr>
        <p:spPr>
          <a:xfrm>
            <a:off x="5678833" y="334134"/>
            <a:ext cx="3296202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500">
            <a:extLst>
              <a:ext uri="{FF2B5EF4-FFF2-40B4-BE49-F238E27FC236}">
                <a16:creationId xmlns:a16="http://schemas.microsoft.com/office/drawing/2014/main" id="{B55DC7E4-3B37-482D-9293-6CED2ADCC44E}"/>
              </a:ext>
            </a:extLst>
          </p:cNvPr>
          <p:cNvSpPr txBox="1"/>
          <p:nvPr/>
        </p:nvSpPr>
        <p:spPr>
          <a:xfrm>
            <a:off x="1691826" y="128405"/>
            <a:ext cx="5497513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81662B9-5F3C-4C77-9AF7-DE2CB37B2970}"/>
              </a:ext>
            </a:extLst>
          </p:cNvPr>
          <p:cNvSpPr/>
          <p:nvPr/>
        </p:nvSpPr>
        <p:spPr>
          <a:xfrm>
            <a:off x="695458" y="668391"/>
            <a:ext cx="7699241" cy="65038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D2726EB-8238-44DE-88CD-D4C61526BF73}"/>
                  </a:ext>
                </a:extLst>
              </p:cNvPr>
              <p:cNvSpPr txBox="1"/>
              <p:nvPr/>
            </p:nvSpPr>
            <p:spPr>
              <a:xfrm>
                <a:off x="914401" y="806890"/>
                <a:ext cx="8306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对任给</a:t>
                </a:r>
                <a14:m>
                  <m:oMath xmlns:m="http://schemas.openxmlformats.org/officeDocument/2006/math">
                    <m:r>
                      <a:rPr lang="en-US" altLang="zh-CN" sz="200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,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3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试问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下列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函数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是否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构成向量范数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.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D2726EB-8238-44DE-88CD-D4C61526B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806890"/>
                <a:ext cx="8306873" cy="400110"/>
              </a:xfrm>
              <a:prstGeom prst="rect">
                <a:avLst/>
              </a:prstGeom>
              <a:blipFill>
                <a:blip r:embed="rId2"/>
                <a:stretch>
                  <a:fillRect l="-734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7751698-CE29-46BF-B098-91CB1B6F5A2D}"/>
              </a:ext>
            </a:extLst>
          </p:cNvPr>
          <p:cNvSpPr txBox="1"/>
          <p:nvPr/>
        </p:nvSpPr>
        <p:spPr>
          <a:xfrm>
            <a:off x="817810" y="499114"/>
            <a:ext cx="624626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8BAC8B-0F6A-424E-87E6-2E207FAA02CA}"/>
              </a:ext>
            </a:extLst>
          </p:cNvPr>
          <p:cNvSpPr/>
          <p:nvPr/>
        </p:nvSpPr>
        <p:spPr>
          <a:xfrm>
            <a:off x="695459" y="1493955"/>
            <a:ext cx="7699240" cy="524099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0E7AC0-9AFD-4622-AD09-A996D2C0B5A9}"/>
                  </a:ext>
                </a:extLst>
              </p:cNvPr>
              <p:cNvSpPr txBox="1"/>
              <p:nvPr/>
            </p:nvSpPr>
            <p:spPr>
              <a:xfrm>
                <a:off x="481795" y="1552383"/>
                <a:ext cx="30935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−2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0E7AC0-9AFD-4622-AD09-A996D2C0B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95" y="1552383"/>
                <a:ext cx="3093523" cy="400110"/>
              </a:xfrm>
              <a:prstGeom prst="rect">
                <a:avLst/>
              </a:prstGeom>
              <a:blipFill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6AAA42E-604A-496D-A445-008166D16386}"/>
                  </a:ext>
                </a:extLst>
              </p:cNvPr>
              <p:cNvSpPr txBox="1"/>
              <p:nvPr/>
            </p:nvSpPr>
            <p:spPr>
              <a:xfrm>
                <a:off x="3930650" y="1573735"/>
                <a:ext cx="30935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显然不满足非负性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！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6AAA42E-604A-496D-A445-008166D16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650" y="1573735"/>
                <a:ext cx="3093523" cy="400110"/>
              </a:xfrm>
              <a:prstGeom prst="rect">
                <a:avLst/>
              </a:prstGeom>
              <a:blipFill>
                <a:blip r:embed="rId4"/>
                <a:stretch>
                  <a:fillRect l="-986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79CE53D-68BB-4BAC-8A68-9ED3BC619F0D}"/>
              </a:ext>
            </a:extLst>
          </p:cNvPr>
          <p:cNvSpPr/>
          <p:nvPr/>
        </p:nvSpPr>
        <p:spPr>
          <a:xfrm>
            <a:off x="737317" y="2172444"/>
            <a:ext cx="7657382" cy="524099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C27E156-1575-44F0-88B0-DE4EE1104E01}"/>
                  </a:ext>
                </a:extLst>
              </p:cNvPr>
              <p:cNvSpPr txBox="1"/>
              <p:nvPr/>
            </p:nvSpPr>
            <p:spPr>
              <a:xfrm>
                <a:off x="695459" y="2253601"/>
                <a:ext cx="24337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+2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C27E156-1575-44F0-88B0-DE4EE110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9" y="2253601"/>
                <a:ext cx="2433711" cy="400110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F82DBDE-D3CF-4BBB-9C78-0BE063AF9824}"/>
                  </a:ext>
                </a:extLst>
              </p:cNvPr>
              <p:cNvSpPr txBox="1"/>
              <p:nvPr/>
            </p:nvSpPr>
            <p:spPr>
              <a:xfrm>
                <a:off x="3930649" y="2228723"/>
                <a:ext cx="43588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取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0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2,−1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，亦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不满足非负性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！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F82DBDE-D3CF-4BBB-9C78-0BE063AF9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649" y="2228723"/>
                <a:ext cx="4358868" cy="400110"/>
              </a:xfrm>
              <a:prstGeom prst="rect">
                <a:avLst/>
              </a:prstGeom>
              <a:blipFill>
                <a:blip r:embed="rId6"/>
                <a:stretch>
                  <a:fillRect l="-420" t="-7692" r="-140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BC82FA5-92FD-438F-8B66-D22F233D11AB}"/>
              </a:ext>
            </a:extLst>
          </p:cNvPr>
          <p:cNvSpPr/>
          <p:nvPr/>
        </p:nvSpPr>
        <p:spPr>
          <a:xfrm>
            <a:off x="737317" y="2893840"/>
            <a:ext cx="7611414" cy="524099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AE775A0-822C-47A8-8AE6-3C6544DD2256}"/>
                  </a:ext>
                </a:extLst>
              </p:cNvPr>
              <p:cNvSpPr txBox="1"/>
              <p:nvPr/>
            </p:nvSpPr>
            <p:spPr>
              <a:xfrm>
                <a:off x="698676" y="2954746"/>
                <a:ext cx="28915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AE775A0-822C-47A8-8AE6-3C6544DD2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76" y="2954746"/>
                <a:ext cx="2891573" cy="400110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A73E227-4A7E-472C-9573-FD8DE58D6CBB}"/>
                  </a:ext>
                </a:extLst>
              </p:cNvPr>
              <p:cNvSpPr txBox="1"/>
              <p:nvPr/>
            </p:nvSpPr>
            <p:spPr>
              <a:xfrm>
                <a:off x="3930649" y="2942205"/>
                <a:ext cx="36421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容易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验证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不满足齐次性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！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A73E227-4A7E-472C-9573-FD8DE58D6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649" y="2942205"/>
                <a:ext cx="3642128" cy="400110"/>
              </a:xfrm>
              <a:prstGeom prst="rect">
                <a:avLst/>
              </a:prstGeom>
              <a:blipFill>
                <a:blip r:embed="rId8"/>
                <a:stretch>
                  <a:fillRect l="-838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06855D8-4DBC-4D58-A445-535AED09298E}"/>
              </a:ext>
            </a:extLst>
          </p:cNvPr>
          <p:cNvSpPr/>
          <p:nvPr/>
        </p:nvSpPr>
        <p:spPr>
          <a:xfrm>
            <a:off x="737317" y="3526543"/>
            <a:ext cx="7611414" cy="524099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D123FD8-0678-4824-AB58-8D27C41576F7}"/>
                  </a:ext>
                </a:extLst>
              </p:cNvPr>
              <p:cNvSpPr txBox="1"/>
              <p:nvPr/>
            </p:nvSpPr>
            <p:spPr>
              <a:xfrm>
                <a:off x="582769" y="3592964"/>
                <a:ext cx="28915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+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D123FD8-0678-4824-AB58-8D27C4157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69" y="3592964"/>
                <a:ext cx="2891573" cy="400110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4BFF7B3-7A3F-4005-9A0E-ECFED5373D20}"/>
                  </a:ext>
                </a:extLst>
              </p:cNvPr>
              <p:cNvSpPr txBox="1"/>
              <p:nvPr/>
            </p:nvSpPr>
            <p:spPr>
              <a:xfrm>
                <a:off x="3873593" y="3588538"/>
                <a:ext cx="44159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可以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验证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满足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范数定义</m:t>
                      </m:r>
                      <m:r>
                        <a:rPr lang="zh-CN" altLang="en-US" sz="2000" b="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的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所有</m:t>
                      </m:r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条件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.</m:t>
                      </m:r>
                    </m:oMath>
                  </m:oMathPara>
                </a14:m>
                <a:endParaRPr lang="zh-CN" altLang="en-US" sz="2000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4BFF7B3-7A3F-4005-9A0E-ECFED5373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593" y="3588538"/>
                <a:ext cx="4415924" cy="400110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C8129410-65C0-4DA2-BF9D-B57977137051}"/>
              </a:ext>
            </a:extLst>
          </p:cNvPr>
          <p:cNvSpPr txBox="1"/>
          <p:nvPr/>
        </p:nvSpPr>
        <p:spPr>
          <a:xfrm>
            <a:off x="679201" y="4203743"/>
            <a:ext cx="6647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结论：以上四个实值函数，只有最后一个构成向量范数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" grpId="0" animBg="1"/>
      <p:bldP spid="5" grpId="0"/>
      <p:bldP spid="6" grpId="0" animBg="1"/>
      <p:bldP spid="7" grpId="0" animBg="1"/>
      <p:bldP spid="8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  <p:bldP spid="30" grpId="0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A8EFEED2-4404-4F5C-AB93-AC9FD5EB2D88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B34286D-5301-4D32-AB41-FEDF8FCC6D97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6F68976B-89FF-4E69-816E-7A499EC58A85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716F01-F2EE-4ADF-816F-0069908DF571}"/>
              </a:ext>
            </a:extLst>
          </p:cNvPr>
          <p:cNvSpPr txBox="1"/>
          <p:nvPr/>
        </p:nvSpPr>
        <p:spPr>
          <a:xfrm>
            <a:off x="663262" y="552504"/>
            <a:ext cx="3123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常用的几种向量范数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75D5280-CB4A-449B-8E9A-FCC8EAA98E35}"/>
                  </a:ext>
                </a:extLst>
              </p:cNvPr>
              <p:cNvSpPr txBox="1"/>
              <p:nvPr/>
            </p:nvSpPr>
            <p:spPr>
              <a:xfrm>
                <a:off x="796343" y="945056"/>
                <a:ext cx="25070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向量的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𝑝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−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75D5280-CB4A-449B-8E9A-FCC8EAA98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43" y="945056"/>
                <a:ext cx="2507087" cy="400110"/>
              </a:xfrm>
              <a:prstGeom prst="rect">
                <a:avLst/>
              </a:prstGeom>
              <a:blipFill>
                <a:blip r:embed="rId2"/>
                <a:stretch>
                  <a:fillRect l="-2190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351355D-E066-4DBA-BEEF-292A08135EB5}"/>
                  </a:ext>
                </a:extLst>
              </p:cNvPr>
              <p:cNvSpPr txBox="1"/>
              <p:nvPr/>
            </p:nvSpPr>
            <p:spPr>
              <a:xfrm>
                <a:off x="2891307" y="595116"/>
                <a:ext cx="3071612" cy="1001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𝑝</m:t>
                          </m:r>
                        </m:sub>
                      </m:sSub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 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𝑖</m:t>
                                  </m:r>
                                  <m:r>
                                    <a:rPr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楷体" panose="0201060004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楷体" panose="02010600040101010101" pitchFamily="2" charset="-122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楷体" panose="02010600040101010101" pitchFamily="2" charset="-122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1800" dirty="0">
                  <a:solidFill>
                    <a:srgbClr val="004A8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351355D-E066-4DBA-BEEF-292A08135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307" y="595116"/>
                <a:ext cx="3071612" cy="1001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27DBEDD-0EB7-4D04-9C8A-8E92B2C80181}"/>
                  </a:ext>
                </a:extLst>
              </p:cNvPr>
              <p:cNvSpPr txBox="1"/>
              <p:nvPr/>
            </p:nvSpPr>
            <p:spPr>
              <a:xfrm>
                <a:off x="796343" y="1878472"/>
                <a:ext cx="25070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向量的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1−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27DBEDD-0EB7-4D04-9C8A-8E92B2C80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43" y="1878472"/>
                <a:ext cx="2507087" cy="400110"/>
              </a:xfrm>
              <a:prstGeom prst="rect">
                <a:avLst/>
              </a:prstGeom>
              <a:blipFill>
                <a:blip r:embed="rId4"/>
                <a:stretch>
                  <a:fillRect l="-2190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19827AE-067C-4CD1-B912-3D9A93DCDAE3}"/>
                  </a:ext>
                </a:extLst>
              </p:cNvPr>
              <p:cNvSpPr txBox="1"/>
              <p:nvPr/>
            </p:nvSpPr>
            <p:spPr>
              <a:xfrm>
                <a:off x="796678" y="2649632"/>
                <a:ext cx="25070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向量的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2−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19827AE-067C-4CD1-B912-3D9A93DCD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78" y="2649632"/>
                <a:ext cx="2507087" cy="400110"/>
              </a:xfrm>
              <a:prstGeom prst="rect">
                <a:avLst/>
              </a:prstGeom>
              <a:blipFill>
                <a:blip r:embed="rId5"/>
                <a:stretch>
                  <a:fillRect l="-2190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AB87B6B-8122-4D8D-8D93-B6E27B86D346}"/>
                  </a:ext>
                </a:extLst>
              </p:cNvPr>
              <p:cNvSpPr txBox="1"/>
              <p:nvPr/>
            </p:nvSpPr>
            <p:spPr>
              <a:xfrm>
                <a:off x="796342" y="3420792"/>
                <a:ext cx="25070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向量的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−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AB87B6B-8122-4D8D-8D93-B6E27B86D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42" y="3420792"/>
                <a:ext cx="2507087" cy="400110"/>
              </a:xfrm>
              <a:prstGeom prst="rect">
                <a:avLst/>
              </a:prstGeom>
              <a:blipFill>
                <a:blip r:embed="rId6"/>
                <a:stretch>
                  <a:fillRect l="-2190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AE0FAD8-8A80-40CD-92F8-AF063FD5824B}"/>
                  </a:ext>
                </a:extLst>
              </p:cNvPr>
              <p:cNvSpPr txBox="1"/>
              <p:nvPr/>
            </p:nvSpPr>
            <p:spPr>
              <a:xfrm>
                <a:off x="2685244" y="1637382"/>
                <a:ext cx="3000039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𝑖</m:t>
                          </m:r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800" dirty="0">
                  <a:solidFill>
                    <a:srgbClr val="004A8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AE0FAD8-8A80-40CD-92F8-AF063FD58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244" y="1637382"/>
                <a:ext cx="3000039" cy="8485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640444D-898A-4826-A1AE-42A3B1B0694A}"/>
                  </a:ext>
                </a:extLst>
              </p:cNvPr>
              <p:cNvSpPr txBox="1"/>
              <p:nvPr/>
            </p:nvSpPr>
            <p:spPr>
              <a:xfrm>
                <a:off x="2760371" y="2295124"/>
                <a:ext cx="4280509" cy="1001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𝑖</m:t>
                                  </m:r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楷体" panose="0201060004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楷体" panose="02010600040101010101" pitchFamily="2" charset="-122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楷体" panose="02010600040101010101" pitchFamily="2" charset="-122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zh-CN" altLang="en-US" sz="1800" dirty="0">
                  <a:solidFill>
                    <a:srgbClr val="004A8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640444D-898A-4826-A1AE-42A3B1B0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371" y="2295124"/>
                <a:ext cx="4280509" cy="1001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F511BCE-0820-49BC-BD07-DBFAE086265D}"/>
                  </a:ext>
                </a:extLst>
              </p:cNvPr>
              <p:cNvSpPr/>
              <p:nvPr/>
            </p:nvSpPr>
            <p:spPr>
              <a:xfrm>
                <a:off x="3392759" y="3420792"/>
                <a:ext cx="1918026" cy="454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F511BCE-0820-49BC-BD07-DBFAE08626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759" y="3420792"/>
                <a:ext cx="1918026" cy="454804"/>
              </a:xfrm>
              <a:prstGeom prst="rect">
                <a:avLst/>
              </a:prstGeom>
              <a:blipFill>
                <a:blip r:embed="rId9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9CF19F9-8415-4662-B6D2-41FBF57B6397}"/>
              </a:ext>
            </a:extLst>
          </p:cNvPr>
          <p:cNvSpPr/>
          <p:nvPr/>
        </p:nvSpPr>
        <p:spPr>
          <a:xfrm>
            <a:off x="746975" y="4005330"/>
            <a:ext cx="7231487" cy="585665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CA39226-75F9-49F0-88D4-54124B1BDF6F}"/>
                  </a:ext>
                </a:extLst>
              </p:cNvPr>
              <p:cNvSpPr txBox="1"/>
              <p:nvPr/>
            </p:nvSpPr>
            <p:spPr>
              <a:xfrm>
                <a:off x="758548" y="4060024"/>
                <a:ext cx="42642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求向量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1,2,−3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1,2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∞</m:t>
                    </m:r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-</a:t>
                </a:r>
                <a:r>
                  <a:rPr lang="zh-CN" altLang="en-US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范数</a:t>
                </a:r>
                <a:r>
                  <a:rPr lang="en-US" altLang="zh-CN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CA39226-75F9-49F0-88D4-54124B1BD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48" y="4060024"/>
                <a:ext cx="4264213" cy="400110"/>
              </a:xfrm>
              <a:prstGeom prst="rect">
                <a:avLst/>
              </a:prstGeom>
              <a:blipFill>
                <a:blip r:embed="rId10"/>
                <a:stretch>
                  <a:fillRect l="-571" t="-10606" r="-714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B28D908-9D0B-4AEC-97A1-E4A2FBC6E1E9}"/>
                  </a:ext>
                </a:extLst>
              </p:cNvPr>
              <p:cNvSpPr txBox="1"/>
              <p:nvPr/>
            </p:nvSpPr>
            <p:spPr>
              <a:xfrm>
                <a:off x="5079644" y="4008150"/>
                <a:ext cx="2898817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解：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依次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为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6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ad>
                        <m:radPr>
                          <m:deg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14</m:t>
                          </m:r>
                        </m:e>
                      </m:rad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3.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B28D908-9D0B-4AEC-97A1-E4A2FBC6E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644" y="4008150"/>
                <a:ext cx="2898817" cy="436402"/>
              </a:xfrm>
              <a:prstGeom prst="rect">
                <a:avLst/>
              </a:prstGeom>
              <a:blipFill>
                <a:blip r:embed="rId11"/>
                <a:stretch>
                  <a:fillRect b="-1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190CA158-6CFC-45F5-AD09-22E8A2936ADE}"/>
              </a:ext>
            </a:extLst>
          </p:cNvPr>
          <p:cNvSpPr txBox="1"/>
          <p:nvPr/>
        </p:nvSpPr>
        <p:spPr>
          <a:xfrm>
            <a:off x="853225" y="3798533"/>
            <a:ext cx="624626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21BE8DE9-78E1-4A0E-AD90-2AF2525986DC}"/>
              </a:ext>
            </a:extLst>
          </p:cNvPr>
          <p:cNvSpPr/>
          <p:nvPr/>
        </p:nvSpPr>
        <p:spPr>
          <a:xfrm>
            <a:off x="6579870" y="2827020"/>
            <a:ext cx="461010" cy="137159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C252E8B9-1E6C-4B72-89C0-B7D2FC99B5A1}"/>
              </a:ext>
            </a:extLst>
          </p:cNvPr>
          <p:cNvSpPr/>
          <p:nvPr/>
        </p:nvSpPr>
        <p:spPr>
          <a:xfrm>
            <a:off x="7111182" y="2586666"/>
            <a:ext cx="1307206" cy="586887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272AA83-F070-4438-864D-ADC7E404FC5E}"/>
              </a:ext>
            </a:extLst>
          </p:cNvPr>
          <p:cNvSpPr txBox="1"/>
          <p:nvPr/>
        </p:nvSpPr>
        <p:spPr>
          <a:xfrm>
            <a:off x="7181912" y="2686870"/>
            <a:ext cx="116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欧式范数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  <p:bldP spid="21" grpId="0"/>
      <p:bldP spid="23" grpId="0"/>
      <p:bldP spid="25" grpId="0"/>
      <p:bldP spid="26" grpId="0"/>
      <p:bldP spid="27" grpId="0"/>
      <p:bldP spid="10" grpId="0"/>
      <p:bldP spid="15" grpId="0" animBg="1"/>
      <p:bldP spid="16" grpId="0"/>
      <p:bldP spid="18" grpId="0"/>
      <p:bldP spid="30" grpId="0" animBg="1"/>
      <p:bldP spid="31" grpId="0" animBg="1"/>
      <p:bldP spid="33" grpId="0" animBg="1"/>
      <p:bldP spid="3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A9C62198-FD42-490B-93B4-39FF3F0CF1C2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1CBE812-2858-4355-904A-EDF9D88E6AC1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482BB035-E393-4B78-B6C8-8BC0E10C9CE6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5B906-C25C-4B9F-810C-ABAA4E6B4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625475"/>
            <a:ext cx="4398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向量的加权范数：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0FF4FDC-BCDC-4587-9F50-8E8C9E66F73F}"/>
              </a:ext>
            </a:extLst>
          </p:cNvPr>
          <p:cNvSpPr/>
          <p:nvPr/>
        </p:nvSpPr>
        <p:spPr>
          <a:xfrm>
            <a:off x="804862" y="1049566"/>
            <a:ext cx="7385050" cy="167013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5C82C31-D950-4556-ABB9-B2C5FA4FE8DF}"/>
                  </a:ext>
                </a:extLst>
              </p:cNvPr>
              <p:cNvSpPr txBox="1"/>
              <p:nvPr/>
            </p:nvSpPr>
            <p:spPr>
              <a:xfrm>
                <a:off x="943668" y="1155640"/>
                <a:ext cx="69984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设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p>
                      </m:sSup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𝑊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∈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为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非奇异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对角阵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,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定义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的</m:t>
                      </m:r>
                      <m:r>
                        <m:rPr>
                          <m:nor/>
                        </m:rPr>
                        <a:rPr lang="zh-CN" altLang="en-US" sz="2000" dirty="0" smtClean="0">
                          <a:solidFill>
                            <a:srgbClr val="FF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m:t>加权范数</m:t>
                      </m:r>
                      <m:r>
                        <a:rPr lang="zh-CN" alt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为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5C82C31-D950-4556-ABB9-B2C5FA4FE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68" y="1155640"/>
                <a:ext cx="6998493" cy="400110"/>
              </a:xfrm>
              <a:prstGeom prst="rect">
                <a:avLst/>
              </a:prstGeom>
              <a:blipFill>
                <a:blip r:embed="rId2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3ECE741-C0D5-47F8-86A4-0D5B4E12BC49}"/>
                  </a:ext>
                </a:extLst>
              </p:cNvPr>
              <p:cNvSpPr txBox="1"/>
              <p:nvPr/>
            </p:nvSpPr>
            <p:spPr>
              <a:xfrm>
                <a:off x="1131958" y="2000533"/>
                <a:ext cx="675971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的某种向量范数，</a:t>
                </a:r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𝑊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的对角元素为它的每一个分量的权系数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3ECE741-C0D5-47F8-86A4-0D5B4E12B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58" y="2000533"/>
                <a:ext cx="6759711" cy="707886"/>
              </a:xfrm>
              <a:prstGeom prst="rect">
                <a:avLst/>
              </a:prstGeom>
              <a:blipFill>
                <a:blip r:embed="rId3"/>
                <a:stretch>
                  <a:fillRect l="-992" t="-3448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F343AD7-7236-411C-90C2-D4D04B95BEFD}"/>
                  </a:ext>
                </a:extLst>
              </p:cNvPr>
              <p:cNvSpPr txBox="1"/>
              <p:nvPr/>
            </p:nvSpPr>
            <p:spPr>
              <a:xfrm>
                <a:off x="1430337" y="1584383"/>
                <a:ext cx="61341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𝑊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𝑊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F343AD7-7236-411C-90C2-D4D04B95B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337" y="1584383"/>
                <a:ext cx="613410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D1CC500-DC51-4F29-ACF2-FDD7239884A2}"/>
              </a:ext>
            </a:extLst>
          </p:cNvPr>
          <p:cNvSpPr/>
          <p:nvPr/>
        </p:nvSpPr>
        <p:spPr>
          <a:xfrm>
            <a:off x="817562" y="2953922"/>
            <a:ext cx="7385050" cy="170497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4D79A7-C57E-4306-B7DA-042CA783DD11}"/>
              </a:ext>
            </a:extLst>
          </p:cNvPr>
          <p:cNvSpPr txBox="1"/>
          <p:nvPr/>
        </p:nvSpPr>
        <p:spPr>
          <a:xfrm>
            <a:off x="1123950" y="2783015"/>
            <a:ext cx="624626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576779-234D-4E69-BBCC-442D269ACA44}"/>
                  </a:ext>
                </a:extLst>
              </p:cNvPr>
              <p:cNvSpPr txBox="1"/>
              <p:nvPr/>
            </p:nvSpPr>
            <p:spPr>
              <a:xfrm>
                <a:off x="1151731" y="2981472"/>
                <a:ext cx="6472238" cy="743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,</m:t>
                                  </m:r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∈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3</m:t>
                          </m:r>
                        </m:sup>
                      </m:sSup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,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𝑊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6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∈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3×3</m:t>
                          </m:r>
                        </m:sup>
                      </m:sSup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,</m:t>
                      </m:r>
                      <m:r>
                        <a:rPr lang="zh-CN" altLang="en-US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其加权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1−</m:t>
                      </m:r>
                      <m:r>
                        <a:rPr lang="zh-CN" altLang="en-US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范数为</m:t>
                      </m:r>
                    </m:oMath>
                  </m:oMathPara>
                </a14:m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576779-234D-4E69-BBCC-442D269AC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731" y="2981472"/>
                <a:ext cx="6472238" cy="7435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7705497-8AD1-4DF6-8668-4311CCD8853C}"/>
                  </a:ext>
                </a:extLst>
              </p:cNvPr>
              <p:cNvSpPr txBox="1"/>
              <p:nvPr/>
            </p:nvSpPr>
            <p:spPr>
              <a:xfrm>
                <a:off x="1624805" y="3838391"/>
                <a:ext cx="6605588" cy="776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𝑊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𝑊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16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−2</m:t>
                                      </m:r>
                                    </m:e>
                                  </m:mr>
                                </m:m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1600" i="1" smtClean="0"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0" smtClean="0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0" smtClean="0">
                                              <a:latin typeface="Cambria Math" panose="02040503050406030204" pitchFamily="18" charset="0"/>
                                              <a:ea typeface="华文楷体" panose="02010600040101010101" pitchFamily="2" charset="-122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+3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+2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7705497-8AD1-4DF6-8668-4311CCD88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05" y="3838391"/>
                <a:ext cx="6605588" cy="7762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4" grpId="0" animBg="1"/>
      <p:bldP spid="9" grpId="0"/>
      <p:bldP spid="15" grpId="0"/>
      <p:bldP spid="20" grpId="0"/>
      <p:bldP spid="10" grpId="0" animBg="1"/>
      <p:bldP spid="21" grpId="0" animBg="1"/>
      <p:bldP spid="11" grpId="0"/>
      <p:bldP spid="2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F1F3034-C7A5-4871-A0B9-A510DBD3D119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5B62BA6-71ED-41E6-8DCD-9D36D994FE88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7D2342F6-BCCF-48B2-B1C4-BDC31432689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8A1A0EA-C1F0-4C80-8D34-088280039FED}"/>
              </a:ext>
            </a:extLst>
          </p:cNvPr>
          <p:cNvSpPr/>
          <p:nvPr/>
        </p:nvSpPr>
        <p:spPr>
          <a:xfrm>
            <a:off x="695458" y="668391"/>
            <a:ext cx="7566339" cy="141201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64F6F98-9692-4E67-B48E-D19437A98310}"/>
              </a:ext>
            </a:extLst>
          </p:cNvPr>
          <p:cNvSpPr txBox="1"/>
          <p:nvPr/>
        </p:nvSpPr>
        <p:spPr>
          <a:xfrm>
            <a:off x="817810" y="499114"/>
            <a:ext cx="624626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67D7AC-D452-4A31-A6BB-2D7CC83BB004}"/>
                  </a:ext>
                </a:extLst>
              </p:cNvPr>
              <p:cNvSpPr txBox="1"/>
              <p:nvPr/>
            </p:nvSpPr>
            <p:spPr>
              <a:xfrm>
                <a:off x="1500394" y="771525"/>
                <a:ext cx="63879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求向量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−1,2,4</m:t>
                            </m:r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1,2</m:t>
                    </m:r>
                    <m:r>
                      <a:rPr lang="zh-CN" altLang="en-US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  <m:r>
                      <a:rPr lang="zh-CN" altLang="en-US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∞</m:t>
                    </m:r>
                    <m:r>
                      <a:rPr lang="zh-CN" altLang="en-US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加权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2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167D7AC-D452-4A31-A6BB-2D7CC83BB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394" y="771525"/>
                <a:ext cx="6387921" cy="400110"/>
              </a:xfrm>
              <a:prstGeom prst="rect">
                <a:avLst/>
              </a:prstGeom>
              <a:blipFill>
                <a:blip r:embed="rId2"/>
                <a:stretch>
                  <a:fillRect l="-954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3E3073-9BC0-450F-8C45-4A76EBBA3001}"/>
                  </a:ext>
                </a:extLst>
              </p:cNvPr>
              <p:cNvSpPr txBox="1"/>
              <p:nvPr/>
            </p:nvSpPr>
            <p:spPr>
              <a:xfrm>
                <a:off x="1500394" y="1174197"/>
                <a:ext cx="6181859" cy="90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其中矩阵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𝑊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3E3073-9BC0-450F-8C45-4A76EBBA3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394" y="1174197"/>
                <a:ext cx="6181859" cy="906210"/>
              </a:xfrm>
              <a:prstGeom prst="rect">
                <a:avLst/>
              </a:prstGeom>
              <a:blipFill>
                <a:blip r:embed="rId3"/>
                <a:stretch>
                  <a:fillRect l="-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0E22D0-4E9D-431F-8B9F-BAD72072F3FC}"/>
                  </a:ext>
                </a:extLst>
              </p:cNvPr>
              <p:cNvSpPr txBox="1"/>
              <p:nvPr/>
            </p:nvSpPr>
            <p:spPr>
              <a:xfrm>
                <a:off x="817810" y="2185958"/>
                <a:ext cx="7064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>
                    <a:ea typeface="华文楷体" panose="02010600040101010101" pitchFamily="2" charset="-122"/>
                  </a:rPr>
                  <a:t>解</a:t>
                </a:r>
                <a:r>
                  <a:rPr lang="zh-CN" altLang="en-US" sz="2000" dirty="0">
                    <a:ea typeface="华文楷体" panose="02010600040101010101" pitchFamily="2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−1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+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4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=7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0E22D0-4E9D-431F-8B9F-BAD72072F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10" y="2185958"/>
                <a:ext cx="7064062" cy="400110"/>
              </a:xfrm>
              <a:prstGeom prst="rect">
                <a:avLst/>
              </a:prstGeom>
              <a:blipFill>
                <a:blip r:embed="rId4"/>
                <a:stretch>
                  <a:fillRect l="-863" t="-10769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1AE2204-D7F0-4D74-A79F-F98774BB269E}"/>
                  </a:ext>
                </a:extLst>
              </p:cNvPr>
              <p:cNvSpPr txBox="1"/>
              <p:nvPr/>
            </p:nvSpPr>
            <p:spPr>
              <a:xfrm>
                <a:off x="903667" y="2595074"/>
                <a:ext cx="4556975" cy="465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+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21</m:t>
                          </m:r>
                        </m:e>
                      </m:ra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1AE2204-D7F0-4D74-A79F-F98774BB2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67" y="2595074"/>
                <a:ext cx="4556975" cy="4650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F0246CA-D3AA-4F5C-8278-B9C4621CA13B}"/>
                  </a:ext>
                </a:extLst>
              </p:cNvPr>
              <p:cNvSpPr txBox="1"/>
              <p:nvPr/>
            </p:nvSpPr>
            <p:spPr>
              <a:xfrm>
                <a:off x="1329743" y="3109829"/>
                <a:ext cx="5013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max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−1</m:t>
                            </m:r>
                          </m:e>
                        </m:d>
                        <m: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，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altLang="zh-CN" sz="2000" dirty="0">
                            <a:ea typeface="华文楷体" panose="02010600040101010101" pitchFamily="2" charset="-122"/>
                          </a:rPr>
                          <m:t> </m:t>
                        </m:r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，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4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4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F0246CA-D3AA-4F5C-8278-B9C4621C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743" y="3109829"/>
                <a:ext cx="5013102" cy="400110"/>
              </a:xfrm>
              <a:prstGeom prst="rect">
                <a:avLst/>
              </a:prstGeom>
              <a:blipFill>
                <a:blip r:embed="rId6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48AA031-6542-4BEF-BD51-43FDF6E46B1A}"/>
                  </a:ext>
                </a:extLst>
              </p:cNvPr>
              <p:cNvSpPr txBox="1"/>
              <p:nvPr/>
            </p:nvSpPr>
            <p:spPr>
              <a:xfrm>
                <a:off x="1191298" y="3509939"/>
                <a:ext cx="6655160" cy="465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𝑊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𝑊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(3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2)</m:t>
                              </m:r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+(−2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4)</m:t>
                              </m:r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101</m:t>
                          </m:r>
                        </m:e>
                      </m:ra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48AA031-6542-4BEF-BD51-43FDF6E46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298" y="3509939"/>
                <a:ext cx="6655160" cy="465064"/>
              </a:xfrm>
              <a:prstGeom prst="rect">
                <a:avLst/>
              </a:prstGeom>
              <a:blipFill>
                <a:blip r:embed="rId7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3C71CD86-DACF-40A1-A9F5-0BEE9E6C245F}"/>
              </a:ext>
            </a:extLst>
          </p:cNvPr>
          <p:cNvSpPr txBox="1"/>
          <p:nvPr/>
        </p:nvSpPr>
        <p:spPr>
          <a:xfrm>
            <a:off x="1020987" y="4167040"/>
            <a:ext cx="6302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同一向量的各种向量范数的数值一般不同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8650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 animBg="1"/>
      <p:bldP spid="13" grpId="0" animBg="1"/>
      <p:bldP spid="5" grpId="0"/>
      <p:bldP spid="7" grpId="0"/>
      <p:bldP spid="8" grpId="0"/>
      <p:bldP spid="20" grpId="0"/>
      <p:bldP spid="22" grpId="0"/>
      <p:bldP spid="26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A2CCD77-5C5A-4CED-A07A-FEBEA321B3C5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CE137A5-F5FE-4172-9E4A-5056533B9D82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1BC216C9-E526-4723-A882-F67283F0B575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8D0BD62-24A1-4201-89C3-328B55EAAF7A}"/>
              </a:ext>
            </a:extLst>
          </p:cNvPr>
          <p:cNvSpPr/>
          <p:nvPr/>
        </p:nvSpPr>
        <p:spPr>
          <a:xfrm>
            <a:off x="629563" y="1102596"/>
            <a:ext cx="7225585" cy="1452520"/>
          </a:xfrm>
          <a:prstGeom prst="roundRect">
            <a:avLst>
              <a:gd name="adj" fmla="val 1703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     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                   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1D580008-A86B-4328-9F1F-7857EA2774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7566" y="2146236"/>
                <a:ext cx="49403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zh-CN" altLang="en-US" sz="18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18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sub>
                    </m:sSub>
                    <m:r>
                      <a:rPr lang="zh-CN" altLang="en-US" sz="18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18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zh-CN" altLang="en-US" sz="18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18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上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等价范数</a:t>
                </a:r>
                <a:r>
                  <a:rPr lang="en-US" altLang="zh-CN" sz="1800" b="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1D580008-A86B-4328-9F1F-7857EA277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7566" y="2146236"/>
                <a:ext cx="4940300" cy="400110"/>
              </a:xfrm>
              <a:prstGeom prst="rect">
                <a:avLst/>
              </a:prstGeom>
              <a:blipFill>
                <a:blip r:embed="rId2"/>
                <a:stretch>
                  <a:fillRect t="-3030" b="-196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A2DDE25-3DAE-41FC-B7A1-56A99456E306}"/>
                  </a:ext>
                </a:extLst>
              </p:cNvPr>
              <p:cNvSpPr txBox="1"/>
              <p:nvPr/>
            </p:nvSpPr>
            <p:spPr>
              <a:xfrm>
                <a:off x="1304430" y="1258067"/>
                <a:ext cx="6657653" cy="671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4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</a:t>
                </a: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上任何两种向量范数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sub>
                    </m:sSub>
                    <m:r>
                      <a:rPr lang="zh-CN" altLang="en-US" sz="18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和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，存在正常数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𝑚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和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𝑀</m:t>
                    </m:r>
                  </m:oMath>
                </a14:m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使得</a:t>
                </a:r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A2DDE25-3DAE-41FC-B7A1-56A99456E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430" y="1258067"/>
                <a:ext cx="6657653" cy="671081"/>
              </a:xfrm>
              <a:prstGeom prst="rect">
                <a:avLst/>
              </a:prstGeom>
              <a:blipFill>
                <a:blip r:embed="rId3"/>
                <a:stretch>
                  <a:fillRect l="-824" t="-2727" b="-1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720B361-D9DB-4D76-8D45-8DA86F145614}"/>
              </a:ext>
            </a:extLst>
          </p:cNvPr>
          <p:cNvSpPr txBox="1"/>
          <p:nvPr/>
        </p:nvSpPr>
        <p:spPr>
          <a:xfrm>
            <a:off x="966920" y="919513"/>
            <a:ext cx="604303" cy="307777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  <a:endParaRPr lang="en-US" altLang="zh-CN" sz="1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0354A82-6157-431A-A17B-65CB4F2A00EA}"/>
                  </a:ext>
                </a:extLst>
              </p:cNvPr>
              <p:cNvSpPr txBox="1"/>
              <p:nvPr/>
            </p:nvSpPr>
            <p:spPr>
              <a:xfrm>
                <a:off x="2330450" y="1694334"/>
                <a:ext cx="4718050" cy="394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𝑚</m:t>
                    </m:r>
                  </m:oMath>
                </a14:m>
                <a:r>
                  <a:rPr lang="en-US" altLang="zh-CN" sz="18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zh-CN" altLang="en-US" sz="18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sub>
                    </m:sSub>
                    <m:r>
                      <a:rPr lang="zh-CN" alt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en-US" altLang="zh-CN" sz="1800" dirty="0">
                        <a:ea typeface="华文楷体" panose="02010600040101010101" pitchFamily="2" charset="-122"/>
                      </a:rPr>
                      <m:t> 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 ∀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0354A82-6157-431A-A17B-65CB4F2A0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450" y="1694334"/>
                <a:ext cx="4718050" cy="394082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1F5EEDFB-DA12-412B-855B-598C31F2E54E}"/>
              </a:ext>
            </a:extLst>
          </p:cNvPr>
          <p:cNvSpPr txBox="1"/>
          <p:nvPr/>
        </p:nvSpPr>
        <p:spPr>
          <a:xfrm>
            <a:off x="752301" y="2673481"/>
            <a:ext cx="706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证：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C0C1668-30E3-47E0-90A9-41D1F60EADD7}"/>
                  </a:ext>
                </a:extLst>
              </p:cNvPr>
              <p:cNvSpPr txBox="1"/>
              <p:nvPr/>
            </p:nvSpPr>
            <p:spPr>
              <a:xfrm>
                <a:off x="1168133" y="3073895"/>
                <a:ext cx="28438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0" dirty="0"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𝑓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C0C1668-30E3-47E0-90A9-41D1F60EA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133" y="3073895"/>
                <a:ext cx="2843887" cy="338554"/>
              </a:xfrm>
              <a:prstGeom prst="rect">
                <a:avLst/>
              </a:prstGeom>
              <a:blipFill>
                <a:blip r:embed="rId5"/>
                <a:stretch>
                  <a:fillRect l="-1288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4F41899-5933-40F3-9151-E827C1D1E01A}"/>
                  </a:ext>
                </a:extLst>
              </p:cNvPr>
              <p:cNvSpPr txBox="1"/>
              <p:nvPr/>
            </p:nvSpPr>
            <p:spPr>
              <a:xfrm>
                <a:off x="3281747" y="2860919"/>
                <a:ext cx="4364503" cy="76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将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p>
                      </m:sSup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中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向量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表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示为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𝑦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，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4F41899-5933-40F3-9151-E827C1D1E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747" y="2860919"/>
                <a:ext cx="4364503" cy="764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C473EA2-26F9-4925-A40A-7380F3B1E347}"/>
                  </a:ext>
                </a:extLst>
              </p:cNvPr>
              <p:cNvSpPr txBox="1"/>
              <p:nvPr/>
            </p:nvSpPr>
            <p:spPr>
              <a:xfrm>
                <a:off x="1168133" y="2677664"/>
                <a:ext cx="40322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先证明范数作为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元函数的连续性</a:t>
                </a:r>
                <a:r>
                  <a:rPr lang="en-US" altLang="zh-CN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C473EA2-26F9-4925-A40A-7380F3B1E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133" y="2677664"/>
                <a:ext cx="4032250" cy="338554"/>
              </a:xfrm>
              <a:prstGeom prst="rect">
                <a:avLst/>
              </a:prstGeom>
              <a:blipFill>
                <a:blip r:embed="rId7"/>
                <a:stretch>
                  <a:fillRect l="-908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BD28B34D-FFE4-42E1-AC50-7A5994573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0826" y="3569728"/>
                <a:ext cx="530542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𝛼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1600" b="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𝑦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zh-CN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n-US" altLang="zh-CN" sz="1600" b="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BD28B34D-FFE4-42E1-AC50-7A5994573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0826" y="3569728"/>
                <a:ext cx="5305425" cy="400110"/>
              </a:xfrm>
              <a:prstGeom prst="rect">
                <a:avLst/>
              </a:prstGeom>
              <a:blipFill>
                <a:blip r:embed="rId8"/>
                <a:stretch>
                  <a:fillRect b="-46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CC588BDE-87AE-4213-AEC4-39CD107A31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5195" y="4048057"/>
                <a:ext cx="4614492" cy="5448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altLang="zh-CN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zh-CN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CN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b>
                          <m:r>
                            <a:rPr lang="zh-CN" altLang="en-U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4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zh-CN" altLang="en-US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zh-CN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sz="1400" b="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CC588BDE-87AE-4213-AEC4-39CD107A3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5195" y="4048057"/>
                <a:ext cx="4614492" cy="544893"/>
              </a:xfrm>
              <a:prstGeom prst="rect">
                <a:avLst/>
              </a:prstGeom>
              <a:blipFill>
                <a:blip r:embed="rId9"/>
                <a:stretch>
                  <a:fillRect l="-4359" t="-134831" r="-2774" b="-1988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483AC92A-6043-4985-A48E-1AF15A5FCB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9410" y="3569728"/>
                <a:ext cx="14004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zh-CN" altLang="en-US" sz="16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1600" b="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1600" b="0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→</m:t>
                    </m:r>
                    <m:r>
                      <a:rPr lang="en-US" altLang="zh-CN" sz="1600" b="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𝑦</m:t>
                    </m:r>
                    <m:r>
                      <a:rPr lang="zh-CN" altLang="en-US" sz="1600" b="0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时</m:t>
                    </m:r>
                    <m:r>
                      <a:rPr lang="zh-CN" altLang="en-US" sz="1600" b="1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endParaRPr lang="en-US" altLang="zh-CN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483AC92A-6043-4985-A48E-1AF15A5FC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9410" y="3569728"/>
                <a:ext cx="1400472" cy="400110"/>
              </a:xfrm>
              <a:prstGeom prst="rect">
                <a:avLst/>
              </a:prstGeom>
              <a:blipFill>
                <a:blip r:embed="rId10"/>
                <a:stretch>
                  <a:fillRect b="-169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6">
                <a:extLst>
                  <a:ext uri="{FF2B5EF4-FFF2-40B4-BE49-F238E27FC236}">
                    <a16:creationId xmlns:a16="http://schemas.microsoft.com/office/drawing/2014/main" id="{BE7F5AAB-431E-40D4-880D-7B84611F9D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4190" y="4135912"/>
                <a:ext cx="1720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𝑓</m:t>
                    </m:r>
                    <m:d>
                      <m:dPr>
                        <m:ctrlP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在</m:t>
                        </m:r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上连续</a:t>
                </a:r>
                <a:r>
                  <a:rPr lang="en-US" altLang="zh-CN" sz="16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0" name="TextBox 6">
                <a:extLst>
                  <a:ext uri="{FF2B5EF4-FFF2-40B4-BE49-F238E27FC236}">
                    <a16:creationId xmlns:a16="http://schemas.microsoft.com/office/drawing/2014/main" id="{BE7F5AAB-431E-40D4-880D-7B84611F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4190" y="4135912"/>
                <a:ext cx="1720850" cy="338554"/>
              </a:xfrm>
              <a:prstGeom prst="rect">
                <a:avLst/>
              </a:prstGeom>
              <a:blipFill>
                <a:blip r:embed="rId11"/>
                <a:stretch>
                  <a:fillRect t="-3571" b="-232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5CB4539-E6B5-4ADE-9ACB-F9DAAD989669}"/>
                  </a:ext>
                </a:extLst>
              </p:cNvPr>
              <p:cNvSpPr txBox="1"/>
              <p:nvPr/>
            </p:nvSpPr>
            <p:spPr>
              <a:xfrm>
                <a:off x="5505183" y="4149054"/>
                <a:ext cx="387350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5CB4539-E6B5-4ADE-9ACB-F9DAAD989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83" y="4149054"/>
                <a:ext cx="387350" cy="2923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6">
            <a:extLst>
              <a:ext uri="{FF2B5EF4-FFF2-40B4-BE49-F238E27FC236}">
                <a16:creationId xmlns:a16="http://schemas.microsoft.com/office/drawing/2014/main" id="{BDB15ECD-8A84-49A3-8A07-4799526FB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15" y="530531"/>
            <a:ext cx="4940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范数的等价性定理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381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 animBg="1"/>
      <p:bldP spid="9" grpId="0"/>
      <p:bldP spid="4" grpId="0"/>
      <p:bldP spid="6" grpId="0" animBg="1"/>
      <p:bldP spid="7" grpId="0"/>
      <p:bldP spid="8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A2CCD77-5C5A-4CED-A07A-FEBEA321B3C5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CE137A5-F5FE-4172-9E4A-5056533B9D82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1BC216C9-E526-4723-A882-F67283F0B575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6">
                <a:extLst>
                  <a:ext uri="{FF2B5EF4-FFF2-40B4-BE49-F238E27FC236}">
                    <a16:creationId xmlns:a16="http://schemas.microsoft.com/office/drawing/2014/main" id="{B9F40B86-5699-47CC-9776-50E747F1F8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3918" y="834488"/>
                <a:ext cx="223343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引入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中的有界闭集</a:t>
                </a:r>
                <a:endParaRPr lang="en-US" altLang="zh-CN" sz="16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" name="TextBox 6">
                <a:extLst>
                  <a:ext uri="{FF2B5EF4-FFF2-40B4-BE49-F238E27FC236}">
                    <a16:creationId xmlns:a16="http://schemas.microsoft.com/office/drawing/2014/main" id="{B9F40B86-5699-47CC-9776-50E747F1F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918" y="834488"/>
                <a:ext cx="2233432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6">
                <a:extLst>
                  <a:ext uri="{FF2B5EF4-FFF2-40B4-BE49-F238E27FC236}">
                    <a16:creationId xmlns:a16="http://schemas.microsoft.com/office/drawing/2014/main" id="{9064D15E-C6E0-483A-8FBB-5F80063F94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5735" y="835981"/>
                <a:ext cx="328037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en-US" altLang="zh-CN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:</m:t>
                        </m:r>
                        <m:sSub>
                          <m:sSubPr>
                            <m:ctrlPr>
                              <a:rPr lang="en-US" altLang="zh-CN" sz="1600" b="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1600" b="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=1,</m:t>
                        </m:r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16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TextBox 6">
                <a:extLst>
                  <a:ext uri="{FF2B5EF4-FFF2-40B4-BE49-F238E27FC236}">
                    <a16:creationId xmlns:a16="http://schemas.microsoft.com/office/drawing/2014/main" id="{9064D15E-C6E0-483A-8FBB-5F80063F9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735" y="835981"/>
                <a:ext cx="328037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CD141AFA-964C-4714-A2E7-296451195B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484" y="1288876"/>
                <a:ext cx="375196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则</m:t>
                    </m:r>
                    <m:r>
                      <a:rPr lang="en-US" altLang="zh-CN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𝑓</m:t>
                    </m:r>
                    <m:d>
                      <m:dPr>
                        <m:ctrlP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在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上有最大值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和最小值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</m:oMath>
                </a14:m>
                <a:endParaRPr lang="en-US" altLang="zh-CN" sz="16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CD141AFA-964C-4714-A2E7-296451195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7484" y="1288876"/>
                <a:ext cx="3751966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6">
                <a:extLst>
                  <a:ext uri="{FF2B5EF4-FFF2-40B4-BE49-F238E27FC236}">
                    <a16:creationId xmlns:a16="http://schemas.microsoft.com/office/drawing/2014/main" id="{E179A736-8651-4326-BBAB-02AD5FDF60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1652" y="1293322"/>
                <a:ext cx="318134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即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0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𝑚</m:t>
                        </m:r>
                      </m:e>
                      <m:sub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𝑓</m:t>
                    </m:r>
                    <m:d>
                      <m:dPr>
                        <m:ctrlP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,∀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6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0" name="TextBox 6">
                <a:extLst>
                  <a:ext uri="{FF2B5EF4-FFF2-40B4-BE49-F238E27FC236}">
                    <a16:creationId xmlns:a16="http://schemas.microsoft.com/office/drawing/2014/main" id="{E179A736-8651-4326-BBAB-02AD5FDF6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1652" y="1293322"/>
                <a:ext cx="3181348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6">
                <a:extLst>
                  <a:ext uri="{FF2B5EF4-FFF2-40B4-BE49-F238E27FC236}">
                    <a16:creationId xmlns:a16="http://schemas.microsoft.com/office/drawing/2014/main" id="{FDC0D2D9-B8CC-4F19-8692-5542D26B83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6182" y="1689762"/>
                <a:ext cx="4126618" cy="4510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CN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6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下设</m:t>
                    </m:r>
                    <m:r>
                      <a:rPr lang="en-US" altLang="zh-CN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zh-CN" altLang="en-US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且</m:t>
                    </m:r>
                    <m:r>
                      <a:rPr lang="en-US" altLang="zh-CN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≠0,</m:t>
                    </m:r>
                    <m:r>
                      <a:rPr lang="zh-CN" altLang="en-US" sz="16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由于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b="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1600" b="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600" b="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1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，故有</m:t>
                    </m:r>
                  </m:oMath>
                </a14:m>
                <a:endParaRPr lang="en-US" altLang="zh-CN" sz="1600" b="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TextBox 6">
                <a:extLst>
                  <a:ext uri="{FF2B5EF4-FFF2-40B4-BE49-F238E27FC236}">
                    <a16:creationId xmlns:a16="http://schemas.microsoft.com/office/drawing/2014/main" id="{FDC0D2D9-B8CC-4F19-8692-5542D26B8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6182" y="1689762"/>
                <a:ext cx="4126618" cy="451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6">
                <a:extLst>
                  <a:ext uri="{FF2B5EF4-FFF2-40B4-BE49-F238E27FC236}">
                    <a16:creationId xmlns:a16="http://schemas.microsoft.com/office/drawing/2014/main" id="{236E1767-2C9E-4CE4-80AD-F704542B8C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4256" y="2067615"/>
                <a:ext cx="3840866" cy="645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600" b="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b="0" i="1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600" b="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zh-CN" altLang="en-US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600" b="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1600" b="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TextBox 6">
                <a:extLst>
                  <a:ext uri="{FF2B5EF4-FFF2-40B4-BE49-F238E27FC236}">
                    <a16:creationId xmlns:a16="http://schemas.microsoft.com/office/drawing/2014/main" id="{236E1767-2C9E-4CE4-80AD-F704542B8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4256" y="2067615"/>
                <a:ext cx="3840866" cy="6455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61F3F802-AA67-4794-8E47-3201C8379883}"/>
              </a:ext>
            </a:extLst>
          </p:cNvPr>
          <p:cNvSpPr/>
          <p:nvPr/>
        </p:nvSpPr>
        <p:spPr>
          <a:xfrm>
            <a:off x="897084" y="2773462"/>
            <a:ext cx="3898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mbria Math" panose="02040503050406030204" pitchFamily="18" charset="0"/>
                <a:ea typeface="华文楷体" panose="02010600040101010101" pitchFamily="2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6">
                <a:extLst>
                  <a:ext uri="{FF2B5EF4-FFF2-40B4-BE49-F238E27FC236}">
                    <a16:creationId xmlns:a16="http://schemas.microsoft.com/office/drawing/2014/main" id="{6FE57E5B-0C7E-49B4-8B32-C542C9FD10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968" y="2802066"/>
                <a:ext cx="384086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zh-CN" altLang="en-US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𝛼</m:t>
                          </m:r>
                        </m:sub>
                      </m:sSub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1600" b="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TextBox 6">
                <a:extLst>
                  <a:ext uri="{FF2B5EF4-FFF2-40B4-BE49-F238E27FC236}">
                    <a16:creationId xmlns:a16="http://schemas.microsoft.com/office/drawing/2014/main" id="{6FE57E5B-0C7E-49B4-8B32-C542C9FD1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8968" y="2802066"/>
                <a:ext cx="384086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92C7976A-4959-441B-BF1F-6BBA1F42A5A9}"/>
                  </a:ext>
                </a:extLst>
              </p:cNvPr>
              <p:cNvSpPr/>
              <p:nvPr/>
            </p:nvSpPr>
            <p:spPr>
              <a:xfrm>
                <a:off x="799187" y="1729061"/>
                <a:ext cx="252825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因不等式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显然成立，</a:t>
                </a: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92C7976A-4959-441B-BF1F-6BBA1F42A5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87" y="1729061"/>
                <a:ext cx="2528256" cy="338554"/>
              </a:xfrm>
              <a:prstGeom prst="rect">
                <a:avLst/>
              </a:prstGeom>
              <a:blipFill>
                <a:blip r:embed="rId9"/>
                <a:stretch>
                  <a:fillRect l="-1205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6">
                <a:extLst>
                  <a:ext uri="{FF2B5EF4-FFF2-40B4-BE49-F238E27FC236}">
                    <a16:creationId xmlns:a16="http://schemas.microsoft.com/office/drawing/2014/main" id="{AAE5AF25-EBBF-4D74-8DCA-2C84D82E6B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968" y="3198517"/>
                <a:ext cx="3840866" cy="360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zh-CN" altLang="en-US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𝛽</m:t>
                          </m:r>
                        </m:sub>
                      </m:sSub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，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𝑥</m:t>
                      </m:r>
                      <m:r>
                        <a:rPr lang="en-US" altLang="zh-CN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600" b="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1600" b="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TextBox 6">
                <a:extLst>
                  <a:ext uri="{FF2B5EF4-FFF2-40B4-BE49-F238E27FC236}">
                    <a16:creationId xmlns:a16="http://schemas.microsoft.com/office/drawing/2014/main" id="{AAE5AF25-EBBF-4D74-8DCA-2C84D82E6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8968" y="3198517"/>
                <a:ext cx="3840866" cy="360483"/>
              </a:xfrm>
              <a:prstGeom prst="rect">
                <a:avLst/>
              </a:prstGeom>
              <a:blipFill>
                <a:blip r:embed="rId10"/>
                <a:stretch>
                  <a:fillRect b="-678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0693C7ED-7397-48B4-8B50-B9D9267092E1}"/>
              </a:ext>
            </a:extLst>
          </p:cNvPr>
          <p:cNvSpPr/>
          <p:nvPr/>
        </p:nvSpPr>
        <p:spPr>
          <a:xfrm>
            <a:off x="879768" y="3661270"/>
            <a:ext cx="3898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mbria Math" panose="02040503050406030204" pitchFamily="18" charset="0"/>
                <a:ea typeface="华文楷体" panose="02010600040101010101" pitchFamily="2" charset="-122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D4F02B7-9E58-4B2B-AFA4-67535E9ADA23}"/>
                  </a:ext>
                </a:extLst>
              </p:cNvPr>
              <p:cNvSpPr/>
              <p:nvPr/>
            </p:nvSpPr>
            <p:spPr>
              <a:xfrm>
                <a:off x="902906" y="3508393"/>
                <a:ext cx="3347245" cy="639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𝛽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BD4F02B7-9E58-4B2B-AFA4-67535E9AD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06" y="3508393"/>
                <a:ext cx="3347245" cy="6399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72CCC6C-0F0A-4D4B-9CE1-1C998BBEAD55}"/>
                  </a:ext>
                </a:extLst>
              </p:cNvPr>
              <p:cNvSpPr/>
              <p:nvPr/>
            </p:nvSpPr>
            <p:spPr>
              <a:xfrm>
                <a:off x="3896211" y="3632862"/>
                <a:ext cx="3347245" cy="3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ea typeface="华文楷体" panose="02010600040101010101" pitchFamily="2" charset="-122"/>
                  </a:rPr>
                  <a:t>即</a:t>
                </a:r>
                <a:r>
                  <a:rPr lang="zh-CN" altLang="en-US" sz="1400" dirty="0">
                    <a:ea typeface="华文楷体" panose="02010600040101010101" pitchFamily="2" charset="-12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𝑚</m:t>
                    </m:r>
                    <m:r>
                      <m:rPr>
                        <m:nor/>
                      </m:rPr>
                      <a:rPr lang="en-US" altLang="zh-CN" sz="1600" dirty="0">
                        <a:ea typeface="华文楷体" panose="02010600040101010101" pitchFamily="2" charset="-122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en-US" altLang="zh-CN" sz="1600" dirty="0">
                        <a:ea typeface="华文楷体" panose="02010600040101010101" pitchFamily="2" charset="-122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sub>
                    </m:sSub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72CCC6C-0F0A-4D4B-9CE1-1C998BBEA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211" y="3632862"/>
                <a:ext cx="3347245" cy="360483"/>
              </a:xfrm>
              <a:prstGeom prst="rect">
                <a:avLst/>
              </a:prstGeom>
              <a:blipFill>
                <a:blip r:embed="rId12"/>
                <a:stretch>
                  <a:fillRect l="-911" t="-1695" b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470A4C6D-2D58-46F1-B657-3429A3608E60}"/>
              </a:ext>
            </a:extLst>
          </p:cNvPr>
          <p:cNvSpPr/>
          <p:nvPr/>
        </p:nvSpPr>
        <p:spPr>
          <a:xfrm>
            <a:off x="852727" y="3205182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mbria Math" panose="02040503050406030204" pitchFamily="18" charset="0"/>
                <a:ea typeface="华文楷体" panose="02010600040101010101" pitchFamily="2" charset="-122"/>
              </a:rPr>
              <a:t>同理可得，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D4BBAB-F493-4E14-B712-2729F054F9B4}"/>
              </a:ext>
            </a:extLst>
          </p:cNvPr>
          <p:cNvSpPr/>
          <p:nvPr/>
        </p:nvSpPr>
        <p:spPr>
          <a:xfrm>
            <a:off x="6782730" y="3659107"/>
            <a:ext cx="6367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Cambria Math" panose="02040503050406030204" pitchFamily="18" charset="0"/>
                <a:ea typeface="华文楷体" panose="02010600040101010101" pitchFamily="2" charset="-122"/>
              </a:rPr>
              <a:t>证毕</a:t>
            </a:r>
            <a:r>
              <a:rPr lang="en-US" altLang="zh-CN" sz="1600" dirty="0">
                <a:latin typeface="Cambria Math" panose="02040503050406030204" pitchFamily="18" charset="0"/>
                <a:ea typeface="华文楷体" panose="02010600040101010101" pitchFamily="2" charset="-122"/>
              </a:rPr>
              <a:t>.</a:t>
            </a:r>
            <a:endParaRPr lang="zh-CN" altLang="en-US" sz="1600" dirty="0">
              <a:latin typeface="Cambria Math" panose="020405030504060302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321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5FAA049-63F9-4B5E-BF32-186A602703A1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B6AB270-5A96-4F5D-9021-36E8E4CB1C05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EC7CB1AB-4FBA-4D45-88E8-18554443AB9C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46166CF-89B3-4F03-92D7-E527A22D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625475"/>
            <a:ext cx="4940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常用范数的等价关系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53D0011-69FA-4C84-9893-35D98E2E45A8}"/>
              </a:ext>
            </a:extLst>
          </p:cNvPr>
          <p:cNvSpPr/>
          <p:nvPr/>
        </p:nvSpPr>
        <p:spPr>
          <a:xfrm>
            <a:off x="1094704" y="1204176"/>
            <a:ext cx="6935273" cy="1938270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75F9633-F7FE-4274-B21C-C1272D759D5E}"/>
                  </a:ext>
                </a:extLst>
              </p:cNvPr>
              <p:cNvSpPr txBox="1"/>
              <p:nvPr/>
            </p:nvSpPr>
            <p:spPr>
              <a:xfrm>
                <a:off x="2625278" y="1369274"/>
                <a:ext cx="30329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75F9633-F7FE-4274-B21C-C1272D759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278" y="1369274"/>
                <a:ext cx="3032974" cy="400110"/>
              </a:xfrm>
              <a:prstGeom prst="rect">
                <a:avLst/>
              </a:prstGeom>
              <a:blipFill>
                <a:blip r:embed="rId2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D0F5D9A-E5B6-4B7C-9EB9-1862E8F99531}"/>
                  </a:ext>
                </a:extLst>
              </p:cNvPr>
              <p:cNvSpPr txBox="1"/>
              <p:nvPr/>
            </p:nvSpPr>
            <p:spPr>
              <a:xfrm>
                <a:off x="2625278" y="1899562"/>
                <a:ext cx="3032974" cy="40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ad>
                          <m:radPr>
                            <m:degHide m:val="on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D0F5D9A-E5B6-4B7C-9EB9-1862E8F99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278" y="1899562"/>
                <a:ext cx="3032974" cy="403572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C3089A3-2223-4C9B-B181-B6D528520DFD}"/>
                  </a:ext>
                </a:extLst>
              </p:cNvPr>
              <p:cNvSpPr txBox="1"/>
              <p:nvPr/>
            </p:nvSpPr>
            <p:spPr>
              <a:xfrm>
                <a:off x="2685245" y="2422648"/>
                <a:ext cx="30329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ad>
                          <m:radPr>
                            <m:deg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C3089A3-2223-4C9B-B181-B6D528520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245" y="2422648"/>
                <a:ext cx="3032974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53748FD-A517-4A88-B49E-C8CEE62B84A5}"/>
                  </a:ext>
                </a:extLst>
              </p:cNvPr>
              <p:cNvSpPr txBox="1"/>
              <p:nvPr/>
            </p:nvSpPr>
            <p:spPr>
              <a:xfrm>
                <a:off x="1093966" y="3521606"/>
                <a:ext cx="6832242" cy="40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或者，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zh-CN" sz="2000" dirty="0"/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53748FD-A517-4A88-B49E-C8CEE62B8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966" y="3521606"/>
                <a:ext cx="6832242" cy="403572"/>
              </a:xfrm>
              <a:prstGeom prst="rect">
                <a:avLst/>
              </a:prstGeom>
              <a:blipFill>
                <a:blip r:embed="rId5"/>
                <a:stretch>
                  <a:fillRect l="-892" t="-1060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92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5" grpId="0" animBg="1"/>
      <p:bldP spid="6" grpId="0"/>
      <p:bldP spid="10" grpId="0"/>
      <p:bldP spid="11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5FAA049-63F9-4B5E-BF32-186A602703A1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B6AB270-5A96-4F5D-9021-36E8E4CB1C05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EC7CB1AB-4FBA-4D45-88E8-18554443AB9C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1BA79F-4CAD-4CF4-B1E5-56736DCB81DD}"/>
              </a:ext>
            </a:extLst>
          </p:cNvPr>
          <p:cNvSpPr/>
          <p:nvPr/>
        </p:nvSpPr>
        <p:spPr>
          <a:xfrm>
            <a:off x="1004887" y="975364"/>
            <a:ext cx="7193891" cy="2651418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7688C57-F5FC-48E7-AA85-78EAFBEC48F5}"/>
                  </a:ext>
                </a:extLst>
              </p:cNvPr>
              <p:cNvSpPr txBox="1"/>
              <p:nvPr/>
            </p:nvSpPr>
            <p:spPr>
              <a:xfrm>
                <a:off x="1418603" y="1160667"/>
                <a:ext cx="6584965" cy="120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</a:t>
                </a:r>
                <a:r>
                  <a:rPr lang="zh-CN" altLang="en-US" sz="2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设向量序列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𝑘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𝑘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,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(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𝑘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𝑘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=0,1,⋯</m:t>
                    </m:r>
                  </m:oMath>
                </a14:m>
                <a:r>
                  <a:rPr lang="en-US" altLang="zh-CN" sz="2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∗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,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Sup>
                          <m:sSub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称向量序列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{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}</m:t>
                    </m:r>
                  </m:oMath>
                </a14:m>
                <a:r>
                  <a:rPr lang="zh-CN" altLang="en-US" sz="2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收敛于向量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，如果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7688C57-F5FC-48E7-AA85-78EAFBEC4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603" y="1160667"/>
                <a:ext cx="6584965" cy="1202702"/>
              </a:xfrm>
              <a:prstGeom prst="rect">
                <a:avLst/>
              </a:prstGeom>
              <a:blipFill>
                <a:blip r:embed="rId2"/>
                <a:stretch>
                  <a:fillRect l="-1204" r="-463" b="-9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C00BC18-A204-4F6F-87FC-F8C4A939EB84}"/>
                  </a:ext>
                </a:extLst>
              </p:cNvPr>
              <p:cNvSpPr txBox="1"/>
              <p:nvPr/>
            </p:nvSpPr>
            <p:spPr>
              <a:xfrm>
                <a:off x="1967618" y="2327445"/>
                <a:ext cx="5084938" cy="515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=0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C00BC18-A204-4F6F-87FC-F8C4A939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618" y="2327445"/>
                <a:ext cx="5084938" cy="515077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0BD7D0D-F077-4518-A740-06C2A7376309}"/>
                  </a:ext>
                </a:extLst>
              </p:cNvPr>
              <p:cNvSpPr txBox="1"/>
              <p:nvPr/>
            </p:nvSpPr>
            <p:spPr>
              <a:xfrm>
                <a:off x="1517996" y="2975252"/>
                <a:ext cx="4900773" cy="55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dirty="0">
                    <a:ea typeface="华文楷体" panose="02010600040101010101" pitchFamily="2" charset="-122"/>
                  </a:rPr>
                  <a:t>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𝑘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(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𝑘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，或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(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𝑘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.</m:t>
                        </m:r>
                      </m:e>
                    </m:func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0BD7D0D-F077-4518-A740-06C2A7376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996" y="2975252"/>
                <a:ext cx="4900773" cy="554895"/>
              </a:xfrm>
              <a:prstGeom prst="rect">
                <a:avLst/>
              </a:prstGeom>
              <a:blipFill>
                <a:blip r:embed="rId4"/>
                <a:stretch>
                  <a:fillRect l="-1617" t="-2198" b="-5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BBC17D2-5F6C-4320-BBAF-22AB454FAEE6}"/>
              </a:ext>
            </a:extLst>
          </p:cNvPr>
          <p:cNvSpPr/>
          <p:nvPr/>
        </p:nvSpPr>
        <p:spPr>
          <a:xfrm>
            <a:off x="1004887" y="3774334"/>
            <a:ext cx="7193891" cy="83067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E344B91-E676-463D-8206-DD228EAA95B8}"/>
                  </a:ext>
                </a:extLst>
              </p:cNvPr>
              <p:cNvSpPr txBox="1"/>
              <p:nvPr/>
            </p:nvSpPr>
            <p:spPr>
              <a:xfrm>
                <a:off x="1113183" y="3891279"/>
                <a:ext cx="6989901" cy="55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注</a:t>
                </a:r>
                <a:r>
                  <a:rPr lang="en-US" altLang="zh-CN" sz="2000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∗</m:t>
                        </m:r>
                      </m:sup>
                    </m:sSup>
                    <m:groupChr>
                      <m:groupChrPr>
                        <m:chr m:val="⇔"/>
                        <m:pos m:val="top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groupChrPr>
                      <m:e/>
                    </m:groupChr>
                    <m:sSubSup>
                      <m:sSub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𝑘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→0⟺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b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𝑖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∗</m:t>
                        </m:r>
                      </m:sup>
                    </m:sSub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   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𝑖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=1,2,⋯,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E344B91-E676-463D-8206-DD228EAA9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183" y="3891279"/>
                <a:ext cx="6989901" cy="553549"/>
              </a:xfrm>
              <a:prstGeom prst="rect">
                <a:avLst/>
              </a:prstGeom>
              <a:blipFill>
                <a:blip r:embed="rId5"/>
                <a:stretch>
                  <a:fillRect l="-960" t="-19780" b="-4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452929C5-4489-4CED-AB15-60BA635D8DE8}"/>
              </a:ext>
            </a:extLst>
          </p:cNvPr>
          <p:cNvSpPr txBox="1"/>
          <p:nvPr/>
        </p:nvSpPr>
        <p:spPr>
          <a:xfrm>
            <a:off x="1418603" y="748348"/>
            <a:ext cx="2756824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定义（向量序列收敛）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760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6" grpId="0"/>
      <p:bldP spid="8" grpId="0"/>
      <p:bldP spid="15" grpId="0" animBg="1"/>
      <p:bldP spid="16" grpId="0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5FAA049-63F9-4B5E-BF32-186A602703A1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26003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B6AB270-5A96-4F5D-9021-36E8E4CB1C05}"/>
              </a:ext>
            </a:extLst>
          </p:cNvPr>
          <p:cNvCxnSpPr>
            <a:cxnSpLocks/>
          </p:cNvCxnSpPr>
          <p:nvPr/>
        </p:nvCxnSpPr>
        <p:spPr>
          <a:xfrm>
            <a:off x="5416826" y="371475"/>
            <a:ext cx="3727174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EC7CB1AB-4FBA-4D45-88E8-18554443AB9C}"/>
              </a:ext>
            </a:extLst>
          </p:cNvPr>
          <p:cNvSpPr txBox="1"/>
          <p:nvPr/>
        </p:nvSpPr>
        <p:spPr>
          <a:xfrm>
            <a:off x="1718640" y="150111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向量的范数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46166CF-89B3-4F03-92D7-E527A22D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08" y="654337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</a:t>
            </a: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88972B1-96DA-4935-AE72-2E9F1D9327C8}"/>
              </a:ext>
            </a:extLst>
          </p:cNvPr>
          <p:cNvSpPr/>
          <p:nvPr/>
        </p:nvSpPr>
        <p:spPr>
          <a:xfrm>
            <a:off x="1654276" y="1204027"/>
            <a:ext cx="6400801" cy="904546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9BEBFB-AFA6-45DC-8613-BC566C1A40F7}"/>
              </a:ext>
            </a:extLst>
          </p:cNvPr>
          <p:cNvSpPr txBox="1"/>
          <p:nvPr/>
        </p:nvSpPr>
        <p:spPr>
          <a:xfrm>
            <a:off x="1825693" y="1221496"/>
            <a:ext cx="5719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向量范数的定义（非负性，齐次性，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三角不等式）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04918EC-1332-4A3A-9E0D-18170AD5C67E}"/>
              </a:ext>
            </a:extLst>
          </p:cNvPr>
          <p:cNvSpPr/>
          <p:nvPr/>
        </p:nvSpPr>
        <p:spPr>
          <a:xfrm>
            <a:off x="1654277" y="2344997"/>
            <a:ext cx="6400801" cy="661720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F94D8B8-1F36-4435-8930-F3A38B5A2A31}"/>
                  </a:ext>
                </a:extLst>
              </p:cNvPr>
              <p:cNvSpPr txBox="1"/>
              <p:nvPr/>
            </p:nvSpPr>
            <p:spPr>
              <a:xfrm>
                <a:off x="1840395" y="2506821"/>
                <a:ext cx="5705061" cy="66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2.</a:t>
                </a:r>
                <a:r>
                  <a:rPr lang="zh-CN" altLang="en-US" sz="24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向量的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范数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=1,2,∞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和加权范数</m:t>
                    </m:r>
                  </m:oMath>
                </a14:m>
                <a:endParaRPr lang="zh-CN" altLang="en-US" sz="2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F94D8B8-1F36-4435-8930-F3A38B5A2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95" y="2506821"/>
                <a:ext cx="5705061" cy="661720"/>
              </a:xfrm>
              <a:prstGeom prst="rect">
                <a:avLst/>
              </a:prstGeom>
              <a:blipFill>
                <a:blip r:embed="rId2"/>
                <a:stretch>
                  <a:fillRect l="-1709" t="-73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550DD1D-0151-4639-B101-79125605EEC5}"/>
              </a:ext>
            </a:extLst>
          </p:cNvPr>
          <p:cNvSpPr/>
          <p:nvPr/>
        </p:nvSpPr>
        <p:spPr>
          <a:xfrm>
            <a:off x="1654277" y="3330365"/>
            <a:ext cx="6400801" cy="697133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DAE7FF-9494-49A3-8643-FD29EEB1D520}"/>
              </a:ext>
            </a:extLst>
          </p:cNvPr>
          <p:cNvSpPr txBox="1"/>
          <p:nvPr/>
        </p:nvSpPr>
        <p:spPr>
          <a:xfrm>
            <a:off x="1825693" y="3412303"/>
            <a:ext cx="5234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向量范数的等价性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624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10" grpId="0" animBg="1"/>
      <p:bldP spid="12" grpId="0"/>
      <p:bldP spid="13" grpId="0" animBg="1"/>
      <p:bldP spid="6" grpId="0"/>
      <p:bldP spid="15" grpId="0" animBg="1"/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4409DA8-B9BD-4ACA-A046-EB8E60ACB32C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170583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75FA672-D900-4D94-81A5-680E875EC141}"/>
              </a:ext>
            </a:extLst>
          </p:cNvPr>
          <p:cNvCxnSpPr>
            <a:cxnSpLocks/>
          </p:cNvCxnSpPr>
          <p:nvPr/>
        </p:nvCxnSpPr>
        <p:spPr>
          <a:xfrm>
            <a:off x="5695122" y="371475"/>
            <a:ext cx="3448878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C280384-5B63-45D7-B77C-6E651D1C95C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2.10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0CD9E96-8759-42E6-9B9B-E6EBF9CCDF1E}"/>
                  </a:ext>
                </a:extLst>
              </p:cNvPr>
              <p:cNvSpPr/>
              <p:nvPr/>
            </p:nvSpPr>
            <p:spPr>
              <a:xfrm>
                <a:off x="593272" y="1364402"/>
                <a:ext cx="6238581" cy="4961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116000" tIns="0" bIns="36000" rtlCol="0" anchor="ctr"/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00A28B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b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任意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j-cs"/>
                  </a:rPr>
                  <a:t>矩阵都可以看成是一个行向量或列向量</a:t>
                </a:r>
                <a:endParaRPr lang="zh-CN" altLang="en-US" sz="2000" dirty="0">
                  <a:solidFill>
                    <a:srgbClr val="00A28B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0CD9E96-8759-42E6-9B9B-E6EBF9CCD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72" y="1364402"/>
                <a:ext cx="6238581" cy="496101"/>
              </a:xfrm>
              <a:prstGeom prst="rect">
                <a:avLst/>
              </a:prstGeom>
              <a:blipFill>
                <a:blip r:embed="rId2"/>
                <a:stretch>
                  <a:fillRect b="-987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9C7EFA6-75E7-43F5-AD0D-B67B3A6B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75" y="2269771"/>
            <a:ext cx="1907162" cy="9112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8FEC72-DD10-418E-9DDB-8CF8EC5A5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897" y="2419637"/>
            <a:ext cx="2636903" cy="5706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79C52F-92BB-4438-8CF9-F6403A278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185" y="1734807"/>
            <a:ext cx="781050" cy="198120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E7C34856-5F77-4889-A20C-6F387EC8E04D}"/>
              </a:ext>
            </a:extLst>
          </p:cNvPr>
          <p:cNvSpPr/>
          <p:nvPr/>
        </p:nvSpPr>
        <p:spPr>
          <a:xfrm>
            <a:off x="3786961" y="2496531"/>
            <a:ext cx="554518" cy="403972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5F12AA4-38AB-4EA5-9FEC-59E2F765F282}"/>
                  </a:ext>
                </a:extLst>
              </p:cNvPr>
              <p:cNvSpPr/>
              <p:nvPr/>
            </p:nvSpPr>
            <p:spPr>
              <a:xfrm>
                <a:off x="593272" y="3828378"/>
                <a:ext cx="6238580" cy="49610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116000" tIns="0" bIns="36000" rtlCol="0" anchor="ctr"/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b="1" dirty="0">
                    <a:solidFill>
                      <a:srgbClr val="00A28B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𝑛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×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j-cs"/>
                  </a:rPr>
                  <a:t>矩阵可以看成是一个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+mj-cs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+mj-cs"/>
                          </a:rPr>
                          <m:t>𝑛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zh-CN" alt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维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j-cs"/>
                  </a:rPr>
                  <a:t>行（列）向量</a:t>
                </a:r>
                <a:endParaRPr lang="zh-CN" altLang="en-US" sz="2000" dirty="0">
                  <a:solidFill>
                    <a:srgbClr val="00A28B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5F12AA4-38AB-4EA5-9FEC-59E2F765F2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72" y="3828378"/>
                <a:ext cx="6238580" cy="496101"/>
              </a:xfrm>
              <a:prstGeom prst="rect">
                <a:avLst/>
              </a:prstGeom>
              <a:blipFill>
                <a:blip r:embed="rId6"/>
                <a:stretch>
                  <a:fillRect r="-684" b="-987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6">
            <a:extLst>
              <a:ext uri="{FF2B5EF4-FFF2-40B4-BE49-F238E27FC236}">
                <a16:creationId xmlns:a16="http://schemas.microsoft.com/office/drawing/2014/main" id="{11326534-F103-4400-99BE-2F388C53E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0" y="756057"/>
            <a:ext cx="4155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矩阵范数是向量范数的推广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9" grpId="0" animBg="1"/>
      <p:bldP spid="12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3EF2771-0268-45C2-9147-08942AE70764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ABDB5E-17F3-4521-9BA5-8F54B43E7A1D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3AD8C03-466E-47B1-B02C-ABA55214C358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588281B-4813-4B98-83C0-39EF78D7E467}"/>
              </a:ext>
            </a:extLst>
          </p:cNvPr>
          <p:cNvSpPr/>
          <p:nvPr/>
        </p:nvSpPr>
        <p:spPr>
          <a:xfrm>
            <a:off x="586410" y="1047761"/>
            <a:ext cx="8130208" cy="34399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BBD041-1D37-43D6-BEA8-062719DBA8F1}"/>
              </a:ext>
            </a:extLst>
          </p:cNvPr>
          <p:cNvSpPr txBox="1"/>
          <p:nvPr/>
        </p:nvSpPr>
        <p:spPr>
          <a:xfrm>
            <a:off x="1212575" y="799703"/>
            <a:ext cx="757445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3C7AB5-3983-466A-9AB0-718CC1CAE0B3}"/>
                  </a:ext>
                </a:extLst>
              </p:cNvPr>
              <p:cNvSpPr txBox="1"/>
              <p:nvPr/>
            </p:nvSpPr>
            <p:spPr>
              <a:xfrm>
                <a:off x="1371601" y="1399064"/>
                <a:ext cx="61821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‖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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‖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是以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阶方阵为自变量的实值函数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满足条件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3C7AB5-3983-466A-9AB0-718CC1CAE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1399064"/>
                <a:ext cx="6182139" cy="400110"/>
              </a:xfrm>
              <a:prstGeom prst="rect">
                <a:avLst/>
              </a:prstGeom>
              <a:blipFill>
                <a:blip r:embed="rId2"/>
                <a:stretch>
                  <a:fillRect l="-986" t="-12308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5">
                <a:extLst>
                  <a:ext uri="{FF2B5EF4-FFF2-40B4-BE49-F238E27FC236}">
                    <a16:creationId xmlns:a16="http://schemas.microsoft.com/office/drawing/2014/main" id="{E9375289-4D05-4C05-93C0-0ED264BF23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5071" y="1827698"/>
                <a:ext cx="6858000" cy="462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（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，当且仅当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O (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非负性</a:t>
                </a:r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  <a:endParaRPr lang="en-US" altLang="zh-CN" sz="2000" b="1" dirty="0">
                  <a:solidFill>
                    <a:schemeClr val="accent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Text Box 5">
                <a:extLst>
                  <a:ext uri="{FF2B5EF4-FFF2-40B4-BE49-F238E27FC236}">
                    <a16:creationId xmlns:a16="http://schemas.microsoft.com/office/drawing/2014/main" id="{E9375289-4D05-4C05-93C0-0ED264BF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071" y="1827698"/>
                <a:ext cx="6858000" cy="462178"/>
              </a:xfrm>
              <a:prstGeom prst="rect">
                <a:avLst/>
              </a:prstGeom>
              <a:blipFill>
                <a:blip r:embed="rId3"/>
                <a:stretch>
                  <a:fillRect b="-236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5">
                <a:extLst>
                  <a:ext uri="{FF2B5EF4-FFF2-40B4-BE49-F238E27FC236}">
                    <a16:creationId xmlns:a16="http://schemas.microsoft.com/office/drawing/2014/main" id="{98C2ADA8-4E0D-447B-ABAA-FBD9669015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5071" y="2270285"/>
                <a:ext cx="6858000" cy="462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（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𝛼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∈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𝑅</m:t>
                    </m:r>
                  </m:oMath>
                </a14:m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        (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齐次性</a:t>
                </a:r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  <a:endParaRPr lang="en-US" altLang="zh-CN" sz="2000" b="1" dirty="0">
                  <a:solidFill>
                    <a:schemeClr val="accent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Text Box 5">
                <a:extLst>
                  <a:ext uri="{FF2B5EF4-FFF2-40B4-BE49-F238E27FC236}">
                    <a16:creationId xmlns:a16="http://schemas.microsoft.com/office/drawing/2014/main" id="{98C2ADA8-4E0D-447B-ABAA-FBD966901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071" y="2270285"/>
                <a:ext cx="6858000" cy="462178"/>
              </a:xfrm>
              <a:prstGeom prst="rect">
                <a:avLst/>
              </a:prstGeom>
              <a:blipFill>
                <a:blip r:embed="rId4"/>
                <a:stretch>
                  <a:fillRect b="-236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635188B5-7365-4C91-B41B-C46BEEF2A4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5071" y="2732463"/>
                <a:ext cx="6858000" cy="462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（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   (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三角不等式</a:t>
                </a:r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  <a:endParaRPr lang="en-US" altLang="zh-CN" sz="2000" b="1" dirty="0">
                  <a:solidFill>
                    <a:schemeClr val="accent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635188B5-7365-4C91-B41B-C46BEEF2A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071" y="2732463"/>
                <a:ext cx="6858000" cy="462178"/>
              </a:xfrm>
              <a:prstGeom prst="rect">
                <a:avLst/>
              </a:prstGeom>
              <a:blipFill>
                <a:blip r:embed="rId5"/>
                <a:stretch>
                  <a:fillRect b="-236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759549D5-03A4-4D1F-97AC-779B5A8F9E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5071" y="3193446"/>
                <a:ext cx="6858000" cy="462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（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4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sz="2000" b="1" dirty="0">
                    <a:solidFill>
                      <a:schemeClr val="accent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                   </a:t>
                </a:r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相容性</a:t>
                </a:r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</a:p>
            </p:txBody>
          </p:sp>
        </mc:Choice>
        <mc:Fallback xmlns=""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759549D5-03A4-4D1F-97AC-779B5A8F9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071" y="3193446"/>
                <a:ext cx="6858000" cy="462178"/>
              </a:xfrm>
              <a:prstGeom prst="rect">
                <a:avLst/>
              </a:prstGeom>
              <a:blipFill>
                <a:blip r:embed="rId6"/>
                <a:stretch>
                  <a:fillRect b="-236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5">
                <a:extLst>
                  <a:ext uri="{FF2B5EF4-FFF2-40B4-BE49-F238E27FC236}">
                    <a16:creationId xmlns:a16="http://schemas.microsoft.com/office/drawing/2014/main" id="{E40E236B-D883-4A96-A317-F747855A8C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9688" y="3786327"/>
                <a:ext cx="6858000" cy="4603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则称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为矩阵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范数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anose="05050102010706020507" pitchFamily="18" charset="2"/>
                  </a:rPr>
                  <a:t>.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 Box 15">
                <a:extLst>
                  <a:ext uri="{FF2B5EF4-FFF2-40B4-BE49-F238E27FC236}">
                    <a16:creationId xmlns:a16="http://schemas.microsoft.com/office/drawing/2014/main" id="{E40E236B-D883-4A96-A317-F747855A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9688" y="3786327"/>
                <a:ext cx="6858000" cy="460375"/>
              </a:xfrm>
              <a:prstGeom prst="rect">
                <a:avLst/>
              </a:prstGeom>
              <a:blipFill>
                <a:blip r:embed="rId7"/>
                <a:stretch>
                  <a:fillRect l="-978" b="-236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94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5" grpId="0" animBg="1"/>
      <p:bldP spid="7" grpId="0"/>
      <p:bldP spid="18" grpId="0"/>
      <p:bldP spid="19" grpId="0"/>
      <p:bldP spid="20" grpId="0"/>
      <p:bldP spid="21" grpId="0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3EF2771-0268-45C2-9147-08942AE70764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ABDB5E-17F3-4521-9BA5-8F54B43E7A1D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3AD8C03-466E-47B1-B02C-ABA55214C358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E6B83579-75C3-4327-AD6F-42D613B29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348" y="556506"/>
            <a:ext cx="4079897" cy="460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常用的几种矩阵范数</a:t>
            </a:r>
            <a:endParaRPr lang="en-US" altLang="zh-CN" sz="2000" b="1" dirty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01133B-C244-4A16-8D7B-493FF17433A4}"/>
              </a:ext>
            </a:extLst>
          </p:cNvPr>
          <p:cNvSpPr txBox="1"/>
          <p:nvPr/>
        </p:nvSpPr>
        <p:spPr>
          <a:xfrm>
            <a:off x="946596" y="1197734"/>
            <a:ext cx="2421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矩阵的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1-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范数：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8517181-D3A2-4DE3-B159-D9CCCC87377C}"/>
                  </a:ext>
                </a:extLst>
              </p:cNvPr>
              <p:cNvSpPr txBox="1"/>
              <p:nvPr/>
            </p:nvSpPr>
            <p:spPr>
              <a:xfrm>
                <a:off x="2962141" y="908108"/>
                <a:ext cx="3371044" cy="932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8517181-D3A2-4DE3-B159-D9CCCC873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141" y="908108"/>
                <a:ext cx="3371044" cy="9326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8561B84A-0A17-446E-8577-8C1BBED42943}"/>
              </a:ext>
            </a:extLst>
          </p:cNvPr>
          <p:cNvSpPr txBox="1"/>
          <p:nvPr/>
        </p:nvSpPr>
        <p:spPr>
          <a:xfrm>
            <a:off x="604904" y="1891725"/>
            <a:ext cx="2357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矩阵的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2-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范数：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8BB99BD-C47B-4EC7-B774-FB34C16A3919}"/>
                  </a:ext>
                </a:extLst>
              </p:cNvPr>
              <p:cNvSpPr txBox="1"/>
              <p:nvPr/>
            </p:nvSpPr>
            <p:spPr>
              <a:xfrm>
                <a:off x="3218648" y="1751199"/>
                <a:ext cx="3944152" cy="554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dirty="0"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</a:rPr>
                                <m:t>的最大特征值</m:t>
                              </m:r>
                            </m:e>
                          </m:d>
                        </m:e>
                        <m:sup>
                          <m:box>
                            <m:boxPr>
                              <m:ctrlPr>
                                <a:rPr lang="zh-CN" altLang="en-US" sz="2000" i="1" dirty="0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CN" sz="2000" i="1" dirty="0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8BB99BD-C47B-4EC7-B774-FB34C16A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48" y="1751199"/>
                <a:ext cx="3944152" cy="5547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971F855-E0C1-45B8-945A-5EA8FC92CA5B}"/>
                  </a:ext>
                </a:extLst>
              </p:cNvPr>
              <p:cNvSpPr txBox="1"/>
              <p:nvPr/>
            </p:nvSpPr>
            <p:spPr>
              <a:xfrm>
                <a:off x="947770" y="2651611"/>
                <a:ext cx="2213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矩阵的</a:t>
                </a:r>
                <a14:m>
                  <m:oMath xmlns:m="http://schemas.openxmlformats.org/officeDocument/2006/math">
                    <m:r>
                      <a:rPr lang="zh-CN" altLang="en-US" sz="20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∞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范数：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971F855-E0C1-45B8-945A-5EA8FC92C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70" y="2651611"/>
                <a:ext cx="2213824" cy="400110"/>
              </a:xfrm>
              <a:prstGeom prst="rect">
                <a:avLst/>
              </a:prstGeom>
              <a:blipFill>
                <a:blip r:embed="rId4"/>
                <a:stretch>
                  <a:fillRect l="-2473" t="-7576" r="-1401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D39F1B3-CEB1-406C-A763-8A43A547FC51}"/>
                  </a:ext>
                </a:extLst>
              </p:cNvPr>
              <p:cNvSpPr txBox="1"/>
              <p:nvPr/>
            </p:nvSpPr>
            <p:spPr>
              <a:xfrm>
                <a:off x="3116687" y="2333427"/>
                <a:ext cx="3371044" cy="967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D39F1B3-CEB1-406C-A763-8A43A547F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687" y="2333427"/>
                <a:ext cx="3371044" cy="967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4F103B9-1893-415E-A34C-7FDCBB0624B3}"/>
                  </a:ext>
                </a:extLst>
              </p:cNvPr>
              <p:cNvSpPr txBox="1"/>
              <p:nvPr/>
            </p:nvSpPr>
            <p:spPr>
              <a:xfrm>
                <a:off x="953875" y="3462486"/>
                <a:ext cx="2111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矩阵的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𝐹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 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范数：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4F103B9-1893-415E-A34C-7FDCBB062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5" y="3462486"/>
                <a:ext cx="2111800" cy="400110"/>
              </a:xfrm>
              <a:prstGeom prst="rect">
                <a:avLst/>
              </a:prstGeom>
              <a:blipFill>
                <a:blip r:embed="rId6"/>
                <a:stretch>
                  <a:fillRect l="-2594" t="-7576" r="-14697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E3DFD13-162C-426C-9826-6271D4CECDDB}"/>
                  </a:ext>
                </a:extLst>
              </p:cNvPr>
              <p:cNvSpPr txBox="1"/>
              <p:nvPr/>
            </p:nvSpPr>
            <p:spPr>
              <a:xfrm>
                <a:off x="3199896" y="2982357"/>
                <a:ext cx="3371044" cy="1253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/>
                                      </m:sSub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box>
                            <m:box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E3DFD13-162C-426C-9826-6271D4CEC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896" y="2982357"/>
                <a:ext cx="3371044" cy="12530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8EADF53-5E56-4919-ACC7-CCBC83D93A02}"/>
              </a:ext>
            </a:extLst>
          </p:cNvPr>
          <p:cNvSpPr txBox="1"/>
          <p:nvPr/>
        </p:nvSpPr>
        <p:spPr>
          <a:xfrm>
            <a:off x="7162800" y="1163043"/>
            <a:ext cx="1320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列范数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99F018E-9E83-428D-8E23-595FC66DE97E}"/>
              </a:ext>
            </a:extLst>
          </p:cNvPr>
          <p:cNvSpPr txBox="1"/>
          <p:nvPr/>
        </p:nvSpPr>
        <p:spPr>
          <a:xfrm>
            <a:off x="7162800" y="1808327"/>
            <a:ext cx="1320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谱范数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76EB2CB-CE1D-4102-99A2-02A155A49E9E}"/>
              </a:ext>
            </a:extLst>
          </p:cNvPr>
          <p:cNvSpPr txBox="1"/>
          <p:nvPr/>
        </p:nvSpPr>
        <p:spPr>
          <a:xfrm>
            <a:off x="7162800" y="2556623"/>
            <a:ext cx="1320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行范数</a:t>
            </a:r>
          </a:p>
        </p:txBody>
      </p:sp>
    </p:spTree>
    <p:extLst>
      <p:ext uri="{BB962C8B-B14F-4D97-AF65-F5344CB8AC3E}">
        <p14:creationId xmlns:p14="http://schemas.microsoft.com/office/powerpoint/2010/main" val="354100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6" grpId="0"/>
      <p:bldP spid="28" grpId="0"/>
      <p:bldP spid="29" grpId="0"/>
      <p:bldP spid="30" grpId="0"/>
      <p:bldP spid="32" grpId="0"/>
      <p:bldP spid="8" grpId="0"/>
      <p:bldP spid="34" grpId="0"/>
      <p:bldP spid="3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3EF2771-0268-45C2-9147-08942AE70764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ABDB5E-17F3-4521-9BA5-8F54B43E7A1D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3AD8C03-466E-47B1-B02C-ABA55214C358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48E6A96-73EB-480E-8E19-AD728E7D2FD3}"/>
              </a:ext>
            </a:extLst>
          </p:cNvPr>
          <p:cNvSpPr/>
          <p:nvPr/>
        </p:nvSpPr>
        <p:spPr>
          <a:xfrm>
            <a:off x="695458" y="668391"/>
            <a:ext cx="7566339" cy="80567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BF2C0C-61AE-4D2A-9D22-623A54D7AA2A}"/>
              </a:ext>
            </a:extLst>
          </p:cNvPr>
          <p:cNvSpPr txBox="1"/>
          <p:nvPr/>
        </p:nvSpPr>
        <p:spPr>
          <a:xfrm>
            <a:off x="817810" y="499114"/>
            <a:ext cx="624626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83CEE4F-BB54-4351-AFB3-435028364A89}"/>
                  </a:ext>
                </a:extLst>
              </p:cNvPr>
              <p:cNvSpPr txBox="1"/>
              <p:nvPr/>
            </p:nvSpPr>
            <p:spPr>
              <a:xfrm>
                <a:off x="1378039" y="774597"/>
                <a:ext cx="6387921" cy="605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求矩阵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zh-CN" altLang="en-US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∞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𝐹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83CEE4F-BB54-4351-AFB3-435028364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039" y="774597"/>
                <a:ext cx="6387921" cy="605550"/>
              </a:xfrm>
              <a:prstGeom prst="rect">
                <a:avLst/>
              </a:prstGeom>
              <a:blipFill>
                <a:blip r:embed="rId2"/>
                <a:stretch>
                  <a:fillRect l="-954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F3A68CA-F879-4843-ABD8-674AC23F4856}"/>
                  </a:ext>
                </a:extLst>
              </p:cNvPr>
              <p:cNvSpPr txBox="1"/>
              <p:nvPr/>
            </p:nvSpPr>
            <p:spPr>
              <a:xfrm>
                <a:off x="836389" y="1643341"/>
                <a:ext cx="7347396" cy="5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/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d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，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=6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F3A68CA-F879-4843-ABD8-674AC23F4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89" y="1643341"/>
                <a:ext cx="7347396" cy="500330"/>
              </a:xfrm>
              <a:prstGeom prst="rect">
                <a:avLst/>
              </a:prstGeom>
              <a:blipFill>
                <a:blip r:embed="rId3"/>
                <a:stretch>
                  <a:fillRect l="-830" t="-4878" b="-3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A3CAB97-0766-4F47-B11A-3155D21C8425}"/>
                  </a:ext>
                </a:extLst>
              </p:cNvPr>
              <p:cNvSpPr txBox="1"/>
              <p:nvPr/>
            </p:nvSpPr>
            <p:spPr>
              <a:xfrm>
                <a:off x="836724" y="2062783"/>
                <a:ext cx="7347396" cy="500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/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zh-CN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，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d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=7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A3CAB97-0766-4F47-B11A-3155D21C8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24" y="2062783"/>
                <a:ext cx="7347396" cy="500330"/>
              </a:xfrm>
              <a:prstGeom prst="rect">
                <a:avLst/>
              </a:prstGeom>
              <a:blipFill>
                <a:blip r:embed="rId4"/>
                <a:stretch>
                  <a:fillRect t="-3659" b="-3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625D4BC-4B8B-401A-A187-898093A87176}"/>
                  </a:ext>
                </a:extLst>
              </p:cNvPr>
              <p:cNvSpPr txBox="1"/>
              <p:nvPr/>
            </p:nvSpPr>
            <p:spPr>
              <a:xfrm>
                <a:off x="626839" y="2470652"/>
                <a:ext cx="7347396" cy="605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−14</m:t>
                              </m:r>
                            </m:e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000" dirty="0"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20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0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sz="20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=15±</m:t>
                    </m:r>
                    <m:rad>
                      <m:radPr>
                        <m:degHide m:val="on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221</m:t>
                        </m:r>
                      </m:e>
                    </m:ra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625D4BC-4B8B-401A-A187-898093A87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39" y="2470652"/>
                <a:ext cx="7347396" cy="605550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1FDEB54-B628-4F12-BBB6-9F9CAAC2E0A6}"/>
                  </a:ext>
                </a:extLst>
              </p:cNvPr>
              <p:cNvSpPr txBox="1"/>
              <p:nvPr/>
            </p:nvSpPr>
            <p:spPr>
              <a:xfrm>
                <a:off x="1130212" y="3038186"/>
                <a:ext cx="5215944" cy="530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sz="2000" dirty="0">
                            <a:latin typeface="华文楷体" panose="02010600040101010101" pitchFamily="2" charset="-122"/>
                            <a:ea typeface="华文楷体" panose="02010600040101010101" pitchFamily="2" charset="-122"/>
                          </a:rPr>
                          <m:t>故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nor/>
                              </m:rPr>
                              <a:rPr lang="zh-CN" altLang="en-US" sz="2000" dirty="0"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</a:rPr>
                              <m:t>的最大特征值</m:t>
                            </m:r>
                          </m:e>
                        </m:d>
                      </m:e>
                      <m:sup>
                        <m:box>
                          <m:box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2000" dirty="0">
                    <a:solidFill>
                      <a:srgbClr val="2CEEEF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zh-CN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15+</m:t>
                        </m:r>
                        <m:rad>
                          <m:radPr>
                            <m:deg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00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221</m:t>
                            </m:r>
                          </m:e>
                        </m:rad>
                      </m:e>
                    </m:rad>
                  </m:oMath>
                </a14:m>
                <a:endParaRPr lang="zh-CN" alt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1FDEB54-B628-4F12-BBB6-9F9CAAC2E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212" y="3038186"/>
                <a:ext cx="5215944" cy="530851"/>
              </a:xfrm>
              <a:prstGeom prst="rect">
                <a:avLst/>
              </a:prstGeom>
              <a:blipFill>
                <a:blip r:embed="rId6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F3C7604-A648-402C-9A5B-4015454B96D0}"/>
                  </a:ext>
                </a:extLst>
              </p:cNvPr>
              <p:cNvSpPr txBox="1"/>
              <p:nvPr/>
            </p:nvSpPr>
            <p:spPr>
              <a:xfrm>
                <a:off x="1411219" y="3551275"/>
                <a:ext cx="6602569" cy="624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  <m:sup/>
                                    </m:sSub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box>
                          <m:box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−3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4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30</m:t>
                        </m:r>
                      </m:e>
                    </m:ra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F3C7604-A648-402C-9A5B-4015454B9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219" y="3551275"/>
                <a:ext cx="6602569" cy="624082"/>
              </a:xfrm>
              <a:prstGeom prst="rect">
                <a:avLst/>
              </a:prstGeom>
              <a:blipFill>
                <a:blip r:embed="rId7"/>
                <a:stretch>
                  <a:fillRect b="-12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08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 animBg="1"/>
      <p:bldP spid="12" grpId="0" animBg="1"/>
      <p:bldP spid="13" grpId="0"/>
      <p:bldP spid="5" grpId="0"/>
      <p:bldP spid="16" grpId="0"/>
      <p:bldP spid="19" grpId="0"/>
      <p:bldP spid="20" grpId="0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3EF2771-0268-45C2-9147-08942AE70764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00355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ABDB5E-17F3-4521-9BA5-8F54B43E7A1D}"/>
              </a:ext>
            </a:extLst>
          </p:cNvPr>
          <p:cNvCxnSpPr>
            <a:cxnSpLocks/>
          </p:cNvCxnSpPr>
          <p:nvPr/>
        </p:nvCxnSpPr>
        <p:spPr>
          <a:xfrm>
            <a:off x="6172200" y="371475"/>
            <a:ext cx="29718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3AD8C03-466E-47B1-B02C-ABA55214C358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93C1D81-2A24-4C80-8FD0-737223CB3DE2}"/>
              </a:ext>
            </a:extLst>
          </p:cNvPr>
          <p:cNvSpPr/>
          <p:nvPr/>
        </p:nvSpPr>
        <p:spPr>
          <a:xfrm>
            <a:off x="842481" y="863029"/>
            <a:ext cx="7448764" cy="1993188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2652B3-B080-4C5B-A378-BAD88C8355C2}"/>
              </a:ext>
            </a:extLst>
          </p:cNvPr>
          <p:cNvSpPr txBox="1"/>
          <p:nvPr/>
        </p:nvSpPr>
        <p:spPr>
          <a:xfrm>
            <a:off x="1140431" y="697930"/>
            <a:ext cx="883578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E4647D3-98DA-4EAF-AFC7-B9C72181BB7D}"/>
                  </a:ext>
                </a:extLst>
              </p:cNvPr>
              <p:cNvSpPr txBox="1"/>
              <p:nvPr/>
            </p:nvSpPr>
            <p:spPr>
              <a:xfrm>
                <a:off x="1510301" y="1243173"/>
                <a:ext cx="631860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设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是一种向量范数，定义其派生的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矩阵算子范数（或称从属向量范数的矩阵范数）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E4647D3-98DA-4EAF-AFC7-B9C72181B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301" y="1243173"/>
                <a:ext cx="6318607" cy="707886"/>
              </a:xfrm>
              <a:prstGeom prst="rect">
                <a:avLst/>
              </a:prstGeom>
              <a:blipFill>
                <a:blip r:embed="rId2"/>
                <a:stretch>
                  <a:fillRect l="-1062" t="-4310" r="-1062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8017133-D680-460F-962D-79177219E83F}"/>
                  </a:ext>
                </a:extLst>
              </p:cNvPr>
              <p:cNvSpPr txBox="1"/>
              <p:nvPr/>
            </p:nvSpPr>
            <p:spPr>
              <a:xfrm>
                <a:off x="3560870" y="2041540"/>
                <a:ext cx="2392130" cy="579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𝐴𝑥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8017133-D680-460F-962D-79177219E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870" y="2041540"/>
                <a:ext cx="2392130" cy="579326"/>
              </a:xfrm>
              <a:prstGeom prst="rect">
                <a:avLst/>
              </a:prstGeom>
              <a:blipFill>
                <a:blip r:embed="rId3"/>
                <a:stretch>
                  <a:fillRect b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4EC37C5-06A7-4D8A-B00D-AACF15044E1B}"/>
                  </a:ext>
                </a:extLst>
              </p:cNvPr>
              <p:cNvSpPr txBox="1"/>
              <p:nvPr/>
            </p:nvSpPr>
            <p:spPr>
              <a:xfrm>
                <a:off x="945223" y="3040118"/>
                <a:ext cx="6750121" cy="755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可以验证，前述的三种矩阵范数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=1,2,∞,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就是由向量范数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派生出的矩阵算子范数，即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4EC37C5-06A7-4D8A-B00D-AACF15044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23" y="3040118"/>
                <a:ext cx="6750121" cy="755207"/>
              </a:xfrm>
              <a:prstGeom prst="rect">
                <a:avLst/>
              </a:prstGeom>
              <a:blipFill>
                <a:blip r:embed="rId4"/>
                <a:stretch>
                  <a:fillRect l="-903" t="-3226" r="-813" b="-120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752B0E6-03DC-4D5F-B9D4-A692C4122FC9}"/>
                  </a:ext>
                </a:extLst>
              </p:cNvPr>
              <p:cNvSpPr txBox="1"/>
              <p:nvPr/>
            </p:nvSpPr>
            <p:spPr>
              <a:xfrm>
                <a:off x="2383336" y="3900327"/>
                <a:ext cx="4253501" cy="636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𝐴𝑥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=1,2,∞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752B0E6-03DC-4D5F-B9D4-A692C4122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336" y="3900327"/>
                <a:ext cx="4253501" cy="6360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62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5" grpId="0" animBg="1"/>
      <p:bldP spid="7" grpId="0"/>
      <p:bldP spid="8" grpId="0"/>
      <p:bldP spid="1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3EF2771-0268-45C2-9147-08942AE70764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00355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ABDB5E-17F3-4521-9BA5-8F54B43E7A1D}"/>
              </a:ext>
            </a:extLst>
          </p:cNvPr>
          <p:cNvCxnSpPr>
            <a:cxnSpLocks/>
          </p:cNvCxnSpPr>
          <p:nvPr/>
        </p:nvCxnSpPr>
        <p:spPr>
          <a:xfrm>
            <a:off x="6172200" y="371475"/>
            <a:ext cx="29718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3AD8C03-466E-47B1-B02C-ABA55214C358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4DF5DDB-09BC-4DA3-9296-7AE818EB8B50}"/>
              </a:ext>
            </a:extLst>
          </p:cNvPr>
          <p:cNvSpPr/>
          <p:nvPr/>
        </p:nvSpPr>
        <p:spPr>
          <a:xfrm>
            <a:off x="695458" y="668392"/>
            <a:ext cx="7566339" cy="607958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918BD6C-2198-49F1-AA3A-FB4793AD3FA8}"/>
              </a:ext>
            </a:extLst>
          </p:cNvPr>
          <p:cNvSpPr txBox="1"/>
          <p:nvPr/>
        </p:nvSpPr>
        <p:spPr>
          <a:xfrm>
            <a:off x="817810" y="499114"/>
            <a:ext cx="624626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7941DDB-5536-4D5E-8E78-395DB2A1B0C0}"/>
                  </a:ext>
                </a:extLst>
              </p:cNvPr>
              <p:cNvSpPr txBox="1"/>
              <p:nvPr/>
            </p:nvSpPr>
            <p:spPr>
              <a:xfrm>
                <a:off x="1378039" y="774597"/>
                <a:ext cx="63879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按照范数定义，计算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阶单位矩阵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的各种范数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7941DDB-5536-4D5E-8E78-395DB2A1B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039" y="774597"/>
                <a:ext cx="6387921" cy="400110"/>
              </a:xfrm>
              <a:prstGeom prst="rect">
                <a:avLst/>
              </a:prstGeom>
              <a:blipFill>
                <a:blip r:embed="rId2"/>
                <a:stretch>
                  <a:fillRect l="-954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E4B810A-BE50-47A8-90E0-355745F7E33A}"/>
                  </a:ext>
                </a:extLst>
              </p:cNvPr>
              <p:cNvSpPr txBox="1"/>
              <p:nvPr/>
            </p:nvSpPr>
            <p:spPr>
              <a:xfrm>
                <a:off x="742950" y="1511300"/>
                <a:ext cx="3365499" cy="41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解：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1,2,∞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E4B810A-BE50-47A8-90E0-355745F7E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1511300"/>
                <a:ext cx="3365499" cy="413511"/>
              </a:xfrm>
              <a:prstGeom prst="rect">
                <a:avLst/>
              </a:prstGeom>
              <a:blipFill>
                <a:blip r:embed="rId3"/>
                <a:stretch>
                  <a:fillRect l="-1993" t="-588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6B49313-0514-4898-9382-E7EA544DABAA}"/>
                  </a:ext>
                </a:extLst>
              </p:cNvPr>
              <p:cNvSpPr txBox="1"/>
              <p:nvPr/>
            </p:nvSpPr>
            <p:spPr>
              <a:xfrm>
                <a:off x="836949" y="1996412"/>
                <a:ext cx="2914650" cy="40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6B49313-0514-4898-9382-E7EA544DA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49" y="1996412"/>
                <a:ext cx="2914650" cy="403572"/>
              </a:xfrm>
              <a:prstGeom prst="rect">
                <a:avLst/>
              </a:prstGeom>
              <a:blipFill>
                <a:blip r:embed="rId4"/>
                <a:stretch>
                  <a:fillRect t="-5970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8321EEC1-3B6B-46BD-9105-48D0B1F54D7D}"/>
              </a:ext>
            </a:extLst>
          </p:cNvPr>
          <p:cNvSpPr/>
          <p:nvPr/>
        </p:nvSpPr>
        <p:spPr>
          <a:xfrm>
            <a:off x="742951" y="2717146"/>
            <a:ext cx="7518846" cy="133415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9F7EC1-186C-49D5-B7A0-CF43DF57DDEC}"/>
                  </a:ext>
                </a:extLst>
              </p:cNvPr>
              <p:cNvSpPr txBox="1"/>
              <p:nvPr/>
            </p:nvSpPr>
            <p:spPr>
              <a:xfrm>
                <a:off x="1457548" y="2789490"/>
                <a:ext cx="6718300" cy="636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单位矩阵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的算子范数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func>
                          <m:func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𝐼𝑥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=1,2,∞</m:t>
                    </m:r>
                  </m:oMath>
                </a14:m>
                <a:r>
                  <a:rPr lang="en-US" altLang="zh-CN" sz="2000" dirty="0"/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9F7EC1-186C-49D5-B7A0-CF43DF57D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548" y="2789490"/>
                <a:ext cx="6718300" cy="636008"/>
              </a:xfrm>
              <a:prstGeom prst="rect">
                <a:avLst/>
              </a:prstGeom>
              <a:blipFill>
                <a:blip r:embed="rId5"/>
                <a:stretch>
                  <a:fillRect l="-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C1BA1C0-F8E7-42F8-9CEC-0B51B50F8695}"/>
                  </a:ext>
                </a:extLst>
              </p:cNvPr>
              <p:cNvSpPr txBox="1"/>
              <p:nvPr/>
            </p:nvSpPr>
            <p:spPr>
              <a:xfrm>
                <a:off x="1011126" y="3353505"/>
                <a:ext cx="71217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但单位矩阵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𝐼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F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𝐼</m:t>
                            </m:r>
                          </m:e>
                        </m:d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𝐹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，故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F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范数不是算子范数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C1BA1C0-F8E7-42F8-9CEC-0B51B50F8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26" y="3353505"/>
                <a:ext cx="7121747" cy="400110"/>
              </a:xfrm>
              <a:prstGeom prst="rect">
                <a:avLst/>
              </a:prstGeom>
              <a:blipFill>
                <a:blip r:embed="rId6"/>
                <a:stretch>
                  <a:fillRect l="-942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63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 animBg="1"/>
      <p:bldP spid="13" grpId="0" animBg="1"/>
      <p:bldP spid="16" grpId="0"/>
      <p:bldP spid="4" grpId="0"/>
      <p:bldP spid="17" grpId="0"/>
      <p:bldP spid="5" grpId="0" animBg="1"/>
      <p:bldP spid="6" grpId="0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3EF2771-0268-45C2-9147-08942AE70764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00355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ABDB5E-17F3-4521-9BA5-8F54B43E7A1D}"/>
              </a:ext>
            </a:extLst>
          </p:cNvPr>
          <p:cNvCxnSpPr>
            <a:cxnSpLocks/>
          </p:cNvCxnSpPr>
          <p:nvPr/>
        </p:nvCxnSpPr>
        <p:spPr>
          <a:xfrm>
            <a:off x="6172200" y="371475"/>
            <a:ext cx="29718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3AD8C03-466E-47B1-B02C-ABA55214C358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AC0212-8968-41BB-B045-EC99E86412C3}"/>
              </a:ext>
            </a:extLst>
          </p:cNvPr>
          <p:cNvSpPr/>
          <p:nvPr/>
        </p:nvSpPr>
        <p:spPr>
          <a:xfrm>
            <a:off x="815975" y="2571750"/>
            <a:ext cx="7512050" cy="146577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D55CFD-4E16-4E3D-8407-E2C13A64E916}"/>
              </a:ext>
            </a:extLst>
          </p:cNvPr>
          <p:cNvSpPr txBox="1"/>
          <p:nvPr/>
        </p:nvSpPr>
        <p:spPr>
          <a:xfrm>
            <a:off x="1068511" y="2349540"/>
            <a:ext cx="844550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D75CEB8-BD52-4576-81DA-1A0A76645664}"/>
                  </a:ext>
                </a:extLst>
              </p:cNvPr>
              <p:cNvSpPr txBox="1"/>
              <p:nvPr/>
            </p:nvSpPr>
            <p:spPr>
              <a:xfrm>
                <a:off x="815975" y="866472"/>
                <a:ext cx="68920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是一种向量范数，定义其派生的矩阵算子范数为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D75CEB8-BD52-4576-81DA-1A0A76645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75" y="866472"/>
                <a:ext cx="6892031" cy="707886"/>
              </a:xfrm>
              <a:prstGeom prst="rect">
                <a:avLst/>
              </a:prstGeom>
              <a:blipFill>
                <a:blip r:embed="rId2"/>
                <a:stretch>
                  <a:fillRect l="-973" t="-3448" r="-973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12247F5-7A62-46B9-877A-BDCBFD7F3F10}"/>
                  </a:ext>
                </a:extLst>
              </p:cNvPr>
              <p:cNvSpPr/>
              <p:nvPr/>
            </p:nvSpPr>
            <p:spPr>
              <a:xfrm>
                <a:off x="2488038" y="2964457"/>
                <a:ext cx="4846391" cy="43144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116000" tIns="0" bIns="36000" rtlCol="0" anchor="ctr"/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sz="2000" b="1" dirty="0">
                  <a:solidFill>
                    <a:srgbClr val="00A28B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12247F5-7A62-46B9-877A-BDCBFD7F3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38" y="2964457"/>
                <a:ext cx="4846391" cy="431443"/>
              </a:xfrm>
              <a:prstGeom prst="rect">
                <a:avLst/>
              </a:prstGeom>
              <a:blipFill>
                <a:blip r:embed="rId3"/>
                <a:stretch>
                  <a:fillRect t="-12676" b="-11268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E83384A-8971-4006-8AC0-011A38B477A5}"/>
                  </a:ext>
                </a:extLst>
              </p:cNvPr>
              <p:cNvSpPr txBox="1"/>
              <p:nvPr/>
            </p:nvSpPr>
            <p:spPr>
              <a:xfrm>
                <a:off x="1143715" y="3532394"/>
                <a:ext cx="7353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称满足此式的矩阵范数为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与向量范数相容的矩阵范数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E83384A-8971-4006-8AC0-011A38B47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715" y="3532394"/>
                <a:ext cx="7353300" cy="400110"/>
              </a:xfrm>
              <a:prstGeom prst="rect">
                <a:avLst/>
              </a:prstGeom>
              <a:blipFill>
                <a:blip r:embed="rId4"/>
                <a:stretch>
                  <a:fillRect l="-912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40989A-D049-4218-AA1B-C48FF0CB9B9D}"/>
                  </a:ext>
                </a:extLst>
              </p:cNvPr>
              <p:cNvSpPr txBox="1"/>
              <p:nvPr/>
            </p:nvSpPr>
            <p:spPr>
              <a:xfrm>
                <a:off x="1686796" y="1628928"/>
                <a:ext cx="5543550" cy="579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ea typeface="Cambria Math" panose="02040503050406030204" pitchFamily="18" charset="0"/>
                  </a:rPr>
                  <a:t>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𝐴𝑥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740989A-D049-4218-AA1B-C48FF0CB9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796" y="1628928"/>
                <a:ext cx="5543550" cy="579326"/>
              </a:xfrm>
              <a:prstGeom prst="rect">
                <a:avLst/>
              </a:prstGeom>
              <a:blipFill>
                <a:blip r:embed="rId5"/>
                <a:stretch>
                  <a:fillRect b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71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5" grpId="0" animBg="1"/>
      <p:bldP spid="7" grpId="0"/>
      <p:bldP spid="15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3EF2771-0268-45C2-9147-08942AE70764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00355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ABDB5E-17F3-4521-9BA5-8F54B43E7A1D}"/>
              </a:ext>
            </a:extLst>
          </p:cNvPr>
          <p:cNvCxnSpPr>
            <a:cxnSpLocks/>
          </p:cNvCxnSpPr>
          <p:nvPr/>
        </p:nvCxnSpPr>
        <p:spPr>
          <a:xfrm>
            <a:off x="6172200" y="371475"/>
            <a:ext cx="29718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3AD8C03-466E-47B1-B02C-ABA55214C358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4AA820D-C46C-42F1-B764-2F14504677ED}"/>
              </a:ext>
            </a:extLst>
          </p:cNvPr>
          <p:cNvSpPr/>
          <p:nvPr/>
        </p:nvSpPr>
        <p:spPr>
          <a:xfrm>
            <a:off x="838515" y="1696299"/>
            <a:ext cx="7326691" cy="612828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4744B20-5EA3-4155-B41B-D03CCCC7A0A5}"/>
                  </a:ext>
                </a:extLst>
              </p:cNvPr>
              <p:cNvSpPr txBox="1"/>
              <p:nvPr/>
            </p:nvSpPr>
            <p:spPr>
              <a:xfrm>
                <a:off x="838514" y="775993"/>
                <a:ext cx="6914567" cy="755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显然，对于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=1,2,∞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矩阵范数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是与向量范数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相容的矩阵范数，即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4744B20-5EA3-4155-B41B-D03CCCC7A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14" y="775993"/>
                <a:ext cx="6914567" cy="755207"/>
              </a:xfrm>
              <a:prstGeom prst="rect">
                <a:avLst/>
              </a:prstGeom>
              <a:blipFill>
                <a:blip r:embed="rId2"/>
                <a:stretch>
                  <a:fillRect l="-970" t="-2419" r="-882" b="-10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62D9975-E584-4FCD-A73B-0E1926159B0B}"/>
                  </a:ext>
                </a:extLst>
              </p:cNvPr>
              <p:cNvSpPr txBox="1"/>
              <p:nvPr/>
            </p:nvSpPr>
            <p:spPr>
              <a:xfrm>
                <a:off x="2846232" y="1822788"/>
                <a:ext cx="4365938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𝐴𝑥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62D9975-E584-4FCD-A73B-0E1926159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232" y="1822788"/>
                <a:ext cx="4365938" cy="423770"/>
              </a:xfrm>
              <a:prstGeom prst="rect">
                <a:avLst/>
              </a:prstGeom>
              <a:blipFill>
                <a:blip r:embed="rId3"/>
                <a:stretch>
                  <a:fillRect t="-4286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3D07CCDB-6D4A-498E-88E7-0901270B5460}"/>
              </a:ext>
            </a:extLst>
          </p:cNvPr>
          <p:cNvSpPr/>
          <p:nvPr/>
        </p:nvSpPr>
        <p:spPr>
          <a:xfrm>
            <a:off x="838515" y="3018486"/>
            <a:ext cx="7326691" cy="65038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EB0CC76-C170-4BB9-9465-E30425E3879A}"/>
                  </a:ext>
                </a:extLst>
              </p:cNvPr>
              <p:cNvSpPr txBox="1"/>
              <p:nvPr/>
            </p:nvSpPr>
            <p:spPr>
              <a:xfrm>
                <a:off x="838515" y="2434263"/>
                <a:ext cx="58727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对于矩阵</a:t>
                </a:r>
                <a14:m>
                  <m:oMath xmlns:m="http://schemas.openxmlformats.org/officeDocument/2006/math">
                    <m:r>
                      <a:rPr lang="zh-CN" altLang="en-US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的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F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范数与向量范数的相容性，我们还有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EB0CC76-C170-4BB9-9465-E30425E38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15" y="2434263"/>
                <a:ext cx="5872766" cy="400110"/>
              </a:xfrm>
              <a:prstGeom prst="rect">
                <a:avLst/>
              </a:prstGeom>
              <a:blipFill>
                <a:blip r:embed="rId4"/>
                <a:stretch>
                  <a:fillRect l="-1142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4B1D065-84B6-4165-BD6B-DD2072023E88}"/>
                  </a:ext>
                </a:extLst>
              </p:cNvPr>
              <p:cNvSpPr txBox="1"/>
              <p:nvPr/>
            </p:nvSpPr>
            <p:spPr>
              <a:xfrm>
                <a:off x="2897745" y="3143622"/>
                <a:ext cx="26466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𝐴𝑥</m:t>
                            </m:r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4B1D065-84B6-4165-BD6B-DD2072023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745" y="3143622"/>
                <a:ext cx="2646609" cy="400110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86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 animBg="1"/>
      <p:bldP spid="12" grpId="0"/>
      <p:bldP spid="5" grpId="0"/>
      <p:bldP spid="6" grpId="0" animBg="1"/>
      <p:bldP spid="7" grpId="0"/>
      <p:bldP spid="1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A2CCD77-5C5A-4CED-A07A-FEBEA321B3C5}"/>
              </a:ext>
            </a:extLst>
          </p:cNvPr>
          <p:cNvCxnSpPr/>
          <p:nvPr/>
        </p:nvCxnSpPr>
        <p:spPr>
          <a:xfrm>
            <a:off x="0" y="371475"/>
            <a:ext cx="2009775" cy="1905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CE137A5-F5FE-4172-9E4A-5056533B9D82}"/>
              </a:ext>
            </a:extLst>
          </p:cNvPr>
          <p:cNvCxnSpPr/>
          <p:nvPr/>
        </p:nvCxnSpPr>
        <p:spPr>
          <a:xfrm>
            <a:off x="6972300" y="371475"/>
            <a:ext cx="21717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1BC216C9-E526-4723-A882-F67283F0B575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3D2423-F0F0-41C4-8E6E-842B2F19CDA2}"/>
              </a:ext>
            </a:extLst>
          </p:cNvPr>
          <p:cNvSpPr/>
          <p:nvPr/>
        </p:nvSpPr>
        <p:spPr>
          <a:xfrm>
            <a:off x="785190" y="1114425"/>
            <a:ext cx="7070921" cy="231714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66FDC1B-73E6-47CB-B181-BC08E3F85EEF}"/>
                  </a:ext>
                </a:extLst>
              </p:cNvPr>
              <p:cNvSpPr/>
              <p:nvPr/>
            </p:nvSpPr>
            <p:spPr>
              <a:xfrm>
                <a:off x="-299347" y="3607533"/>
                <a:ext cx="6276561" cy="605307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116000" tIns="0" bIns="36000" rtlCol="0" anchor="ctr"/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+mj-cs"/>
                  </a:rPr>
                  <a:t>并称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上的</m:t>
                    </m:r>
                    <m:r>
                      <a:rPr lang="zh-CN" alt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等价范数</m:t>
                    </m:r>
                    <m:r>
                      <a:rPr lang="en-US" altLang="zh-CN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j-cs"/>
                      </a:rPr>
                      <m:t>.</m:t>
                    </m:r>
                  </m:oMath>
                </a14:m>
                <a:endParaRPr lang="zh-CN" altLang="en-US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66FDC1B-73E6-47CB-B181-BC08E3F85E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9347" y="3607533"/>
                <a:ext cx="6276561" cy="6053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CEDDF67-CEA6-4360-B582-E74008E667B2}"/>
                  </a:ext>
                </a:extLst>
              </p:cNvPr>
              <p:cNvSpPr txBox="1"/>
              <p:nvPr/>
            </p:nvSpPr>
            <p:spPr>
              <a:xfrm>
                <a:off x="785191" y="1421296"/>
                <a:ext cx="6867939" cy="124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上的任意两种矩阵范数，则存在</m:t>
                    </m:r>
                  </m:oMath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两个与矩阵无关的正常数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𝑚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𝑀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使得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CEDDF67-CEA6-4360-B582-E74008E66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91" y="1421296"/>
                <a:ext cx="6867939" cy="1243033"/>
              </a:xfrm>
              <a:prstGeom prst="rect">
                <a:avLst/>
              </a:prstGeom>
              <a:blipFill>
                <a:blip r:embed="rId3"/>
                <a:stretch>
                  <a:fillRect l="-977" t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0BF10D2-503D-4CD7-9003-D9E5CFB14EA8}"/>
                  </a:ext>
                </a:extLst>
              </p:cNvPr>
              <p:cNvSpPr txBox="1"/>
              <p:nvPr/>
            </p:nvSpPr>
            <p:spPr>
              <a:xfrm>
                <a:off x="2365759" y="2702903"/>
                <a:ext cx="3611455" cy="427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𝑚</m:t>
                    </m:r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𝛼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en-US" altLang="zh-CN" sz="2000" dirty="0">
                        <a:ea typeface="华文楷体" panose="02010600040101010101" pitchFamily="2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0BF10D2-503D-4CD7-9003-D9E5CFB14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59" y="2702903"/>
                <a:ext cx="3611455" cy="427425"/>
              </a:xfrm>
              <a:prstGeom prst="rect">
                <a:avLst/>
              </a:prstGeom>
              <a:blipFill>
                <a:blip r:embed="rId4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DFB5B8AE-8223-4ADC-BC26-C4A2A973E38C}"/>
              </a:ext>
            </a:extLst>
          </p:cNvPr>
          <p:cNvSpPr txBox="1"/>
          <p:nvPr/>
        </p:nvSpPr>
        <p:spPr>
          <a:xfrm>
            <a:off x="1169382" y="879414"/>
            <a:ext cx="3339101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定理（矩阵范数的等价性）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083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 animBg="1"/>
      <p:bldP spid="8" grpId="0" animBg="1"/>
      <p:bldP spid="4" grpId="0"/>
      <p:bldP spid="7" grpId="0"/>
      <p:bldP spid="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93C17F2-39D4-4847-99B4-0C0A4BA80D0F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34D8978-146A-48B6-949D-16D9456BA2B0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CF67852-3D76-4AF1-A2FF-90652B05B8D6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graphicFrame>
        <p:nvGraphicFramePr>
          <p:cNvPr id="59394" name="Object 8">
            <a:extLst>
              <a:ext uri="{FF2B5EF4-FFF2-40B4-BE49-F238E27FC236}">
                <a16:creationId xmlns:a16="http://schemas.microsoft.com/office/drawing/2014/main" id="{DCF862C7-8FD7-409B-A64F-41EA8AF2A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4225" y="227330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63" name="Equation" r:id="rId3" imgW="452253" imgH="678380" progId="Equation.DSMT4">
                  <p:embed/>
                </p:oleObj>
              </mc:Choice>
              <mc:Fallback>
                <p:oleObj name="Equation" r:id="rId3" imgW="452253" imgH="678380" progId="Equation.DSMT4">
                  <p:embed/>
                  <p:pic>
                    <p:nvPicPr>
                      <p:cNvPr id="59394" name="Object 8">
                        <a:extLst>
                          <a:ext uri="{FF2B5EF4-FFF2-40B4-BE49-F238E27FC236}">
                            <a16:creationId xmlns:a16="http://schemas.microsoft.com/office/drawing/2014/main" id="{DCF862C7-8FD7-409B-A64F-41EA8AF2A4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227330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: 圆角 3">
            <a:extLst>
              <a:ext uri="{FF2B5EF4-FFF2-40B4-BE49-F238E27FC236}">
                <a16:creationId xmlns:a16="http://schemas.microsoft.com/office/drawing/2014/main" id="{9C219948-04DE-44E1-8629-FB70203E0423}"/>
              </a:ext>
            </a:extLst>
          </p:cNvPr>
          <p:cNvSpPr/>
          <p:nvPr/>
        </p:nvSpPr>
        <p:spPr>
          <a:xfrm>
            <a:off x="902361" y="1150467"/>
            <a:ext cx="6562752" cy="2195431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16C0863-5843-41A1-A5EC-C8FA17E0E617}"/>
                  </a:ext>
                </a:extLst>
              </p:cNvPr>
              <p:cNvSpPr txBox="1"/>
              <p:nvPr/>
            </p:nvSpPr>
            <p:spPr>
              <a:xfrm>
                <a:off x="1626065" y="1296927"/>
                <a:ext cx="5351389" cy="869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设矩阵序列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𝑖𝑗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𝑘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e>
                      <m:sup/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=0,1,⋯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称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{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}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收敛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，如果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16C0863-5843-41A1-A5EC-C8FA17E0E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065" y="1296927"/>
                <a:ext cx="5351389" cy="869469"/>
              </a:xfrm>
              <a:prstGeom prst="rect">
                <a:avLst/>
              </a:prstGeom>
              <a:blipFill>
                <a:blip r:embed="rId5"/>
                <a:stretch>
                  <a:fillRect b="-10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32FDA5F-B9F8-40EA-A9B0-8D4D455BC003}"/>
                  </a:ext>
                </a:extLst>
              </p:cNvPr>
              <p:cNvSpPr txBox="1"/>
              <p:nvPr/>
            </p:nvSpPr>
            <p:spPr>
              <a:xfrm>
                <a:off x="1443037" y="2227757"/>
                <a:ext cx="4971246" cy="515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=0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32FDA5F-B9F8-40EA-A9B0-8D4D455BC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037" y="2227757"/>
                <a:ext cx="4971246" cy="515077"/>
              </a:xfrm>
              <a:prstGeom prst="rect">
                <a:avLst/>
              </a:prstGeom>
              <a:blipFill>
                <a:blip r:embed="rId6"/>
                <a:stretch>
                  <a:fillRect b="-2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DEC6E74-CC66-4DF4-9ABF-58853C8CAD1B}"/>
                  </a:ext>
                </a:extLst>
              </p:cNvPr>
              <p:cNvSpPr txBox="1"/>
              <p:nvPr/>
            </p:nvSpPr>
            <p:spPr>
              <a:xfrm>
                <a:off x="1947191" y="2788377"/>
                <a:ext cx="5125792" cy="512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记作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𝑘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DEC6E74-CC66-4DF4-9ABF-58853C8CA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191" y="2788377"/>
                <a:ext cx="5125792" cy="512897"/>
              </a:xfrm>
              <a:prstGeom prst="rect">
                <a:avLst/>
              </a:prstGeom>
              <a:blipFill>
                <a:blip r:embed="rId7"/>
                <a:stretch>
                  <a:fillRect l="-1189" b="-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FDBC655-99EC-4A96-8195-45DB78DE8FB7}"/>
              </a:ext>
            </a:extLst>
          </p:cNvPr>
          <p:cNvSpPr/>
          <p:nvPr/>
        </p:nvSpPr>
        <p:spPr>
          <a:xfrm>
            <a:off x="902361" y="3544800"/>
            <a:ext cx="6615574" cy="111402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3B3CA38-FC1B-4DC6-81D1-0FDE7472DCBB}"/>
                  </a:ext>
                </a:extLst>
              </p:cNvPr>
              <p:cNvSpPr txBox="1"/>
              <p:nvPr/>
            </p:nvSpPr>
            <p:spPr>
              <a:xfrm>
                <a:off x="810243" y="3623452"/>
                <a:ext cx="5511922" cy="787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18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注：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(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𝑘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𝐹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type m:val="lin"/>
                              <m:ctrlPr>
                                <a:rPr lang="en-US" altLang="zh-CN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3B3CA38-FC1B-4DC6-81D1-0FDE7472D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43" y="3623452"/>
                <a:ext cx="5511922" cy="787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5F59593-1D8C-4EFA-A96A-C0357F1706B7}"/>
                  </a:ext>
                </a:extLst>
              </p:cNvPr>
              <p:cNvSpPr txBox="1"/>
              <p:nvPr/>
            </p:nvSpPr>
            <p:spPr>
              <a:xfrm>
                <a:off x="6230046" y="3779008"/>
                <a:ext cx="1175522" cy="47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5F59593-1D8C-4EFA-A96A-C0357F170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046" y="3779008"/>
                <a:ext cx="1175522" cy="476221"/>
              </a:xfrm>
              <a:prstGeom prst="rect">
                <a:avLst/>
              </a:prstGeom>
              <a:blipFill>
                <a:blip r:embed="rId9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CF893CF-8041-4E04-A5AB-9F1A02DE8531}"/>
                  </a:ext>
                </a:extLst>
              </p:cNvPr>
              <p:cNvSpPr/>
              <p:nvPr/>
            </p:nvSpPr>
            <p:spPr>
              <a:xfrm>
                <a:off x="5921361" y="3884025"/>
                <a:ext cx="407913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CF893CF-8041-4E04-A5AB-9F1A02DE8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361" y="3884025"/>
                <a:ext cx="407913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5490B3AE-AD1F-490E-B92F-D5270BC1EF65}"/>
              </a:ext>
            </a:extLst>
          </p:cNvPr>
          <p:cNvSpPr txBox="1"/>
          <p:nvPr/>
        </p:nvSpPr>
        <p:spPr>
          <a:xfrm>
            <a:off x="1181851" y="915457"/>
            <a:ext cx="2758611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定义（矩阵序列收敛）</a:t>
            </a:r>
          </a:p>
        </p:txBody>
      </p:sp>
    </p:spTree>
    <p:extLst>
      <p:ext uri="{BB962C8B-B14F-4D97-AF65-F5344CB8AC3E}">
        <p14:creationId xmlns:p14="http://schemas.microsoft.com/office/powerpoint/2010/main" val="338575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9" grpId="0"/>
      <p:bldP spid="16" grpId="0"/>
      <p:bldP spid="18" grpId="0"/>
      <p:bldP spid="19" grpId="0" animBg="1"/>
      <p:bldP spid="22" grpId="0"/>
      <p:bldP spid="25" grpId="0"/>
      <p:bldP spid="5" grpId="0"/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5FAA049-63F9-4B5E-BF32-186A602703A1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303431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B6AB270-5A96-4F5D-9021-36E8E4CB1C05}"/>
              </a:ext>
            </a:extLst>
          </p:cNvPr>
          <p:cNvCxnSpPr>
            <a:cxnSpLocks/>
          </p:cNvCxnSpPr>
          <p:nvPr/>
        </p:nvCxnSpPr>
        <p:spPr>
          <a:xfrm>
            <a:off x="5486400" y="371475"/>
            <a:ext cx="3657600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EC7CB1AB-4FBA-4D45-88E8-18554443AB9C}"/>
              </a:ext>
            </a:extLst>
          </p:cNvPr>
          <p:cNvSpPr txBox="1"/>
          <p:nvPr/>
        </p:nvSpPr>
        <p:spPr>
          <a:xfrm>
            <a:off x="1741465" y="149559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矩阵的范数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46166CF-89B3-4F03-92D7-E527A22D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56" y="745036"/>
            <a:ext cx="14395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小结：</a:t>
            </a:r>
            <a:endParaRPr lang="en-US" altLang="zh-CN" sz="2400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D9A9422-5067-451E-82E8-3A97BC8B3022}"/>
              </a:ext>
            </a:extLst>
          </p:cNvPr>
          <p:cNvSpPr/>
          <p:nvPr/>
        </p:nvSpPr>
        <p:spPr>
          <a:xfrm>
            <a:off x="1421297" y="1239257"/>
            <a:ext cx="6967330" cy="99399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F8E2CE-C607-41A5-84A7-EFBB951D17DF}"/>
              </a:ext>
            </a:extLst>
          </p:cNvPr>
          <p:cNvSpPr txBox="1"/>
          <p:nvPr/>
        </p:nvSpPr>
        <p:spPr>
          <a:xfrm>
            <a:off x="1928191" y="1402265"/>
            <a:ext cx="6192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矩阵范数的定义（非负性，齐次性，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三角不等式，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相容性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EFA1C30-2EEB-4CD3-9FD5-9A8EBAF03AB1}"/>
              </a:ext>
            </a:extLst>
          </p:cNvPr>
          <p:cNvSpPr/>
          <p:nvPr/>
        </p:nvSpPr>
        <p:spPr>
          <a:xfrm>
            <a:off x="1421297" y="2350375"/>
            <a:ext cx="6967330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6B8793-13AA-45C7-9395-BE668FF08621}"/>
                  </a:ext>
                </a:extLst>
              </p:cNvPr>
              <p:cNvSpPr txBox="1"/>
              <p:nvPr/>
            </p:nvSpPr>
            <p:spPr>
              <a:xfrm>
                <a:off x="1928190" y="2461233"/>
                <a:ext cx="61125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2.</a:t>
                </a:r>
                <a:r>
                  <a:rPr lang="zh-CN" altLang="en-US" sz="24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矩阵的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范数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=1,2,∞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zh-CN" altLang="en-US" sz="2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6B8793-13AA-45C7-9395-BE668FF08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190" y="2461233"/>
                <a:ext cx="6112566" cy="461665"/>
              </a:xfrm>
              <a:prstGeom prst="rect">
                <a:avLst/>
              </a:prstGeom>
              <a:blipFill>
                <a:blip r:embed="rId2"/>
                <a:stretch>
                  <a:fillRect l="-1496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ABDD6C6-D4B5-47F8-8417-312DEB4559A1}"/>
              </a:ext>
            </a:extLst>
          </p:cNvPr>
          <p:cNvSpPr/>
          <p:nvPr/>
        </p:nvSpPr>
        <p:spPr>
          <a:xfrm>
            <a:off x="1421296" y="3162658"/>
            <a:ext cx="6967330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920F6A4-7D00-4B58-BB9A-B87A33DA8AEA}"/>
              </a:ext>
            </a:extLst>
          </p:cNvPr>
          <p:cNvSpPr/>
          <p:nvPr/>
        </p:nvSpPr>
        <p:spPr>
          <a:xfrm>
            <a:off x="1421296" y="3964107"/>
            <a:ext cx="6967329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6511D89-1482-4FBC-8705-48B971A3CF62}"/>
              </a:ext>
            </a:extLst>
          </p:cNvPr>
          <p:cNvSpPr txBox="1"/>
          <p:nvPr/>
        </p:nvSpPr>
        <p:spPr>
          <a:xfrm>
            <a:off x="1928190" y="3267571"/>
            <a:ext cx="619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矩阵的算子范数及其与向量范数的相容性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969627-C46B-4185-9336-D07D9CAE2034}"/>
              </a:ext>
            </a:extLst>
          </p:cNvPr>
          <p:cNvSpPr txBox="1"/>
          <p:nvPr/>
        </p:nvSpPr>
        <p:spPr>
          <a:xfrm>
            <a:off x="1928190" y="4098408"/>
            <a:ext cx="5645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矩阵范数的等价性以及矩阵序列收敛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96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4" grpId="0" animBg="1"/>
      <p:bldP spid="7" grpId="0"/>
      <p:bldP spid="13" grpId="0" animBg="1"/>
      <p:bldP spid="10" grpId="0"/>
      <p:bldP spid="16" grpId="0" animBg="1"/>
      <p:bldP spid="17" grpId="0" animBg="1"/>
      <p:bldP spid="19" grpId="0"/>
      <p:bldP spid="2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2.11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相容矩阵范数与谱半径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CAAC48F-03A4-4933-9EAC-267BAAEB3401}"/>
              </a:ext>
            </a:extLst>
          </p:cNvPr>
          <p:cNvSpPr/>
          <p:nvPr/>
        </p:nvSpPr>
        <p:spPr>
          <a:xfrm>
            <a:off x="675861" y="1330597"/>
            <a:ext cx="7516443" cy="2526271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66FE0E-5ABA-42D7-ADCB-C88146AF4041}"/>
              </a:ext>
            </a:extLst>
          </p:cNvPr>
          <p:cNvSpPr txBox="1"/>
          <p:nvPr/>
        </p:nvSpPr>
        <p:spPr>
          <a:xfrm>
            <a:off x="1102049" y="1130542"/>
            <a:ext cx="841051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7EDCC6-133A-4B8D-8AB3-B6A93C31E143}"/>
                  </a:ext>
                </a:extLst>
              </p:cNvPr>
              <p:cNvSpPr txBox="1"/>
              <p:nvPr/>
            </p:nvSpPr>
            <p:spPr>
              <a:xfrm>
                <a:off x="1610139" y="1663171"/>
                <a:ext cx="56274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阶矩阵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个特征值为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, 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则称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7EDCC6-133A-4B8D-8AB3-B6A93C31E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139" y="1663171"/>
                <a:ext cx="5627412" cy="400110"/>
              </a:xfrm>
              <a:prstGeom prst="rect">
                <a:avLst/>
              </a:prstGeom>
              <a:blipFill>
                <a:blip r:embed="rId2"/>
                <a:stretch>
                  <a:fillRect l="-1083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A4FE3F5-9922-4E98-A033-5591BF943F91}"/>
                  </a:ext>
                </a:extLst>
              </p:cNvPr>
              <p:cNvSpPr txBox="1"/>
              <p:nvPr/>
            </p:nvSpPr>
            <p:spPr>
              <a:xfrm>
                <a:off x="2254940" y="2380296"/>
                <a:ext cx="3559451" cy="495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A4FE3F5-9922-4E98-A033-5591BF943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940" y="2380296"/>
                <a:ext cx="3559451" cy="495007"/>
              </a:xfrm>
              <a:prstGeom prst="rect">
                <a:avLst/>
              </a:prstGeom>
              <a:blipFill>
                <a:blip r:embed="rId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6730084-8023-4D79-ADCF-55E668CC7E96}"/>
                  </a:ext>
                </a:extLst>
              </p:cNvPr>
              <p:cNvSpPr txBox="1"/>
              <p:nvPr/>
            </p:nvSpPr>
            <p:spPr>
              <a:xfrm>
                <a:off x="1623866" y="3166030"/>
                <a:ext cx="48215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为矩阵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谱半径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6730084-8023-4D79-ADCF-55E668CC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866" y="3166030"/>
                <a:ext cx="4821598" cy="400110"/>
              </a:xfrm>
              <a:prstGeom prst="rect">
                <a:avLst/>
              </a:prstGeom>
              <a:blipFill>
                <a:blip r:embed="rId4"/>
                <a:stretch>
                  <a:fillRect l="-1264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 animBg="1"/>
      <p:bldP spid="8" grpId="0" animBg="1"/>
      <p:bldP spid="9" grpId="0"/>
      <p:bldP spid="10" grpId="0"/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E7F064F-8544-4E76-8BE6-D4D3ABC8F908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5CEFB25-3703-4C02-9EC2-99523841BF1B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DBAA461A-721D-4411-8E0C-37C00FB41582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相容矩阵范数与谱半径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8">
                <a:extLst>
                  <a:ext uri="{FF2B5EF4-FFF2-40B4-BE49-F238E27FC236}">
                    <a16:creationId xmlns:a16="http://schemas.microsoft.com/office/drawing/2014/main" id="{B0E21510-DE08-4F5A-BAA5-27E130454F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6598" y="2524330"/>
                <a:ext cx="6886978" cy="462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证  设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𝜆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𝜌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，则存在向量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≠0,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满足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A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r>
                  <a:rPr lang="zh-CN" altLang="en-US" sz="2000" b="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从而</a:t>
                </a:r>
                <a:endParaRPr lang="en-US" altLang="zh-CN" sz="2000" b="0" dirty="0">
                  <a:latin typeface="华文楷体" panose="02010600040101010101" pitchFamily="2" charset="-122"/>
                  <a:ea typeface="华文楷体" panose="02010600040101010101" pitchFamily="2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5" name="Text Box 8">
                <a:extLst>
                  <a:ext uri="{FF2B5EF4-FFF2-40B4-BE49-F238E27FC236}">
                    <a16:creationId xmlns:a16="http://schemas.microsoft.com/office/drawing/2014/main" id="{B0E21510-DE08-4F5A-BAA5-27E130454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6598" y="2524330"/>
                <a:ext cx="6886978" cy="462178"/>
              </a:xfrm>
              <a:prstGeom prst="rect">
                <a:avLst/>
              </a:prstGeom>
              <a:blipFill>
                <a:blip r:embed="rId2"/>
                <a:stretch>
                  <a:fillRect l="-973" b="-236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D70C45A3-A8AB-470B-B9CD-81601C1FBB75}"/>
              </a:ext>
            </a:extLst>
          </p:cNvPr>
          <p:cNvSpPr/>
          <p:nvPr/>
        </p:nvSpPr>
        <p:spPr>
          <a:xfrm>
            <a:off x="873449" y="4037527"/>
            <a:ext cx="6860314" cy="47651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8">
                <a:extLst>
                  <a:ext uri="{FF2B5EF4-FFF2-40B4-BE49-F238E27FC236}">
                    <a16:creationId xmlns:a16="http://schemas.microsoft.com/office/drawing/2014/main" id="{7F40826A-A599-4823-8F8F-CB3611653B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8511" y="3102742"/>
                <a:ext cx="6886978" cy="4609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 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𝜆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zh-CN" altLang="en-US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𝜆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𝐴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</m:d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𝑥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</a:t>
                </a:r>
                <a:endParaRPr lang="en-US" altLang="zh-CN" sz="2000" b="0" dirty="0">
                  <a:latin typeface="华文楷体" panose="02010600040101010101" pitchFamily="2" charset="-122"/>
                  <a:ea typeface="华文楷体" panose="02010600040101010101" pitchFamily="2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2" name="Text Box 8">
                <a:extLst>
                  <a:ext uri="{FF2B5EF4-FFF2-40B4-BE49-F238E27FC236}">
                    <a16:creationId xmlns:a16="http://schemas.microsoft.com/office/drawing/2014/main" id="{7F40826A-A599-4823-8F8F-CB3611653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8511" y="3102742"/>
                <a:ext cx="6886978" cy="460960"/>
              </a:xfrm>
              <a:prstGeom prst="rect">
                <a:avLst/>
              </a:prstGeom>
              <a:blipFill>
                <a:blip r:embed="rId3"/>
                <a:stretch>
                  <a:fillRect b="-236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8">
                <a:extLst>
                  <a:ext uri="{FF2B5EF4-FFF2-40B4-BE49-F238E27FC236}">
                    <a16:creationId xmlns:a16="http://schemas.microsoft.com/office/drawing/2014/main" id="{1AD9FDDE-0824-4883-B8D4-A647A60A0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7809" y="3646182"/>
                <a:ext cx="6886978" cy="462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dirty="0" smtClean="0">
                        <a:latin typeface="华文楷体" panose="02010600040101010101" pitchFamily="2" charset="-122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因此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，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          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𝜌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𝐴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𝜆</m:t>
                        </m:r>
                      </m:e>
                    </m:d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≤</m:t>
                    </m:r>
                  </m:oMath>
                </a14:m>
                <a:r>
                  <a:rPr lang="zh-CN" altLang="en-US" sz="20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𝐴</m:t>
                        </m:r>
                      </m:e>
                    </m:d>
                  </m:oMath>
                </a14:m>
                <a:endParaRPr lang="en-US" altLang="zh-CN" sz="2000" b="0" dirty="0">
                  <a:latin typeface="华文楷体" panose="02010600040101010101" pitchFamily="2" charset="-122"/>
                  <a:ea typeface="华文楷体" panose="02010600040101010101" pitchFamily="2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9" name="Text Box 8">
                <a:extLst>
                  <a:ext uri="{FF2B5EF4-FFF2-40B4-BE49-F238E27FC236}">
                    <a16:creationId xmlns:a16="http://schemas.microsoft.com/office/drawing/2014/main" id="{1AD9FDDE-0824-4883-B8D4-A647A60A0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7809" y="3646182"/>
                <a:ext cx="6886978" cy="462178"/>
              </a:xfrm>
              <a:prstGeom prst="rect">
                <a:avLst/>
              </a:prstGeom>
              <a:blipFill>
                <a:blip r:embed="rId4"/>
                <a:stretch>
                  <a:fillRect l="-354" b="-92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D7B36F7-5F31-4E8B-8370-6EEF9BD10B4E}"/>
              </a:ext>
            </a:extLst>
          </p:cNvPr>
          <p:cNvSpPr/>
          <p:nvPr/>
        </p:nvSpPr>
        <p:spPr>
          <a:xfrm>
            <a:off x="683514" y="684743"/>
            <a:ext cx="6860314" cy="179073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FF72400-34A4-4918-B3E1-C46F53E36A4A}"/>
                  </a:ext>
                </a:extLst>
              </p:cNvPr>
              <p:cNvSpPr txBox="1"/>
              <p:nvPr/>
            </p:nvSpPr>
            <p:spPr>
              <a:xfrm>
                <a:off x="1081086" y="978104"/>
                <a:ext cx="62035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设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‖∙‖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空间的任一相容矩阵范数，则对任意的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𝑛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阶方阵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，均有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FF72400-34A4-4918-B3E1-C46F53E36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86" y="978104"/>
                <a:ext cx="6203526" cy="707886"/>
              </a:xfrm>
              <a:prstGeom prst="rect">
                <a:avLst/>
              </a:prstGeom>
              <a:blipFill>
                <a:blip r:embed="rId5"/>
                <a:stretch>
                  <a:fillRect l="-982" t="-3419" b="-14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25B7AB5E-B878-4A83-B60F-72295CB1560A}"/>
              </a:ext>
            </a:extLst>
          </p:cNvPr>
          <p:cNvSpPr txBox="1"/>
          <p:nvPr/>
        </p:nvSpPr>
        <p:spPr>
          <a:xfrm>
            <a:off x="1066598" y="493154"/>
            <a:ext cx="1077132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性质</a:t>
            </a:r>
            <a:r>
              <a:rPr lang="en-US" altLang="zh-CN" sz="20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67DEA4-9AA8-4825-92DC-59FD99F3933A}"/>
              </a:ext>
            </a:extLst>
          </p:cNvPr>
          <p:cNvSpPr txBox="1"/>
          <p:nvPr/>
        </p:nvSpPr>
        <p:spPr>
          <a:xfrm>
            <a:off x="3125519" y="1814131"/>
            <a:ext cx="197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𝜌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(𝐴)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≤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‖𝐴‖</a:t>
            </a:r>
            <a:endParaRPr lang="en-US" altLang="zh-CN" sz="2000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341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2" grpId="0"/>
      <p:bldP spid="19" grpId="0"/>
      <p:bldP spid="20" grpId="0" animBg="1"/>
      <p:bldP spid="21" grpId="0"/>
      <p:bldP spid="4" grpId="0" animBg="1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93C17F2-39D4-4847-99B4-0C0A4BA80D0F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34D8978-146A-48B6-949D-16D9456BA2B0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CF67852-3D76-4AF1-A2FF-90652B05B8D6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相容矩阵范数与谱半径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graphicFrame>
        <p:nvGraphicFramePr>
          <p:cNvPr id="59394" name="Object 8">
            <a:extLst>
              <a:ext uri="{FF2B5EF4-FFF2-40B4-BE49-F238E27FC236}">
                <a16:creationId xmlns:a16="http://schemas.microsoft.com/office/drawing/2014/main" id="{DCF862C7-8FD7-409B-A64F-41EA8AF2A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4225" y="227330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87" name="Equation" r:id="rId3" imgW="452253" imgH="678380" progId="Equation.DSMT4">
                  <p:embed/>
                </p:oleObj>
              </mc:Choice>
              <mc:Fallback>
                <p:oleObj name="Equation" r:id="rId3" imgW="452253" imgH="678380" progId="Equation.DSMT4">
                  <p:embed/>
                  <p:pic>
                    <p:nvPicPr>
                      <p:cNvPr id="59394" name="Object 8">
                        <a:extLst>
                          <a:ext uri="{FF2B5EF4-FFF2-40B4-BE49-F238E27FC236}">
                            <a16:creationId xmlns:a16="http://schemas.microsoft.com/office/drawing/2014/main" id="{DCF862C7-8FD7-409B-A64F-41EA8AF2A4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227330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>
            <a:extLst>
              <a:ext uri="{FF2B5EF4-FFF2-40B4-BE49-F238E27FC236}">
                <a16:creationId xmlns:a16="http://schemas.microsoft.com/office/drawing/2014/main" id="{D33D5E65-16CB-4CAC-9058-A291F1298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929" y="1041333"/>
            <a:ext cx="6443662" cy="463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关于矩阵范数与谱半径之间的关系，我们再给出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361E02-A9C5-408D-AFA3-47DAB557CFE4}"/>
              </a:ext>
            </a:extLst>
          </p:cNvPr>
          <p:cNvSpPr/>
          <p:nvPr/>
        </p:nvSpPr>
        <p:spPr>
          <a:xfrm>
            <a:off x="1266824" y="2489200"/>
            <a:ext cx="6486525" cy="6114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039E9C7-4EC6-4184-B7CD-EFA6E853A84B}"/>
              </a:ext>
            </a:extLst>
          </p:cNvPr>
          <p:cNvSpPr/>
          <p:nvPr/>
        </p:nvSpPr>
        <p:spPr>
          <a:xfrm>
            <a:off x="1079929" y="1811872"/>
            <a:ext cx="6860314" cy="2032651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26E9019-D436-4D28-B3F2-5579D48B5CCF}"/>
                  </a:ext>
                </a:extLst>
              </p:cNvPr>
              <p:cNvSpPr txBox="1"/>
              <p:nvPr/>
            </p:nvSpPr>
            <p:spPr>
              <a:xfrm>
                <a:off x="1410573" y="2050068"/>
                <a:ext cx="6246320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sym typeface="Symbol" panose="05050102010706020507" pitchFamily="18" charset="2"/>
                  </a:rPr>
                  <a:t>   对于任给的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  <a:ea typeface="楷体" panose="02010609060101010101" pitchFamily="49" charset="-122"/>
                        <a:sym typeface="Symbol" panose="05050102010706020507" pitchFamily="18" charset="2"/>
                      </a:rPr>
                      <m:t>𝜀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&gt;0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，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sym typeface="Symbol" panose="05050102010706020507" pitchFamily="18" charset="2"/>
                  </a:rPr>
                  <a:t>则存在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  <m:t>R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sym typeface="Symbol" panose="05050102010706020507" pitchFamily="18" charset="2"/>
                  </a:rPr>
                  <a:t>上的一种相容范数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𝑀</m:t>
                        </m:r>
                      </m:sub>
                    </m:sSub>
                    <m:d>
                      <m:dPr>
                        <m:begChr m:val="（"/>
                        <m:endChr m:val="）"/>
                        <m:ctrlP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依赖矩阵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  <m: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和常数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，使得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26E9019-D436-4D28-B3F2-5579D48B5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73" y="2050068"/>
                <a:ext cx="6246320" cy="10926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180FCB0-57BD-4ABC-9FF9-6DE413849ABE}"/>
                  </a:ext>
                </a:extLst>
              </p:cNvPr>
              <p:cNvSpPr txBox="1"/>
              <p:nvPr/>
            </p:nvSpPr>
            <p:spPr>
              <a:xfrm>
                <a:off x="1877901" y="3142675"/>
                <a:ext cx="46184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𝑀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Symbol" panose="05050102010706020507" pitchFamily="18" charset="2"/>
                        </a:rPr>
                        <m:t>𝜀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180FCB0-57BD-4ABC-9FF9-6DE413849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901" y="3142675"/>
                <a:ext cx="4618469" cy="400110"/>
              </a:xfrm>
              <a:prstGeom prst="rect">
                <a:avLst/>
              </a:prstGeom>
              <a:blipFill>
                <a:blip r:embed="rId6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EA78E6A8-E085-482B-9DA3-12ED803ED159}"/>
              </a:ext>
            </a:extLst>
          </p:cNvPr>
          <p:cNvSpPr txBox="1"/>
          <p:nvPr/>
        </p:nvSpPr>
        <p:spPr>
          <a:xfrm>
            <a:off x="1410573" y="1568947"/>
            <a:ext cx="1077132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性质</a:t>
            </a:r>
            <a:r>
              <a:rPr lang="en-US" altLang="zh-CN" sz="2000" b="1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  <p:bldP spid="13" grpId="0" animBg="1"/>
      <p:bldP spid="6" grpId="0"/>
      <p:bldP spid="7" grpId="0"/>
      <p:bldP spid="1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93C17F2-39D4-4847-99B4-0C0A4BA80D0F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34D8978-146A-48B6-949D-16D9456BA2B0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CF67852-3D76-4AF1-A2FF-90652B05B8D6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相容矩阵范数与谱半径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graphicFrame>
        <p:nvGraphicFramePr>
          <p:cNvPr id="59394" name="Object 8">
            <a:extLst>
              <a:ext uri="{FF2B5EF4-FFF2-40B4-BE49-F238E27FC236}">
                <a16:creationId xmlns:a16="http://schemas.microsoft.com/office/drawing/2014/main" id="{DCF862C7-8FD7-409B-A64F-41EA8AF2A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4225" y="227330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11" name="Equation" r:id="rId3" imgW="452253" imgH="678380" progId="Equation.DSMT4">
                  <p:embed/>
                </p:oleObj>
              </mc:Choice>
              <mc:Fallback>
                <p:oleObj name="Equation" r:id="rId3" imgW="452253" imgH="678380" progId="Equation.DSMT4">
                  <p:embed/>
                  <p:pic>
                    <p:nvPicPr>
                      <p:cNvPr id="59394" name="Object 8">
                        <a:extLst>
                          <a:ext uri="{FF2B5EF4-FFF2-40B4-BE49-F238E27FC236}">
                            <a16:creationId xmlns:a16="http://schemas.microsoft.com/office/drawing/2014/main" id="{DCF862C7-8FD7-409B-A64F-41EA8AF2A4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227330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26E9019-D436-4D28-B3F2-5579D48B5CCF}"/>
                  </a:ext>
                </a:extLst>
              </p:cNvPr>
              <p:cNvSpPr txBox="1"/>
              <p:nvPr/>
            </p:nvSpPr>
            <p:spPr>
              <a:xfrm>
                <a:off x="844538" y="1799128"/>
                <a:ext cx="6985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</a:t>
                </a:r>
                <a:r>
                  <a:rPr lang="zh-CN" altLang="en-US" sz="18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证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zh-CN" alt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𝜆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为矩阵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的任意非零特征值</a:t>
                </a: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由于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𝜌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latin typeface="Cambria Math" panose="02040503050406030204" pitchFamily="18" charset="0"/>
                        <a:ea typeface="华文楷体" panose="02010600040101010101" pitchFamily="2" charset="-122"/>
                        <a:sym typeface="Symbol" panose="05050102010706020507" pitchFamily="18" charset="2"/>
                      </a:rPr>
                      <m:t>≤</m:t>
                    </m:r>
                  </m:oMath>
                </a14:m>
                <a:r>
                  <a:rPr lang="zh-CN" altLang="en-US" sz="18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sym typeface="Symbol" panose="05050102010706020507" pitchFamily="18" charset="2"/>
                          </a:rPr>
                          <m:t>𝐴</m:t>
                        </m:r>
                      </m:e>
                    </m:d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&lt;1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</m:t>
                    </m:r>
                  </m:oMath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26E9019-D436-4D28-B3F2-5579D48B5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38" y="1799128"/>
                <a:ext cx="6985817" cy="369332"/>
              </a:xfrm>
              <a:prstGeom prst="rect">
                <a:avLst/>
              </a:prstGeom>
              <a:blipFill>
                <a:blip r:embed="rId6"/>
                <a:stretch>
                  <a:fillRect l="-87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215746-037C-4AD0-BE64-8AE0E53B84C3}"/>
                  </a:ext>
                </a:extLst>
              </p:cNvPr>
              <p:cNvSpPr txBox="1"/>
              <p:nvPr/>
            </p:nvSpPr>
            <p:spPr>
              <a:xfrm>
                <a:off x="1229389" y="2110856"/>
                <a:ext cx="66217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于是矩阵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±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的特征值为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=1±</m:t>
                        </m:r>
                        <m:r>
                          <a:rPr lang="zh-CN" alt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𝜆</m:t>
                        </m:r>
                      </m:e>
                      <m:sub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</m:sub>
                    </m:sSub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zh-CN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，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𝑖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=1,2,⋯,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𝑛</m:t>
                    </m:r>
                  </m:oMath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215746-037C-4AD0-BE64-8AE0E53B8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389" y="2110856"/>
                <a:ext cx="6621721" cy="369332"/>
              </a:xfrm>
              <a:prstGeom prst="rect">
                <a:avLst/>
              </a:prstGeom>
              <a:blipFill>
                <a:blip r:embed="rId8"/>
                <a:stretch>
                  <a:fillRect l="-829"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63B7DBF-C326-40E6-ABEC-5B18E6AE3683}"/>
                  </a:ext>
                </a:extLst>
              </p:cNvPr>
              <p:cNvSpPr txBox="1"/>
              <p:nvPr/>
            </p:nvSpPr>
            <p:spPr>
              <a:xfrm>
                <a:off x="1224268" y="2417422"/>
                <a:ext cx="3879927" cy="370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从而可知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det</m:t>
                    </m:r>
                    <m:d>
                      <m:d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𝐼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±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𝐴</m:t>
                        </m:r>
                      </m:e>
                    </m:d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𝑖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=1</m:t>
                        </m:r>
                      </m:sub>
                      <m:sup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≠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0</m:t>
                    </m:r>
                    <m:r>
                      <a:rPr lang="zh-CN" alt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，</m:t>
                    </m:r>
                  </m:oMath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63B7DBF-C326-40E6-ABEC-5B18E6AE3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268" y="2417422"/>
                <a:ext cx="3879927" cy="370358"/>
              </a:xfrm>
              <a:prstGeom prst="rect">
                <a:avLst/>
              </a:prstGeom>
              <a:blipFill>
                <a:blip r:embed="rId9"/>
                <a:stretch>
                  <a:fillRect l="-1415" t="-120000" b="-19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BB0BA1E-CBB3-4706-835F-DF5F36823780}"/>
                  </a:ext>
                </a:extLst>
              </p:cNvPr>
              <p:cNvSpPr txBox="1"/>
              <p:nvPr/>
            </p:nvSpPr>
            <p:spPr>
              <a:xfrm>
                <a:off x="4914511" y="2439650"/>
                <a:ext cx="22482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sym typeface="Symbol" panose="05050102010706020507" pitchFamily="18" charset="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±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可逆</a:t>
                </a: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.</a:t>
                </a:r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BB0BA1E-CBB3-4706-835F-DF5F36823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511" y="2439650"/>
                <a:ext cx="2248289" cy="369332"/>
              </a:xfrm>
              <a:prstGeom prst="rect">
                <a:avLst/>
              </a:prstGeom>
              <a:blipFill>
                <a:blip r:embed="rId10"/>
                <a:stretch>
                  <a:fillRect l="-2168" t="-14754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23A0DE9E-621D-46A4-A240-F66DDCD5C138}"/>
              </a:ext>
            </a:extLst>
          </p:cNvPr>
          <p:cNvSpPr/>
          <p:nvPr/>
        </p:nvSpPr>
        <p:spPr>
          <a:xfrm>
            <a:off x="1229389" y="2740702"/>
            <a:ext cx="1033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进一步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66E249E-8662-4F34-B494-D85A0E0BF3AE}"/>
                  </a:ext>
                </a:extLst>
              </p:cNvPr>
              <p:cNvSpPr txBox="1"/>
              <p:nvPr/>
            </p:nvSpPr>
            <p:spPr>
              <a:xfrm>
                <a:off x="2060752" y="2733351"/>
                <a:ext cx="22526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𝐼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±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±</m:t>
                          </m:r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𝐴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𝐼</m:t>
                      </m:r>
                    </m:oMath>
                  </m:oMathPara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66E249E-8662-4F34-B494-D85A0E0BF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752" y="2733351"/>
                <a:ext cx="2252679" cy="369332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5E92465-A936-4756-AB18-B12E1392CC72}"/>
                  </a:ext>
                </a:extLst>
              </p:cNvPr>
              <p:cNvSpPr txBox="1"/>
              <p:nvPr/>
            </p:nvSpPr>
            <p:spPr>
              <a:xfrm>
                <a:off x="4699035" y="2738439"/>
                <a:ext cx="29304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𝐼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±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±</m:t>
                      </m:r>
                      <m:sSup>
                        <m:sSup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𝐼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±</m:t>
                              </m:r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𝐼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5E92465-A936-4756-AB18-B12E1392C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35" y="2738439"/>
                <a:ext cx="2930490" cy="369332"/>
              </a:xfrm>
              <a:prstGeom prst="rect">
                <a:avLst/>
              </a:prstGeom>
              <a:blipFill>
                <a:blip r:embed="rId1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87F5D7A-DAB4-42B5-AC9D-3C6688BF1E0C}"/>
                  </a:ext>
                </a:extLst>
              </p:cNvPr>
              <p:cNvSpPr txBox="1"/>
              <p:nvPr/>
            </p:nvSpPr>
            <p:spPr>
              <a:xfrm>
                <a:off x="1356056" y="3084236"/>
                <a:ext cx="36551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𝐼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±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zh-CN" altLang="en-US" sz="1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∓</m:t>
                          </m:r>
                          <m:sSup>
                            <m:sSup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𝐼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±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87F5D7A-DAB4-42B5-AC9D-3C6688BF1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056" y="3084236"/>
                <a:ext cx="3655155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0BCFC3F-5D9C-484B-A1EB-3CDA7EED144F}"/>
                  </a:ext>
                </a:extLst>
              </p:cNvPr>
              <p:cNvSpPr txBox="1"/>
              <p:nvPr/>
            </p:nvSpPr>
            <p:spPr>
              <a:xfrm>
                <a:off x="4975467" y="3081154"/>
                <a:ext cx="4542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Symbol" panose="05050102010706020507" pitchFamily="18" charset="2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0BCFC3F-5D9C-484B-A1EB-3CDA7EED1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67" y="3081154"/>
                <a:ext cx="45429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23F4C33-6A66-4C89-8B7D-7CF12D2A7D25}"/>
                  </a:ext>
                </a:extLst>
              </p:cNvPr>
              <p:cNvSpPr txBox="1"/>
              <p:nvPr/>
            </p:nvSpPr>
            <p:spPr>
              <a:xfrm>
                <a:off x="5648698" y="3076413"/>
                <a:ext cx="18428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𝐼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±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zh-CN" altLang="en-US" sz="1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23F4C33-6A66-4C89-8B7D-7CF12D2A7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698" y="3076413"/>
                <a:ext cx="1842834" cy="369332"/>
              </a:xfrm>
              <a:prstGeom prst="rect">
                <a:avLst/>
              </a:prstGeom>
              <a:blipFill>
                <a:blip r:embed="rId1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72119BC-89CC-480B-8450-F57DE3587102}"/>
                  </a:ext>
                </a:extLst>
              </p:cNvPr>
              <p:cNvSpPr txBox="1"/>
              <p:nvPr/>
            </p:nvSpPr>
            <p:spPr>
              <a:xfrm>
                <a:off x="982413" y="3489153"/>
                <a:ext cx="31263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移项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并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整理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，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即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可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得</m:t>
                      </m:r>
                      <m:r>
                        <a:rPr lang="zh-CN" altLang="en-US" sz="18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结论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72119BC-89CC-480B-8450-F57DE3587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413" y="3489153"/>
                <a:ext cx="3126355" cy="369332"/>
              </a:xfrm>
              <a:prstGeom prst="rect">
                <a:avLst/>
              </a:prstGeom>
              <a:blipFill>
                <a:blip r:embed="rId1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579F19D-8D8B-422C-921C-1AF6B04B7853}"/>
                  </a:ext>
                </a:extLst>
              </p:cNvPr>
              <p:cNvSpPr txBox="1"/>
              <p:nvPr/>
            </p:nvSpPr>
            <p:spPr>
              <a:xfrm>
                <a:off x="5621230" y="3081154"/>
                <a:ext cx="1643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zh-CN" altLang="en-US" sz="1800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𝐼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±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579F19D-8D8B-422C-921C-1AF6B04B7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230" y="3081154"/>
                <a:ext cx="1643520" cy="369332"/>
              </a:xfrm>
              <a:prstGeom prst="rect">
                <a:avLst/>
              </a:prstGeom>
              <a:blipFill>
                <a:blip r:embed="rId1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E174D4F4-CB4A-4FD5-A8EB-D53E05994DF2}"/>
              </a:ext>
            </a:extLst>
          </p:cNvPr>
          <p:cNvSpPr txBox="1"/>
          <p:nvPr/>
        </p:nvSpPr>
        <p:spPr>
          <a:xfrm>
            <a:off x="5488760" y="3100477"/>
            <a:ext cx="45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E92170-E52E-4E1A-A8B2-58CFEF576F94}"/>
              </a:ext>
            </a:extLst>
          </p:cNvPr>
          <p:cNvSpPr txBox="1"/>
          <p:nvPr/>
        </p:nvSpPr>
        <p:spPr>
          <a:xfrm>
            <a:off x="5091118" y="3081154"/>
            <a:ext cx="45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F0AE708-881D-4B28-9887-B127A737DB8E}"/>
                  </a:ext>
                </a:extLst>
              </p:cNvPr>
              <p:cNvSpPr/>
              <p:nvPr/>
            </p:nvSpPr>
            <p:spPr>
              <a:xfrm>
                <a:off x="1224268" y="3117434"/>
                <a:ext cx="44114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F0AE708-881D-4B28-9887-B127A737D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268" y="3117434"/>
                <a:ext cx="441146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8952299-5622-4885-BFE4-1AEEE6FB63FE}"/>
                  </a:ext>
                </a:extLst>
              </p:cNvPr>
              <p:cNvSpPr/>
              <p:nvPr/>
            </p:nvSpPr>
            <p:spPr>
              <a:xfrm>
                <a:off x="4688697" y="3086657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≤</m:t>
                      </m:r>
                    </m:oMath>
                  </m:oMathPara>
                </a14:m>
                <a:endParaRPr lang="zh-CN" altLang="en-US" sz="18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8952299-5622-4885-BFE4-1AEEE6FB63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697" y="3086657"/>
                <a:ext cx="415498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0E0A467-A984-436E-A3A8-559D1C8C014E}"/>
                  </a:ext>
                </a:extLst>
              </p:cNvPr>
              <p:cNvSpPr txBox="1"/>
              <p:nvPr/>
            </p:nvSpPr>
            <p:spPr>
              <a:xfrm>
                <a:off x="1678569" y="3082695"/>
                <a:ext cx="36551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𝐼</m:t>
                            </m:r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±</m:t>
                            </m:r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−1</m:t>
                        </m:r>
                      </m:sup>
                    </m:sSup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∓</m:t>
                    </m:r>
                    <m:sSup>
                      <m:sSup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𝐼</m:t>
                            </m:r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±</m:t>
                            </m:r>
                            <m:r>
                              <a:rPr lang="en-US" altLang="zh-CN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1800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0E0A467-A984-436E-A3A8-559D1C8C0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569" y="3082695"/>
                <a:ext cx="3655155" cy="369332"/>
              </a:xfrm>
              <a:prstGeom prst="rect">
                <a:avLst/>
              </a:prstGeom>
              <a:blipFill>
                <a:blip r:embed="rId2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1E0CAA6-A864-4B16-818F-655607560C0A}"/>
                  </a:ext>
                </a:extLst>
              </p:cNvPr>
              <p:cNvSpPr/>
              <p:nvPr/>
            </p:nvSpPr>
            <p:spPr>
              <a:xfrm>
                <a:off x="4347130" y="2775350"/>
                <a:ext cx="423996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1E0CAA6-A864-4B16-818F-655607560C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130" y="2775350"/>
                <a:ext cx="423996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41D3AAF1-D645-4346-BAA0-0DEA0E86DF42}"/>
              </a:ext>
            </a:extLst>
          </p:cNvPr>
          <p:cNvSpPr/>
          <p:nvPr/>
        </p:nvSpPr>
        <p:spPr>
          <a:xfrm>
            <a:off x="783480" y="620437"/>
            <a:ext cx="7107931" cy="1152418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F85EFB7-853C-4C3F-A0D3-49631691E1C3}"/>
                  </a:ext>
                </a:extLst>
              </p:cNvPr>
              <p:cNvSpPr txBox="1"/>
              <p:nvPr/>
            </p:nvSpPr>
            <p:spPr>
              <a:xfrm>
                <a:off x="881043" y="688702"/>
                <a:ext cx="6544975" cy="784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     设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zh-CN" altLang="en-US" sz="1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  <m:t>是</m:t>
                        </m:r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  <m:t>R</m:t>
                        </m:r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  <a:sym typeface="Symbol" panose="05050102010706020507" pitchFamily="18" charset="2"/>
                  </a:rPr>
                  <a:t>上的一种算子范数，</a:t>
                </a: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如果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A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sSup>
                      <m:sSup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800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  <m:t>R</m:t>
                        </m:r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</a:t>
                </a:r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  <a:sym typeface="Symbol" panose="05050102010706020507" pitchFamily="18" charset="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     </a:t>
                </a: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𝐼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±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可逆</a:t>
                </a: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,</a:t>
                </a:r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且</a:t>
                </a:r>
                <a:endParaRPr lang="zh-CN" altLang="en-US" sz="1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F85EFB7-853C-4C3F-A0D3-49631691E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43" y="688702"/>
                <a:ext cx="6544975" cy="784189"/>
              </a:xfrm>
              <a:prstGeom prst="rect">
                <a:avLst/>
              </a:prstGeom>
              <a:blipFill>
                <a:blip r:embed="rId22"/>
                <a:stretch>
                  <a:fillRect t="-775" b="-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954C820-A33A-4162-A1DD-5EB5ADC2233F}"/>
                  </a:ext>
                </a:extLst>
              </p:cNvPr>
              <p:cNvSpPr txBox="1"/>
              <p:nvPr/>
            </p:nvSpPr>
            <p:spPr>
              <a:xfrm>
                <a:off x="2743291" y="1098307"/>
                <a:ext cx="2905407" cy="649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𝐼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±</m:t>
                                  </m:r>
                                  <m:r>
                                    <a:rPr lang="en-US" altLang="zh-CN" sz="1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altLang="zh-CN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8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954C820-A33A-4162-A1DD-5EB5ADC22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91" y="1098307"/>
                <a:ext cx="2905407" cy="64992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3CC1D5CA-A80A-4055-A3E0-159F6227F752}"/>
              </a:ext>
            </a:extLst>
          </p:cNvPr>
          <p:cNvSpPr txBox="1"/>
          <p:nvPr/>
        </p:nvSpPr>
        <p:spPr>
          <a:xfrm>
            <a:off x="940276" y="435417"/>
            <a:ext cx="624626" cy="338554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</p:spTree>
    <p:extLst>
      <p:ext uri="{BB962C8B-B14F-4D97-AF65-F5344CB8AC3E}">
        <p14:creationId xmlns:p14="http://schemas.microsoft.com/office/powerpoint/2010/main" val="179763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11" grpId="0"/>
      <p:bldP spid="12" grpId="0"/>
      <p:bldP spid="13" grpId="0"/>
      <p:bldP spid="4" grpId="0"/>
      <p:bldP spid="15" grpId="0"/>
      <p:bldP spid="17" grpId="0"/>
      <p:bldP spid="19" grpId="0"/>
      <p:bldP spid="20" grpId="0"/>
      <p:bldP spid="20" grpId="1"/>
      <p:bldP spid="21" grpId="0"/>
      <p:bldP spid="22" grpId="0"/>
      <p:bldP spid="24" grpId="0"/>
      <p:bldP spid="24" grpId="1"/>
      <p:bldP spid="25" grpId="0"/>
      <p:bldP spid="26" grpId="0"/>
      <p:bldP spid="8" grpId="0"/>
      <p:bldP spid="9" grpId="0"/>
      <p:bldP spid="30" grpId="0"/>
      <p:bldP spid="30" grpId="1"/>
      <p:bldP spid="31" grpId="0"/>
      <p:bldP spid="5" grpId="0" animBg="1"/>
      <p:bldP spid="23" grpId="0"/>
      <p:bldP spid="28" grpId="0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5FAA049-63F9-4B5E-BF32-186A602703A1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007217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B6AB270-5A96-4F5D-9021-36E8E4CB1C05}"/>
              </a:ext>
            </a:extLst>
          </p:cNvPr>
          <p:cNvCxnSpPr>
            <a:cxnSpLocks/>
          </p:cNvCxnSpPr>
          <p:nvPr/>
        </p:nvCxnSpPr>
        <p:spPr>
          <a:xfrm>
            <a:off x="6136783" y="371475"/>
            <a:ext cx="3007217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EC7CB1AB-4FBA-4D45-88E8-18554443AB9C}"/>
              </a:ext>
            </a:extLst>
          </p:cNvPr>
          <p:cNvSpPr txBox="1"/>
          <p:nvPr/>
        </p:nvSpPr>
        <p:spPr>
          <a:xfrm>
            <a:off x="1919288" y="171450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相容矩阵范数和谱半径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46166CF-89B3-4F03-92D7-E527A22D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78" y="854075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小结：</a:t>
            </a:r>
            <a:endParaRPr lang="en-US" altLang="zh-CN" sz="2400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91AE684-44B7-48BB-9848-0E6246A63C75}"/>
              </a:ext>
            </a:extLst>
          </p:cNvPr>
          <p:cNvSpPr/>
          <p:nvPr/>
        </p:nvSpPr>
        <p:spPr>
          <a:xfrm>
            <a:off x="1439400" y="1311114"/>
            <a:ext cx="6810078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6351F0-602D-4777-88B1-ADBD6CC3A77E}"/>
              </a:ext>
            </a:extLst>
          </p:cNvPr>
          <p:cNvSpPr txBox="1"/>
          <p:nvPr/>
        </p:nvSpPr>
        <p:spPr>
          <a:xfrm>
            <a:off x="1638008" y="1455652"/>
            <a:ext cx="5903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谱半径的定义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DA3AD4F-01EC-429D-B7B1-774E3F631C3A}"/>
              </a:ext>
            </a:extLst>
          </p:cNvPr>
          <p:cNvSpPr/>
          <p:nvPr/>
        </p:nvSpPr>
        <p:spPr>
          <a:xfrm>
            <a:off x="1439400" y="2316055"/>
            <a:ext cx="6810078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2CF1E57-962F-45DC-84AE-B3E9A812CF09}"/>
              </a:ext>
            </a:extLst>
          </p:cNvPr>
          <p:cNvSpPr/>
          <p:nvPr/>
        </p:nvSpPr>
        <p:spPr>
          <a:xfrm>
            <a:off x="1439400" y="3243783"/>
            <a:ext cx="6810078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F9B656-3C08-4CF8-9662-A6DC19BA1797}"/>
              </a:ext>
            </a:extLst>
          </p:cNvPr>
          <p:cNvSpPr txBox="1"/>
          <p:nvPr/>
        </p:nvSpPr>
        <p:spPr>
          <a:xfrm>
            <a:off x="1638008" y="2426386"/>
            <a:ext cx="6410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相容矩阵范数与谱半径的关系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B9F053-D6E5-403E-B908-4C5967E27770}"/>
              </a:ext>
            </a:extLst>
          </p:cNvPr>
          <p:cNvSpPr txBox="1"/>
          <p:nvPr/>
        </p:nvSpPr>
        <p:spPr>
          <a:xfrm>
            <a:off x="1638008" y="3354114"/>
            <a:ext cx="5885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矩阵范数相容性的应用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877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10" grpId="0" animBg="1"/>
      <p:bldP spid="4" grpId="0"/>
      <p:bldP spid="12" grpId="0" animBg="1"/>
      <p:bldP spid="13" grpId="0" animBg="1"/>
      <p:bldP spid="6" grpId="0"/>
      <p:bldP spid="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C684295-34CB-46C2-888D-B444622E13E9}"/>
              </a:ext>
            </a:extLst>
          </p:cNvPr>
          <p:cNvCxnSpPr/>
          <p:nvPr/>
        </p:nvCxnSpPr>
        <p:spPr>
          <a:xfrm flipV="1">
            <a:off x="0" y="355600"/>
            <a:ext cx="2505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6CFC8B4-5A00-419B-9CE2-EF2E79066907}"/>
              </a:ext>
            </a:extLst>
          </p:cNvPr>
          <p:cNvCxnSpPr/>
          <p:nvPr/>
        </p:nvCxnSpPr>
        <p:spPr>
          <a:xfrm>
            <a:off x="6602413" y="368300"/>
            <a:ext cx="2541587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A316C6FD-B370-4F92-B9BE-4828BCDB2EBB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2.12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线性方程组的固有性态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8533180-B8AB-4919-979D-67C623277C7C}"/>
              </a:ext>
            </a:extLst>
          </p:cNvPr>
          <p:cNvSpPr/>
          <p:nvPr/>
        </p:nvSpPr>
        <p:spPr>
          <a:xfrm>
            <a:off x="1056068" y="1275008"/>
            <a:ext cx="6626180" cy="93758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6290F01-7B9B-4752-BAD7-DF7672E40566}"/>
                  </a:ext>
                </a:extLst>
              </p:cNvPr>
              <p:cNvSpPr txBox="1"/>
              <p:nvPr/>
            </p:nvSpPr>
            <p:spPr>
              <a:xfrm>
                <a:off x="1386960" y="1463834"/>
                <a:ext cx="5705341" cy="754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6.00001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800" i="1">
                          <a:solidFill>
                            <a:srgbClr val="004A82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8.00001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800" b="1" i="1">
                          <a:solidFill>
                            <a:srgbClr val="004A8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altLang="zh-CN" sz="1800" i="1">
                          <a:solidFill>
                            <a:srgbClr val="004A8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i="1">
                          <a:solidFill>
                            <a:srgbClr val="004A8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800" i="1" dirty="0">
                  <a:solidFill>
                    <a:srgbClr val="00A28B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6290F01-7B9B-4752-BAD7-DF7672E40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960" y="1463834"/>
                <a:ext cx="5705341" cy="7543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837F6374-99E7-420F-91F4-CDEDB05F9F57}"/>
              </a:ext>
            </a:extLst>
          </p:cNvPr>
          <p:cNvSpPr txBox="1"/>
          <p:nvPr/>
        </p:nvSpPr>
        <p:spPr>
          <a:xfrm>
            <a:off x="1056068" y="3862943"/>
            <a:ext cx="5174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问题的小的改变导致方程组解的大的改变！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FD3B50-E587-4EAA-9A40-9D71425700B9}"/>
              </a:ext>
            </a:extLst>
          </p:cNvPr>
          <p:cNvSpPr/>
          <p:nvPr/>
        </p:nvSpPr>
        <p:spPr>
          <a:xfrm>
            <a:off x="1056068" y="2571750"/>
            <a:ext cx="6626180" cy="93758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B1034A7-0DD6-449C-BDB6-10F206850CAE}"/>
                  </a:ext>
                </a:extLst>
              </p:cNvPr>
              <p:cNvSpPr txBox="1"/>
              <p:nvPr/>
            </p:nvSpPr>
            <p:spPr>
              <a:xfrm>
                <a:off x="1516487" y="2755027"/>
                <a:ext cx="5705341" cy="754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800" i="1" smtClean="0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6.00001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rgbClr val="004A82"/>
                                        </a:solidFill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800" i="1">
                          <a:solidFill>
                            <a:srgbClr val="004A82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800" i="1" smtClean="0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rgbClr val="004A82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8.00002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800" b="1" i="1">
                          <a:solidFill>
                            <a:srgbClr val="004A8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altLang="zh-CN" sz="1800" i="1">
                          <a:solidFill>
                            <a:srgbClr val="004A8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i="1">
                          <a:solidFill>
                            <a:srgbClr val="004A8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CN" sz="1800" i="1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rgbClr val="004A8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US" altLang="zh-CN" sz="1800" i="1">
                              <a:solidFill>
                                <a:srgbClr val="004A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800" i="1" dirty="0">
                  <a:solidFill>
                    <a:srgbClr val="00A28B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B1034A7-0DD6-449C-BDB6-10F206850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487" y="2755027"/>
                <a:ext cx="5705341" cy="7543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9613B7DE-57C7-41EE-9265-5908BDBEAEC3}"/>
              </a:ext>
            </a:extLst>
          </p:cNvPr>
          <p:cNvSpPr txBox="1"/>
          <p:nvPr/>
        </p:nvSpPr>
        <p:spPr>
          <a:xfrm>
            <a:off x="1056068" y="698095"/>
            <a:ext cx="965514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 animBg="1"/>
      <p:bldP spid="8" grpId="0"/>
      <p:bldP spid="9" grpId="0"/>
      <p:bldP spid="13" grpId="0" animBg="1"/>
      <p:bldP spid="15" grpId="0"/>
      <p:bldP spid="1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4134300-50BC-4107-BDF7-9A926B24C361}"/>
              </a:ext>
            </a:extLst>
          </p:cNvPr>
          <p:cNvCxnSpPr/>
          <p:nvPr/>
        </p:nvCxnSpPr>
        <p:spPr>
          <a:xfrm flipV="1">
            <a:off x="0" y="355600"/>
            <a:ext cx="2505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6A5596-6D6E-49CC-8B49-257D2B9A37D2}"/>
              </a:ext>
            </a:extLst>
          </p:cNvPr>
          <p:cNvCxnSpPr/>
          <p:nvPr/>
        </p:nvCxnSpPr>
        <p:spPr>
          <a:xfrm>
            <a:off x="6602413" y="368300"/>
            <a:ext cx="2541587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55A87CE7-78F9-4688-8492-432675123C43}"/>
              </a:ext>
            </a:extLst>
          </p:cNvPr>
          <p:cNvSpPr txBox="1"/>
          <p:nvPr/>
        </p:nvSpPr>
        <p:spPr>
          <a:xfrm>
            <a:off x="2622997" y="98028"/>
            <a:ext cx="3898006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线性方程组的固有性态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0271697-923D-4D2A-A96F-366E47F47389}"/>
              </a:ext>
            </a:extLst>
          </p:cNvPr>
          <p:cNvSpPr/>
          <p:nvPr/>
        </p:nvSpPr>
        <p:spPr>
          <a:xfrm>
            <a:off x="1062507" y="834894"/>
            <a:ext cx="6546850" cy="160451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/>
              <p:nvPr/>
            </p:nvSpPr>
            <p:spPr>
              <a:xfrm>
                <a:off x="1126313" y="1025583"/>
                <a:ext cx="615610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如果线性方程组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中，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中元素的微小变化就会引起方程组解的巨大变化，则称方程组为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病态方程组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，相应矩阵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称为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病态矩阵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313" y="1025583"/>
                <a:ext cx="6156102" cy="1323439"/>
              </a:xfrm>
              <a:prstGeom prst="rect">
                <a:avLst/>
              </a:prstGeom>
              <a:blipFill>
                <a:blip r:embed="rId2"/>
                <a:stretch>
                  <a:fillRect l="-1089" t="-1843" r="-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7">
            <a:extLst>
              <a:ext uri="{FF2B5EF4-FFF2-40B4-BE49-F238E27FC236}">
                <a16:creationId xmlns:a16="http://schemas.microsoft.com/office/drawing/2014/main" id="{232C0E4D-7B3F-45FE-9E81-5B04C42BB542}"/>
              </a:ext>
            </a:extLst>
          </p:cNvPr>
          <p:cNvSpPr/>
          <p:nvPr/>
        </p:nvSpPr>
        <p:spPr>
          <a:xfrm>
            <a:off x="1062507" y="2509289"/>
            <a:ext cx="6546850" cy="149066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D04F21-EADB-458B-9BAD-6449C49F7BB5}"/>
              </a:ext>
            </a:extLst>
          </p:cNvPr>
          <p:cNvSpPr txBox="1"/>
          <p:nvPr/>
        </p:nvSpPr>
        <p:spPr>
          <a:xfrm>
            <a:off x="1280273" y="2614609"/>
            <a:ext cx="5982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灵敏度分析就是研究问题的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原始数据的微小变化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将会引起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解的多大变化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80ACC5-0A29-4335-B6DB-CA130FA7E2CE}"/>
              </a:ext>
            </a:extLst>
          </p:cNvPr>
          <p:cNvSpPr txBox="1"/>
          <p:nvPr/>
        </p:nvSpPr>
        <p:spPr>
          <a:xfrm>
            <a:off x="1410236" y="3427815"/>
            <a:ext cx="5588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关键是找到刻画问题“病态” 的</a:t>
            </a:r>
            <a:r>
              <a:rPr lang="zh-CN" altLang="en-US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标准的量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53596F4-DACD-40C2-AC86-68CC4093C777}"/>
                  </a:ext>
                </a:extLst>
              </p:cNvPr>
              <p:cNvSpPr txBox="1"/>
              <p:nvPr/>
            </p:nvSpPr>
            <p:spPr>
              <a:xfrm>
                <a:off x="1582729" y="1948912"/>
                <a:ext cx="57984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否则称方程组为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良态方程组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称为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良态矩阵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53596F4-DACD-40C2-AC86-68CC4093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729" y="1948912"/>
                <a:ext cx="5798422" cy="400110"/>
              </a:xfrm>
              <a:prstGeom prst="rect">
                <a:avLst/>
              </a:prstGeom>
              <a:blipFill>
                <a:blip r:embed="rId3"/>
                <a:stretch>
                  <a:fillRect l="-1157" t="-7692" r="-315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8FD32B6D-5343-425F-AC5C-48B277A23B73}"/>
              </a:ext>
            </a:extLst>
          </p:cNvPr>
          <p:cNvSpPr txBox="1"/>
          <p:nvPr/>
        </p:nvSpPr>
        <p:spPr>
          <a:xfrm>
            <a:off x="1280273" y="599851"/>
            <a:ext cx="841051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6" grpId="0"/>
      <p:bldP spid="12" grpId="0" animBg="1"/>
      <p:bldP spid="13" grpId="0"/>
      <p:bldP spid="15" grpId="0"/>
      <p:bldP spid="10" grpId="0"/>
      <p:bldP spid="1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6EC5E5E-49F4-4385-A999-83F96D385B94}"/>
              </a:ext>
            </a:extLst>
          </p:cNvPr>
          <p:cNvCxnSpPr/>
          <p:nvPr/>
        </p:nvCxnSpPr>
        <p:spPr>
          <a:xfrm flipV="1">
            <a:off x="0" y="355600"/>
            <a:ext cx="2505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B23BB00-8940-4FE0-8CEE-EFEE76A1D221}"/>
              </a:ext>
            </a:extLst>
          </p:cNvPr>
          <p:cNvCxnSpPr/>
          <p:nvPr/>
        </p:nvCxnSpPr>
        <p:spPr>
          <a:xfrm>
            <a:off x="6602413" y="368300"/>
            <a:ext cx="2541587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7B43097B-2804-4AB4-8D3B-5B4872B03FD9}"/>
              </a:ext>
            </a:extLst>
          </p:cNvPr>
          <p:cNvSpPr txBox="1"/>
          <p:nvPr/>
        </p:nvSpPr>
        <p:spPr>
          <a:xfrm>
            <a:off x="1857375" y="136525"/>
            <a:ext cx="53054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线性方程组的固有性态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BD0318-88F0-4582-92FD-DC2A75E182D7}"/>
                  </a:ext>
                </a:extLst>
              </p:cNvPr>
              <p:cNvSpPr txBox="1"/>
              <p:nvPr/>
            </p:nvSpPr>
            <p:spPr>
              <a:xfrm>
                <a:off x="959966" y="843313"/>
                <a:ext cx="66586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𝐴𝑥</m:t>
                    </m:r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</a:t>
                </a:r>
                <a:r>
                  <a:rPr lang="en-US" altLang="zh-CN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</m:oMath>
                </a14:m>
                <a:r>
                  <a:rPr lang="zh-CN" altLang="en-US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的误差对方程组解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4A82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solidFill>
                      <a:srgbClr val="004A8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的有何影响？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8BD0318-88F0-4582-92FD-DC2A75E18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966" y="843313"/>
                <a:ext cx="6658646" cy="400110"/>
              </a:xfrm>
              <a:prstGeom prst="rect">
                <a:avLst/>
              </a:prstGeom>
              <a:blipFill>
                <a:blip r:embed="rId2"/>
                <a:stretch>
                  <a:fillRect l="-823" t="-6061" r="-915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27F77C09-FBAA-4EC5-9ED5-22B72F7BBF9D}"/>
              </a:ext>
            </a:extLst>
          </p:cNvPr>
          <p:cNvSpPr/>
          <p:nvPr/>
        </p:nvSpPr>
        <p:spPr>
          <a:xfrm>
            <a:off x="1043981" y="1531467"/>
            <a:ext cx="6658646" cy="1441450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81DA391-E675-44D5-BE2F-C54D7364B8D5}"/>
                  </a:ext>
                </a:extLst>
              </p:cNvPr>
              <p:cNvSpPr txBox="1"/>
              <p:nvPr/>
            </p:nvSpPr>
            <p:spPr>
              <a:xfrm>
                <a:off x="1318541" y="1710876"/>
                <a:ext cx="20787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系数矩阵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有误差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81DA391-E675-44D5-BE2F-C54D7364B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541" y="1710876"/>
                <a:ext cx="2078706" cy="338554"/>
              </a:xfrm>
              <a:prstGeom prst="rect">
                <a:avLst/>
              </a:prstGeom>
              <a:blipFill>
                <a:blip r:embed="rId3"/>
                <a:stretch>
                  <a:fillRect l="-1466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90C6CA-90B7-4C3C-8E61-83D2E9E454D4}"/>
                  </a:ext>
                </a:extLst>
              </p:cNvPr>
              <p:cNvSpPr txBox="1"/>
              <p:nvPr/>
            </p:nvSpPr>
            <p:spPr>
              <a:xfrm>
                <a:off x="1307174" y="2113962"/>
                <a:ext cx="21313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右端向量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有误差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90C6CA-90B7-4C3C-8E61-83D2E9E45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174" y="2113962"/>
                <a:ext cx="2131355" cy="338554"/>
              </a:xfrm>
              <a:prstGeom prst="rect">
                <a:avLst/>
              </a:prstGeom>
              <a:blipFill>
                <a:blip r:embed="rId4"/>
                <a:stretch>
                  <a:fillRect l="-1429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12B9A50-DC9B-469D-8171-05A5CE84A222}"/>
                  </a:ext>
                </a:extLst>
              </p:cNvPr>
              <p:cNvSpPr txBox="1"/>
              <p:nvPr/>
            </p:nvSpPr>
            <p:spPr>
              <a:xfrm>
                <a:off x="1318540" y="2547276"/>
                <a:ext cx="20025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得到的解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有误差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12B9A50-DC9B-469D-8171-05A5CE84A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540" y="2547276"/>
                <a:ext cx="2002509" cy="338554"/>
              </a:xfrm>
              <a:prstGeom prst="rect">
                <a:avLst/>
              </a:prstGeom>
              <a:blipFill>
                <a:blip r:embed="rId5"/>
                <a:stretch>
                  <a:fillRect l="-1520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DFDA607-BD3E-4700-9D4C-647F168700D1}"/>
                  </a:ext>
                </a:extLst>
              </p:cNvPr>
              <p:cNvSpPr txBox="1"/>
              <p:nvPr/>
            </p:nvSpPr>
            <p:spPr>
              <a:xfrm>
                <a:off x="4008108" y="1769959"/>
                <a:ext cx="774700" cy="6014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DFDA607-BD3E-4700-9D4C-647F16870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108" y="1769959"/>
                <a:ext cx="774700" cy="6014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F954F21-39D8-4F6B-9AFE-7739E411698D}"/>
                  </a:ext>
                </a:extLst>
              </p:cNvPr>
              <p:cNvSpPr txBox="1"/>
              <p:nvPr/>
            </p:nvSpPr>
            <p:spPr>
              <a:xfrm>
                <a:off x="5251123" y="1769959"/>
                <a:ext cx="709612" cy="6014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F954F21-39D8-4F6B-9AFE-7739E4116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123" y="1769959"/>
                <a:ext cx="709612" cy="6014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B463837-9F59-4A99-A464-2A749CD72368}"/>
                  </a:ext>
                </a:extLst>
              </p:cNvPr>
              <p:cNvSpPr txBox="1"/>
              <p:nvPr/>
            </p:nvSpPr>
            <p:spPr>
              <a:xfrm>
                <a:off x="6031513" y="1760647"/>
                <a:ext cx="774699" cy="6014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B463837-9F59-4A99-A464-2A749CD72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513" y="1760647"/>
                <a:ext cx="774699" cy="6014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F0233AB0-4F97-4354-932D-0F6F2C29570A}"/>
              </a:ext>
            </a:extLst>
          </p:cNvPr>
          <p:cNvSpPr txBox="1"/>
          <p:nvPr/>
        </p:nvSpPr>
        <p:spPr>
          <a:xfrm>
            <a:off x="4606269" y="1949785"/>
            <a:ext cx="774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?????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29DC63B-66A0-4E81-B5C2-4778AEEE13DB}"/>
                  </a:ext>
                </a:extLst>
              </p:cNvPr>
              <p:cNvSpPr txBox="1"/>
              <p:nvPr/>
            </p:nvSpPr>
            <p:spPr>
              <a:xfrm>
                <a:off x="1326221" y="1709483"/>
                <a:ext cx="15557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系数矩阵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精确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29DC63B-66A0-4E81-B5C2-4778AEEE1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221" y="1709483"/>
                <a:ext cx="1555750" cy="338554"/>
              </a:xfrm>
              <a:prstGeom prst="rect">
                <a:avLst/>
              </a:prstGeom>
              <a:blipFill>
                <a:blip r:embed="rId9"/>
                <a:stretch>
                  <a:fillRect l="-2353" t="-7143" r="-392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922275C-EAA3-4FBE-AD62-7348AFBF82B1}"/>
                  </a:ext>
                </a:extLst>
              </p:cNvPr>
              <p:cNvSpPr txBox="1"/>
              <p:nvPr/>
            </p:nvSpPr>
            <p:spPr>
              <a:xfrm>
                <a:off x="4018295" y="2366470"/>
                <a:ext cx="774700" cy="6014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922275C-EAA3-4FBE-AD62-7348AFBF8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295" y="2366470"/>
                <a:ext cx="774700" cy="60144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785497D-0DBF-4DA3-A98F-FA5D8480FCDD}"/>
                  </a:ext>
                </a:extLst>
              </p:cNvPr>
              <p:cNvSpPr txBox="1"/>
              <p:nvPr/>
            </p:nvSpPr>
            <p:spPr>
              <a:xfrm>
                <a:off x="4572000" y="2461709"/>
                <a:ext cx="431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785497D-0DBF-4DA3-A98F-FA5D8480F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461709"/>
                <a:ext cx="431800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3C2BE9F-DB86-4211-A4C7-45BD72CD462A}"/>
                  </a:ext>
                </a:extLst>
              </p:cNvPr>
              <p:cNvSpPr txBox="1"/>
              <p:nvPr/>
            </p:nvSpPr>
            <p:spPr>
              <a:xfrm>
                <a:off x="5040977" y="2486771"/>
                <a:ext cx="1017596" cy="30777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1400" b="1" dirty="0">
                    <a:solidFill>
                      <a:schemeClr val="tx1"/>
                    </a:solidFill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3C2BE9F-DB86-4211-A4C7-45BD72CD4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977" y="2486771"/>
                <a:ext cx="1017596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9908694-47FE-4AFC-8F74-8CAE20FC937E}"/>
                  </a:ext>
                </a:extLst>
              </p:cNvPr>
              <p:cNvSpPr txBox="1"/>
              <p:nvPr/>
            </p:nvSpPr>
            <p:spPr>
              <a:xfrm>
                <a:off x="5931556" y="2366471"/>
                <a:ext cx="774699" cy="6014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9908694-47FE-4AFC-8F74-8CAE20FC9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556" y="2366471"/>
                <a:ext cx="774699" cy="60144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>
            <a:extLst>
              <a:ext uri="{FF2B5EF4-FFF2-40B4-BE49-F238E27FC236}">
                <a16:creationId xmlns:a16="http://schemas.microsoft.com/office/drawing/2014/main" id="{93C20403-B5A1-42AB-83A0-2DD05EA5E79D}"/>
              </a:ext>
            </a:extLst>
          </p:cNvPr>
          <p:cNvSpPr txBox="1"/>
          <p:nvPr/>
        </p:nvSpPr>
        <p:spPr>
          <a:xfrm>
            <a:off x="5309918" y="1915116"/>
            <a:ext cx="821447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8F65FD55-CFA9-4F87-8AC2-92F77B876E1F}"/>
                  </a:ext>
                </a:extLst>
              </p:cNvPr>
              <p:cNvSpPr txBox="1"/>
              <p:nvPr/>
            </p:nvSpPr>
            <p:spPr>
              <a:xfrm>
                <a:off x="4748545" y="1915116"/>
                <a:ext cx="431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8F65FD55-CFA9-4F87-8AC2-92F77B876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545" y="1915116"/>
                <a:ext cx="431800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>
            <a:extLst>
              <a:ext uri="{FF2B5EF4-FFF2-40B4-BE49-F238E27FC236}">
                <a16:creationId xmlns:a16="http://schemas.microsoft.com/office/drawing/2014/main" id="{89110106-AD4D-4DEA-B652-B482FAAC9773}"/>
              </a:ext>
            </a:extLst>
          </p:cNvPr>
          <p:cNvSpPr/>
          <p:nvPr/>
        </p:nvSpPr>
        <p:spPr>
          <a:xfrm>
            <a:off x="1062508" y="3245670"/>
            <a:ext cx="6640392" cy="1168400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BAE716E-AD5E-497F-B1E3-8643DAED10F3}"/>
                  </a:ext>
                </a:extLst>
              </p:cNvPr>
              <p:cNvSpPr txBox="1"/>
              <p:nvPr/>
            </p:nvSpPr>
            <p:spPr>
              <a:xfrm>
                <a:off x="1168399" y="3448050"/>
                <a:ext cx="19812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d>
                        <m:dPr>
                          <m:ctrlPr>
                            <a:rPr lang="zh-CN" altLang="en-US" sz="160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+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BAE716E-AD5E-497F-B1E3-8643DAED1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399" y="3448050"/>
                <a:ext cx="1981201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1ABFD801-99DE-43F6-919B-BA84268B7C40}"/>
                  </a:ext>
                </a:extLst>
              </p:cNvPr>
              <p:cNvSpPr txBox="1"/>
              <p:nvPr/>
            </p:nvSpPr>
            <p:spPr>
              <a:xfrm>
                <a:off x="1252537" y="3854408"/>
                <a:ext cx="16065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1ABFD801-99DE-43F6-919B-BA84268B7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537" y="3854408"/>
                <a:ext cx="1606550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8E9F9BB-9847-41BD-BD02-FCF6E970006B}"/>
                  </a:ext>
                </a:extLst>
              </p:cNvPr>
              <p:cNvSpPr txBox="1"/>
              <p:nvPr/>
            </p:nvSpPr>
            <p:spPr>
              <a:xfrm>
                <a:off x="1318540" y="3417156"/>
                <a:ext cx="17884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8E9F9BB-9847-41BD-BD02-FCF6E9700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540" y="3417156"/>
                <a:ext cx="1788441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66393C2-3F67-4312-BDA7-00A2CE2C216F}"/>
                  </a:ext>
                </a:extLst>
              </p:cNvPr>
              <p:cNvSpPr/>
              <p:nvPr/>
            </p:nvSpPr>
            <p:spPr>
              <a:xfrm>
                <a:off x="3004609" y="3484991"/>
                <a:ext cx="423996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66393C2-3F67-4312-BDA7-00A2CE2C21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609" y="3484991"/>
                <a:ext cx="423996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29F6C18-9065-4F19-A211-59B886A582B3}"/>
                  </a:ext>
                </a:extLst>
              </p:cNvPr>
              <p:cNvSpPr txBox="1"/>
              <p:nvPr/>
            </p:nvSpPr>
            <p:spPr>
              <a:xfrm>
                <a:off x="1153344" y="3454677"/>
                <a:ext cx="17884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−1</m:t>
                          </m:r>
                        </m:sup>
                      </m:sSup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29F6C18-9065-4F19-A211-59B886A58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344" y="3454677"/>
                <a:ext cx="1788441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C3E15C5-E6C5-4A81-B75B-1FF164698F2D}"/>
                  </a:ext>
                </a:extLst>
              </p:cNvPr>
              <p:cNvSpPr/>
              <p:nvPr/>
            </p:nvSpPr>
            <p:spPr>
              <a:xfrm>
                <a:off x="3026436" y="3869797"/>
                <a:ext cx="42399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⟹</m:t>
                      </m:r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C3E15C5-E6C5-4A81-B75B-1FF164698F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436" y="3869797"/>
                <a:ext cx="423997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B057A87C-C19F-4771-84A0-1EF06804F006}"/>
                  </a:ext>
                </a:extLst>
              </p:cNvPr>
              <p:cNvSpPr txBox="1"/>
              <p:nvPr/>
            </p:nvSpPr>
            <p:spPr>
              <a:xfrm>
                <a:off x="3549520" y="3891349"/>
                <a:ext cx="22670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𝑏</m:t>
                        </m:r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𝐴𝑥</m:t>
                        </m:r>
                      </m:e>
                    </m:d>
                    <m:r>
                      <a:rPr lang="en-US" altLang="zh-CN" sz="160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16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B057A87C-C19F-4771-84A0-1EF06804F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520" y="3891349"/>
                <a:ext cx="2267080" cy="33855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4E12884B-6335-4776-BE68-46336B40F6B4}"/>
                  </a:ext>
                </a:extLst>
              </p:cNvPr>
              <p:cNvSpPr txBox="1"/>
              <p:nvPr/>
            </p:nvSpPr>
            <p:spPr>
              <a:xfrm>
                <a:off x="3470931" y="3454677"/>
                <a:ext cx="30505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−1</m:t>
                            </m:r>
                          </m:sup>
                        </m:s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6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4E12884B-6335-4776-BE68-46336B40F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931" y="3454677"/>
                <a:ext cx="3050522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DEC0B157-7292-4E5A-A2B3-E2EC5126490E}"/>
                  </a:ext>
                </a:extLst>
              </p:cNvPr>
              <p:cNvSpPr txBox="1"/>
              <p:nvPr/>
            </p:nvSpPr>
            <p:spPr>
              <a:xfrm>
                <a:off x="3856309" y="3756023"/>
                <a:ext cx="2337858" cy="609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zh-CN" sz="16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</m:e>
                      </m:d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DEC0B157-7292-4E5A-A2B3-E2EC51264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309" y="3756023"/>
                <a:ext cx="2337858" cy="60920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箭头: 上 12">
            <a:extLst>
              <a:ext uri="{FF2B5EF4-FFF2-40B4-BE49-F238E27FC236}">
                <a16:creationId xmlns:a16="http://schemas.microsoft.com/office/drawing/2014/main" id="{E056C262-3B72-4C8A-899F-0DBEA81568BF}"/>
              </a:ext>
            </a:extLst>
          </p:cNvPr>
          <p:cNvSpPr/>
          <p:nvPr/>
        </p:nvSpPr>
        <p:spPr>
          <a:xfrm>
            <a:off x="4697682" y="2932331"/>
            <a:ext cx="306118" cy="338555"/>
          </a:xfrm>
          <a:prstGeom prst="up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68BBC332-B991-4ADD-BAF9-9644ED855842}"/>
              </a:ext>
            </a:extLst>
          </p:cNvPr>
          <p:cNvSpPr/>
          <p:nvPr/>
        </p:nvSpPr>
        <p:spPr>
          <a:xfrm>
            <a:off x="6016683" y="2977944"/>
            <a:ext cx="1094192" cy="462782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957EF45-F238-4E15-AA09-4D76F32B0D84}"/>
              </a:ext>
            </a:extLst>
          </p:cNvPr>
          <p:cNvSpPr txBox="1"/>
          <p:nvPr/>
        </p:nvSpPr>
        <p:spPr>
          <a:xfrm>
            <a:off x="6173448" y="3032820"/>
            <a:ext cx="1065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标准量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E6003D35-196E-4D22-ACE1-2A1AE56C80D9}"/>
              </a:ext>
            </a:extLst>
          </p:cNvPr>
          <p:cNvCxnSpPr/>
          <p:nvPr/>
        </p:nvCxnSpPr>
        <p:spPr>
          <a:xfrm>
            <a:off x="5816600" y="2885830"/>
            <a:ext cx="214913" cy="1060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088A6D40-A1F7-425D-A573-3F43A66AB96D}"/>
              </a:ext>
            </a:extLst>
          </p:cNvPr>
          <p:cNvSpPr txBox="1"/>
          <p:nvPr/>
        </p:nvSpPr>
        <p:spPr>
          <a:xfrm>
            <a:off x="1441373" y="1385062"/>
            <a:ext cx="126319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第一种情况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5" grpId="0" animBg="1"/>
      <p:bldP spid="8" grpId="0"/>
      <p:bldP spid="8" grpId="1"/>
      <p:bldP spid="10" grpId="0"/>
      <p:bldP spid="11" grpId="0"/>
      <p:bldP spid="18" grpId="0"/>
      <p:bldP spid="19" grpId="0"/>
      <p:bldP spid="19" grpId="1"/>
      <p:bldP spid="20" grpId="0"/>
      <p:bldP spid="21" grpId="0"/>
      <p:bldP spid="21" grpId="1"/>
      <p:bldP spid="22" grpId="0"/>
      <p:bldP spid="37" grpId="0"/>
      <p:bldP spid="38" grpId="0"/>
      <p:bldP spid="39" grpId="0" animBg="1"/>
      <p:bldP spid="40" grpId="0"/>
      <p:bldP spid="41" grpId="0" animBg="1"/>
      <p:bldP spid="44" grpId="0"/>
      <p:bldP spid="7" grpId="0" animBg="1"/>
      <p:bldP spid="45" grpId="0"/>
      <p:bldP spid="45" grpId="1"/>
      <p:bldP spid="46" grpId="0"/>
      <p:bldP spid="47" grpId="0"/>
      <p:bldP spid="47" grpId="1"/>
      <p:bldP spid="48" grpId="0"/>
      <p:bldP spid="49" grpId="0"/>
      <p:bldP spid="50" grpId="0"/>
      <p:bldP spid="51" grpId="0"/>
      <p:bldP spid="51" grpId="1"/>
      <p:bldP spid="52" grpId="0"/>
      <p:bldP spid="53" grpId="0"/>
      <p:bldP spid="13" grpId="0" animBg="1"/>
      <p:bldP spid="58" grpId="0" animBg="1"/>
      <p:bldP spid="59" grpId="0"/>
      <p:bldP spid="6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4134300-50BC-4107-BDF7-9A926B24C361}"/>
              </a:ext>
            </a:extLst>
          </p:cNvPr>
          <p:cNvCxnSpPr/>
          <p:nvPr/>
        </p:nvCxnSpPr>
        <p:spPr>
          <a:xfrm flipV="1">
            <a:off x="0" y="355600"/>
            <a:ext cx="2505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6A5596-6D6E-49CC-8B49-257D2B9A37D2}"/>
              </a:ext>
            </a:extLst>
          </p:cNvPr>
          <p:cNvCxnSpPr/>
          <p:nvPr/>
        </p:nvCxnSpPr>
        <p:spPr>
          <a:xfrm>
            <a:off x="6602413" y="368300"/>
            <a:ext cx="2541587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55A87CE7-78F9-4688-8492-432675123C43}"/>
              </a:ext>
            </a:extLst>
          </p:cNvPr>
          <p:cNvSpPr txBox="1"/>
          <p:nvPr/>
        </p:nvSpPr>
        <p:spPr>
          <a:xfrm>
            <a:off x="2622997" y="98028"/>
            <a:ext cx="3898006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线性方程组的固有性态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0271697-923D-4D2A-A96F-366E47F47389}"/>
              </a:ext>
            </a:extLst>
          </p:cNvPr>
          <p:cNvSpPr/>
          <p:nvPr/>
        </p:nvSpPr>
        <p:spPr>
          <a:xfrm>
            <a:off x="1018324" y="640780"/>
            <a:ext cx="6546850" cy="2001809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/>
              <p:nvPr/>
            </p:nvSpPr>
            <p:spPr>
              <a:xfrm>
                <a:off x="1138096" y="834894"/>
                <a:ext cx="6156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若系数矩阵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有扰动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右端向量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精确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096" y="834894"/>
                <a:ext cx="6156102" cy="400110"/>
              </a:xfrm>
              <a:prstGeom prst="rect">
                <a:avLst/>
              </a:prstGeom>
              <a:blipFill>
                <a:blip r:embed="rId2"/>
                <a:stretch>
                  <a:fillRect l="-1089" t="-757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7">
            <a:extLst>
              <a:ext uri="{FF2B5EF4-FFF2-40B4-BE49-F238E27FC236}">
                <a16:creationId xmlns:a16="http://schemas.microsoft.com/office/drawing/2014/main" id="{232C0E4D-7B3F-45FE-9E81-5B04C42BB542}"/>
              </a:ext>
            </a:extLst>
          </p:cNvPr>
          <p:cNvSpPr/>
          <p:nvPr/>
        </p:nvSpPr>
        <p:spPr>
          <a:xfrm>
            <a:off x="1062507" y="2925752"/>
            <a:ext cx="6546850" cy="138285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B91A59F-6AB2-4141-A677-7AB67D6F7BE9}"/>
                  </a:ext>
                </a:extLst>
              </p:cNvPr>
              <p:cNvSpPr txBox="1"/>
              <p:nvPr/>
            </p:nvSpPr>
            <p:spPr>
              <a:xfrm>
                <a:off x="1470837" y="1683915"/>
                <a:ext cx="26537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B91A59F-6AB2-4141-A677-7AB67D6F7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837" y="1683915"/>
                <a:ext cx="265371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0B62C5-0FE6-4A5C-A7AA-694605D6AAA4}"/>
                  </a:ext>
                </a:extLst>
              </p:cNvPr>
              <p:cNvSpPr txBox="1"/>
              <p:nvPr/>
            </p:nvSpPr>
            <p:spPr>
              <a:xfrm>
                <a:off x="1291875" y="1271341"/>
                <a:ext cx="15229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𝐴𝑥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0B62C5-0FE6-4A5C-A7AA-694605D6A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875" y="1271341"/>
                <a:ext cx="152292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DBB2E4-8381-4F37-B0AE-559D24874182}"/>
                  </a:ext>
                </a:extLst>
              </p:cNvPr>
              <p:cNvSpPr txBox="1"/>
              <p:nvPr/>
            </p:nvSpPr>
            <p:spPr>
              <a:xfrm>
                <a:off x="4532878" y="1412024"/>
                <a:ext cx="2911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𝟎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DBB2E4-8381-4F37-B0AE-559D24874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878" y="1412024"/>
                <a:ext cx="29112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B7E0FCE-A279-418D-A4B8-4932F9CC64BA}"/>
                  </a:ext>
                </a:extLst>
              </p:cNvPr>
              <p:cNvSpPr txBox="1"/>
              <p:nvPr/>
            </p:nvSpPr>
            <p:spPr>
              <a:xfrm>
                <a:off x="4511518" y="1420364"/>
                <a:ext cx="2911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−1</m:t>
                          </m:r>
                        </m:sup>
                      </m:sSup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B7E0FCE-A279-418D-A4B8-4932F9CC6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518" y="1420364"/>
                <a:ext cx="291121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7FA9495-DCD6-4705-956D-BD972E8515D6}"/>
                  </a:ext>
                </a:extLst>
              </p:cNvPr>
              <p:cNvSpPr txBox="1"/>
              <p:nvPr/>
            </p:nvSpPr>
            <p:spPr>
              <a:xfrm>
                <a:off x="3345461" y="2053441"/>
                <a:ext cx="32569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−1</m:t>
                              </m:r>
                            </m:sup>
                          </m:sSup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7FA9495-DCD6-4705-956D-BD972E851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461" y="2053441"/>
                <a:ext cx="325695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9F23C7D-4287-44A0-903F-8C292A9AE85E}"/>
                  </a:ext>
                </a:extLst>
              </p:cNvPr>
              <p:cNvSpPr txBox="1"/>
              <p:nvPr/>
            </p:nvSpPr>
            <p:spPr>
              <a:xfrm>
                <a:off x="3515740" y="2031743"/>
                <a:ext cx="30209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 ‖</a:t>
                </a:r>
                <a:r>
                  <a:rPr lang="en-US" altLang="zh-CN" sz="2000" dirty="0">
                    <a:latin typeface="Cambria Math" panose="02040503050406030204" pitchFamily="18" charset="0"/>
                  </a:rPr>
                  <a:t>‖</a:t>
                </a:r>
                <a:r>
                  <a:rPr lang="zh-CN" altLang="en-US" sz="2000" dirty="0">
                    <a:latin typeface="Cambria Math" panose="02040503050406030204" pitchFamily="18" charset="0"/>
                  </a:rPr>
                  <a:t>𝛿</a:t>
                </a:r>
                <a:r>
                  <a:rPr lang="en-US" altLang="zh-CN" sz="2000" dirty="0">
                    <a:latin typeface="Cambria Math" panose="02040503050406030204" pitchFamily="18" charset="0"/>
                  </a:rPr>
                  <a:t>𝐴‖‖(</a:t>
                </a:r>
                <a:r>
                  <a:rPr lang="en-US" altLang="zh-CN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𝑥+</a:t>
                </a:r>
                <a:r>
                  <a:rPr lang="zh-CN" altLang="en-US" sz="2000" dirty="0">
                    <a:latin typeface="Cambria Math" panose="02040503050406030204" pitchFamily="18" charset="0"/>
                  </a:rPr>
                  <a:t>𝛿</a:t>
                </a:r>
                <a:r>
                  <a:rPr lang="en-US" altLang="zh-CN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𝑥)‖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9F23C7D-4287-44A0-903F-8C292A9AE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740" y="2031743"/>
                <a:ext cx="3020989" cy="400110"/>
              </a:xfrm>
              <a:prstGeom prst="rect">
                <a:avLst/>
              </a:prstGeom>
              <a:blipFill>
                <a:blip r:embed="rId8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3985947-2AC9-40CB-B4C0-1A142D4C1D82}"/>
                  </a:ext>
                </a:extLst>
              </p:cNvPr>
              <p:cNvSpPr txBox="1"/>
              <p:nvPr/>
            </p:nvSpPr>
            <p:spPr>
              <a:xfrm>
                <a:off x="3110757" y="2048675"/>
                <a:ext cx="5602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3985947-2AC9-40CB-B4C0-1A142D4C1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757" y="2048675"/>
                <a:ext cx="560231" cy="400110"/>
              </a:xfrm>
              <a:prstGeom prst="rect">
                <a:avLst/>
              </a:prstGeom>
              <a:blipFill>
                <a:blip r:embed="rId9"/>
                <a:stretch>
                  <a:fillRect r="-9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DB5CCEB-7193-4ACC-8991-D2DCFE770C67}"/>
                  </a:ext>
                </a:extLst>
              </p:cNvPr>
              <p:cNvSpPr txBox="1"/>
              <p:nvPr/>
            </p:nvSpPr>
            <p:spPr>
              <a:xfrm>
                <a:off x="4291749" y="1483635"/>
                <a:ext cx="36704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DB5CCEB-7193-4ACC-8991-D2DCFE770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749" y="1483635"/>
                <a:ext cx="367048" cy="2923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C74117E-D417-45E4-9306-ADE1C4925052}"/>
                  </a:ext>
                </a:extLst>
              </p:cNvPr>
              <p:cNvSpPr txBox="1"/>
              <p:nvPr/>
            </p:nvSpPr>
            <p:spPr>
              <a:xfrm>
                <a:off x="4223368" y="3304903"/>
                <a:ext cx="13592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 ‖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C74117E-D417-45E4-9306-ADE1C4925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368" y="3304903"/>
                <a:ext cx="1359235" cy="400110"/>
              </a:xfrm>
              <a:prstGeom prst="rect">
                <a:avLst/>
              </a:prstGeom>
              <a:blipFill>
                <a:blip r:embed="rId11"/>
                <a:stretch>
                  <a:fillRect t="-7576" r="-3587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右大括号 46">
            <a:extLst>
              <a:ext uri="{FF2B5EF4-FFF2-40B4-BE49-F238E27FC236}">
                <a16:creationId xmlns:a16="http://schemas.microsoft.com/office/drawing/2014/main" id="{653BE76E-ADF8-441B-B01A-4E3347CC948F}"/>
              </a:ext>
            </a:extLst>
          </p:cNvPr>
          <p:cNvSpPr/>
          <p:nvPr/>
        </p:nvSpPr>
        <p:spPr>
          <a:xfrm>
            <a:off x="4078607" y="1293111"/>
            <a:ext cx="155448" cy="69714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1ED25CE-DC70-484E-9158-413D225CA3B1}"/>
                  </a:ext>
                </a:extLst>
              </p:cNvPr>
              <p:cNvSpPr txBox="1"/>
              <p:nvPr/>
            </p:nvSpPr>
            <p:spPr>
              <a:xfrm>
                <a:off x="2739994" y="3143498"/>
                <a:ext cx="898235" cy="728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1ED25CE-DC70-484E-9158-413D225CA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994" y="3143498"/>
                <a:ext cx="898235" cy="728661"/>
              </a:xfrm>
              <a:prstGeom prst="rect">
                <a:avLst/>
              </a:prstGeom>
              <a:blipFill>
                <a:blip r:embed="rId12"/>
                <a:stretch>
                  <a:fillRect r="-20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668325C-45B4-4181-99AC-67314BB9054A}"/>
                  </a:ext>
                </a:extLst>
              </p:cNvPr>
              <p:cNvSpPr txBox="1"/>
              <p:nvPr/>
            </p:nvSpPr>
            <p:spPr>
              <a:xfrm>
                <a:off x="3892725" y="3316778"/>
                <a:ext cx="3306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668325C-45B4-4181-99AC-67314BB90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725" y="3316778"/>
                <a:ext cx="330643" cy="400110"/>
              </a:xfrm>
              <a:prstGeom prst="rect">
                <a:avLst/>
              </a:prstGeom>
              <a:blipFill>
                <a:blip r:embed="rId13"/>
                <a:stretch>
                  <a:fillRect r="-12963"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07E7449-D1AA-44DB-B8D3-E5873A13D103}"/>
                  </a:ext>
                </a:extLst>
              </p:cNvPr>
              <p:cNvSpPr txBox="1"/>
              <p:nvPr/>
            </p:nvSpPr>
            <p:spPr>
              <a:xfrm>
                <a:off x="4199020" y="3307773"/>
                <a:ext cx="19026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Cambria Math" panose="02040503050406030204" pitchFamily="18" charset="0"/>
                  </a:rPr>
                  <a:t>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 ‖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07E7449-D1AA-44DB-B8D3-E5873A13D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020" y="3307773"/>
                <a:ext cx="1902615" cy="400110"/>
              </a:xfrm>
              <a:prstGeom prst="rect">
                <a:avLst/>
              </a:prstGeom>
              <a:blipFill>
                <a:blip r:embed="rId14"/>
                <a:stretch>
                  <a:fillRect l="-3526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2F194EA-F340-4F5F-B1AA-C33B1E84AE6A}"/>
                  </a:ext>
                </a:extLst>
              </p:cNvPr>
              <p:cNvSpPr txBox="1"/>
              <p:nvPr/>
            </p:nvSpPr>
            <p:spPr>
              <a:xfrm>
                <a:off x="5436471" y="3113561"/>
                <a:ext cx="624729" cy="728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2F194EA-F340-4F5F-B1AA-C33B1E84A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471" y="3113561"/>
                <a:ext cx="624729" cy="728661"/>
              </a:xfrm>
              <a:prstGeom prst="rect">
                <a:avLst/>
              </a:prstGeom>
              <a:blipFill>
                <a:blip r:embed="rId15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4E238D7-AD44-4EF3-A4C3-982492143F7F}"/>
                  </a:ext>
                </a:extLst>
              </p:cNvPr>
              <p:cNvSpPr txBox="1"/>
              <p:nvPr/>
            </p:nvSpPr>
            <p:spPr>
              <a:xfrm>
                <a:off x="4199020" y="3295898"/>
                <a:ext cx="1359235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</a:rPr>
                  <a:t>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华文楷体" panose="02010600040101010101" pitchFamily="2" charset="-122"/>
                  </a:rPr>
                  <a:t> ‖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4E238D7-AD44-4EF3-A4C3-982492143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020" y="3295898"/>
                <a:ext cx="1359235" cy="400110"/>
              </a:xfrm>
              <a:prstGeom prst="rect">
                <a:avLst/>
              </a:prstGeom>
              <a:blipFill>
                <a:blip r:embed="rId16"/>
                <a:stretch>
                  <a:fillRect t="-7463" r="-3111" b="-2537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D3C16D3-CE86-4557-B805-6352E27ED864}"/>
              </a:ext>
            </a:extLst>
          </p:cNvPr>
          <p:cNvCxnSpPr>
            <a:cxnSpLocks/>
          </p:cNvCxnSpPr>
          <p:nvPr/>
        </p:nvCxnSpPr>
        <p:spPr>
          <a:xfrm>
            <a:off x="5068918" y="3725037"/>
            <a:ext cx="367553" cy="2440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6ABE220C-059F-485A-B9AB-8274C85D455A}"/>
              </a:ext>
            </a:extLst>
          </p:cNvPr>
          <p:cNvSpPr/>
          <p:nvPr/>
        </p:nvSpPr>
        <p:spPr>
          <a:xfrm>
            <a:off x="5426811" y="3829808"/>
            <a:ext cx="1094192" cy="462782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0E91D92-CE22-424F-B3B7-F5FFB164E482}"/>
              </a:ext>
            </a:extLst>
          </p:cNvPr>
          <p:cNvSpPr txBox="1"/>
          <p:nvPr/>
        </p:nvSpPr>
        <p:spPr>
          <a:xfrm>
            <a:off x="5539017" y="3885115"/>
            <a:ext cx="104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标准量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EDD276A-371B-4F5E-9196-FB27452BDA2A}"/>
                  </a:ext>
                </a:extLst>
              </p:cNvPr>
              <p:cNvSpPr txBox="1"/>
              <p:nvPr/>
            </p:nvSpPr>
            <p:spPr>
              <a:xfrm>
                <a:off x="2592398" y="2118893"/>
                <a:ext cx="36704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2EDD276A-371B-4F5E-9196-FB27452BD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398" y="2118893"/>
                <a:ext cx="367048" cy="2923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下 9">
            <a:extLst>
              <a:ext uri="{FF2B5EF4-FFF2-40B4-BE49-F238E27FC236}">
                <a16:creationId xmlns:a16="http://schemas.microsoft.com/office/drawing/2014/main" id="{3E1F1537-AAF8-4A9D-A7FF-062BB89923CC}"/>
              </a:ext>
            </a:extLst>
          </p:cNvPr>
          <p:cNvSpPr/>
          <p:nvPr/>
        </p:nvSpPr>
        <p:spPr>
          <a:xfrm>
            <a:off x="4235753" y="2634410"/>
            <a:ext cx="261573" cy="274188"/>
          </a:xfrm>
          <a:prstGeom prst="down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77616CD-B05F-4106-BE6A-092B6772BA82}"/>
              </a:ext>
            </a:extLst>
          </p:cNvPr>
          <p:cNvSpPr txBox="1"/>
          <p:nvPr/>
        </p:nvSpPr>
        <p:spPr>
          <a:xfrm>
            <a:off x="1421743" y="478172"/>
            <a:ext cx="126319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第二种情况</a:t>
            </a:r>
          </a:p>
        </p:txBody>
      </p:sp>
    </p:spTree>
    <p:extLst>
      <p:ext uri="{BB962C8B-B14F-4D97-AF65-F5344CB8AC3E}">
        <p14:creationId xmlns:p14="http://schemas.microsoft.com/office/powerpoint/2010/main" val="122458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6" grpId="0"/>
      <p:bldP spid="12" grpId="0" animBg="1"/>
      <p:bldP spid="7" grpId="0"/>
      <p:bldP spid="9" grpId="0"/>
      <p:bldP spid="32" grpId="0"/>
      <p:bldP spid="32" grpId="1"/>
      <p:bldP spid="35" grpId="0"/>
      <p:bldP spid="36" grpId="0"/>
      <p:bldP spid="36" grpId="1"/>
      <p:bldP spid="37" grpId="0"/>
      <p:bldP spid="38" grpId="0"/>
      <p:bldP spid="40" grpId="0"/>
      <p:bldP spid="43" grpId="0"/>
      <p:bldP spid="43" grpId="1"/>
      <p:bldP spid="47" grpId="0" animBg="1"/>
      <p:bldP spid="49" grpId="0"/>
      <p:bldP spid="51" grpId="0"/>
      <p:bldP spid="52" grpId="0"/>
      <p:bldP spid="52" grpId="1"/>
      <p:bldP spid="53" grpId="0"/>
      <p:bldP spid="54" grpId="0" animBg="1"/>
      <p:bldP spid="57" grpId="0" animBg="1"/>
      <p:bldP spid="58" grpId="0"/>
      <p:bldP spid="59" grpId="0"/>
      <p:bldP spid="10" grpId="0" animBg="1"/>
      <p:bldP spid="3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4134300-50BC-4107-BDF7-9A926B24C361}"/>
              </a:ext>
            </a:extLst>
          </p:cNvPr>
          <p:cNvCxnSpPr/>
          <p:nvPr/>
        </p:nvCxnSpPr>
        <p:spPr>
          <a:xfrm flipV="1">
            <a:off x="0" y="355600"/>
            <a:ext cx="2505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6A5596-6D6E-49CC-8B49-257D2B9A37D2}"/>
              </a:ext>
            </a:extLst>
          </p:cNvPr>
          <p:cNvCxnSpPr/>
          <p:nvPr/>
        </p:nvCxnSpPr>
        <p:spPr>
          <a:xfrm>
            <a:off x="6602413" y="368300"/>
            <a:ext cx="2541587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55A87CE7-78F9-4688-8492-432675123C43}"/>
              </a:ext>
            </a:extLst>
          </p:cNvPr>
          <p:cNvSpPr txBox="1"/>
          <p:nvPr/>
        </p:nvSpPr>
        <p:spPr>
          <a:xfrm>
            <a:off x="2622997" y="98028"/>
            <a:ext cx="3898006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线性方程组的固有性态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0271697-923D-4D2A-A96F-366E47F47389}"/>
              </a:ext>
            </a:extLst>
          </p:cNvPr>
          <p:cNvSpPr/>
          <p:nvPr/>
        </p:nvSpPr>
        <p:spPr>
          <a:xfrm>
            <a:off x="1062507" y="834894"/>
            <a:ext cx="6546850" cy="149066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/>
              <p:nvPr/>
            </p:nvSpPr>
            <p:spPr>
              <a:xfrm>
                <a:off x="1330381" y="998050"/>
                <a:ext cx="60110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设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为非奇异矩阵，</a:t>
                </a:r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是矩阵的算子范数，则称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381" y="998050"/>
                <a:ext cx="6011099" cy="400110"/>
              </a:xfrm>
              <a:prstGeom prst="rect">
                <a:avLst/>
              </a:prstGeom>
              <a:blipFill>
                <a:blip r:embed="rId2"/>
                <a:stretch>
                  <a:fillRect t="-7692" r="-710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53596F4-DACD-40C2-AC86-68CC4093C777}"/>
                  </a:ext>
                </a:extLst>
              </p:cNvPr>
              <p:cNvSpPr txBox="1"/>
              <p:nvPr/>
            </p:nvSpPr>
            <p:spPr>
              <a:xfrm>
                <a:off x="1483261" y="1434697"/>
                <a:ext cx="57984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                   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𝐶𝑜𝑛𝑑</m:t>
                    </m:r>
                    <m:d>
                      <m:dPr>
                        <m:ctrlPr>
                          <a:rPr lang="zh-CN" altLang="en-US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53596F4-DACD-40C2-AC86-68CC4093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261" y="1434697"/>
                <a:ext cx="579842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F20205-509B-44D7-8295-C0C59C435BD4}"/>
                  </a:ext>
                </a:extLst>
              </p:cNvPr>
              <p:cNvSpPr txBox="1"/>
              <p:nvPr/>
            </p:nvSpPr>
            <p:spPr>
              <a:xfrm>
                <a:off x="1252537" y="1835184"/>
                <a:ext cx="57984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为线性方程组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𝐴𝑥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或矩阵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条件数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4F20205-509B-44D7-8295-C0C59C435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537" y="1835184"/>
                <a:ext cx="5798422" cy="400110"/>
              </a:xfrm>
              <a:prstGeom prst="rect">
                <a:avLst/>
              </a:prstGeom>
              <a:blipFill>
                <a:blip r:embed="rId4"/>
                <a:stretch>
                  <a:fillRect l="-1050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6AA8090F-74F1-4FCA-AC2A-1ED45E076F0F}"/>
              </a:ext>
            </a:extLst>
          </p:cNvPr>
          <p:cNvSpPr/>
          <p:nvPr/>
        </p:nvSpPr>
        <p:spPr>
          <a:xfrm>
            <a:off x="1107583" y="2571750"/>
            <a:ext cx="6546850" cy="197784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15B991-3846-447D-9AD6-A40A0806F499}"/>
              </a:ext>
            </a:extLst>
          </p:cNvPr>
          <p:cNvSpPr txBox="1"/>
          <p:nvPr/>
        </p:nvSpPr>
        <p:spPr>
          <a:xfrm>
            <a:off x="1330382" y="2698353"/>
            <a:ext cx="6011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常用的条件数有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F246114-F012-42AF-947B-BE30AF5DA7A2}"/>
                  </a:ext>
                </a:extLst>
              </p:cNvPr>
              <p:cNvSpPr txBox="1"/>
              <p:nvPr/>
            </p:nvSpPr>
            <p:spPr>
              <a:xfrm>
                <a:off x="1365441" y="3098463"/>
                <a:ext cx="31389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𝐶𝑜𝑛𝑑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,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F246114-F012-42AF-947B-BE30AF5DA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441" y="3098463"/>
                <a:ext cx="3138934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6CC4081-F8A5-4A0E-9574-E28842D1EC65}"/>
                  </a:ext>
                </a:extLst>
              </p:cNvPr>
              <p:cNvSpPr txBox="1"/>
              <p:nvPr/>
            </p:nvSpPr>
            <p:spPr>
              <a:xfrm>
                <a:off x="4357777" y="3098463"/>
                <a:ext cx="32415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𝐶𝑜𝑛𝑑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ctrlPr>
                          <a:rPr lang="zh-CN" altLang="en-US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zh-CN" sz="2000" dirty="0"/>
                  <a:t>,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6CC4081-F8A5-4A0E-9574-E28842D1E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777" y="3098463"/>
                <a:ext cx="3241562" cy="400110"/>
              </a:xfrm>
              <a:prstGeom prst="rect">
                <a:avLst/>
              </a:prstGeom>
              <a:blipFill>
                <a:blip r:embed="rId6"/>
                <a:stretch>
                  <a:fillRect t="-6061" r="-37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A52313A-A145-49B4-86AE-C03CD91BAAB3}"/>
                  </a:ext>
                </a:extLst>
              </p:cNvPr>
              <p:cNvSpPr txBox="1"/>
              <p:nvPr/>
            </p:nvSpPr>
            <p:spPr>
              <a:xfrm>
                <a:off x="1365441" y="3609354"/>
                <a:ext cx="29923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𝐶𝑜𝑛𝑑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en-US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A52313A-A145-49B4-86AE-C03CD91BA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441" y="3609354"/>
                <a:ext cx="2992336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CA9C712-EC28-4CE4-989D-DE0736B939AF}"/>
                  </a:ext>
                </a:extLst>
              </p:cNvPr>
              <p:cNvSpPr txBox="1"/>
              <p:nvPr/>
            </p:nvSpPr>
            <p:spPr>
              <a:xfrm>
                <a:off x="4098399" y="3479586"/>
                <a:ext cx="2992336" cy="676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 </m:t>
                    </m:r>
                    <m:f>
                      <m:f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000" i="1" dirty="0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 dirty="0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𝑚𝑎𝑥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000" i="1" dirty="0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000" i="1" dirty="0" smtClean="0"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dirty="0" smtClean="0"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altLang="zh-CN" sz="2000" b="0" i="1" dirty="0" smtClean="0"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𝐴</m:t>
                                </m:r>
                              </m:e>
                            </m:d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𝑚</m:t>
                                </m:r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𝑖𝑛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华文楷体" panose="0201060004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𝐴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CA9C712-EC28-4CE4-989D-DE0736B93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99" y="3479586"/>
                <a:ext cx="2992336" cy="6767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3A9125E4-9E7A-46D7-8E60-89CDCD6383FB}"/>
              </a:ext>
            </a:extLst>
          </p:cNvPr>
          <p:cNvSpPr txBox="1"/>
          <p:nvPr/>
        </p:nvSpPr>
        <p:spPr>
          <a:xfrm>
            <a:off x="1252538" y="549384"/>
            <a:ext cx="743688" cy="400110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29460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6" grpId="0"/>
      <p:bldP spid="10" grpId="0"/>
      <p:bldP spid="11" grpId="0"/>
      <p:bldP spid="4" grpId="0" animBg="1"/>
      <p:bldP spid="5" grpId="0"/>
      <p:bldP spid="16" grpId="0"/>
      <p:bldP spid="17" grpId="0"/>
      <p:bldP spid="18" grpId="0"/>
      <p:bldP spid="19" grpId="0"/>
      <p:bldP spid="1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4134300-50BC-4107-BDF7-9A926B24C361}"/>
              </a:ext>
            </a:extLst>
          </p:cNvPr>
          <p:cNvCxnSpPr/>
          <p:nvPr/>
        </p:nvCxnSpPr>
        <p:spPr>
          <a:xfrm flipV="1">
            <a:off x="0" y="355600"/>
            <a:ext cx="2505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6A5596-6D6E-49CC-8B49-257D2B9A37D2}"/>
              </a:ext>
            </a:extLst>
          </p:cNvPr>
          <p:cNvCxnSpPr/>
          <p:nvPr/>
        </p:nvCxnSpPr>
        <p:spPr>
          <a:xfrm>
            <a:off x="6602413" y="368300"/>
            <a:ext cx="2541587" cy="317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55A87CE7-78F9-4688-8492-432675123C43}"/>
              </a:ext>
            </a:extLst>
          </p:cNvPr>
          <p:cNvSpPr txBox="1"/>
          <p:nvPr/>
        </p:nvSpPr>
        <p:spPr>
          <a:xfrm>
            <a:off x="2622997" y="98028"/>
            <a:ext cx="3898006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线性方程组的固有性态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0271697-923D-4D2A-A96F-366E47F47389}"/>
              </a:ext>
            </a:extLst>
          </p:cNvPr>
          <p:cNvSpPr/>
          <p:nvPr/>
        </p:nvSpPr>
        <p:spPr>
          <a:xfrm>
            <a:off x="1062507" y="834894"/>
            <a:ext cx="6546850" cy="149066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/>
              <p:nvPr/>
            </p:nvSpPr>
            <p:spPr>
              <a:xfrm>
                <a:off x="1183173" y="853848"/>
                <a:ext cx="50952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在前面的例子中，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0,0.00001</m:t>
                            </m:r>
                          </m:e>
                        </m:d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173" y="853848"/>
                <a:ext cx="5095277" cy="400110"/>
              </a:xfrm>
              <a:prstGeom prst="rect">
                <a:avLst/>
              </a:prstGeom>
              <a:blipFill>
                <a:blip r:embed="rId2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7">
            <a:extLst>
              <a:ext uri="{FF2B5EF4-FFF2-40B4-BE49-F238E27FC236}">
                <a16:creationId xmlns:a16="http://schemas.microsoft.com/office/drawing/2014/main" id="{232C0E4D-7B3F-45FE-9E81-5B04C42BB542}"/>
              </a:ext>
            </a:extLst>
          </p:cNvPr>
          <p:cNvSpPr/>
          <p:nvPr/>
        </p:nvSpPr>
        <p:spPr>
          <a:xfrm>
            <a:off x="1062507" y="2457588"/>
            <a:ext cx="6546850" cy="197274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0A28B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 </a:t>
            </a: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DD04F21-EADB-458B-9BAD-6449C49F7BB5}"/>
                  </a:ext>
                </a:extLst>
              </p:cNvPr>
              <p:cNvSpPr txBox="1"/>
              <p:nvPr/>
            </p:nvSpPr>
            <p:spPr>
              <a:xfrm>
                <a:off x="1280273" y="2614609"/>
                <a:ext cx="18722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的条件数为：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DD04F21-EADB-458B-9BAD-6449C49F7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273" y="2614609"/>
                <a:ext cx="1872271" cy="400110"/>
              </a:xfrm>
              <a:prstGeom prst="rect">
                <a:avLst/>
              </a:prstGeom>
              <a:blipFill>
                <a:blip r:embed="rId3"/>
                <a:stretch>
                  <a:fillRect t="-7576" r="-3583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B80ACC5-0A29-4335-B6DB-CA130FA7E2CE}"/>
                  </a:ext>
                </a:extLst>
              </p:cNvPr>
              <p:cNvSpPr txBox="1"/>
              <p:nvPr/>
            </p:nvSpPr>
            <p:spPr>
              <a:xfrm>
                <a:off x="1280272" y="3120039"/>
                <a:ext cx="33368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𝐶𝑜𝑛𝑑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ctrlPr>
                          <a:rPr lang="zh-CN" altLang="en-US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B80ACC5-0A29-4335-B6DB-CA130FA7E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272" y="3120039"/>
                <a:ext cx="333680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66953A1-D1BD-4F21-B66F-D66323AACA0A}"/>
                  </a:ext>
                </a:extLst>
              </p:cNvPr>
              <p:cNvSpPr txBox="1"/>
              <p:nvPr/>
            </p:nvSpPr>
            <p:spPr>
              <a:xfrm>
                <a:off x="1494831" y="1340324"/>
                <a:ext cx="6310463" cy="611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6.00001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300000.5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−300000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−100000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10000</m:t>
                              </m:r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66953A1-D1BD-4F21-B66F-D66323AAC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831" y="1340324"/>
                <a:ext cx="6310463" cy="611834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D57EB89-9F0F-4EE6-9916-E93AC78E57EE}"/>
                  </a:ext>
                </a:extLst>
              </p:cNvPr>
              <p:cNvSpPr txBox="1"/>
              <p:nvPr/>
            </p:nvSpPr>
            <p:spPr>
              <a:xfrm>
                <a:off x="1280271" y="3477115"/>
                <a:ext cx="33368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8.00001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×600000.5</m:t>
                      </m:r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D57EB89-9F0F-4EE6-9916-E93AC78E5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271" y="3477115"/>
                <a:ext cx="333680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9E57F1A-BCC9-460F-8545-28C69B9ED69A}"/>
                  </a:ext>
                </a:extLst>
              </p:cNvPr>
              <p:cNvSpPr txBox="1"/>
              <p:nvPr/>
            </p:nvSpPr>
            <p:spPr>
              <a:xfrm>
                <a:off x="1363478" y="3877225"/>
                <a:ext cx="19914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8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9E57F1A-BCC9-460F-8545-28C69B9ED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478" y="3877225"/>
                <a:ext cx="199147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6FCBEE9-DE19-42CF-9B19-6585BE50C29A}"/>
                  </a:ext>
                </a:extLst>
              </p:cNvPr>
              <p:cNvSpPr txBox="1"/>
              <p:nvPr/>
            </p:nvSpPr>
            <p:spPr>
              <a:xfrm>
                <a:off x="4572000" y="2610218"/>
                <a:ext cx="22151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解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的相对误差为：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6FCBEE9-DE19-42CF-9B19-6585BE50C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610218"/>
                <a:ext cx="2215166" cy="400110"/>
              </a:xfrm>
              <a:prstGeom prst="rect">
                <a:avLst/>
              </a:prstGeom>
              <a:blipFill>
                <a:blip r:embed="rId8"/>
                <a:stretch>
                  <a:fillRect l="-1377" t="-6061" r="-2755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32188EB-9442-445A-83DE-672CB013FDCA}"/>
                  </a:ext>
                </a:extLst>
              </p:cNvPr>
              <p:cNvSpPr txBox="1"/>
              <p:nvPr/>
            </p:nvSpPr>
            <p:spPr>
              <a:xfrm>
                <a:off x="4401341" y="3030431"/>
                <a:ext cx="3336803" cy="738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den>
                      </m:f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𝐶𝑜𝑛𝑑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</m:e>
                      </m:d>
                      <m:f>
                        <m:f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32188EB-9442-445A-83DE-672CB013F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341" y="3030431"/>
                <a:ext cx="3336803" cy="7383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85A6EBD-DB85-4E91-A7E6-6D6E0BA9FA0E}"/>
                  </a:ext>
                </a:extLst>
              </p:cNvPr>
              <p:cNvSpPr txBox="1"/>
              <p:nvPr/>
            </p:nvSpPr>
            <p:spPr>
              <a:xfrm>
                <a:off x="4492694" y="3835842"/>
                <a:ext cx="2592719" cy="529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8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10</m:t>
                        </m:r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0.00001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8.00001</m:t>
                        </m:r>
                      </m:den>
                    </m:f>
                  </m:oMath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85A6EBD-DB85-4E91-A7E6-6D6E0BA9F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694" y="3835842"/>
                <a:ext cx="2592719" cy="5296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29C8B4D-F2EB-4A5B-A68E-B0F733561F65}"/>
                  </a:ext>
                </a:extLst>
              </p:cNvPr>
              <p:cNvSpPr txBox="1"/>
              <p:nvPr/>
            </p:nvSpPr>
            <p:spPr>
              <a:xfrm>
                <a:off x="6762457" y="3884392"/>
                <a:ext cx="77469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29C8B4D-F2EB-4A5B-A68E-B0F733561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457" y="3884392"/>
                <a:ext cx="77469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4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6" grpId="0"/>
      <p:bldP spid="12" grpId="0" animBg="1"/>
      <p:bldP spid="13" grpId="0"/>
      <p:bldP spid="15" grpId="0"/>
      <p:bldP spid="11" grpId="0"/>
      <p:bldP spid="16" grpId="0"/>
      <p:bldP spid="17" grpId="0"/>
      <p:bldP spid="18" grpId="0"/>
      <p:bldP spid="20" grpId="0"/>
      <p:bldP spid="22" grpId="0"/>
      <p:bldP spid="2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4134300-50BC-4107-BDF7-9A926B24C361}"/>
              </a:ext>
            </a:extLst>
          </p:cNvPr>
          <p:cNvCxnSpPr/>
          <p:nvPr/>
        </p:nvCxnSpPr>
        <p:spPr>
          <a:xfrm flipV="1">
            <a:off x="0" y="355600"/>
            <a:ext cx="2505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F6A5596-6D6E-49CC-8B49-257D2B9A37D2}"/>
              </a:ext>
            </a:extLst>
          </p:cNvPr>
          <p:cNvCxnSpPr/>
          <p:nvPr/>
        </p:nvCxnSpPr>
        <p:spPr>
          <a:xfrm>
            <a:off x="6602413" y="368300"/>
            <a:ext cx="2541587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55A87CE7-78F9-4688-8492-432675123C43}"/>
              </a:ext>
            </a:extLst>
          </p:cNvPr>
          <p:cNvSpPr txBox="1"/>
          <p:nvPr/>
        </p:nvSpPr>
        <p:spPr>
          <a:xfrm>
            <a:off x="2622997" y="98028"/>
            <a:ext cx="38980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线性方程组的固有性态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0271697-923D-4D2A-A96F-366E47F47389}"/>
              </a:ext>
            </a:extLst>
          </p:cNvPr>
          <p:cNvSpPr/>
          <p:nvPr/>
        </p:nvSpPr>
        <p:spPr>
          <a:xfrm>
            <a:off x="1062507" y="834894"/>
            <a:ext cx="6546850" cy="163373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/>
              <p:nvPr/>
            </p:nvSpPr>
            <p:spPr>
              <a:xfrm>
                <a:off x="1161402" y="1008781"/>
                <a:ext cx="6156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若系数矩阵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有扰动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右端向量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有扰动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F50AF90-A614-4AB3-B6DB-3FD470099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402" y="1008781"/>
                <a:ext cx="6156102" cy="400110"/>
              </a:xfrm>
              <a:prstGeom prst="rect">
                <a:avLst/>
              </a:prstGeom>
              <a:blipFill>
                <a:blip r:embed="rId2"/>
                <a:stretch>
                  <a:fillRect l="-1090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7">
            <a:extLst>
              <a:ext uri="{FF2B5EF4-FFF2-40B4-BE49-F238E27FC236}">
                <a16:creationId xmlns:a16="http://schemas.microsoft.com/office/drawing/2014/main" id="{232C0E4D-7B3F-45FE-9E81-5B04C42BB542}"/>
              </a:ext>
            </a:extLst>
          </p:cNvPr>
          <p:cNvSpPr/>
          <p:nvPr/>
        </p:nvSpPr>
        <p:spPr>
          <a:xfrm>
            <a:off x="1062507" y="2671698"/>
            <a:ext cx="6546850" cy="1490663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B91A59F-6AB2-4141-A677-7AB67D6F7BE9}"/>
                  </a:ext>
                </a:extLst>
              </p:cNvPr>
              <p:cNvSpPr txBox="1"/>
              <p:nvPr/>
            </p:nvSpPr>
            <p:spPr>
              <a:xfrm>
                <a:off x="3134532" y="1462530"/>
                <a:ext cx="33684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B91A59F-6AB2-4141-A677-7AB67D6F7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532" y="1462530"/>
                <a:ext cx="336848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0B62C5-0FE6-4A5C-A7AA-694605D6AAA4}"/>
                  </a:ext>
                </a:extLst>
              </p:cNvPr>
              <p:cNvSpPr txBox="1"/>
              <p:nvPr/>
            </p:nvSpPr>
            <p:spPr>
              <a:xfrm>
                <a:off x="1389630" y="1482820"/>
                <a:ext cx="15229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𝐴𝑥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70B62C5-0FE6-4A5C-A7AA-694605D6A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630" y="1482820"/>
                <a:ext cx="152292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DBB2E4-8381-4F37-B0AE-559D24874182}"/>
                  </a:ext>
                </a:extLst>
              </p:cNvPr>
              <p:cNvSpPr txBox="1"/>
              <p:nvPr/>
            </p:nvSpPr>
            <p:spPr>
              <a:xfrm>
                <a:off x="1209764" y="1931525"/>
                <a:ext cx="6156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非常小，满足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时，我们有</a:t>
                </a:r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DBB2E4-8381-4F37-B0AE-559D24874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764" y="1931525"/>
                <a:ext cx="6156102" cy="400110"/>
              </a:xfrm>
              <a:prstGeom prst="rect">
                <a:avLst/>
              </a:prstGeom>
              <a:blipFill>
                <a:blip r:embed="rId5"/>
                <a:stretch>
                  <a:fillRect l="-990" t="-7692" b="-2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E3CE6F5-C83A-4E2C-852B-97EDFFC7A163}"/>
                  </a:ext>
                </a:extLst>
              </p:cNvPr>
              <p:cNvSpPr txBox="1"/>
              <p:nvPr/>
            </p:nvSpPr>
            <p:spPr>
              <a:xfrm>
                <a:off x="1878631" y="2859928"/>
                <a:ext cx="4675031" cy="789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E3CE6F5-C83A-4E2C-852B-97EDFFC7A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631" y="2859928"/>
                <a:ext cx="4675031" cy="789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6F4F8E0A-9F93-4D74-8C73-1A83FD0C44A8}"/>
              </a:ext>
            </a:extLst>
          </p:cNvPr>
          <p:cNvSpPr txBox="1"/>
          <p:nvPr/>
        </p:nvSpPr>
        <p:spPr>
          <a:xfrm>
            <a:off x="1534643" y="661007"/>
            <a:ext cx="126319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第三种情况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DA75FBF8-D116-4B04-AECA-54F9EAFCF98E}"/>
              </a:ext>
            </a:extLst>
          </p:cNvPr>
          <p:cNvSpPr/>
          <p:nvPr/>
        </p:nvSpPr>
        <p:spPr>
          <a:xfrm>
            <a:off x="2837135" y="1621476"/>
            <a:ext cx="274444" cy="122798"/>
          </a:xfrm>
          <a:prstGeom prst="right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070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 animBg="1"/>
      <p:bldP spid="6" grpId="0"/>
      <p:bldP spid="12" grpId="0" animBg="1"/>
      <p:bldP spid="7" grpId="0"/>
      <p:bldP spid="9" grpId="0"/>
      <p:bldP spid="32" grpId="0"/>
      <p:bldP spid="34" grpId="0"/>
      <p:bldP spid="13" grpId="0" animBg="1"/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5FAA049-63F9-4B5E-BF32-186A602703A1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007217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B6AB270-5A96-4F5D-9021-36E8E4CB1C05}"/>
              </a:ext>
            </a:extLst>
          </p:cNvPr>
          <p:cNvCxnSpPr>
            <a:cxnSpLocks/>
          </p:cNvCxnSpPr>
          <p:nvPr/>
        </p:nvCxnSpPr>
        <p:spPr>
          <a:xfrm>
            <a:off x="6136783" y="371475"/>
            <a:ext cx="3007217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EC7CB1AB-4FBA-4D45-88E8-18554443AB9C}"/>
              </a:ext>
            </a:extLst>
          </p:cNvPr>
          <p:cNvSpPr txBox="1"/>
          <p:nvPr/>
        </p:nvSpPr>
        <p:spPr>
          <a:xfrm>
            <a:off x="1919288" y="171450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线性方程组的固有性态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46166CF-89B3-4F03-92D7-E527A22D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17" y="724031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</a:t>
            </a: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5CEC102-2462-41FB-A783-13A5F650F2C2}"/>
              </a:ext>
            </a:extLst>
          </p:cNvPr>
          <p:cNvSpPr/>
          <p:nvPr/>
        </p:nvSpPr>
        <p:spPr>
          <a:xfrm>
            <a:off x="1399644" y="1240861"/>
            <a:ext cx="6810078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C22433-30D4-4747-9DF1-69B1E5FEA788}"/>
              </a:ext>
            </a:extLst>
          </p:cNvPr>
          <p:cNvSpPr/>
          <p:nvPr/>
        </p:nvSpPr>
        <p:spPr>
          <a:xfrm>
            <a:off x="1399644" y="2251989"/>
            <a:ext cx="6810078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2BCFFD0-930B-4329-9BD1-02C48A21ED48}"/>
              </a:ext>
            </a:extLst>
          </p:cNvPr>
          <p:cNvSpPr/>
          <p:nvPr/>
        </p:nvSpPr>
        <p:spPr>
          <a:xfrm>
            <a:off x="1399644" y="3220313"/>
            <a:ext cx="6810078" cy="682326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0080CE-1EA3-4CE6-9613-3BAA2FEBD102}"/>
              </a:ext>
            </a:extLst>
          </p:cNvPr>
          <p:cNvSpPr txBox="1"/>
          <p:nvPr/>
        </p:nvSpPr>
        <p:spPr>
          <a:xfrm>
            <a:off x="1560722" y="1343964"/>
            <a:ext cx="5928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病态方程组和病态矩阵的具体实例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6841C3-01C8-4EF7-A18A-EA79E22D67FB}"/>
              </a:ext>
            </a:extLst>
          </p:cNvPr>
          <p:cNvSpPr txBox="1"/>
          <p:nvPr/>
        </p:nvSpPr>
        <p:spPr>
          <a:xfrm>
            <a:off x="1560722" y="2387453"/>
            <a:ext cx="6470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就几种情形分别对方程组的解进行误差分析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20AAD-A058-4EAC-9317-AC35E07FB68B}"/>
              </a:ext>
            </a:extLst>
          </p:cNvPr>
          <p:cNvSpPr txBox="1"/>
          <p:nvPr/>
        </p:nvSpPr>
        <p:spPr>
          <a:xfrm>
            <a:off x="1560722" y="3330643"/>
            <a:ext cx="6361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推导出反映方程组病态与否的标准量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条件数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37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10" grpId="0" animBg="1"/>
      <p:bldP spid="12" grpId="0" animBg="1"/>
      <p:bldP spid="13" grpId="0" animBg="1"/>
      <p:bldP spid="4" grpId="0"/>
      <p:bldP spid="6" grpId="0"/>
      <p:bldP spid="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93C17F2-39D4-4847-99B4-0C0A4BA80D0F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34D8978-146A-48B6-949D-16D9456BA2B0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CF67852-3D76-4AF1-A2FF-90652B05B8D6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2.13 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病态方程组的处理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graphicFrame>
        <p:nvGraphicFramePr>
          <p:cNvPr id="59394" name="Object 8">
            <a:extLst>
              <a:ext uri="{FF2B5EF4-FFF2-40B4-BE49-F238E27FC236}">
                <a16:creationId xmlns:a16="http://schemas.microsoft.com/office/drawing/2014/main" id="{DCF862C7-8FD7-409B-A64F-41EA8AF2A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4225" y="227330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35" name="Equation" r:id="rId3" imgW="452253" imgH="678380" progId="Equation.DSMT4">
                  <p:embed/>
                </p:oleObj>
              </mc:Choice>
              <mc:Fallback>
                <p:oleObj name="Equation" r:id="rId3" imgW="452253" imgH="678380" progId="Equation.DSMT4">
                  <p:embed/>
                  <p:pic>
                    <p:nvPicPr>
                      <p:cNvPr id="59394" name="Object 8">
                        <a:extLst>
                          <a:ext uri="{FF2B5EF4-FFF2-40B4-BE49-F238E27FC236}">
                            <a16:creationId xmlns:a16="http://schemas.microsoft.com/office/drawing/2014/main" id="{DCF862C7-8FD7-409B-A64F-41EA8AF2A4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227330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>
            <a:extLst>
              <a:ext uri="{FF2B5EF4-FFF2-40B4-BE49-F238E27FC236}">
                <a16:creationId xmlns:a16="http://schemas.microsoft.com/office/drawing/2014/main" id="{D33D5E65-16CB-4CAC-9058-A291F1298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317" y="941842"/>
            <a:ext cx="6443662" cy="463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 初步判断方程组是病态的几种方法：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361E02-A9C5-408D-AFA3-47DAB557CFE4}"/>
              </a:ext>
            </a:extLst>
          </p:cNvPr>
          <p:cNvSpPr/>
          <p:nvPr/>
        </p:nvSpPr>
        <p:spPr>
          <a:xfrm>
            <a:off x="1266824" y="2489200"/>
            <a:ext cx="6486525" cy="6114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039E9C7-4EC6-4184-B7CD-EFA6E853A84B}"/>
              </a:ext>
            </a:extLst>
          </p:cNvPr>
          <p:cNvSpPr/>
          <p:nvPr/>
        </p:nvSpPr>
        <p:spPr>
          <a:xfrm>
            <a:off x="1044317" y="1716293"/>
            <a:ext cx="6860314" cy="2554254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EF6427-F103-4AED-9F02-CE973C6C7474}"/>
              </a:ext>
            </a:extLst>
          </p:cNvPr>
          <p:cNvSpPr txBox="1"/>
          <p:nvPr/>
        </p:nvSpPr>
        <p:spPr>
          <a:xfrm>
            <a:off x="1357523" y="1868221"/>
            <a:ext cx="6033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矩阵元素间数量级差很大，且无一定规律；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88B60E-8F65-46EE-89C4-3596249053DD}"/>
              </a:ext>
            </a:extLst>
          </p:cNvPr>
          <p:cNvSpPr txBox="1"/>
          <p:nvPr/>
        </p:nvSpPr>
        <p:spPr>
          <a:xfrm>
            <a:off x="1357522" y="2402902"/>
            <a:ext cx="6033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矩阵的行列式值相对很小；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77D9F6-D9E0-4BAE-967A-ED48F81ADDA8}"/>
              </a:ext>
            </a:extLst>
          </p:cNvPr>
          <p:cNvSpPr txBox="1"/>
          <p:nvPr/>
        </p:nvSpPr>
        <p:spPr>
          <a:xfrm>
            <a:off x="1357522" y="2899792"/>
            <a:ext cx="6233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列主元消去法求解过程中出现数量级很小的主元素；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506AD62-8BB2-4560-BB33-78478FD10FF3}"/>
                  </a:ext>
                </a:extLst>
              </p:cNvPr>
              <p:cNvSpPr txBox="1"/>
              <p:nvPr/>
            </p:nvSpPr>
            <p:spPr>
              <a:xfrm>
                <a:off x="1357521" y="3335551"/>
                <a:ext cx="6033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4.</a:t>
                </a:r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数值求解过程中，计算解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的剩余向量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𝑏𝑥</m:t>
                    </m:r>
                  </m:oMath>
                </a14:m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506AD62-8BB2-4560-BB33-78478FD10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521" y="3335551"/>
                <a:ext cx="6033879" cy="400110"/>
              </a:xfrm>
              <a:prstGeom prst="rect">
                <a:avLst/>
              </a:prstGeom>
              <a:blipFill>
                <a:blip r:embed="rId5"/>
                <a:stretch>
                  <a:fillRect l="-1111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F12D02D-7A73-43C3-8519-E0DA1E2B91FF}"/>
                  </a:ext>
                </a:extLst>
              </p:cNvPr>
              <p:cNvSpPr txBox="1"/>
              <p:nvPr/>
            </p:nvSpPr>
            <p:spPr>
              <a:xfrm>
                <a:off x="1359592" y="3797615"/>
                <a:ext cx="6033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很小时，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仍不符合要求 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F12D02D-7A73-43C3-8519-E0DA1E2B9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592" y="3797615"/>
                <a:ext cx="6033879" cy="400110"/>
              </a:xfrm>
              <a:prstGeom prst="rect">
                <a:avLst/>
              </a:prstGeom>
              <a:blipFill>
                <a:blip r:embed="rId6"/>
                <a:stretch>
                  <a:fillRect t="-7576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40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  <p:bldP spid="13" grpId="0" animBg="1"/>
      <p:bldP spid="8" grpId="0"/>
      <p:bldP spid="15" grpId="0"/>
      <p:bldP spid="16" grpId="0"/>
      <p:bldP spid="17" grpId="0"/>
      <p:bldP spid="1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93C17F2-39D4-4847-99B4-0C0A4BA80D0F}"/>
              </a:ext>
            </a:extLst>
          </p:cNvPr>
          <p:cNvCxnSpPr>
            <a:cxnSpLocks/>
          </p:cNvCxnSpPr>
          <p:nvPr/>
        </p:nvCxnSpPr>
        <p:spPr>
          <a:xfrm flipV="1">
            <a:off x="0" y="371475"/>
            <a:ext cx="2594113" cy="1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34D8978-146A-48B6-949D-16D9456BA2B0}"/>
              </a:ext>
            </a:extLst>
          </p:cNvPr>
          <p:cNvCxnSpPr>
            <a:cxnSpLocks/>
          </p:cNvCxnSpPr>
          <p:nvPr/>
        </p:nvCxnSpPr>
        <p:spPr>
          <a:xfrm>
            <a:off x="6341165" y="371475"/>
            <a:ext cx="2802835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CF67852-3D76-4AF1-A2FF-90652B05B8D6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病态方程组的处理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B773468-64D3-4B3F-A0D5-F9D00035002E}"/>
              </a:ext>
            </a:extLst>
          </p:cNvPr>
          <p:cNvSpPr/>
          <p:nvPr/>
        </p:nvSpPr>
        <p:spPr>
          <a:xfrm>
            <a:off x="1182758" y="945776"/>
            <a:ext cx="2514599" cy="673738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2798BF8-F3B2-453E-97E0-03820133D746}"/>
                  </a:ext>
                </a:extLst>
              </p:cNvPr>
              <p:cNvSpPr txBox="1"/>
              <p:nvPr/>
            </p:nvSpPr>
            <p:spPr>
              <a:xfrm>
                <a:off x="1696588" y="1089468"/>
                <a:ext cx="14869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𝐴𝑥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2798BF8-F3B2-453E-97E0-03820133D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588" y="1089468"/>
                <a:ext cx="1486937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1E9FFD43-C172-4256-B394-1AF7AFF827EB}"/>
              </a:ext>
            </a:extLst>
          </p:cNvPr>
          <p:cNvSpPr/>
          <p:nvPr/>
        </p:nvSpPr>
        <p:spPr>
          <a:xfrm>
            <a:off x="5238750" y="945627"/>
            <a:ext cx="2514599" cy="673738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4F52496-A388-43CE-8A28-598FDA1FC9CF}"/>
                  </a:ext>
                </a:extLst>
              </p:cNvPr>
              <p:cNvSpPr txBox="1"/>
              <p:nvPr/>
            </p:nvSpPr>
            <p:spPr>
              <a:xfrm>
                <a:off x="5488884" y="1080651"/>
                <a:ext cx="2014330" cy="417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0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4F52496-A388-43CE-8A28-598FDA1FC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884" y="1080651"/>
                <a:ext cx="2014330" cy="417743"/>
              </a:xfrm>
              <a:prstGeom prst="rect">
                <a:avLst/>
              </a:prstGeom>
              <a:blipFill>
                <a:blip r:embed="rId3"/>
                <a:stretch>
                  <a:fillRect t="-7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8991811-42BD-4834-9831-B26F3F6F440C}"/>
              </a:ext>
            </a:extLst>
          </p:cNvPr>
          <p:cNvCxnSpPr>
            <a:cxnSpLocks/>
          </p:cNvCxnSpPr>
          <p:nvPr/>
        </p:nvCxnSpPr>
        <p:spPr>
          <a:xfrm flipV="1">
            <a:off x="3766726" y="1282496"/>
            <a:ext cx="1391062" cy="20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D7952E33-BD35-4273-905B-7C4265319FC3}"/>
              </a:ext>
            </a:extLst>
          </p:cNvPr>
          <p:cNvSpPr txBox="1"/>
          <p:nvPr/>
        </p:nvSpPr>
        <p:spPr>
          <a:xfrm>
            <a:off x="3847688" y="945627"/>
            <a:ext cx="1229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等价转化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713573C-B028-46F1-8481-ED54C7E55F0E}"/>
              </a:ext>
            </a:extLst>
          </p:cNvPr>
          <p:cNvSpPr txBox="1"/>
          <p:nvPr/>
        </p:nvSpPr>
        <p:spPr>
          <a:xfrm>
            <a:off x="3670853" y="934396"/>
            <a:ext cx="1486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条件数降低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CA0585D-40F0-4D5F-A77B-C03D163E4FD3}"/>
              </a:ext>
            </a:extLst>
          </p:cNvPr>
          <p:cNvSpPr txBox="1"/>
          <p:nvPr/>
        </p:nvSpPr>
        <p:spPr>
          <a:xfrm>
            <a:off x="3600344" y="1299431"/>
            <a:ext cx="181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化病态为非病态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53FB792-62FD-4D0A-BCB2-8B88734BFEC8}"/>
                  </a:ext>
                </a:extLst>
              </p:cNvPr>
              <p:cNvSpPr txBox="1"/>
              <p:nvPr/>
            </p:nvSpPr>
            <p:spPr>
              <a:xfrm>
                <a:off x="3847688" y="2136529"/>
                <a:ext cx="1997765" cy="40645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53FB792-62FD-4D0A-BCB2-8B88734BF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688" y="2136529"/>
                <a:ext cx="1997765" cy="406458"/>
              </a:xfrm>
              <a:prstGeom prst="rect">
                <a:avLst/>
              </a:prstGeom>
              <a:blipFill>
                <a:blip r:embed="rId4"/>
                <a:stretch>
                  <a:fillRect t="-289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1A58F13-C6DC-494B-988E-531CEC315658}"/>
                  </a:ext>
                </a:extLst>
              </p:cNvPr>
              <p:cNvSpPr txBox="1"/>
              <p:nvPr/>
            </p:nvSpPr>
            <p:spPr>
              <a:xfrm>
                <a:off x="5921446" y="2139704"/>
                <a:ext cx="976311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𝐶𝑥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1A58F13-C6DC-494B-988E-531CEC315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46" y="2139704"/>
                <a:ext cx="97631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B92EC48-49E5-432E-AD8E-52CBF4F23F08}"/>
                  </a:ext>
                </a:extLst>
              </p:cNvPr>
              <p:cNvSpPr txBox="1"/>
              <p:nvPr/>
            </p:nvSpPr>
            <p:spPr>
              <a:xfrm>
                <a:off x="6980894" y="2132843"/>
                <a:ext cx="1329980" cy="4138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𝑏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B92EC48-49E5-432E-AD8E-52CBF4F23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894" y="2132843"/>
                <a:ext cx="1329980" cy="413831"/>
              </a:xfrm>
              <a:prstGeom prst="rect">
                <a:avLst/>
              </a:prstGeom>
              <a:blipFill>
                <a:blip r:embed="rId6"/>
                <a:stretch>
                  <a:fillRect t="-285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392" name="直接箭头连接符 59391">
            <a:extLst>
              <a:ext uri="{FF2B5EF4-FFF2-40B4-BE49-F238E27FC236}">
                <a16:creationId xmlns:a16="http://schemas.microsoft.com/office/drawing/2014/main" id="{421773AF-421E-4F84-9103-019F00503D2A}"/>
              </a:ext>
            </a:extLst>
          </p:cNvPr>
          <p:cNvCxnSpPr>
            <a:cxnSpLocks/>
          </p:cNvCxnSpPr>
          <p:nvPr/>
        </p:nvCxnSpPr>
        <p:spPr>
          <a:xfrm flipH="1">
            <a:off x="4462257" y="1475827"/>
            <a:ext cx="1724233" cy="6298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95" name="直接箭头连接符 59394">
            <a:extLst>
              <a:ext uri="{FF2B5EF4-FFF2-40B4-BE49-F238E27FC236}">
                <a16:creationId xmlns:a16="http://schemas.microsoft.com/office/drawing/2014/main" id="{E12CCE78-69F2-4CE4-A376-9F733D737744}"/>
              </a:ext>
            </a:extLst>
          </p:cNvPr>
          <p:cNvCxnSpPr>
            <a:cxnSpLocks/>
          </p:cNvCxnSpPr>
          <p:nvPr/>
        </p:nvCxnSpPr>
        <p:spPr>
          <a:xfrm>
            <a:off x="6341165" y="1498394"/>
            <a:ext cx="0" cy="5655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97" name="直接箭头连接符 59396">
            <a:extLst>
              <a:ext uri="{FF2B5EF4-FFF2-40B4-BE49-F238E27FC236}">
                <a16:creationId xmlns:a16="http://schemas.microsoft.com/office/drawing/2014/main" id="{397345CC-D70A-46C8-AAF9-F773F77F724C}"/>
              </a:ext>
            </a:extLst>
          </p:cNvPr>
          <p:cNvCxnSpPr/>
          <p:nvPr/>
        </p:nvCxnSpPr>
        <p:spPr>
          <a:xfrm>
            <a:off x="6917010" y="1422289"/>
            <a:ext cx="748127" cy="6641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04" name="直接箭头连接符 59403">
            <a:extLst>
              <a:ext uri="{FF2B5EF4-FFF2-40B4-BE49-F238E27FC236}">
                <a16:creationId xmlns:a16="http://schemas.microsoft.com/office/drawing/2014/main" id="{981FC824-E6FE-47FF-8F81-0A9CA5A0E39F}"/>
              </a:ext>
            </a:extLst>
          </p:cNvPr>
          <p:cNvCxnSpPr/>
          <p:nvPr/>
        </p:nvCxnSpPr>
        <p:spPr>
          <a:xfrm>
            <a:off x="6589643" y="2464904"/>
            <a:ext cx="0" cy="387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07" name="椭圆 59406">
            <a:extLst>
              <a:ext uri="{FF2B5EF4-FFF2-40B4-BE49-F238E27FC236}">
                <a16:creationId xmlns:a16="http://schemas.microsoft.com/office/drawing/2014/main" id="{8B9F03E8-5BD3-4813-8F4F-65DCF81026A8}"/>
              </a:ext>
            </a:extLst>
          </p:cNvPr>
          <p:cNvSpPr/>
          <p:nvPr/>
        </p:nvSpPr>
        <p:spPr>
          <a:xfrm>
            <a:off x="5751754" y="2899810"/>
            <a:ext cx="1675777" cy="540399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9408" name="文本框 59407">
            <a:extLst>
              <a:ext uri="{FF2B5EF4-FFF2-40B4-BE49-F238E27FC236}">
                <a16:creationId xmlns:a16="http://schemas.microsoft.com/office/drawing/2014/main" id="{0FBCE82B-60F2-4335-9DA7-A6C735FF25C3}"/>
              </a:ext>
            </a:extLst>
          </p:cNvPr>
          <p:cNvSpPr txBox="1"/>
          <p:nvPr/>
        </p:nvSpPr>
        <p:spPr>
          <a:xfrm>
            <a:off x="5921446" y="2975068"/>
            <a:ext cx="146415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预条件矩阵</a:t>
            </a:r>
          </a:p>
          <a:p>
            <a:endParaRPr lang="zh-CN" altLang="en-US" dirty="0"/>
          </a:p>
        </p:txBody>
      </p:sp>
      <p:cxnSp>
        <p:nvCxnSpPr>
          <p:cNvPr id="59410" name="直接箭头连接符 59409">
            <a:extLst>
              <a:ext uri="{FF2B5EF4-FFF2-40B4-BE49-F238E27FC236}">
                <a16:creationId xmlns:a16="http://schemas.microsoft.com/office/drawing/2014/main" id="{CB7B3AD5-C02C-44CA-8C66-782871392769}"/>
              </a:ext>
            </a:extLst>
          </p:cNvPr>
          <p:cNvCxnSpPr>
            <a:cxnSpLocks/>
          </p:cNvCxnSpPr>
          <p:nvPr/>
        </p:nvCxnSpPr>
        <p:spPr>
          <a:xfrm flipH="1">
            <a:off x="4572000" y="3170583"/>
            <a:ext cx="106348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413" name="文本框 59412">
                <a:extLst>
                  <a:ext uri="{FF2B5EF4-FFF2-40B4-BE49-F238E27FC236}">
                    <a16:creationId xmlns:a16="http://schemas.microsoft.com/office/drawing/2014/main" id="{00C0EEBC-3B62-4347-94AF-459EAAF3464B}"/>
                  </a:ext>
                </a:extLst>
              </p:cNvPr>
              <p:cNvSpPr txBox="1"/>
              <p:nvPr/>
            </p:nvSpPr>
            <p:spPr>
              <a:xfrm>
                <a:off x="675861" y="2750830"/>
                <a:ext cx="3588026" cy="41947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a)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𝐶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𝑜𝑛𝑑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e>
                    </m:acc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𝐶𝑜𝑛𝑑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)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9413" name="文本框 59412">
                <a:extLst>
                  <a:ext uri="{FF2B5EF4-FFF2-40B4-BE49-F238E27FC236}">
                    <a16:creationId xmlns:a16="http://schemas.microsoft.com/office/drawing/2014/main" id="{00C0EEBC-3B62-4347-94AF-459EAAF34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61" y="2750830"/>
                <a:ext cx="3588026" cy="419474"/>
              </a:xfrm>
              <a:prstGeom prst="rect">
                <a:avLst/>
              </a:prstGeom>
              <a:blipFill>
                <a:blip r:embed="rId7"/>
                <a:stretch>
                  <a:fillRect l="-1695" t="-2817" b="-2394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18BAB7FD-E15F-490B-88F3-D51A766517BB}"/>
                  </a:ext>
                </a:extLst>
              </p:cNvPr>
              <p:cNvSpPr txBox="1"/>
              <p:nvPr/>
            </p:nvSpPr>
            <p:spPr>
              <a:xfrm>
                <a:off x="672239" y="3288854"/>
                <a:ext cx="3588026" cy="4001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b)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𝐶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𝑧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𝑑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容易求解</a:t>
                </a:r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18BAB7FD-E15F-490B-88F3-D51A76651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39" y="3288854"/>
                <a:ext cx="3588026" cy="400110"/>
              </a:xfrm>
              <a:prstGeom prst="rect">
                <a:avLst/>
              </a:prstGeom>
              <a:blipFill>
                <a:blip r:embed="rId8"/>
                <a:stretch>
                  <a:fillRect l="-1523" t="-8955" b="-2686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14" name="文本框 59413">
            <a:extLst>
              <a:ext uri="{FF2B5EF4-FFF2-40B4-BE49-F238E27FC236}">
                <a16:creationId xmlns:a16="http://schemas.microsoft.com/office/drawing/2014/main" id="{8526A9AA-C01C-4820-8D15-217B3392B11D}"/>
              </a:ext>
            </a:extLst>
          </p:cNvPr>
          <p:cNvSpPr txBox="1"/>
          <p:nvPr/>
        </p:nvSpPr>
        <p:spPr>
          <a:xfrm>
            <a:off x="4824415" y="2816066"/>
            <a:ext cx="788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满足要求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4743ACF-8CA6-4D71-8DCE-1442EA9FC28B}"/>
              </a:ext>
            </a:extLst>
          </p:cNvPr>
          <p:cNvSpPr txBox="1"/>
          <p:nvPr/>
        </p:nvSpPr>
        <p:spPr>
          <a:xfrm>
            <a:off x="4857648" y="2791974"/>
            <a:ext cx="788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？？？？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15" name="文本框 59414">
                <a:extLst>
                  <a:ext uri="{FF2B5EF4-FFF2-40B4-BE49-F238E27FC236}">
                    <a16:creationId xmlns:a16="http://schemas.microsoft.com/office/drawing/2014/main" id="{A9D22B6A-BAA9-42C4-886F-C9559B24E8F6}"/>
                  </a:ext>
                </a:extLst>
              </p:cNvPr>
              <p:cNvSpPr txBox="1"/>
              <p:nvPr/>
            </p:nvSpPr>
            <p:spPr>
              <a:xfrm>
                <a:off x="672239" y="3868933"/>
                <a:ext cx="6501126" cy="513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ea typeface="华文楷体" panose="02010600040101010101" pitchFamily="2" charset="-122"/>
                  </a:rPr>
                  <a:t>注：特别地，当</a:t>
                </a:r>
                <a:r>
                  <a:rPr lang="en-US" altLang="zh-CN" sz="20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对称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正定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时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可取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𝐶</m:t>
                    </m:r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box>
                          <m:box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r>
                  <a:rPr lang="en-US" altLang="zh-CN" sz="20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20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9415" name="文本框 59414">
                <a:extLst>
                  <a:ext uri="{FF2B5EF4-FFF2-40B4-BE49-F238E27FC236}">
                    <a16:creationId xmlns:a16="http://schemas.microsoft.com/office/drawing/2014/main" id="{A9D22B6A-BAA9-42C4-886F-C9559B24E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39" y="3868933"/>
                <a:ext cx="6501126" cy="513089"/>
              </a:xfrm>
              <a:prstGeom prst="rect">
                <a:avLst/>
              </a:prstGeom>
              <a:blipFill>
                <a:blip r:embed="rId9"/>
                <a:stretch>
                  <a:fillRect l="-93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16" name="右大括号 59415">
            <a:extLst>
              <a:ext uri="{FF2B5EF4-FFF2-40B4-BE49-F238E27FC236}">
                <a16:creationId xmlns:a16="http://schemas.microsoft.com/office/drawing/2014/main" id="{86EF32AC-E778-452D-8A0A-9DC253C40ED0}"/>
              </a:ext>
            </a:extLst>
          </p:cNvPr>
          <p:cNvSpPr/>
          <p:nvPr/>
        </p:nvSpPr>
        <p:spPr>
          <a:xfrm>
            <a:off x="4414321" y="2975068"/>
            <a:ext cx="45719" cy="465137"/>
          </a:xfrm>
          <a:prstGeom prst="rightBrac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AA7DA2EE-2859-4A07-89AF-E70BC0416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013" y="511541"/>
            <a:ext cx="4155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预条件处理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472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5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8" dur="20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10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59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/>
                                        <p:tgtEl>
                                          <p:spTgt spid="59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0" dur="20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9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59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6" grpId="0"/>
      <p:bldP spid="19" grpId="0" animBg="1"/>
      <p:bldP spid="9" grpId="0"/>
      <p:bldP spid="23" grpId="0"/>
      <p:bldP spid="23" grpId="1"/>
      <p:bldP spid="25" grpId="0"/>
      <p:bldP spid="28" grpId="0"/>
      <p:bldP spid="29" grpId="0" animBg="1"/>
      <p:bldP spid="31" grpId="0" animBg="1"/>
      <p:bldP spid="32" grpId="0" animBg="1"/>
      <p:bldP spid="59407" grpId="0" animBg="1"/>
      <p:bldP spid="59408" grpId="0"/>
      <p:bldP spid="59413" grpId="0" animBg="1"/>
      <p:bldP spid="55" grpId="0" animBg="1"/>
      <p:bldP spid="59414" grpId="0"/>
      <p:bldP spid="59414" grpId="1"/>
      <p:bldP spid="59" grpId="0"/>
      <p:bldP spid="59415" grpId="0"/>
      <p:bldP spid="59416" grpId="0" animBg="1"/>
      <p:bldP spid="3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93C17F2-39D4-4847-99B4-0C0A4BA80D0F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34D8978-146A-48B6-949D-16D9456BA2B0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CF67852-3D76-4AF1-A2FF-90652B05B8D6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病态方程组的处理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graphicFrame>
        <p:nvGraphicFramePr>
          <p:cNvPr id="59394" name="Object 8">
            <a:extLst>
              <a:ext uri="{FF2B5EF4-FFF2-40B4-BE49-F238E27FC236}">
                <a16:creationId xmlns:a16="http://schemas.microsoft.com/office/drawing/2014/main" id="{DCF862C7-8FD7-409B-A64F-41EA8AF2A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4225" y="227330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59" name="Equation" r:id="rId3" imgW="452253" imgH="678380" progId="Equation.DSMT4">
                  <p:embed/>
                </p:oleObj>
              </mc:Choice>
              <mc:Fallback>
                <p:oleObj name="Equation" r:id="rId3" imgW="452253" imgH="678380" progId="Equation.DSMT4">
                  <p:embed/>
                  <p:pic>
                    <p:nvPicPr>
                      <p:cNvPr id="59394" name="Object 8">
                        <a:extLst>
                          <a:ext uri="{FF2B5EF4-FFF2-40B4-BE49-F238E27FC236}">
                            <a16:creationId xmlns:a16="http://schemas.microsoft.com/office/drawing/2014/main" id="{DCF862C7-8FD7-409B-A64F-41EA8AF2A4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227330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985B70-9676-4AFF-BD9B-C1EB2E1D9403}"/>
              </a:ext>
            </a:extLst>
          </p:cNvPr>
          <p:cNvSpPr/>
          <p:nvPr/>
        </p:nvSpPr>
        <p:spPr>
          <a:xfrm>
            <a:off x="1162050" y="659099"/>
            <a:ext cx="6362700" cy="1450975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7074392-980A-4136-89CE-E09E9F1B3249}"/>
                  </a:ext>
                </a:extLst>
              </p:cNvPr>
              <p:cNvSpPr txBox="1"/>
              <p:nvPr/>
            </p:nvSpPr>
            <p:spPr>
              <a:xfrm>
                <a:off x="1398587" y="793497"/>
                <a:ext cx="5778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（事后误差估计）</a:t>
                </a:r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为非奇异矩阵，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𝐴𝑥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的精确解</a:t>
                </a:r>
                <a:r>
                  <a:rPr lang="en-US" altLang="zh-CN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是此方程组的近似解，</a:t>
                </a:r>
                <a:r>
                  <a:rPr lang="en-US" altLang="zh-CN" sz="16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𝑟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160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−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acc>
                      <m:accPr>
                        <m:chr m:val="̃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CN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则</a:t>
                </a:r>
                <a:endParaRPr lang="en-US" altLang="zh-CN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7074392-980A-4136-89CE-E09E9F1B3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587" y="793497"/>
                <a:ext cx="5778500" cy="584775"/>
              </a:xfrm>
              <a:prstGeom prst="rect">
                <a:avLst/>
              </a:prstGeom>
              <a:blipFill>
                <a:blip r:embed="rId5"/>
                <a:stretch>
                  <a:fillRect l="-527" t="-2083" b="-13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E28A1A6-F1B6-4245-8FDC-CA6EB31DF00F}"/>
                  </a:ext>
                </a:extLst>
              </p:cNvPr>
              <p:cNvSpPr txBox="1"/>
              <p:nvPr/>
            </p:nvSpPr>
            <p:spPr>
              <a:xfrm>
                <a:off x="3135487" y="1439181"/>
                <a:ext cx="2324100" cy="601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𝐶𝑜𝑛𝑑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E28A1A6-F1B6-4245-8FDC-CA6EB31DF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487" y="1439181"/>
                <a:ext cx="2324100" cy="6014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1B92B9D-D183-4629-90AE-BC184B18193C}"/>
              </a:ext>
            </a:extLst>
          </p:cNvPr>
          <p:cNvSpPr/>
          <p:nvPr/>
        </p:nvSpPr>
        <p:spPr>
          <a:xfrm>
            <a:off x="1184274" y="2170983"/>
            <a:ext cx="6336987" cy="1312752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04FDC2-5A8F-4F13-BF20-3D4EB43680EC}"/>
              </a:ext>
            </a:extLst>
          </p:cNvPr>
          <p:cNvSpPr txBox="1"/>
          <p:nvPr/>
        </p:nvSpPr>
        <p:spPr>
          <a:xfrm>
            <a:off x="1294528" y="2313872"/>
            <a:ext cx="596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F43795D-20F1-4885-B1E4-C9CEBF16DD7B}"/>
                  </a:ext>
                </a:extLst>
              </p:cNvPr>
              <p:cNvSpPr txBox="1"/>
              <p:nvPr/>
            </p:nvSpPr>
            <p:spPr>
              <a:xfrm>
                <a:off x="2025830" y="2568395"/>
                <a:ext cx="86896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𝐴𝑥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</m:oMath>
                  </m:oMathPara>
                </a14:m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1F43795D-20F1-4885-B1E4-C9CEBF16D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830" y="2568395"/>
                <a:ext cx="86896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0E37B95-07FE-4DBA-B821-41D913AD52D9}"/>
                  </a:ext>
                </a:extLst>
              </p:cNvPr>
              <p:cNvSpPr txBox="1"/>
              <p:nvPr/>
            </p:nvSpPr>
            <p:spPr>
              <a:xfrm>
                <a:off x="1815133" y="2288867"/>
                <a:ext cx="13017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acc>
                        <m:accPr>
                          <m:chr m:val="̃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16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16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  <m:r>
                        <a:rPr lang="en-US" altLang="zh-CN" sz="16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𝑟</m:t>
                      </m:r>
                    </m:oMath>
                  </m:oMathPara>
                </a14:m>
                <a:endParaRPr lang="zh-CN" altLang="en-US" sz="160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0E37B95-07FE-4DBA-B821-41D913AD5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133" y="2288867"/>
                <a:ext cx="130175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2791ED-E76A-4991-AEC5-BB13E91498DA}"/>
                  </a:ext>
                </a:extLst>
              </p:cNvPr>
              <p:cNvSpPr txBox="1"/>
              <p:nvPr/>
            </p:nvSpPr>
            <p:spPr>
              <a:xfrm>
                <a:off x="1970848" y="2297001"/>
                <a:ext cx="13017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𝑟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𝑏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−</m:t>
                      </m:r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acc>
                        <m:accPr>
                          <m:chr m:val="̃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16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 </m:t>
                      </m:r>
                    </m:oMath>
                  </m:oMathPara>
                </a14:m>
                <a:endParaRPr lang="zh-CN" altLang="en-US" sz="160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02791ED-E76A-4991-AEC5-BB13E9149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848" y="2297001"/>
                <a:ext cx="1301750" cy="338554"/>
              </a:xfrm>
              <a:prstGeom prst="rect">
                <a:avLst/>
              </a:prstGeom>
              <a:blipFill>
                <a:blip r:embed="rId9"/>
                <a:stretch>
                  <a:fillRect r="-7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右大括号 19">
            <a:extLst>
              <a:ext uri="{FF2B5EF4-FFF2-40B4-BE49-F238E27FC236}">
                <a16:creationId xmlns:a16="http://schemas.microsoft.com/office/drawing/2014/main" id="{7C2516F9-2EEC-419D-83DE-5364A1F90DF6}"/>
              </a:ext>
            </a:extLst>
          </p:cNvPr>
          <p:cNvSpPr/>
          <p:nvPr/>
        </p:nvSpPr>
        <p:spPr>
          <a:xfrm>
            <a:off x="3206638" y="2483149"/>
            <a:ext cx="131919" cy="28854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284E509-13AD-44D7-88F0-E2A3FD6E3468}"/>
                  </a:ext>
                </a:extLst>
              </p:cNvPr>
              <p:cNvSpPr txBox="1"/>
              <p:nvPr/>
            </p:nvSpPr>
            <p:spPr>
              <a:xfrm>
                <a:off x="3409589" y="2466278"/>
                <a:ext cx="36704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284E509-13AD-44D7-88F0-E2A3FD6E3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589" y="2466278"/>
                <a:ext cx="367048" cy="2923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B0EC4F5-ABDE-46C5-B3EA-16A1DE27F6D0}"/>
                  </a:ext>
                </a:extLst>
              </p:cNvPr>
              <p:cNvSpPr txBox="1"/>
              <p:nvPr/>
            </p:nvSpPr>
            <p:spPr>
              <a:xfrm>
                <a:off x="3817379" y="2446086"/>
                <a:ext cx="139422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𝐴</m:t>
                      </m:r>
                      <m:d>
                        <m:d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6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𝑟</m:t>
                      </m:r>
                    </m:oMath>
                  </m:oMathPara>
                </a14:m>
                <a:endParaRPr lang="zh-CN" altLang="en-US" sz="160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B0EC4F5-ABDE-46C5-B3EA-16A1DE27F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379" y="2446086"/>
                <a:ext cx="139422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8F57CBD-CFCF-4C85-8294-34A84DB8E2A1}"/>
                  </a:ext>
                </a:extLst>
              </p:cNvPr>
              <p:cNvSpPr txBox="1"/>
              <p:nvPr/>
            </p:nvSpPr>
            <p:spPr>
              <a:xfrm>
                <a:off x="3733799" y="2443195"/>
                <a:ext cx="1631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</m:t>
                          </m:r>
                          <m:acc>
                            <m:accPr>
                              <m:chr m:val="̃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16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sz="160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zh-CN" altLang="en-US" sz="160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𝑟</m:t>
                      </m:r>
                    </m:oMath>
                  </m:oMathPara>
                </a14:m>
                <a:endParaRPr lang="zh-CN" altLang="en-US" sz="160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8F57CBD-CFCF-4C85-8294-34A84DB8E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799" y="2443195"/>
                <a:ext cx="1631954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B1FCDAC-7111-4974-B071-C7EE39F9FBCC}"/>
                  </a:ext>
                </a:extLst>
              </p:cNvPr>
              <p:cNvSpPr txBox="1"/>
              <p:nvPr/>
            </p:nvSpPr>
            <p:spPr>
              <a:xfrm>
                <a:off x="3613085" y="2458144"/>
                <a:ext cx="22249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𝑥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zh-CN" altLang="en-US" sz="1600" i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B1FCDAC-7111-4974-B071-C7EE39F9F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085" y="2458144"/>
                <a:ext cx="2224915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43EF61D-777E-4B6B-B489-B28A0BA71112}"/>
                  </a:ext>
                </a:extLst>
              </p:cNvPr>
              <p:cNvSpPr txBox="1"/>
              <p:nvPr/>
            </p:nvSpPr>
            <p:spPr>
              <a:xfrm>
                <a:off x="3568685" y="2966593"/>
                <a:ext cx="415903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43EF61D-777E-4B6B-B489-B28A0BA71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685" y="2966593"/>
                <a:ext cx="415903" cy="2923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6D838D4-C7BE-4C66-A2E2-126BC352D71D}"/>
                  </a:ext>
                </a:extLst>
              </p:cNvPr>
              <p:cNvSpPr txBox="1"/>
              <p:nvPr/>
            </p:nvSpPr>
            <p:spPr>
              <a:xfrm>
                <a:off x="1339981" y="2955594"/>
                <a:ext cx="231752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6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𝑏</m:t>
                        </m:r>
                      </m:e>
                    </m:d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𝐴𝑥</m:t>
                        </m:r>
                      </m:e>
                    </m:d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16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16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6D838D4-C7BE-4C66-A2E2-126BC352D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981" y="2955594"/>
                <a:ext cx="2317522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箭头: 下 30">
            <a:extLst>
              <a:ext uri="{FF2B5EF4-FFF2-40B4-BE49-F238E27FC236}">
                <a16:creationId xmlns:a16="http://schemas.microsoft.com/office/drawing/2014/main" id="{CB91F593-1FAC-4CBC-8EB9-8A1BB3AE801D}"/>
              </a:ext>
            </a:extLst>
          </p:cNvPr>
          <p:cNvSpPr/>
          <p:nvPr/>
        </p:nvSpPr>
        <p:spPr>
          <a:xfrm>
            <a:off x="2421227" y="2832483"/>
            <a:ext cx="103031" cy="171102"/>
          </a:xfrm>
          <a:prstGeom prst="down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FCB2A03-ECFB-4A66-B9C1-0D616576FD4E}"/>
                  </a:ext>
                </a:extLst>
              </p:cNvPr>
              <p:cNvSpPr txBox="1"/>
              <p:nvPr/>
            </p:nvSpPr>
            <p:spPr>
              <a:xfrm>
                <a:off x="4224220" y="2872868"/>
                <a:ext cx="1029053" cy="487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zh-CN" sz="16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16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𝐴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𝑏</m:t>
                            </m:r>
                          </m:e>
                        </m:d>
                      </m:den>
                    </m:f>
                  </m:oMath>
                </a14:m>
                <a:endPara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FCB2A03-ECFB-4A66-B9C1-0D616576F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220" y="2872868"/>
                <a:ext cx="1029053" cy="48769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92" name="右大括号 59391">
            <a:extLst>
              <a:ext uri="{FF2B5EF4-FFF2-40B4-BE49-F238E27FC236}">
                <a16:creationId xmlns:a16="http://schemas.microsoft.com/office/drawing/2014/main" id="{F22F557F-0217-4762-9E00-389AA0B9CA56}"/>
              </a:ext>
            </a:extLst>
          </p:cNvPr>
          <p:cNvSpPr/>
          <p:nvPr/>
        </p:nvSpPr>
        <p:spPr>
          <a:xfrm>
            <a:off x="5838000" y="2568395"/>
            <a:ext cx="120714" cy="57637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393" name="文本框 59392">
            <a:extLst>
              <a:ext uri="{FF2B5EF4-FFF2-40B4-BE49-F238E27FC236}">
                <a16:creationId xmlns:a16="http://schemas.microsoft.com/office/drawing/2014/main" id="{8172EA33-4363-4D24-8FEF-8D25536BCB77}"/>
              </a:ext>
            </a:extLst>
          </p:cNvPr>
          <p:cNvSpPr txBox="1"/>
          <p:nvPr/>
        </p:nvSpPr>
        <p:spPr>
          <a:xfrm>
            <a:off x="6131271" y="2627304"/>
            <a:ext cx="79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得证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1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397" name="矩形: 圆角 59396">
            <a:extLst>
              <a:ext uri="{FF2B5EF4-FFF2-40B4-BE49-F238E27FC236}">
                <a16:creationId xmlns:a16="http://schemas.microsoft.com/office/drawing/2014/main" id="{2EFF87F7-7CF2-42F3-8EF2-D12656EE4087}"/>
              </a:ext>
            </a:extLst>
          </p:cNvPr>
          <p:cNvSpPr/>
          <p:nvPr/>
        </p:nvSpPr>
        <p:spPr>
          <a:xfrm>
            <a:off x="1206499" y="3581309"/>
            <a:ext cx="6318250" cy="977812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54CAC-2EDE-4EBF-A549-5860805C00CB}"/>
              </a:ext>
            </a:extLst>
          </p:cNvPr>
          <p:cNvSpPr txBox="1"/>
          <p:nvPr/>
        </p:nvSpPr>
        <p:spPr>
          <a:xfrm>
            <a:off x="1271111" y="3966623"/>
            <a:ext cx="2169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 影响解的精度因素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005ABAD-609F-47F9-9F0E-A054253D83F6}"/>
                  </a:ext>
                </a:extLst>
              </p:cNvPr>
              <p:cNvSpPr txBox="1"/>
              <p:nvPr/>
            </p:nvSpPr>
            <p:spPr>
              <a:xfrm>
                <a:off x="3151343" y="1443449"/>
                <a:ext cx="820377" cy="60144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005ABAD-609F-47F9-9F0E-A054253D8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343" y="1443449"/>
                <a:ext cx="820377" cy="6014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C2C2952-489E-44CA-9F80-CF5D0304ACB9}"/>
                  </a:ext>
                </a:extLst>
              </p:cNvPr>
              <p:cNvSpPr txBox="1"/>
              <p:nvPr/>
            </p:nvSpPr>
            <p:spPr>
              <a:xfrm>
                <a:off x="4935169" y="1424232"/>
                <a:ext cx="474225" cy="33855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C2C2952-489E-44CA-9F80-CF5D0304A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169" y="1424232"/>
                <a:ext cx="47422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B6B90EA-BDEB-49EC-972A-7CB8189E5E2D}"/>
                  </a:ext>
                </a:extLst>
              </p:cNvPr>
              <p:cNvSpPr txBox="1"/>
              <p:nvPr/>
            </p:nvSpPr>
            <p:spPr>
              <a:xfrm>
                <a:off x="4105061" y="1572151"/>
                <a:ext cx="904090" cy="33855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𝐶𝑜𝑛𝑑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B6B90EA-BDEB-49EC-972A-7CB8189E5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061" y="1572151"/>
                <a:ext cx="904090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62C44AC7-B80F-4BD1-BE04-9656CA7554DF}"/>
              </a:ext>
            </a:extLst>
          </p:cNvPr>
          <p:cNvSpPr txBox="1"/>
          <p:nvPr/>
        </p:nvSpPr>
        <p:spPr>
          <a:xfrm>
            <a:off x="3513328" y="3688739"/>
            <a:ext cx="1704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a)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剩余向量大小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E02A0BE-1CEE-4F6C-9447-D24A258CA316}"/>
                  </a:ext>
                </a:extLst>
              </p:cNvPr>
              <p:cNvSpPr txBox="1"/>
              <p:nvPr/>
            </p:nvSpPr>
            <p:spPr>
              <a:xfrm>
                <a:off x="3518622" y="4125496"/>
                <a:ext cx="19917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b</m:t>
                    </m:r>
                    <m:r>
                      <m:rPr>
                        <m:nor/>
                      </m:rPr>
                      <a:rPr lang="en-US" altLang="zh-CN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)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的条件数的大小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E02A0BE-1CEE-4F6C-9447-D24A258CA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622" y="4125496"/>
                <a:ext cx="1991740" cy="338554"/>
              </a:xfrm>
              <a:prstGeom prst="rect">
                <a:avLst/>
              </a:prstGeom>
              <a:blipFill>
                <a:blip r:embed="rId20"/>
                <a:stretch>
                  <a:fillRect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889E082-85CA-469F-82EC-145099CAD4FA}"/>
              </a:ext>
            </a:extLst>
          </p:cNvPr>
          <p:cNvCxnSpPr>
            <a:cxnSpLocks/>
          </p:cNvCxnSpPr>
          <p:nvPr/>
        </p:nvCxnSpPr>
        <p:spPr>
          <a:xfrm flipV="1">
            <a:off x="3116883" y="3927291"/>
            <a:ext cx="345657" cy="149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52917C3-C631-4F5D-8E0F-EA191F96CDFF}"/>
              </a:ext>
            </a:extLst>
          </p:cNvPr>
          <p:cNvCxnSpPr>
            <a:cxnSpLocks/>
          </p:cNvCxnSpPr>
          <p:nvPr/>
        </p:nvCxnSpPr>
        <p:spPr>
          <a:xfrm>
            <a:off x="3116883" y="4150715"/>
            <a:ext cx="323721" cy="1373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55F5D7D-6504-480F-A5D1-4DADBFF234B8}"/>
              </a:ext>
            </a:extLst>
          </p:cNvPr>
          <p:cNvSpPr txBox="1"/>
          <p:nvPr/>
        </p:nvSpPr>
        <p:spPr>
          <a:xfrm>
            <a:off x="1320800" y="3676838"/>
            <a:ext cx="596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结论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68CF40E-B7B7-4B42-B891-72390F98E363}"/>
              </a:ext>
            </a:extLst>
          </p:cNvPr>
          <p:cNvSpPr txBox="1"/>
          <p:nvPr/>
        </p:nvSpPr>
        <p:spPr>
          <a:xfrm>
            <a:off x="3498435" y="3701392"/>
            <a:ext cx="1704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若剩余向量很小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0CCD788-3DA1-4AC3-995A-120A852931E5}"/>
                  </a:ext>
                </a:extLst>
              </p:cNvPr>
              <p:cNvSpPr txBox="1"/>
              <p:nvPr/>
            </p:nvSpPr>
            <p:spPr>
              <a:xfrm>
                <a:off x="3467847" y="4125496"/>
                <a:ext cx="19917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600" i="1" dirty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但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的条件数很大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0CCD788-3DA1-4AC3-995A-120A85293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847" y="4125496"/>
                <a:ext cx="1991740" cy="338554"/>
              </a:xfrm>
              <a:prstGeom prst="rect">
                <a:avLst/>
              </a:prstGeom>
              <a:blipFill>
                <a:blip r:embed="rId21"/>
                <a:stretch>
                  <a:fillRect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96" name="文本框 59395">
            <a:extLst>
              <a:ext uri="{FF2B5EF4-FFF2-40B4-BE49-F238E27FC236}">
                <a16:creationId xmlns:a16="http://schemas.microsoft.com/office/drawing/2014/main" id="{BC5896DF-A89E-40D6-AB9D-A10A2DDAE658}"/>
              </a:ext>
            </a:extLst>
          </p:cNvPr>
          <p:cNvSpPr txBox="1"/>
          <p:nvPr/>
        </p:nvSpPr>
        <p:spPr>
          <a:xfrm>
            <a:off x="5245039" y="3781071"/>
            <a:ext cx="59296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？？？？</a:t>
            </a:r>
          </a:p>
        </p:txBody>
      </p:sp>
      <p:sp>
        <p:nvSpPr>
          <p:cNvPr id="59399" name="文本框 59398">
            <a:extLst>
              <a:ext uri="{FF2B5EF4-FFF2-40B4-BE49-F238E27FC236}">
                <a16:creationId xmlns:a16="http://schemas.microsoft.com/office/drawing/2014/main" id="{305001D5-D4D6-45D8-B703-CB8AB59CA7BC}"/>
              </a:ext>
            </a:extLst>
          </p:cNvPr>
          <p:cNvSpPr txBox="1"/>
          <p:nvPr/>
        </p:nvSpPr>
        <p:spPr>
          <a:xfrm>
            <a:off x="4024647" y="214433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9401" name="箭头: 右 59400">
            <a:extLst>
              <a:ext uri="{FF2B5EF4-FFF2-40B4-BE49-F238E27FC236}">
                <a16:creationId xmlns:a16="http://schemas.microsoft.com/office/drawing/2014/main" id="{1927821A-3B52-4EC4-AED6-CBBE037BA6B3}"/>
              </a:ext>
            </a:extLst>
          </p:cNvPr>
          <p:cNvSpPr/>
          <p:nvPr/>
        </p:nvSpPr>
        <p:spPr>
          <a:xfrm>
            <a:off x="5750417" y="4027292"/>
            <a:ext cx="208297" cy="45719"/>
          </a:xfrm>
          <a:prstGeom prst="rightArrow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9402" name="椭圆 59401">
            <a:extLst>
              <a:ext uri="{FF2B5EF4-FFF2-40B4-BE49-F238E27FC236}">
                <a16:creationId xmlns:a16="http://schemas.microsoft.com/office/drawing/2014/main" id="{70830375-B15D-4BC2-9383-5BABE6CA24DF}"/>
              </a:ext>
            </a:extLst>
          </p:cNvPr>
          <p:cNvSpPr/>
          <p:nvPr/>
        </p:nvSpPr>
        <p:spPr>
          <a:xfrm>
            <a:off x="6117290" y="3846115"/>
            <a:ext cx="1087862" cy="437952"/>
          </a:xfrm>
          <a:prstGeom prst="ellipse">
            <a:avLst/>
          </a:prstGeom>
          <a:solidFill>
            <a:srgbClr val="FF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9403" name="文本框 59402">
            <a:extLst>
              <a:ext uri="{FF2B5EF4-FFF2-40B4-BE49-F238E27FC236}">
                <a16:creationId xmlns:a16="http://schemas.microsoft.com/office/drawing/2014/main" id="{EECE37F3-359B-4306-8FE2-2FAC0A5B4CCF}"/>
              </a:ext>
            </a:extLst>
          </p:cNvPr>
          <p:cNvSpPr txBox="1"/>
          <p:nvPr/>
        </p:nvSpPr>
        <p:spPr>
          <a:xfrm>
            <a:off x="6115050" y="3882783"/>
            <a:ext cx="1257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迭代改善</a:t>
            </a:r>
          </a:p>
        </p:txBody>
      </p:sp>
    </p:spTree>
    <p:extLst>
      <p:ext uri="{BB962C8B-B14F-4D97-AF65-F5344CB8AC3E}">
        <p14:creationId xmlns:p14="http://schemas.microsoft.com/office/powerpoint/2010/main" val="353965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6" dur="2000"/>
                                        <p:tgtEl>
                                          <p:spTgt spid="5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5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0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5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 animBg="1"/>
      <p:bldP spid="9" grpId="0"/>
      <p:bldP spid="11" grpId="0"/>
      <p:bldP spid="12" grpId="0" animBg="1"/>
      <p:bldP spid="19" grpId="0"/>
      <p:bldP spid="21" grpId="0"/>
      <p:bldP spid="22" grpId="0"/>
      <p:bldP spid="23" grpId="0"/>
      <p:bldP spid="23" grpId="1"/>
      <p:bldP spid="20" grpId="0" animBg="1"/>
      <p:bldP spid="24" grpId="0"/>
      <p:bldP spid="25" grpId="0"/>
      <p:bldP spid="25" grpId="1"/>
      <p:bldP spid="27" grpId="0"/>
      <p:bldP spid="27" grpId="1"/>
      <p:bldP spid="28" grpId="0"/>
      <p:bldP spid="30" grpId="0"/>
      <p:bldP spid="32" grpId="0"/>
      <p:bldP spid="31" grpId="0" animBg="1"/>
      <p:bldP spid="34" grpId="0"/>
      <p:bldP spid="59392" grpId="0" animBg="1"/>
      <p:bldP spid="59393" grpId="0"/>
      <p:bldP spid="59397" grpId="0" animBg="1"/>
      <p:bldP spid="5" grpId="0"/>
      <p:bldP spid="29" grpId="0" animBg="1"/>
      <p:bldP spid="7" grpId="0" animBg="1"/>
      <p:bldP spid="8" grpId="0" animBg="1"/>
      <p:bldP spid="13" grpId="0"/>
      <p:bldP spid="13" grpId="1"/>
      <p:bldP spid="35" grpId="0"/>
      <p:bldP spid="35" grpId="1"/>
      <p:bldP spid="41" grpId="0"/>
      <p:bldP spid="42" grpId="0"/>
      <p:bldP spid="43" grpId="0"/>
      <p:bldP spid="59396" grpId="0"/>
      <p:bldP spid="59401" grpId="0" animBg="1"/>
      <p:bldP spid="59402" grpId="0" animBg="1"/>
      <p:bldP spid="5940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93C17F2-39D4-4847-99B4-0C0A4BA80D0F}"/>
              </a:ext>
            </a:extLst>
          </p:cNvPr>
          <p:cNvCxnSpPr/>
          <p:nvPr/>
        </p:nvCxnSpPr>
        <p:spPr>
          <a:xfrm flipV="1">
            <a:off x="0" y="355600"/>
            <a:ext cx="2886075" cy="158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34D8978-146A-48B6-949D-16D9456BA2B0}"/>
              </a:ext>
            </a:extLst>
          </p:cNvPr>
          <p:cNvCxnSpPr/>
          <p:nvPr/>
        </p:nvCxnSpPr>
        <p:spPr>
          <a:xfrm>
            <a:off x="6115050" y="368300"/>
            <a:ext cx="3028950" cy="3175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BCF67852-3D76-4AF1-A2FF-90652B05B8D6}"/>
              </a:ext>
            </a:extLst>
          </p:cNvPr>
          <p:cNvSpPr txBox="1"/>
          <p:nvPr/>
        </p:nvSpPr>
        <p:spPr>
          <a:xfrm>
            <a:off x="1857375" y="136525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病态方程组的处理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214372-FD9F-4FC3-89A1-254A2820A9DD}"/>
                  </a:ext>
                </a:extLst>
              </p:cNvPr>
              <p:cNvSpPr txBox="1"/>
              <p:nvPr/>
            </p:nvSpPr>
            <p:spPr>
              <a:xfrm>
                <a:off x="936220" y="978255"/>
                <a:ext cx="3612526" cy="3808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先求得方程组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𝐴𝑥</m:t>
                    </m:r>
                    <m:r>
                      <a:rPr lang="en-US" altLang="zh-CN" sz="18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18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的近似解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</m:oMath>
                </a14:m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214372-FD9F-4FC3-89A1-254A2820A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978255"/>
                <a:ext cx="3612526" cy="380810"/>
              </a:xfrm>
              <a:prstGeom prst="rect">
                <a:avLst/>
              </a:prstGeom>
              <a:blipFill>
                <a:blip r:embed="rId2"/>
                <a:stretch>
                  <a:fillRect l="-1347" t="-1538" b="-2307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6B4C3D4-F846-4ED3-9F00-3574F146822D}"/>
              </a:ext>
            </a:extLst>
          </p:cNvPr>
          <p:cNvCxnSpPr/>
          <p:nvPr/>
        </p:nvCxnSpPr>
        <p:spPr>
          <a:xfrm>
            <a:off x="2464158" y="1434947"/>
            <a:ext cx="0" cy="2318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C963A92-DE6E-4A42-BA37-9043B05B6B6E}"/>
                  </a:ext>
                </a:extLst>
              </p:cNvPr>
              <p:cNvSpPr txBox="1"/>
              <p:nvPr/>
            </p:nvSpPr>
            <p:spPr>
              <a:xfrm>
                <a:off x="936221" y="1672165"/>
                <a:ext cx="3612525" cy="3808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计算剩余向量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𝑟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−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</m:oMath>
                </a14:m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C963A92-DE6E-4A42-BA37-9043B05B6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1" y="1672165"/>
                <a:ext cx="3612525" cy="380810"/>
              </a:xfrm>
              <a:prstGeom prst="rect">
                <a:avLst/>
              </a:prstGeom>
              <a:blipFill>
                <a:blip r:embed="rId3"/>
                <a:stretch>
                  <a:fillRect l="-1347" t="-1538" b="-2307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A29C938-789E-4886-A923-31FFC8151BC9}"/>
              </a:ext>
            </a:extLst>
          </p:cNvPr>
          <p:cNvCxnSpPr/>
          <p:nvPr/>
        </p:nvCxnSpPr>
        <p:spPr>
          <a:xfrm>
            <a:off x="2483478" y="2091764"/>
            <a:ext cx="0" cy="2318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B4F0649-259A-4A0F-AEDB-2ABC8429F97D}"/>
                  </a:ext>
                </a:extLst>
              </p:cNvPr>
              <p:cNvSpPr txBox="1"/>
              <p:nvPr/>
            </p:nvSpPr>
            <p:spPr>
              <a:xfrm>
                <a:off x="936223" y="2316393"/>
                <a:ext cx="3612523" cy="38792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解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余量方程组</m:t>
                    </m:r>
                    <m:r>
                      <a:rPr lang="en-US" altLang="zh-CN" sz="180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𝐴𝑥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𝑟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得其解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8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altLang="zh-CN" sz="180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B4F0649-259A-4A0F-AEDB-2ABC8429F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3" y="2316393"/>
                <a:ext cx="3612523" cy="387927"/>
              </a:xfrm>
              <a:prstGeom prst="rect">
                <a:avLst/>
              </a:prstGeom>
              <a:blipFill>
                <a:blip r:embed="rId4"/>
                <a:stretch>
                  <a:fillRect l="-337" t="-1515" b="-2272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92B965A-9CE3-4F2E-8F5F-360820A87FEC}"/>
                  </a:ext>
                </a:extLst>
              </p:cNvPr>
              <p:cNvSpPr txBox="1"/>
              <p:nvPr/>
            </p:nvSpPr>
            <p:spPr>
              <a:xfrm>
                <a:off x="936220" y="3063249"/>
                <a:ext cx="3599639" cy="38792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迭代改善</m:t>
                    </m:r>
                    <m:r>
                      <a:rPr lang="zh-CN" altLang="en-US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解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)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</m:oMath>
                </a14:m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+</a:t>
                </a:r>
                <a:r>
                  <a:rPr lang="en-US" altLang="zh-CN" sz="18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8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92B965A-9CE3-4F2E-8F5F-360820A87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20" y="3063249"/>
                <a:ext cx="3599639" cy="387927"/>
              </a:xfrm>
              <a:prstGeom prst="rect">
                <a:avLst/>
              </a:prstGeom>
              <a:blipFill>
                <a:blip r:embed="rId5"/>
                <a:stretch>
                  <a:fillRect l="-507" t="-1538" b="-2461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303CA5E-00BF-407A-94A7-1AB72AAA3847}"/>
              </a:ext>
            </a:extLst>
          </p:cNvPr>
          <p:cNvSpPr/>
          <p:nvPr/>
        </p:nvSpPr>
        <p:spPr>
          <a:xfrm>
            <a:off x="5170857" y="1324926"/>
            <a:ext cx="3181075" cy="837665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9E547D6-B645-4D31-8606-5CED63FB1DBF}"/>
                  </a:ext>
                </a:extLst>
              </p:cNvPr>
              <p:cNvSpPr txBox="1"/>
              <p:nvPr/>
            </p:nvSpPr>
            <p:spPr>
              <a:xfrm>
                <a:off x="5054959" y="1406161"/>
                <a:ext cx="3226155" cy="722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>
                    <a:ea typeface="华文楷体" panose="02010600040101010101" pitchFamily="2" charset="-122"/>
                  </a:rPr>
                  <a:t>  由于</a:t>
                </a:r>
                <a14:m>
                  <m:oMath xmlns:m="http://schemas.openxmlformats.org/officeDocument/2006/math">
                    <m:r>
                      <a:rPr lang="en-US" altLang="zh-CN" sz="180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𝐴</m:t>
                    </m:r>
                    <m:d>
                      <m:dPr>
                        <m:ctrlPr>
                          <a:rPr lang="zh-CN" altLang="en-US" sz="18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(1)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1800" dirty="0">
                            <a:latin typeface="华文楷体" panose="02010600040101010101" pitchFamily="2" charset="-122"/>
                            <a:ea typeface="华文楷体" panose="02010600040101010101" pitchFamily="2" charset="-122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1800" dirty="0">
                            <a:ea typeface="华文楷体" panose="02010600040101010101" pitchFamily="2" charset="-122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华文楷体" panose="02010600040101010101" pitchFamily="2" charset="-122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altLang="zh-CN" sz="1800" i="1" dirty="0"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1800" b="0" i="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               </m:t>
                    </m:r>
                    <m:r>
                      <a:rPr lang="en-US" altLang="zh-CN" sz="1800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𝑏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sz="1800" dirty="0">
                            <a:ea typeface="华文楷体" panose="02010600040101010101" pitchFamily="2" charset="-122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(1)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800" dirty="0"/>
                  <a:t>+</a:t>
                </a:r>
                <a:r>
                  <a:rPr lang="en-US" altLang="zh-CN" sz="1800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𝑟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𝑏</m:t>
                    </m:r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9E547D6-B645-4D31-8606-5CED63FB1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959" y="1406161"/>
                <a:ext cx="3226155" cy="722827"/>
              </a:xfrm>
              <a:prstGeom prst="rect">
                <a:avLst/>
              </a:prstGeom>
              <a:blipFill>
                <a:blip r:embed="rId6"/>
                <a:stretch>
                  <a:fillRect b="-10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FFDAD4D-CBB0-41C6-94C5-B54ED6D95305}"/>
              </a:ext>
            </a:extLst>
          </p:cNvPr>
          <p:cNvCxnSpPr/>
          <p:nvPr/>
        </p:nvCxnSpPr>
        <p:spPr>
          <a:xfrm>
            <a:off x="2474891" y="2745603"/>
            <a:ext cx="0" cy="2318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下 25">
            <a:extLst>
              <a:ext uri="{FF2B5EF4-FFF2-40B4-BE49-F238E27FC236}">
                <a16:creationId xmlns:a16="http://schemas.microsoft.com/office/drawing/2014/main" id="{C59988B9-BC4A-4CEB-859C-00B1A3FA6EB1}"/>
              </a:ext>
            </a:extLst>
          </p:cNvPr>
          <p:cNvSpPr/>
          <p:nvPr/>
        </p:nvSpPr>
        <p:spPr>
          <a:xfrm flipH="1">
            <a:off x="6735944" y="2310497"/>
            <a:ext cx="115267" cy="316690"/>
          </a:xfrm>
          <a:prstGeom prst="downArrow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CE19E9A-3494-488A-B4A1-709C629C2D90}"/>
              </a:ext>
            </a:extLst>
          </p:cNvPr>
          <p:cNvSpPr/>
          <p:nvPr/>
        </p:nvSpPr>
        <p:spPr>
          <a:xfrm>
            <a:off x="5195542" y="2739005"/>
            <a:ext cx="3181075" cy="949551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159326F-637B-42D1-8606-D3EB198E4C55}"/>
                  </a:ext>
                </a:extLst>
              </p:cNvPr>
              <p:cNvSpPr txBox="1"/>
              <p:nvPr/>
            </p:nvSpPr>
            <p:spPr>
              <a:xfrm>
                <a:off x="5206275" y="2880177"/>
                <a:ext cx="3377494" cy="66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 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(2)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800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+</m:t>
                    </m:r>
                    <m:r>
                      <m:rPr>
                        <m:nor/>
                      </m:rPr>
                      <a:rPr lang="en-US" altLang="zh-CN" sz="1800" dirty="0">
                        <a:ea typeface="华文楷体" panose="02010600040101010101" pitchFamily="2" charset="-122"/>
                      </a:rPr>
                      <m:t> 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18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𝑥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更精确，可作为迭代改善解</a:t>
                </a: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159326F-637B-42D1-8606-D3EB198E4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275" y="2880177"/>
                <a:ext cx="3377494" cy="664926"/>
              </a:xfrm>
              <a:prstGeom prst="rect">
                <a:avLst/>
              </a:prstGeom>
              <a:blipFill>
                <a:blip r:embed="rId7"/>
                <a:stretch>
                  <a:fillRect l="-1444" t="-909" r="-1083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ECDD363-ABA6-4292-9D82-7CDB9A3EC07D}"/>
              </a:ext>
            </a:extLst>
          </p:cNvPr>
          <p:cNvCxnSpPr>
            <a:cxnSpLocks/>
          </p:cNvCxnSpPr>
          <p:nvPr/>
        </p:nvCxnSpPr>
        <p:spPr>
          <a:xfrm>
            <a:off x="2464158" y="3505317"/>
            <a:ext cx="0" cy="3594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067D18B-737F-4348-966B-C0BED3123E98}"/>
                  </a:ext>
                </a:extLst>
              </p:cNvPr>
              <p:cNvSpPr txBox="1"/>
              <p:nvPr/>
            </p:nvSpPr>
            <p:spPr>
              <a:xfrm>
                <a:off x="2310676" y="3479647"/>
                <a:ext cx="2860181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（如果对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(2)</m:t>
                        </m:r>
                      </m:sup>
                    </m:sSup>
                    <m:r>
                      <a:rPr lang="zh-CN" altLang="en-US" sz="1800" i="1" dirty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精度不满意</m:t>
                    </m:r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067D18B-737F-4348-966B-C0BED3123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676" y="3479647"/>
                <a:ext cx="2860181" cy="380810"/>
              </a:xfrm>
              <a:prstGeom prst="rect">
                <a:avLst/>
              </a:prstGeom>
              <a:blipFill>
                <a:blip r:embed="rId8"/>
                <a:stretch>
                  <a:fillRect l="-1706" t="-4839" r="-1919" b="-27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853F333-00C8-461B-B83E-7DBD9CA10F9F}"/>
                  </a:ext>
                </a:extLst>
              </p:cNvPr>
              <p:cNvSpPr txBox="1"/>
              <p:nvPr/>
            </p:nvSpPr>
            <p:spPr>
              <a:xfrm>
                <a:off x="936219" y="3918747"/>
                <a:ext cx="3599639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继续</m:t>
                      </m:r>
                      <m:r>
                        <a:rPr lang="zh-CN" altLang="en-US" sz="18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进行迭代改善</m:t>
                      </m:r>
                    </m:oMath>
                  </m:oMathPara>
                </a14:m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853F333-00C8-461B-B83E-7DBD9CA10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19" y="3918747"/>
                <a:ext cx="3599639" cy="369332"/>
              </a:xfrm>
              <a:prstGeom prst="rect">
                <a:avLst/>
              </a:prstGeom>
              <a:blipFill>
                <a:blip r:embed="rId9"/>
                <a:stretch>
                  <a:fillRect b="-1129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93" name="文本框 59392">
            <a:extLst>
              <a:ext uri="{FF2B5EF4-FFF2-40B4-BE49-F238E27FC236}">
                <a16:creationId xmlns:a16="http://schemas.microsoft.com/office/drawing/2014/main" id="{038B2078-8A9E-40ED-847B-D390D35C04E9}"/>
              </a:ext>
            </a:extLst>
          </p:cNvPr>
          <p:cNvSpPr txBox="1"/>
          <p:nvPr/>
        </p:nvSpPr>
        <p:spPr>
          <a:xfrm>
            <a:off x="910447" y="4466174"/>
            <a:ext cx="3217232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注</a:t>
            </a:r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：计算时必须保证剩余向量</a:t>
            </a:r>
          </a:p>
        </p:txBody>
      </p:sp>
      <p:cxnSp>
        <p:nvCxnSpPr>
          <p:cNvPr id="59396" name="直接箭头连接符 59395">
            <a:extLst>
              <a:ext uri="{FF2B5EF4-FFF2-40B4-BE49-F238E27FC236}">
                <a16:creationId xmlns:a16="http://schemas.microsoft.com/office/drawing/2014/main" id="{AA7CFDCB-4116-419E-961F-905BBA9FD18D}"/>
              </a:ext>
            </a:extLst>
          </p:cNvPr>
          <p:cNvCxnSpPr/>
          <p:nvPr/>
        </p:nvCxnSpPr>
        <p:spPr>
          <a:xfrm flipH="1">
            <a:off x="4662152" y="3290540"/>
            <a:ext cx="3928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98" name="直接箭头连接符 59397">
            <a:extLst>
              <a:ext uri="{FF2B5EF4-FFF2-40B4-BE49-F238E27FC236}">
                <a16:creationId xmlns:a16="http://schemas.microsoft.com/office/drawing/2014/main" id="{B718008D-8463-4564-BE04-B862E93AF25B}"/>
              </a:ext>
            </a:extLst>
          </p:cNvPr>
          <p:cNvCxnSpPr/>
          <p:nvPr/>
        </p:nvCxnSpPr>
        <p:spPr>
          <a:xfrm>
            <a:off x="4713668" y="4089031"/>
            <a:ext cx="3412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ADCAB65-A7CD-4808-824B-8233CB859DFB}"/>
                  </a:ext>
                </a:extLst>
              </p:cNvPr>
              <p:cNvSpPr txBox="1"/>
              <p:nvPr/>
            </p:nvSpPr>
            <p:spPr>
              <a:xfrm>
                <a:off x="5195542" y="3924941"/>
                <a:ext cx="3181075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直到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得到</m:t>
                      </m:r>
                      <m:r>
                        <a:rPr lang="zh-CN" altLang="en-US" sz="18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满意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的</m:t>
                      </m:r>
                      <m:r>
                        <a:rPr lang="zh-CN" altLang="en-US" sz="18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迭代改善</m:t>
                      </m:r>
                      <m:r>
                        <a:rPr lang="zh-CN" altLang="en-US" sz="18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解</m:t>
                      </m:r>
                    </m:oMath>
                  </m:oMathPara>
                </a14:m>
                <a:endParaRPr lang="en-US" altLang="zh-CN" sz="1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ADCAB65-A7CD-4808-824B-8233CB859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542" y="3924941"/>
                <a:ext cx="3181075" cy="369332"/>
              </a:xfrm>
              <a:prstGeom prst="rect">
                <a:avLst/>
              </a:prstGeom>
              <a:blipFill>
                <a:blip r:embed="rId10"/>
                <a:stretch>
                  <a:fillRect b="-1129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184E914-1CF9-4953-859E-6388DA7D09CC}"/>
                  </a:ext>
                </a:extLst>
              </p:cNvPr>
              <p:cNvSpPr txBox="1"/>
              <p:nvPr/>
            </p:nvSpPr>
            <p:spPr>
              <a:xfrm>
                <a:off x="3911416" y="4445379"/>
                <a:ext cx="1321167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𝑟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的精度</a:t>
                </a: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1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184E914-1CF9-4953-859E-6388DA7D0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416" y="4445379"/>
                <a:ext cx="1321167" cy="380810"/>
              </a:xfrm>
              <a:prstGeom prst="rect">
                <a:avLst/>
              </a:prstGeom>
              <a:blipFill>
                <a:blip r:embed="rId11"/>
                <a:stretch>
                  <a:fillRect t="-3175" r="-1852" b="-25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64CA33B9-5F7C-45F8-AB5C-58CEA9463CAE}"/>
              </a:ext>
            </a:extLst>
          </p:cNvPr>
          <p:cNvSpPr txBox="1"/>
          <p:nvPr/>
        </p:nvSpPr>
        <p:spPr>
          <a:xfrm>
            <a:off x="5189018" y="4437723"/>
            <a:ext cx="1852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（采用双精度）</a:t>
            </a:r>
            <a:r>
              <a:rPr lang="en-US" altLang="zh-CN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1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FF7674B-E81F-478D-8522-3D3A8021657D}"/>
              </a:ext>
            </a:extLst>
          </p:cNvPr>
          <p:cNvSpPr txBox="1"/>
          <p:nvPr/>
        </p:nvSpPr>
        <p:spPr>
          <a:xfrm>
            <a:off x="4009077" y="4261399"/>
            <a:ext cx="1116173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？？？？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AD4616D-4FA1-449E-8C7D-E51CA0A372AB}"/>
                  </a:ext>
                </a:extLst>
              </p:cNvPr>
              <p:cNvSpPr txBox="1"/>
              <p:nvPr/>
            </p:nvSpPr>
            <p:spPr>
              <a:xfrm>
                <a:off x="3906579" y="4444092"/>
                <a:ext cx="1321167" cy="3808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𝑟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的精度</a:t>
                </a:r>
                <a:r>
                  <a:rPr lang="en-US" altLang="zh-CN" sz="1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zh-CN" altLang="en-US" sz="1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AD4616D-4FA1-449E-8C7D-E51CA0A37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79" y="4444092"/>
                <a:ext cx="1321167" cy="380810"/>
              </a:xfrm>
              <a:prstGeom prst="rect">
                <a:avLst/>
              </a:prstGeom>
              <a:blipFill>
                <a:blip r:embed="rId12"/>
                <a:stretch>
                  <a:fillRect t="-1563" r="-913" b="-25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6">
            <a:extLst>
              <a:ext uri="{FF2B5EF4-FFF2-40B4-BE49-F238E27FC236}">
                <a16:creationId xmlns:a16="http://schemas.microsoft.com/office/drawing/2014/main" id="{680EF1CA-5707-4BF1-9D74-58AFDA6BB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81" y="506013"/>
            <a:ext cx="4155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迭代改善</a:t>
            </a:r>
            <a:endParaRPr lang="en-US" altLang="zh-CN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76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 animBg="1"/>
      <p:bldP spid="19" grpId="0" animBg="1"/>
      <p:bldP spid="21" grpId="0" animBg="1"/>
      <p:bldP spid="24" grpId="0" animBg="1"/>
      <p:bldP spid="23" grpId="0" animBg="1"/>
      <p:bldP spid="25" grpId="0"/>
      <p:bldP spid="26" grpId="0" animBg="1"/>
      <p:bldP spid="29" grpId="0" animBg="1"/>
      <p:bldP spid="30" grpId="0"/>
      <p:bldP spid="28" grpId="0"/>
      <p:bldP spid="33" grpId="0" animBg="1"/>
      <p:bldP spid="59393" grpId="0"/>
      <p:bldP spid="40" grpId="0" animBg="1"/>
      <p:bldP spid="41" grpId="0" build="allAtOnce"/>
      <p:bldP spid="44" grpId="0"/>
      <p:bldP spid="45" grpId="0" animBg="1"/>
      <p:bldP spid="3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5FAA049-63F9-4B5E-BF32-186A602703A1}"/>
              </a:ext>
            </a:extLst>
          </p:cNvPr>
          <p:cNvCxnSpPr>
            <a:cxnSpLocks/>
          </p:cNvCxnSpPr>
          <p:nvPr/>
        </p:nvCxnSpPr>
        <p:spPr>
          <a:xfrm>
            <a:off x="0" y="371475"/>
            <a:ext cx="3007217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B6AB270-5A96-4F5D-9021-36E8E4CB1C05}"/>
              </a:ext>
            </a:extLst>
          </p:cNvPr>
          <p:cNvCxnSpPr>
            <a:cxnSpLocks/>
          </p:cNvCxnSpPr>
          <p:nvPr/>
        </p:nvCxnSpPr>
        <p:spPr>
          <a:xfrm>
            <a:off x="6136783" y="371475"/>
            <a:ext cx="3007217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00">
            <a:extLst>
              <a:ext uri="{FF2B5EF4-FFF2-40B4-BE49-F238E27FC236}">
                <a16:creationId xmlns:a16="http://schemas.microsoft.com/office/drawing/2014/main" id="{EC7CB1AB-4FBA-4D45-88E8-18554443AB9C}"/>
              </a:ext>
            </a:extLst>
          </p:cNvPr>
          <p:cNvSpPr txBox="1"/>
          <p:nvPr/>
        </p:nvSpPr>
        <p:spPr>
          <a:xfrm>
            <a:off x="1919288" y="171450"/>
            <a:ext cx="530542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病态方程组的处理</a:t>
            </a:r>
            <a:endParaRPr lang="zh-CN" altLang="en-US" sz="2000" b="1" dirty="0">
              <a:solidFill>
                <a:srgbClr val="314865"/>
              </a:solidFill>
              <a:latin typeface="+mj-ea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B46166CF-89B3-4F03-92D7-E527A22D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69" y="851981"/>
            <a:ext cx="4940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4A8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小结：</a:t>
            </a:r>
            <a:endParaRPr lang="en-US" altLang="zh-CN" sz="2400" dirty="0">
              <a:solidFill>
                <a:srgbClr val="004A8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1DDEBF2-92C7-4BBF-90E3-4DFFC14C1932}"/>
              </a:ext>
            </a:extLst>
          </p:cNvPr>
          <p:cNvSpPr/>
          <p:nvPr/>
        </p:nvSpPr>
        <p:spPr>
          <a:xfrm>
            <a:off x="1219830" y="1376966"/>
            <a:ext cx="6539948" cy="711338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3C8BF9-00EC-4D45-91FA-C2AD5EB37F67}"/>
              </a:ext>
            </a:extLst>
          </p:cNvPr>
          <p:cNvSpPr txBox="1"/>
          <p:nvPr/>
        </p:nvSpPr>
        <p:spPr>
          <a:xfrm>
            <a:off x="1496236" y="1530423"/>
            <a:ext cx="5818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病态方程组的判断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82EDBD7-828F-4277-AB70-65F6B82B41C5}"/>
              </a:ext>
            </a:extLst>
          </p:cNvPr>
          <p:cNvSpPr/>
          <p:nvPr/>
        </p:nvSpPr>
        <p:spPr>
          <a:xfrm>
            <a:off x="1252330" y="2332206"/>
            <a:ext cx="6539948" cy="711338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6B7B46B-3B65-4DD0-A66A-B76E148A5FEC}"/>
              </a:ext>
            </a:extLst>
          </p:cNvPr>
          <p:cNvSpPr/>
          <p:nvPr/>
        </p:nvSpPr>
        <p:spPr>
          <a:xfrm>
            <a:off x="1252329" y="3337696"/>
            <a:ext cx="6539948" cy="711338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116000" tIns="0" bIns="36000" rtlCol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600" b="1" dirty="0">
              <a:solidFill>
                <a:srgbClr val="00A28B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B28F1A-327D-46C8-9C36-F31FC7D27AB5}"/>
              </a:ext>
            </a:extLst>
          </p:cNvPr>
          <p:cNvSpPr txBox="1"/>
          <p:nvPr/>
        </p:nvSpPr>
        <p:spPr>
          <a:xfrm>
            <a:off x="1513429" y="2468038"/>
            <a:ext cx="6017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病态方程组的处理方法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预条件处理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134C0A-7E81-41F6-9C31-022FD83A1EFE}"/>
              </a:ext>
            </a:extLst>
          </p:cNvPr>
          <p:cNvSpPr txBox="1"/>
          <p:nvPr/>
        </p:nvSpPr>
        <p:spPr>
          <a:xfrm>
            <a:off x="1522973" y="3491153"/>
            <a:ext cx="593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病态方程组的处理方法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迭代改善</a:t>
            </a:r>
            <a:endParaRPr lang="zh-CN" altLang="en-US" sz="2400" b="1" dirty="0">
              <a:solidFill>
                <a:srgbClr val="00A28B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106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4" grpId="0" animBg="1"/>
      <p:bldP spid="6" grpId="0"/>
      <p:bldP spid="12" grpId="0" animBg="1"/>
      <p:bldP spid="13" grpId="0" animBg="1"/>
      <p:bldP spid="7" grpId="0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 cap="flat" cmpd="sng" algn="ctr">
          <a:noFill/>
          <a:prstDash val="solid"/>
          <a:miter lim="800000"/>
        </a:ln>
        <a:effectLst/>
      </a:spPr>
      <a:bodyPr lIns="1116000" tIns="0" bIns="36000" anchor="ctr"/>
      <a:lstStyle>
        <a:defPPr algn="just" eaLnBrk="1" fontAlgn="auto" hangingPunct="1">
          <a:spcBef>
            <a:spcPts val="0"/>
          </a:spcBef>
          <a:spcAft>
            <a:spcPts val="0"/>
          </a:spcAft>
          <a:defRPr sz="3600" b="1" dirty="0">
            <a:solidFill>
              <a:srgbClr val="00A28B"/>
            </a:solidFill>
            <a:latin typeface="华文中宋" panose="02010600040101010101" pitchFamily="2" charset="-122"/>
            <a:ea typeface="华文中宋" panose="02010600040101010101" pitchFamily="2" charset="-122"/>
            <a:cs typeface="+mj-cs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9353</TotalTime>
  <Words>4549</Words>
  <Application>Microsoft Office PowerPoint</Application>
  <PresentationFormat>全屏显示(16:9)</PresentationFormat>
  <Paragraphs>614</Paragraphs>
  <Slides>84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84</vt:i4>
      </vt:variant>
    </vt:vector>
  </HeadingPairs>
  <TitlesOfParts>
    <vt:vector size="102" baseType="lpstr">
      <vt:lpstr>Arial Unicode MS</vt:lpstr>
      <vt:lpstr>PMingLiU</vt:lpstr>
      <vt:lpstr>黑体</vt:lpstr>
      <vt:lpstr>华文行楷</vt:lpstr>
      <vt:lpstr>华文楷体</vt:lpstr>
      <vt:lpstr>华文中宋</vt:lpstr>
      <vt:lpstr>楷体</vt:lpstr>
      <vt:lpstr>宋体</vt:lpstr>
      <vt:lpstr>微软雅黑</vt:lpstr>
      <vt:lpstr>Arial</vt:lpstr>
      <vt:lpstr>Arial Black</vt:lpstr>
      <vt:lpstr>Calibri</vt:lpstr>
      <vt:lpstr>Cambria Math</vt:lpstr>
      <vt:lpstr>Times New Roman</vt:lpstr>
      <vt:lpstr>Wingdings</vt:lpstr>
      <vt:lpstr>基本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</dc:title>
  <dc:creator>www.tukuppt.com</dc:creator>
  <cp:keywords>tukuppt</cp:keywords>
  <cp:lastModifiedBy>fn</cp:lastModifiedBy>
  <cp:revision>521</cp:revision>
  <dcterms:created xsi:type="dcterms:W3CDTF">2014-05-08T14:30:45Z</dcterms:created>
  <dcterms:modified xsi:type="dcterms:W3CDTF">2020-09-13T14:49:28Z</dcterms:modified>
</cp:coreProperties>
</file>