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2"/>
  </p:notesMasterIdLst>
  <p:sldIdLst>
    <p:sldId id="393" r:id="rId2"/>
    <p:sldId id="520" r:id="rId3"/>
    <p:sldId id="525" r:id="rId4"/>
    <p:sldId id="526" r:id="rId5"/>
    <p:sldId id="527" r:id="rId6"/>
    <p:sldId id="521" r:id="rId7"/>
    <p:sldId id="522" r:id="rId8"/>
    <p:sldId id="523" r:id="rId9"/>
    <p:sldId id="524" r:id="rId10"/>
    <p:sldId id="469" r:id="rId11"/>
    <p:sldId id="470" r:id="rId12"/>
    <p:sldId id="528" r:id="rId13"/>
    <p:sldId id="530" r:id="rId14"/>
    <p:sldId id="531" r:id="rId15"/>
    <p:sldId id="535" r:id="rId16"/>
    <p:sldId id="532" r:id="rId17"/>
    <p:sldId id="533" r:id="rId18"/>
    <p:sldId id="536" r:id="rId19"/>
    <p:sldId id="537" r:id="rId20"/>
    <p:sldId id="550" r:id="rId21"/>
    <p:sldId id="538" r:id="rId22"/>
    <p:sldId id="544" r:id="rId23"/>
    <p:sldId id="540" r:id="rId24"/>
    <p:sldId id="541" r:id="rId25"/>
    <p:sldId id="548" r:id="rId26"/>
    <p:sldId id="543" r:id="rId27"/>
    <p:sldId id="545" r:id="rId28"/>
    <p:sldId id="549" r:id="rId29"/>
    <p:sldId id="546" r:id="rId30"/>
    <p:sldId id="551" r:id="rId31"/>
    <p:sldId id="547" r:id="rId32"/>
    <p:sldId id="552" r:id="rId33"/>
    <p:sldId id="542" r:id="rId34"/>
    <p:sldId id="555" r:id="rId35"/>
    <p:sldId id="554" r:id="rId36"/>
    <p:sldId id="557" r:id="rId37"/>
    <p:sldId id="556" r:id="rId38"/>
    <p:sldId id="558" r:id="rId39"/>
    <p:sldId id="559" r:id="rId40"/>
    <p:sldId id="560" r:id="rId41"/>
  </p:sldIdLst>
  <p:sldSz cx="9144000" cy="5143500" type="screen16x9"/>
  <p:notesSz cx="6858000" cy="9144000"/>
  <p:defaultTextStyle>
    <a:defPPr>
      <a:defRPr lang="zh-CN"/>
    </a:defPPr>
    <a:lvl1pPr marL="0" lvl="0" indent="0" algn="l" defTabSz="6858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342900" lvl="1" indent="114300" algn="l" defTabSz="6858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685800" lvl="2" indent="228600" algn="l" defTabSz="6858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028700" lvl="3" indent="342900" algn="l" defTabSz="6858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371600" lvl="4" indent="457200" algn="l" defTabSz="6858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457200" algn="l" defTabSz="6858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457200" algn="l" defTabSz="6858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457200" algn="l" defTabSz="6858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457200" algn="l" defTabSz="6858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22">
          <p15:clr>
            <a:srgbClr val="A4A3A4"/>
          </p15:clr>
        </p15:guide>
        <p15:guide id="2" pos="278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4A82"/>
    <a:srgbClr val="0070C0"/>
    <a:srgbClr val="F3F3F5"/>
    <a:srgbClr val="F6F6F8"/>
    <a:srgbClr val="F9F9FB"/>
    <a:srgbClr val="314865"/>
    <a:srgbClr val="F8F8F7"/>
    <a:srgbClr val="1B4171"/>
    <a:srgbClr val="0071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82"/>
    <p:restoredTop sz="95383"/>
  </p:normalViewPr>
  <p:slideViewPr>
    <p:cSldViewPr snapToGrid="0" showGuides="1">
      <p:cViewPr varScale="1">
        <p:scale>
          <a:sx n="96" d="100"/>
          <a:sy n="96" d="100"/>
        </p:scale>
        <p:origin x="792" y="36"/>
      </p:cViewPr>
      <p:guideLst>
        <p:guide orient="horz" pos="1822"/>
        <p:guide pos="27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150" d="100"/>
        <a:sy n="1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image" Target="../media/image4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单击此处编辑母版文本样式</a:t>
            </a:r>
          </a:p>
          <a:p>
            <a:pPr marL="342900" marR="0" lvl="1" indent="0" algn="l" defTabSz="6858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第二级</a:t>
            </a:r>
          </a:p>
          <a:p>
            <a:pPr marL="685800" marR="0" lvl="2" indent="0" algn="l" defTabSz="6858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第三级</a:t>
            </a:r>
          </a:p>
          <a:p>
            <a:pPr marL="1028700" marR="0" lvl="3" indent="0" algn="l" defTabSz="6858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第四级</a:t>
            </a:r>
          </a:p>
          <a:p>
            <a:pPr marL="1371600" marR="0" lvl="4" indent="0" algn="l" defTabSz="6858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Calibri" panose="020F0502020204030204" pitchFamily="34" charset="0"/>
                <a:ea typeface="微软雅黑" panose="020B0503020204020204" pitchFamily="34" charset="-122"/>
                <a:cs typeface="+mn-cs"/>
              </a:rPr>
              <a:pPr lvl="0" algn="r" eaLnBrk="1" fontAlgn="base" hangingPunct="1"/>
              <a:t>‹#›</a:t>
            </a:fld>
            <a:endParaRPr lang="zh-CN" altLang="en-US" sz="1200" strike="noStrike" noProof="1"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021589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defTabSz="685800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1pPr>
    <a:lvl2pPr marL="342900" algn="l" defTabSz="685800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2pPr>
    <a:lvl3pPr marL="685800" algn="l" defTabSz="685800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3pPr>
    <a:lvl4pPr marL="1028700" algn="l" defTabSz="685800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4pPr>
    <a:lvl5pPr marL="1371600" algn="l" defTabSz="685800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629150"/>
            <a:ext cx="3429000" cy="228600"/>
          </a:xfrm>
          <a:prstGeom prst="rect">
            <a:avLst/>
          </a:prstGeom>
        </p:spPr>
        <p:txBody>
          <a:bodyPr vert="horz" lIns="91440" tIns="45720" rIns="91440" bIns="0" rtlCol="0" anchor="b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7074377-78E9-4F94-B98A-3B3EB2E4E344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9/13/2020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57200" y="4870450"/>
            <a:ext cx="3429000" cy="212725"/>
          </a:xfrm>
          <a:prstGeom prst="rect">
            <a:avLst/>
          </a:prstGeom>
        </p:spPr>
        <p:txBody>
          <a:bodyPr vert="horz" lIns="91440" tIns="45720" rIns="91440" bIns="45720"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Footer Text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 rot="16200000">
            <a:off x="8391525" y="4368800"/>
            <a:ext cx="9874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lvl="0" eaLnBrk="1" fontAlgn="base" hangingPunct="1"/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1"/>
          <p:cNvSpPr>
            <a:spLocks noGrp="1"/>
          </p:cNvSpPr>
          <p:nvPr>
            <p:ph type="dt" sz="half" idx="2"/>
          </p:nvPr>
        </p:nvSpPr>
        <p:spPr>
          <a:xfrm>
            <a:off x="457200" y="4629150"/>
            <a:ext cx="3429000" cy="2286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A4963E-0D9B-45DC-9720-FEC0E036E7DC}" type="datetimeFigureOut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2020/9/13</a:t>
            </a:fld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7200" y="4870450"/>
            <a:ext cx="3429000" cy="2127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4"/>
          </p:nvPr>
        </p:nvSpPr>
        <p:spPr>
          <a:xfrm rot="16200000">
            <a:off x="8391525" y="4368800"/>
            <a:ext cx="9874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pPr fontAlgn="base"/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绪论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1268413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0" y="950913"/>
          <a:ext cx="1268413" cy="297021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6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4000"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理论基础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单变量</a:t>
                      </a:r>
                      <a:r>
                        <a:rPr lang="en-US" altLang="zh-CN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PM2.5</a:t>
                      </a:r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浓度预测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多变量</a:t>
                      </a:r>
                      <a:r>
                        <a:rPr lang="en-US" altLang="zh-CN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PM2.5</a:t>
                      </a:r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浓度预测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结论与展望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矩形 13"/>
          <p:cNvSpPr/>
          <p:nvPr/>
        </p:nvSpPr>
        <p:spPr>
          <a:xfrm>
            <a:off x="0" y="954088"/>
            <a:ext cx="1268413" cy="59213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绪论</a:t>
            </a:r>
          </a:p>
        </p:txBody>
      </p:sp>
      <p:sp>
        <p:nvSpPr>
          <p:cNvPr id="15" name="等腰三角形 14"/>
          <p:cNvSpPr/>
          <p:nvPr/>
        </p:nvSpPr>
        <p:spPr>
          <a:xfrm rot="16200000">
            <a:off x="1160463" y="1195388"/>
            <a:ext cx="107950" cy="10795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直角三角形 15"/>
          <p:cNvSpPr/>
          <p:nvPr/>
        </p:nvSpPr>
        <p:spPr>
          <a:xfrm flipH="1">
            <a:off x="8458200" y="4514850"/>
            <a:ext cx="712788" cy="639763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145" name="五边形 16"/>
          <p:cNvSpPr/>
          <p:nvPr/>
        </p:nvSpPr>
        <p:spPr>
          <a:xfrm flipH="1">
            <a:off x="8535988" y="4776788"/>
            <a:ext cx="741362" cy="377825"/>
          </a:xfrm>
          <a:prstGeom prst="homePlate">
            <a:avLst>
              <a:gd name="adj" fmla="val 49972"/>
            </a:avLst>
          </a:prstGeom>
          <a:noFill/>
          <a:ln w="25400">
            <a:noFill/>
          </a:ln>
        </p:spPr>
        <p:txBody>
          <a:bodyPr lIns="68580" tIns="34290" rIns="68580" bIns="34290" anchor="ctr"/>
          <a:lstStyle/>
          <a:p>
            <a:pPr lvl="0" indent="0" algn="ctr"/>
            <a:fld id="{9A0DB2DC-4C9A-4742-B13C-FB6460FD3503}" type="slidenum">
              <a:rPr lang="zh-CN" altLang="en-US" sz="1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</a:rPr>
              <a:pPr lvl="0" indent="0" algn="ctr"/>
              <a:t>‹#›</a:t>
            </a:fld>
            <a:endParaRPr lang="zh-CN" altLang="en-US" sz="140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629150"/>
            <a:ext cx="3429000" cy="228600"/>
          </a:xfrm>
          <a:prstGeom prst="rect">
            <a:avLst/>
          </a:prstGeom>
        </p:spPr>
        <p:txBody>
          <a:bodyPr vert="horz" lIns="91440" tIns="45720" rIns="91440" bIns="0" rtlCol="0" anchor="b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7074377-78E9-4F94-B98A-3B3EB2E4E344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9/13/2020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57200" y="4870450"/>
            <a:ext cx="3429000" cy="212725"/>
          </a:xfrm>
          <a:prstGeom prst="rect">
            <a:avLst/>
          </a:prstGeom>
        </p:spPr>
        <p:txBody>
          <a:bodyPr vert="horz" lIns="91440" tIns="45720" rIns="91440" bIns="45720"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Footer Text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 rot="16200000">
            <a:off x="8391525" y="4368800"/>
            <a:ext cx="9874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lvl="0" eaLnBrk="1" fontAlgn="base" hangingPunct="1"/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研究方法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1268413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0" y="950913"/>
          <a:ext cx="1268413" cy="297021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6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绪论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研究方法与思路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单变量</a:t>
                      </a:r>
                      <a:r>
                        <a:rPr lang="en-US" altLang="zh-CN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PM2.5</a:t>
                      </a:r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浓度预测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多变量</a:t>
                      </a:r>
                      <a:r>
                        <a:rPr lang="en-US" altLang="zh-CN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PM2.5</a:t>
                      </a:r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浓度预测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结论与展望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166" name="组合 13"/>
          <p:cNvGrpSpPr/>
          <p:nvPr userDrawn="1"/>
        </p:nvGrpSpPr>
        <p:grpSpPr>
          <a:xfrm>
            <a:off x="0" y="1546225"/>
            <a:ext cx="1268413" cy="590550"/>
            <a:chOff x="0" y="1272662"/>
            <a:chExt cx="1691680" cy="788186"/>
          </a:xfrm>
        </p:grpSpPr>
        <p:sp>
          <p:nvSpPr>
            <p:cNvPr id="15" name="矩形 14"/>
            <p:cNvSpPr/>
            <p:nvPr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理论基础</a:t>
              </a:r>
            </a:p>
          </p:txBody>
        </p:sp>
        <p:sp>
          <p:nvSpPr>
            <p:cNvPr id="16" name="等腰三角形 15"/>
            <p:cNvSpPr/>
            <p:nvPr/>
          </p:nvSpPr>
          <p:spPr>
            <a:xfrm rot="16200000">
              <a:off x="1547651" y="1594765"/>
              <a:ext cx="144077" cy="14397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7" name="直角三角形 16"/>
          <p:cNvSpPr/>
          <p:nvPr/>
        </p:nvSpPr>
        <p:spPr>
          <a:xfrm flipH="1">
            <a:off x="8458200" y="4514850"/>
            <a:ext cx="712788" cy="639763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170" name="五边形 17"/>
          <p:cNvSpPr/>
          <p:nvPr/>
        </p:nvSpPr>
        <p:spPr>
          <a:xfrm flipH="1">
            <a:off x="8535988" y="4776788"/>
            <a:ext cx="741362" cy="377825"/>
          </a:xfrm>
          <a:prstGeom prst="homePlate">
            <a:avLst>
              <a:gd name="adj" fmla="val 49972"/>
            </a:avLst>
          </a:prstGeom>
          <a:noFill/>
          <a:ln w="25400">
            <a:noFill/>
          </a:ln>
        </p:spPr>
        <p:txBody>
          <a:bodyPr lIns="68580" tIns="34290" rIns="68580" bIns="34290" anchor="ctr"/>
          <a:lstStyle/>
          <a:p>
            <a:pPr lvl="0" indent="0" algn="ctr"/>
            <a:fld id="{9A0DB2DC-4C9A-4742-B13C-FB6460FD3503}" type="slidenum">
              <a:rPr lang="zh-CN" altLang="en-US" sz="1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</a:rPr>
              <a:pPr lvl="0" indent="0" algn="ctr"/>
              <a:t>‹#›</a:t>
            </a:fld>
            <a:endParaRPr lang="zh-CN" altLang="en-US" sz="140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629150"/>
            <a:ext cx="3429000" cy="228600"/>
          </a:xfrm>
          <a:prstGeom prst="rect">
            <a:avLst/>
          </a:prstGeom>
        </p:spPr>
        <p:txBody>
          <a:bodyPr vert="horz" lIns="91440" tIns="45720" rIns="91440" bIns="0" rtlCol="0" anchor="b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7074377-78E9-4F94-B98A-3B3EB2E4E344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9/13/2020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57200" y="4870450"/>
            <a:ext cx="3429000" cy="212725"/>
          </a:xfrm>
          <a:prstGeom prst="rect">
            <a:avLst/>
          </a:prstGeom>
        </p:spPr>
        <p:txBody>
          <a:bodyPr vert="horz" lIns="91440" tIns="45720" rIns="91440" bIns="45720"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Footer Text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 rot="16200000">
            <a:off x="8391525" y="4368800"/>
            <a:ext cx="9874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lvl="0" eaLnBrk="1" fontAlgn="base" hangingPunct="1"/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关键技术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1268413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0" y="950913"/>
          <a:ext cx="1268413" cy="297021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6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绪论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理论基础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关键技术与难点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多变量</a:t>
                      </a:r>
                      <a:r>
                        <a:rPr lang="en-US" altLang="zh-CN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PM2.5</a:t>
                      </a:r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浓度预测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总结与展望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7190" name="组合 13"/>
          <p:cNvGrpSpPr/>
          <p:nvPr userDrawn="1"/>
        </p:nvGrpSpPr>
        <p:grpSpPr>
          <a:xfrm>
            <a:off x="0" y="2139950"/>
            <a:ext cx="1268413" cy="592138"/>
            <a:chOff x="0" y="1272662"/>
            <a:chExt cx="1691680" cy="788186"/>
          </a:xfrm>
        </p:grpSpPr>
        <p:sp>
          <p:nvSpPr>
            <p:cNvPr id="15" name="矩形 14"/>
            <p:cNvSpPr/>
            <p:nvPr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单变量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PM2.5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浓度预测</a:t>
              </a:r>
            </a:p>
          </p:txBody>
        </p:sp>
        <p:sp>
          <p:nvSpPr>
            <p:cNvPr id="16" name="等腰三角形 15"/>
            <p:cNvSpPr/>
            <p:nvPr/>
          </p:nvSpPr>
          <p:spPr>
            <a:xfrm rot="16200000">
              <a:off x="1546787" y="1594766"/>
              <a:ext cx="145804" cy="14397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7" name="直角三角形 16"/>
          <p:cNvSpPr/>
          <p:nvPr/>
        </p:nvSpPr>
        <p:spPr>
          <a:xfrm flipH="1">
            <a:off x="8458200" y="4514850"/>
            <a:ext cx="712788" cy="639763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94" name="五边形 17"/>
          <p:cNvSpPr/>
          <p:nvPr/>
        </p:nvSpPr>
        <p:spPr>
          <a:xfrm flipH="1">
            <a:off x="8535988" y="4776788"/>
            <a:ext cx="741362" cy="377825"/>
          </a:xfrm>
          <a:prstGeom prst="homePlate">
            <a:avLst>
              <a:gd name="adj" fmla="val 49972"/>
            </a:avLst>
          </a:prstGeom>
          <a:noFill/>
          <a:ln w="25400">
            <a:noFill/>
          </a:ln>
        </p:spPr>
        <p:txBody>
          <a:bodyPr lIns="68580" tIns="34290" rIns="68580" bIns="34290" anchor="ctr"/>
          <a:lstStyle/>
          <a:p>
            <a:pPr lvl="0" indent="0" algn="ctr"/>
            <a:fld id="{9A0DB2DC-4C9A-4742-B13C-FB6460FD3503}" type="slidenum">
              <a:rPr lang="zh-CN" altLang="en-US" sz="1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</a:rPr>
              <a:pPr lvl="0" indent="0" algn="ctr"/>
              <a:t>‹#›</a:t>
            </a:fld>
            <a:endParaRPr lang="zh-CN" altLang="en-US" sz="140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629150"/>
            <a:ext cx="3429000" cy="228600"/>
          </a:xfrm>
          <a:prstGeom prst="rect">
            <a:avLst/>
          </a:prstGeom>
        </p:spPr>
        <p:txBody>
          <a:bodyPr vert="horz" lIns="91440" tIns="45720" rIns="91440" bIns="0" rtlCol="0" anchor="b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7074377-78E9-4F94-B98A-3B3EB2E4E344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9/13/2020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57200" y="4870450"/>
            <a:ext cx="3429000" cy="212725"/>
          </a:xfrm>
          <a:prstGeom prst="rect">
            <a:avLst/>
          </a:prstGeom>
        </p:spPr>
        <p:txBody>
          <a:bodyPr vert="horz" lIns="91440" tIns="45720" rIns="91440" bIns="45720"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Footer Text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 rot="16200000">
            <a:off x="8391525" y="4368800"/>
            <a:ext cx="9874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lvl="0" eaLnBrk="1" fontAlgn="base" hangingPunct="1"/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成果与应用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1268413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0" y="950913"/>
          <a:ext cx="1268413" cy="297021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6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绪论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理论基础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单变量</a:t>
                      </a:r>
                      <a:r>
                        <a:rPr lang="en-US" altLang="zh-CN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PM2.5</a:t>
                      </a:r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浓度预测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成果与应用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总结与展望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8214" name="组合 9"/>
          <p:cNvGrpSpPr/>
          <p:nvPr userDrawn="1"/>
        </p:nvGrpSpPr>
        <p:grpSpPr>
          <a:xfrm>
            <a:off x="0" y="2736850"/>
            <a:ext cx="1268413" cy="590550"/>
            <a:chOff x="0" y="1272662"/>
            <a:chExt cx="1691680" cy="788186"/>
          </a:xfrm>
        </p:grpSpPr>
        <p:sp>
          <p:nvSpPr>
            <p:cNvPr id="15" name="矩形 14"/>
            <p:cNvSpPr/>
            <p:nvPr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多变量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PM2.5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浓度预测</a:t>
              </a:r>
            </a:p>
          </p:txBody>
        </p:sp>
        <p:sp>
          <p:nvSpPr>
            <p:cNvPr id="16" name="等腰三角形 15"/>
            <p:cNvSpPr/>
            <p:nvPr/>
          </p:nvSpPr>
          <p:spPr>
            <a:xfrm rot="16200000">
              <a:off x="1547651" y="1594765"/>
              <a:ext cx="144077" cy="14397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7" name="直角三角形 16"/>
          <p:cNvSpPr/>
          <p:nvPr/>
        </p:nvSpPr>
        <p:spPr>
          <a:xfrm flipH="1">
            <a:off x="8458200" y="4514850"/>
            <a:ext cx="712788" cy="639763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218" name="五边形 17"/>
          <p:cNvSpPr/>
          <p:nvPr/>
        </p:nvSpPr>
        <p:spPr>
          <a:xfrm flipH="1">
            <a:off x="8535988" y="4776788"/>
            <a:ext cx="741362" cy="377825"/>
          </a:xfrm>
          <a:prstGeom prst="homePlate">
            <a:avLst>
              <a:gd name="adj" fmla="val 49972"/>
            </a:avLst>
          </a:prstGeom>
          <a:noFill/>
          <a:ln w="25400">
            <a:noFill/>
          </a:ln>
        </p:spPr>
        <p:txBody>
          <a:bodyPr lIns="68580" tIns="34290" rIns="68580" bIns="34290" anchor="ctr"/>
          <a:lstStyle/>
          <a:p>
            <a:pPr lvl="0" indent="0" algn="ctr"/>
            <a:fld id="{9A0DB2DC-4C9A-4742-B13C-FB6460FD3503}" type="slidenum">
              <a:rPr lang="zh-CN" altLang="en-US" sz="1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</a:rPr>
              <a:pPr lvl="0" indent="0" algn="ctr"/>
              <a:t>‹#›</a:t>
            </a:fld>
            <a:endParaRPr lang="zh-CN" altLang="en-US" sz="140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629150"/>
            <a:ext cx="3429000" cy="228600"/>
          </a:xfrm>
          <a:prstGeom prst="rect">
            <a:avLst/>
          </a:prstGeom>
        </p:spPr>
        <p:txBody>
          <a:bodyPr vert="horz" lIns="91440" tIns="45720" rIns="91440" bIns="0" rtlCol="0" anchor="b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7074377-78E9-4F94-B98A-3B3EB2E4E344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9/13/2020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57200" y="4870450"/>
            <a:ext cx="3429000" cy="212725"/>
          </a:xfrm>
          <a:prstGeom prst="rect">
            <a:avLst/>
          </a:prstGeom>
        </p:spPr>
        <p:txBody>
          <a:bodyPr vert="horz" lIns="91440" tIns="45720" rIns="91440" bIns="45720"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Footer Text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 rot="16200000">
            <a:off x="8391525" y="4368800"/>
            <a:ext cx="9874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lvl="0" eaLnBrk="1" fontAlgn="base" hangingPunct="1"/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关建议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1268413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0" y="950913"/>
          <a:ext cx="1268413" cy="297021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6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绪论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理论基础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单变量</a:t>
                      </a:r>
                      <a:r>
                        <a:rPr lang="en-US" altLang="zh-CN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PM2.5</a:t>
                      </a:r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浓度预测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多变量</a:t>
                      </a:r>
                      <a:r>
                        <a:rPr lang="en-US" altLang="zh-CN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PM2.5</a:t>
                      </a:r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浓度预测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相关建议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9238" name="组合 13"/>
          <p:cNvGrpSpPr/>
          <p:nvPr userDrawn="1"/>
        </p:nvGrpSpPr>
        <p:grpSpPr>
          <a:xfrm>
            <a:off x="0" y="3330575"/>
            <a:ext cx="1268413" cy="590550"/>
            <a:chOff x="0" y="1272662"/>
            <a:chExt cx="1691680" cy="788186"/>
          </a:xfrm>
        </p:grpSpPr>
        <p:sp>
          <p:nvSpPr>
            <p:cNvPr id="15" name="矩形 14"/>
            <p:cNvSpPr/>
            <p:nvPr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总结与展望</a:t>
              </a:r>
            </a:p>
          </p:txBody>
        </p:sp>
        <p:sp>
          <p:nvSpPr>
            <p:cNvPr id="16" name="等腰三角形 15"/>
            <p:cNvSpPr/>
            <p:nvPr/>
          </p:nvSpPr>
          <p:spPr>
            <a:xfrm rot="16200000">
              <a:off x="1547651" y="1594765"/>
              <a:ext cx="144077" cy="14397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7" name="直角三角形 16"/>
          <p:cNvSpPr/>
          <p:nvPr/>
        </p:nvSpPr>
        <p:spPr>
          <a:xfrm flipH="1">
            <a:off x="8458200" y="4514850"/>
            <a:ext cx="712788" cy="639763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242" name="五边形 17"/>
          <p:cNvSpPr/>
          <p:nvPr/>
        </p:nvSpPr>
        <p:spPr>
          <a:xfrm flipH="1">
            <a:off x="8535988" y="4776788"/>
            <a:ext cx="741362" cy="377825"/>
          </a:xfrm>
          <a:prstGeom prst="homePlate">
            <a:avLst>
              <a:gd name="adj" fmla="val 49972"/>
            </a:avLst>
          </a:prstGeom>
          <a:noFill/>
          <a:ln w="25400">
            <a:noFill/>
          </a:ln>
        </p:spPr>
        <p:txBody>
          <a:bodyPr lIns="68580" tIns="34290" rIns="68580" bIns="34290" anchor="ctr"/>
          <a:lstStyle/>
          <a:p>
            <a:pPr lvl="0" indent="0" algn="ctr"/>
            <a:fld id="{9A0DB2DC-4C9A-4742-B13C-FB6460FD3503}" type="slidenum">
              <a:rPr lang="zh-CN" altLang="en-US" sz="1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</a:rPr>
              <a:pPr lvl="0" indent="0" algn="ctr"/>
              <a:t>‹#›</a:t>
            </a:fld>
            <a:endParaRPr lang="zh-CN" altLang="en-US" sz="140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629150"/>
            <a:ext cx="3429000" cy="228600"/>
          </a:xfrm>
          <a:prstGeom prst="rect">
            <a:avLst/>
          </a:prstGeom>
        </p:spPr>
        <p:txBody>
          <a:bodyPr vert="horz" lIns="91440" tIns="45720" rIns="91440" bIns="0" rtlCol="0" anchor="b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7074377-78E9-4F94-B98A-3B3EB2E4E344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9/13/2020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57200" y="4870450"/>
            <a:ext cx="3429000" cy="212725"/>
          </a:xfrm>
          <a:prstGeom prst="rect">
            <a:avLst/>
          </a:prstGeom>
        </p:spPr>
        <p:txBody>
          <a:bodyPr vert="horz" lIns="91440" tIns="45720" rIns="91440" bIns="45720"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Footer Text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 rot="16200000">
            <a:off x="8391525" y="4368800"/>
            <a:ext cx="9874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lvl="0" eaLnBrk="1" fontAlgn="base" hangingPunct="1"/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论文总结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1268413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0" y="950913"/>
          <a:ext cx="1268413" cy="356393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6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绪论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意义与内容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思路与方法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重点与难点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成果与运用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论文总结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0264" name="组合 13"/>
          <p:cNvGrpSpPr/>
          <p:nvPr userDrawn="1"/>
        </p:nvGrpSpPr>
        <p:grpSpPr>
          <a:xfrm>
            <a:off x="0" y="3924300"/>
            <a:ext cx="1268413" cy="590550"/>
            <a:chOff x="0" y="1272662"/>
            <a:chExt cx="1691680" cy="788186"/>
          </a:xfrm>
        </p:grpSpPr>
        <p:sp>
          <p:nvSpPr>
            <p:cNvPr id="15" name="矩形 14"/>
            <p:cNvSpPr/>
            <p:nvPr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建议与总结</a:t>
              </a:r>
            </a:p>
          </p:txBody>
        </p:sp>
        <p:sp>
          <p:nvSpPr>
            <p:cNvPr id="16" name="等腰三角形 15"/>
            <p:cNvSpPr/>
            <p:nvPr/>
          </p:nvSpPr>
          <p:spPr>
            <a:xfrm rot="16200000">
              <a:off x="1547651" y="1594765"/>
              <a:ext cx="144077" cy="14397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7" name="直角三角形 16"/>
          <p:cNvSpPr/>
          <p:nvPr/>
        </p:nvSpPr>
        <p:spPr>
          <a:xfrm flipH="1">
            <a:off x="8458200" y="4514850"/>
            <a:ext cx="712788" cy="639763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68" name="五边形 17"/>
          <p:cNvSpPr/>
          <p:nvPr/>
        </p:nvSpPr>
        <p:spPr>
          <a:xfrm flipH="1">
            <a:off x="8535988" y="4776788"/>
            <a:ext cx="741362" cy="377825"/>
          </a:xfrm>
          <a:prstGeom prst="homePlate">
            <a:avLst>
              <a:gd name="adj" fmla="val 49972"/>
            </a:avLst>
          </a:prstGeom>
          <a:noFill/>
          <a:ln w="25400">
            <a:noFill/>
          </a:ln>
        </p:spPr>
        <p:txBody>
          <a:bodyPr lIns="68580" tIns="34290" rIns="68580" bIns="34290" anchor="ctr"/>
          <a:lstStyle/>
          <a:p>
            <a:pPr lvl="0" indent="0" algn="ctr"/>
            <a:fld id="{9A0DB2DC-4C9A-4742-B13C-FB6460FD3503}" type="slidenum">
              <a:rPr lang="zh-CN" altLang="en-US" sz="1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</a:rPr>
              <a:pPr lvl="0" indent="0" algn="ctr"/>
              <a:t>‹#›</a:t>
            </a:fld>
            <a:endParaRPr lang="zh-CN" altLang="en-US" sz="140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629150"/>
            <a:ext cx="3429000" cy="228600"/>
          </a:xfrm>
          <a:prstGeom prst="rect">
            <a:avLst/>
          </a:prstGeom>
        </p:spPr>
        <p:txBody>
          <a:bodyPr vert="horz" lIns="91440" tIns="45720" rIns="91440" bIns="0" rtlCol="0" anchor="b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7074377-78E9-4F94-B98A-3B3EB2E4E344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9/13/2020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57200" y="4870450"/>
            <a:ext cx="3429000" cy="212725"/>
          </a:xfrm>
          <a:prstGeom prst="rect">
            <a:avLst/>
          </a:prstGeom>
        </p:spPr>
        <p:txBody>
          <a:bodyPr vert="horz" lIns="91440" tIns="45720" rIns="91440" bIns="45720"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Footer Text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 rot="16200000">
            <a:off x="8391525" y="4368800"/>
            <a:ext cx="9874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lvl="0" eaLnBrk="1" fontAlgn="base" hangingPunct="1"/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629150"/>
            <a:ext cx="3429000" cy="228600"/>
          </a:xfrm>
          <a:prstGeom prst="rect">
            <a:avLst/>
          </a:prstGeom>
        </p:spPr>
        <p:txBody>
          <a:bodyPr vert="horz" lIns="91440" tIns="45720" rIns="91440" bIns="0" rtlCol="0" anchor="b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7074377-78E9-4F94-B98A-3B3EB2E4E344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9/13/2020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57200" y="4870450"/>
            <a:ext cx="3429000" cy="212725"/>
          </a:xfrm>
          <a:prstGeom prst="rect">
            <a:avLst/>
          </a:prstGeom>
        </p:spPr>
        <p:txBody>
          <a:bodyPr vert="horz" lIns="91440" tIns="45720" rIns="91440" bIns="45720"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Footer Text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 rot="16200000">
            <a:off x="8391525" y="4368800"/>
            <a:ext cx="9874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lvl="0" eaLnBrk="1" fontAlgn="base" hangingPunct="1"/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0" y="950913"/>
          <a:ext cx="1268413" cy="297021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6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4000"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模型分类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观测误差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截断误差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舍入误差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矩形 12"/>
          <p:cNvSpPr/>
          <p:nvPr/>
        </p:nvSpPr>
        <p:spPr>
          <a:xfrm>
            <a:off x="0" y="954088"/>
            <a:ext cx="1268413" cy="59213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误差分类</a:t>
            </a:r>
          </a:p>
        </p:txBody>
      </p:sp>
      <p:sp>
        <p:nvSpPr>
          <p:cNvPr id="14" name="矩形 13"/>
          <p:cNvSpPr/>
          <p:nvPr/>
        </p:nvSpPr>
        <p:spPr>
          <a:xfrm>
            <a:off x="0" y="1554163"/>
            <a:ext cx="1268413" cy="59213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模型误差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日期占位符 2"/>
          <p:cNvSpPr>
            <a:spLocks noGrp="1"/>
          </p:cNvSpPr>
          <p:nvPr>
            <p:ph type="dt" sz="half" idx="2"/>
          </p:nvPr>
        </p:nvSpPr>
        <p:spPr>
          <a:xfrm>
            <a:off x="457200" y="4629150"/>
            <a:ext cx="3429000" cy="2286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3D14903-1AD1-46CF-8949-A0E25E26002F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9/13/2020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页脚占位符 3"/>
          <p:cNvSpPr>
            <a:spLocks noGrp="1"/>
          </p:cNvSpPr>
          <p:nvPr>
            <p:ph type="ftr" sz="quarter" idx="3"/>
          </p:nvPr>
        </p:nvSpPr>
        <p:spPr>
          <a:xfrm>
            <a:off x="457200" y="4870450"/>
            <a:ext cx="3429000" cy="2127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Footer Text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灯片编号占位符 4"/>
          <p:cNvSpPr>
            <a:spLocks noGrp="1"/>
          </p:cNvSpPr>
          <p:nvPr>
            <p:ph type="sldNum" sz="quarter" idx="4"/>
          </p:nvPr>
        </p:nvSpPr>
        <p:spPr>
          <a:xfrm rot="16200000">
            <a:off x="8391525" y="4368800"/>
            <a:ext cx="9874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fontAlgn="base"/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0" y="950913"/>
          <a:ext cx="1268413" cy="297021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6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4000"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模型误差</a:t>
                      </a:r>
                      <a:endParaRPr lang="en-US" altLang="zh-CN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观测误差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截断误差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舍入误差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矩形 12"/>
          <p:cNvSpPr/>
          <p:nvPr/>
        </p:nvSpPr>
        <p:spPr>
          <a:xfrm>
            <a:off x="0" y="954088"/>
            <a:ext cx="1268413" cy="59213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误差分类</a:t>
            </a:r>
          </a:p>
        </p:txBody>
      </p:sp>
      <p:sp>
        <p:nvSpPr>
          <p:cNvPr id="14" name="矩形 13"/>
          <p:cNvSpPr/>
          <p:nvPr/>
        </p:nvSpPr>
        <p:spPr>
          <a:xfrm>
            <a:off x="0" y="2144713"/>
            <a:ext cx="1268413" cy="59213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观测误差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日期占位符 2"/>
          <p:cNvSpPr>
            <a:spLocks noGrp="1"/>
          </p:cNvSpPr>
          <p:nvPr>
            <p:ph type="dt" sz="half" idx="2"/>
          </p:nvPr>
        </p:nvSpPr>
        <p:spPr>
          <a:xfrm>
            <a:off x="457200" y="4629150"/>
            <a:ext cx="3429000" cy="2286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52F6848-A838-4A7A-AF1B-4F26AF325EBB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9/13/2020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页脚占位符 3"/>
          <p:cNvSpPr>
            <a:spLocks noGrp="1"/>
          </p:cNvSpPr>
          <p:nvPr>
            <p:ph type="ftr" sz="quarter" idx="3"/>
          </p:nvPr>
        </p:nvSpPr>
        <p:spPr>
          <a:xfrm>
            <a:off x="457200" y="4870450"/>
            <a:ext cx="3429000" cy="2127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Footer Text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灯片编号占位符 4"/>
          <p:cNvSpPr>
            <a:spLocks noGrp="1"/>
          </p:cNvSpPr>
          <p:nvPr>
            <p:ph type="sldNum" sz="quarter" idx="4"/>
          </p:nvPr>
        </p:nvSpPr>
        <p:spPr>
          <a:xfrm rot="16200000">
            <a:off x="8391525" y="4368800"/>
            <a:ext cx="9874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fontAlgn="base"/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0" y="950913"/>
          <a:ext cx="1268413" cy="297021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6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4000"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模型误差</a:t>
                      </a:r>
                      <a:endParaRPr lang="en-US" altLang="zh-CN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观测误差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截断误差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舍入误差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矩形 12"/>
          <p:cNvSpPr/>
          <p:nvPr/>
        </p:nvSpPr>
        <p:spPr>
          <a:xfrm>
            <a:off x="0" y="954088"/>
            <a:ext cx="1268413" cy="59213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误差分类</a:t>
            </a:r>
          </a:p>
        </p:txBody>
      </p:sp>
      <p:sp>
        <p:nvSpPr>
          <p:cNvPr id="14" name="矩形 13"/>
          <p:cNvSpPr/>
          <p:nvPr/>
        </p:nvSpPr>
        <p:spPr>
          <a:xfrm>
            <a:off x="0" y="2744788"/>
            <a:ext cx="1268413" cy="59213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截断误差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日期占位符 2"/>
          <p:cNvSpPr>
            <a:spLocks noGrp="1"/>
          </p:cNvSpPr>
          <p:nvPr>
            <p:ph type="dt" sz="half" idx="2"/>
          </p:nvPr>
        </p:nvSpPr>
        <p:spPr>
          <a:xfrm>
            <a:off x="457200" y="4629150"/>
            <a:ext cx="3429000" cy="2286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DB72F1-7E60-42EB-836A-F96FA37F7CA1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9/13/2020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页脚占位符 3"/>
          <p:cNvSpPr>
            <a:spLocks noGrp="1"/>
          </p:cNvSpPr>
          <p:nvPr>
            <p:ph type="ftr" sz="quarter" idx="3"/>
          </p:nvPr>
        </p:nvSpPr>
        <p:spPr>
          <a:xfrm>
            <a:off x="457200" y="4870450"/>
            <a:ext cx="3429000" cy="2127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Footer Text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灯片编号占位符 4"/>
          <p:cNvSpPr>
            <a:spLocks noGrp="1"/>
          </p:cNvSpPr>
          <p:nvPr>
            <p:ph type="sldNum" sz="quarter" idx="4"/>
          </p:nvPr>
        </p:nvSpPr>
        <p:spPr>
          <a:xfrm rot="16200000">
            <a:off x="8391525" y="4368800"/>
            <a:ext cx="9874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fontAlgn="base"/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0" y="950913"/>
          <a:ext cx="1268413" cy="297021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6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4000"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模型分类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观测误差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截断误差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舍入误差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矩形 12"/>
          <p:cNvSpPr/>
          <p:nvPr/>
        </p:nvSpPr>
        <p:spPr>
          <a:xfrm>
            <a:off x="0" y="954088"/>
            <a:ext cx="1268413" cy="59213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误差分类</a:t>
            </a:r>
          </a:p>
        </p:txBody>
      </p:sp>
      <p:sp>
        <p:nvSpPr>
          <p:cNvPr id="14" name="矩形 13"/>
          <p:cNvSpPr/>
          <p:nvPr/>
        </p:nvSpPr>
        <p:spPr>
          <a:xfrm>
            <a:off x="0" y="3335338"/>
            <a:ext cx="1268413" cy="59213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舍入误差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日期占位符 2"/>
          <p:cNvSpPr>
            <a:spLocks noGrp="1"/>
          </p:cNvSpPr>
          <p:nvPr>
            <p:ph type="dt" sz="half" idx="2"/>
          </p:nvPr>
        </p:nvSpPr>
        <p:spPr>
          <a:xfrm>
            <a:off x="457200" y="4629150"/>
            <a:ext cx="3429000" cy="2286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6F09FAD-90BD-4D31-BEFA-C1CCA14D0592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9/13/2020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页脚占位符 3"/>
          <p:cNvSpPr>
            <a:spLocks noGrp="1"/>
          </p:cNvSpPr>
          <p:nvPr>
            <p:ph type="ftr" sz="quarter" idx="3"/>
          </p:nvPr>
        </p:nvSpPr>
        <p:spPr>
          <a:xfrm>
            <a:off x="457200" y="4870450"/>
            <a:ext cx="3429000" cy="2127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Footer Text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灯片编号占位符 4"/>
          <p:cNvSpPr>
            <a:spLocks noGrp="1"/>
          </p:cNvSpPr>
          <p:nvPr>
            <p:ph type="sldNum" sz="quarter" idx="4"/>
          </p:nvPr>
        </p:nvSpPr>
        <p:spPr>
          <a:xfrm rot="16200000">
            <a:off x="8391525" y="4368800"/>
            <a:ext cx="9874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fontAlgn="base"/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自定义版式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0" y="1693863"/>
          <a:ext cx="1268413" cy="11874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6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截断误差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相对误差</a:t>
                      </a:r>
                      <a:endParaRPr lang="en-US" altLang="zh-CN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矩形 12"/>
          <p:cNvSpPr/>
          <p:nvPr/>
        </p:nvSpPr>
        <p:spPr>
          <a:xfrm>
            <a:off x="0" y="1677988"/>
            <a:ext cx="1268413" cy="59213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绝对误差</a:t>
            </a:r>
          </a:p>
        </p:txBody>
      </p:sp>
      <p:sp>
        <p:nvSpPr>
          <p:cNvPr id="14" name="日期占位符 2"/>
          <p:cNvSpPr>
            <a:spLocks noGrp="1"/>
          </p:cNvSpPr>
          <p:nvPr>
            <p:ph type="dt" sz="half" idx="2"/>
          </p:nvPr>
        </p:nvSpPr>
        <p:spPr>
          <a:xfrm>
            <a:off x="457200" y="4629150"/>
            <a:ext cx="3429000" cy="2286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F6EBCE-30C1-4DE3-B6AF-4BB9689B3EF6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9/13/2020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页脚占位符 3"/>
          <p:cNvSpPr>
            <a:spLocks noGrp="1"/>
          </p:cNvSpPr>
          <p:nvPr>
            <p:ph type="ftr" sz="quarter" idx="3"/>
          </p:nvPr>
        </p:nvSpPr>
        <p:spPr>
          <a:xfrm>
            <a:off x="457200" y="4870450"/>
            <a:ext cx="3429000" cy="2127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Footer Text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灯片编号占位符 4"/>
          <p:cNvSpPr>
            <a:spLocks noGrp="1"/>
          </p:cNvSpPr>
          <p:nvPr>
            <p:ph type="sldNum" sz="quarter" idx="4"/>
          </p:nvPr>
        </p:nvSpPr>
        <p:spPr>
          <a:xfrm rot="16200000">
            <a:off x="8391525" y="4368800"/>
            <a:ext cx="9874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fontAlgn="base"/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自定义版式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0" y="1693863"/>
          <a:ext cx="1268413" cy="11874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6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绝对误差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相对误差</a:t>
                      </a:r>
                      <a:endParaRPr lang="en-US" altLang="zh-CN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矩形 12"/>
          <p:cNvSpPr/>
          <p:nvPr/>
        </p:nvSpPr>
        <p:spPr>
          <a:xfrm>
            <a:off x="0" y="2297113"/>
            <a:ext cx="1268413" cy="59213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相对误差</a:t>
            </a:r>
          </a:p>
        </p:txBody>
      </p:sp>
      <p:sp>
        <p:nvSpPr>
          <p:cNvPr id="14" name="日期占位符 2"/>
          <p:cNvSpPr>
            <a:spLocks noGrp="1"/>
          </p:cNvSpPr>
          <p:nvPr>
            <p:ph type="dt" sz="half" idx="2"/>
          </p:nvPr>
        </p:nvSpPr>
        <p:spPr>
          <a:xfrm>
            <a:off x="457200" y="4629150"/>
            <a:ext cx="3429000" cy="2286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71660CA-87F8-4B34-A1FE-D0769A6DC140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9/13/2020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页脚占位符 3"/>
          <p:cNvSpPr>
            <a:spLocks noGrp="1"/>
          </p:cNvSpPr>
          <p:nvPr>
            <p:ph type="ftr" sz="quarter" idx="3"/>
          </p:nvPr>
        </p:nvSpPr>
        <p:spPr>
          <a:xfrm>
            <a:off x="457200" y="4870450"/>
            <a:ext cx="3429000" cy="2127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Footer Text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灯片编号占位符 4"/>
          <p:cNvSpPr>
            <a:spLocks noGrp="1"/>
          </p:cNvSpPr>
          <p:nvPr>
            <p:ph type="sldNum" sz="quarter" idx="4"/>
          </p:nvPr>
        </p:nvSpPr>
        <p:spPr>
          <a:xfrm rot="16200000">
            <a:off x="8391525" y="4368800"/>
            <a:ext cx="9874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fontAlgn="base"/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629150"/>
            <a:ext cx="3429000" cy="228600"/>
          </a:xfrm>
          <a:prstGeom prst="rect">
            <a:avLst/>
          </a:prstGeom>
        </p:spPr>
        <p:txBody>
          <a:bodyPr vert="horz" lIns="91440" tIns="45720" rIns="91440" bIns="0" rtlCol="0" anchor="b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0" y="4870450"/>
            <a:ext cx="3429000" cy="212725"/>
          </a:xfrm>
          <a:prstGeom prst="rect">
            <a:avLst/>
          </a:prstGeom>
        </p:spPr>
        <p:txBody>
          <a:bodyPr vert="horz" lIns="91440" tIns="45720" rIns="91440" bIns="4572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 rot="16200000">
            <a:off x="8391525" y="4368800"/>
            <a:ext cx="9874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 eaLnBrk="1" fontAlgn="base" hangingPunct="1">
              <a:spcBef>
                <a:spcPct val="0"/>
              </a:spcBef>
            </a:pPr>
            <a:fld id="{9A0DB2DC-4C9A-4742-B13C-FB6460FD3503}" type="slidenum">
              <a:rPr lang="en-US" altLang="zh-CN" strike="noStrike" baseline="0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lvl="0" eaLnBrk="1" fontAlgn="base" hangingPunct="1">
                <a:spcBef>
                  <a:spcPct val="0"/>
                </a:spcBef>
              </a:pPr>
              <a:t>‹#›</a:t>
            </a:fld>
            <a:endParaRPr lang="en-US" altLang="zh-CN" strike="noStrike" baseline="0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z="1350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350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z="1350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350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8529638" y="4913313"/>
            <a:ext cx="614363" cy="23018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1" compatLnSpc="1"/>
          <a:lstStyle/>
          <a:p>
            <a:pPr fontAlgn="base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fontAlgn="base">
                <a:lnSpc>
                  <a:spcPct val="100000"/>
                </a:lnSpc>
                <a:spcBef>
                  <a:spcPct val="0"/>
                </a:spcBef>
              </a:pPr>
              <a:t>‹#›</a:t>
            </a:fld>
            <a:endParaRPr lang="zh-CN" altLang="en-US" strike="noStrike" noProof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9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14300"/>
            <a:ext cx="57912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457200" y="1314450"/>
            <a:ext cx="7620000" cy="327977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zh-CN" altLang="en-US" dirty="0"/>
              <a:t>单击此处编辑母版文本样式</a:t>
            </a:r>
          </a:p>
          <a:p>
            <a:pPr lvl="1" indent="-182245"/>
            <a:r>
              <a:rPr lang="zh-CN" altLang="en-US" dirty="0"/>
              <a:t>第二级</a:t>
            </a:r>
          </a:p>
          <a:p>
            <a:pPr lvl="2" indent="-228600"/>
            <a:r>
              <a:rPr lang="zh-CN" altLang="en-US" dirty="0"/>
              <a:t>第三级</a:t>
            </a:r>
          </a:p>
          <a:p>
            <a:pPr lvl="3" indent="-228600"/>
            <a:r>
              <a:rPr lang="zh-CN" altLang="en-US" dirty="0"/>
              <a:t>第四级</a:t>
            </a:r>
          </a:p>
          <a:p>
            <a:pPr lvl="4" indent="-228600"/>
            <a:r>
              <a:rPr lang="zh-CN" altLang="en-US" dirty="0"/>
              <a:t>第五级</a:t>
            </a:r>
            <a:endParaRPr lang="en-US" altLang="x-non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629150"/>
            <a:ext cx="3429000" cy="2286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7074377-78E9-4F94-B98A-3B3EB2E4E344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9/13/2020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4870450"/>
            <a:ext cx="3429000" cy="2127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Footer Text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391525" y="4368800"/>
            <a:ext cx="9874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2400" b="1">
                <a:solidFill>
                  <a:schemeClr val="tx2"/>
                </a:solidFill>
              </a:defRPr>
            </a:lvl1pPr>
          </a:lstStyle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lvl="0" eaLnBrk="1" fontAlgn="base" hangingPunct="1"/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001125" y="0"/>
            <a:ext cx="142875" cy="10287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001125" y="1028700"/>
            <a:ext cx="142875" cy="41148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0" y="4867275"/>
            <a:ext cx="7048500" cy="276225"/>
          </a:xfrm>
          <a:prstGeom prst="roundRect">
            <a:avLst>
              <a:gd name="adj" fmla="val 0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8124825" y="4867275"/>
            <a:ext cx="1019175" cy="276225"/>
          </a:xfrm>
          <a:prstGeom prst="roundRect">
            <a:avLst>
              <a:gd name="adj" fmla="val 0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框 9"/>
          <p:cNvSpPr txBox="1"/>
          <p:nvPr/>
        </p:nvSpPr>
        <p:spPr>
          <a:xfrm>
            <a:off x="7143750" y="4843463"/>
            <a:ext cx="877888" cy="3000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31486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东北大学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 cap="all" spc="-6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ts val="600"/>
        </a:spcAft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457200" indent="-18288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60.png"/><Relationship Id="rId7" Type="http://schemas.openxmlformats.org/officeDocument/2006/relationships/image" Target="../media/image100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0.png"/><Relationship Id="rId5" Type="http://schemas.openxmlformats.org/officeDocument/2006/relationships/image" Target="../media/image80.png"/><Relationship Id="rId4" Type="http://schemas.openxmlformats.org/officeDocument/2006/relationships/image" Target="../media/image7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200.png"/><Relationship Id="rId21" Type="http://schemas.openxmlformats.org/officeDocument/2006/relationships/image" Target="../media/image38.png"/><Relationship Id="rId7" Type="http://schemas.openxmlformats.org/officeDocument/2006/relationships/image" Target="../media/image240.png"/><Relationship Id="rId12" Type="http://schemas.openxmlformats.org/officeDocument/2006/relationships/image" Target="../media/image290.png"/><Relationship Id="rId17" Type="http://schemas.openxmlformats.org/officeDocument/2006/relationships/image" Target="../media/image34.png"/><Relationship Id="rId2" Type="http://schemas.openxmlformats.org/officeDocument/2006/relationships/image" Target="../media/image190.png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0.png"/><Relationship Id="rId11" Type="http://schemas.openxmlformats.org/officeDocument/2006/relationships/image" Target="../media/image280.png"/><Relationship Id="rId24" Type="http://schemas.openxmlformats.org/officeDocument/2006/relationships/image" Target="../media/image41.png"/><Relationship Id="rId5" Type="http://schemas.openxmlformats.org/officeDocument/2006/relationships/image" Target="../media/image220.png"/><Relationship Id="rId15" Type="http://schemas.openxmlformats.org/officeDocument/2006/relationships/image" Target="../media/image32.png"/><Relationship Id="rId23" Type="http://schemas.openxmlformats.org/officeDocument/2006/relationships/image" Target="../media/image40.png"/><Relationship Id="rId10" Type="http://schemas.openxmlformats.org/officeDocument/2006/relationships/image" Target="../media/image270.png"/><Relationship Id="rId19" Type="http://schemas.openxmlformats.org/officeDocument/2006/relationships/image" Target="../media/image36.png"/><Relationship Id="rId4" Type="http://schemas.openxmlformats.org/officeDocument/2006/relationships/image" Target="../media/image210.png"/><Relationship Id="rId9" Type="http://schemas.openxmlformats.org/officeDocument/2006/relationships/image" Target="../media/image260.png"/><Relationship Id="rId14" Type="http://schemas.openxmlformats.org/officeDocument/2006/relationships/image" Target="../media/image31.png"/><Relationship Id="rId22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2.png"/><Relationship Id="rId7" Type="http://schemas.openxmlformats.org/officeDocument/2006/relationships/image" Target="../media/image75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63.png"/><Relationship Id="rId4" Type="http://schemas.openxmlformats.org/officeDocument/2006/relationships/image" Target="../media/image73.png"/><Relationship Id="rId9" Type="http://schemas.openxmlformats.org/officeDocument/2006/relationships/image" Target="../media/image77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50.png"/><Relationship Id="rId3" Type="http://schemas.openxmlformats.org/officeDocument/2006/relationships/image" Target="../media/image79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10" Type="http://schemas.openxmlformats.org/officeDocument/2006/relationships/image" Target="../media/image85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3" Type="http://schemas.openxmlformats.org/officeDocument/2006/relationships/image" Target="../media/image88.png"/><Relationship Id="rId7" Type="http://schemas.openxmlformats.org/officeDocument/2006/relationships/package" Target="../embeddings/Microsoft_Excel_Worksheet.xlsx"/><Relationship Id="rId12" Type="http://schemas.openxmlformats.org/officeDocument/2006/relationships/image" Target="../media/image95.png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93.png"/><Relationship Id="rId11" Type="http://schemas.openxmlformats.org/officeDocument/2006/relationships/image" Target="../media/image94.png"/><Relationship Id="rId5" Type="http://schemas.openxmlformats.org/officeDocument/2006/relationships/image" Target="../media/image92.png"/><Relationship Id="rId10" Type="http://schemas.openxmlformats.org/officeDocument/2006/relationships/image" Target="../media/image45.emf"/><Relationship Id="rId4" Type="http://schemas.openxmlformats.org/officeDocument/2006/relationships/image" Target="../media/image91.png"/><Relationship Id="rId9" Type="http://schemas.openxmlformats.org/officeDocument/2006/relationships/package" Target="../embeddings/Microsoft_Excel_Worksheet1.xlsx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0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3" Type="http://schemas.openxmlformats.org/officeDocument/2006/relationships/image" Target="NULL"/><Relationship Id="rId21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9.xml"/><Relationship Id="rId6" Type="http://schemas.openxmlformats.org/officeDocument/2006/relationships/image" Target="NULL"/><Relationship Id="rId11" Type="http://schemas.openxmlformats.org/officeDocument/2006/relationships/image" Target="NULL"/><Relationship Id="rId24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NUL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1" Type="http://schemas.openxmlformats.org/officeDocument/2006/relationships/slideLayout" Target="../slideLayouts/slideLayout9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9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1" Type="http://schemas.openxmlformats.org/officeDocument/2006/relationships/slideLayout" Target="../slideLayouts/slideLayout9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9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9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9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9.xml"/><Relationship Id="rId4" Type="http://schemas.openxmlformats.org/officeDocument/2006/relationships/image" Target="NUL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9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9.xml"/><Relationship Id="rId4" Type="http://schemas.openxmlformats.org/officeDocument/2006/relationships/image" Target="NUL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1" Type="http://schemas.openxmlformats.org/officeDocument/2006/relationships/slideLayout" Target="../slideLayouts/slideLayout9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9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9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9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9.xml"/><Relationship Id="rId4" Type="http://schemas.openxmlformats.org/officeDocument/2006/relationships/image" Target="NUL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1" Type="http://schemas.openxmlformats.org/officeDocument/2006/relationships/slideLayout" Target="../slideLayouts/slideLayout9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9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9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9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1" Type="http://schemas.openxmlformats.org/officeDocument/2006/relationships/slideLayout" Target="../slideLayouts/slideLayout9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9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9.xml"/><Relationship Id="rId4" Type="http://schemas.openxmlformats.org/officeDocument/2006/relationships/image" Target="NUL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NUL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E7F064F-8544-4E76-8BE6-D4D3ABC8F908}"/>
              </a:ext>
            </a:extLst>
          </p:cNvPr>
          <p:cNvCxnSpPr/>
          <p:nvPr/>
        </p:nvCxnSpPr>
        <p:spPr>
          <a:xfrm flipV="1">
            <a:off x="0" y="355600"/>
            <a:ext cx="2886075" cy="158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5CEFB25-3703-4C02-9EC2-99523841BF1B}"/>
              </a:ext>
            </a:extLst>
          </p:cNvPr>
          <p:cNvCxnSpPr/>
          <p:nvPr/>
        </p:nvCxnSpPr>
        <p:spPr>
          <a:xfrm>
            <a:off x="6115050" y="368300"/>
            <a:ext cx="3028950" cy="31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DBAA461A-721D-4411-8E0C-37C00FB41582}"/>
              </a:ext>
            </a:extLst>
          </p:cNvPr>
          <p:cNvSpPr txBox="1"/>
          <p:nvPr/>
        </p:nvSpPr>
        <p:spPr>
          <a:xfrm>
            <a:off x="1857375" y="136525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3.1 </a:t>
            </a: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迭代法的建立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1AB0A6F2-81B7-4428-928E-3B9C3C66EB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370" y="1158132"/>
            <a:ext cx="3843796" cy="709618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b="1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直接法：通过有限步四则运算能求得问题的精确解</a:t>
            </a:r>
            <a:r>
              <a:rPr lang="en-US" altLang="zh-CN" sz="1600" b="1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0505CB3B-59CB-489E-A6D5-16E1382896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754" y="2000802"/>
            <a:ext cx="3518693" cy="389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考虑舍入误差，得到的仍是近似解；</a:t>
            </a:r>
            <a:endParaRPr lang="en-US" altLang="zh-CN" sz="1600" b="1" dirty="0">
              <a:solidFill>
                <a:srgbClr val="004A82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46D75703-8E04-4978-BF96-0651A7B014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150" y="2577031"/>
            <a:ext cx="3261642" cy="389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破坏问题的稀疏结构；</a:t>
            </a:r>
            <a:endParaRPr lang="en-US" altLang="zh-CN" sz="1600" b="1" dirty="0">
              <a:solidFill>
                <a:srgbClr val="004A82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5" name="Text Box 10">
            <a:extLst>
              <a:ext uri="{FF2B5EF4-FFF2-40B4-BE49-F238E27FC236}">
                <a16:creationId xmlns:a16="http://schemas.microsoft.com/office/drawing/2014/main" id="{2BFAF24F-5C92-4BCA-9DFD-D2078F2D98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150" y="3176989"/>
            <a:ext cx="3261642" cy="389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程序设计相对复杂</a:t>
            </a:r>
            <a:r>
              <a:rPr lang="en-US" altLang="zh-CN" sz="1600" b="1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6" name="Text Box 10">
            <a:extLst>
              <a:ext uri="{FF2B5EF4-FFF2-40B4-BE49-F238E27FC236}">
                <a16:creationId xmlns:a16="http://schemas.microsoft.com/office/drawing/2014/main" id="{7B1B32BB-08AE-40C6-81BE-0CA66FA05D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618" y="3690719"/>
            <a:ext cx="3843796" cy="389530"/>
          </a:xfrm>
          <a:prstGeom prst="rect">
            <a:avLst/>
          </a:prstGeom>
          <a:gradFill>
            <a:gsLst>
              <a:gs pos="0">
                <a:srgbClr val="FFC000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b="1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缺点：计算量大，适合小且稠密的方程组</a:t>
            </a:r>
            <a:r>
              <a:rPr lang="en-US" altLang="zh-CN" sz="1600" b="1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7" name="Text Box 10">
            <a:extLst>
              <a:ext uri="{FF2B5EF4-FFF2-40B4-BE49-F238E27FC236}">
                <a16:creationId xmlns:a16="http://schemas.microsoft.com/office/drawing/2014/main" id="{7786E532-A1EE-4E70-A45C-0C1266B626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0087" y="1156859"/>
            <a:ext cx="3843796" cy="709618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b="1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迭代法：设计迭代格式，从初始向量出发，求得问题的近似解</a:t>
            </a:r>
            <a:r>
              <a:rPr lang="en-US" altLang="zh-CN" sz="1600" b="1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8" name="Text Box 10">
            <a:extLst>
              <a:ext uri="{FF2B5EF4-FFF2-40B4-BE49-F238E27FC236}">
                <a16:creationId xmlns:a16="http://schemas.microsoft.com/office/drawing/2014/main" id="{B11D9290-0F69-4A08-9779-5DC53D7E1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6045" y="2006085"/>
            <a:ext cx="3261642" cy="389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一般只能求得近似解；</a:t>
            </a:r>
            <a:endParaRPr lang="en-US" altLang="zh-CN" sz="1600" b="1" dirty="0">
              <a:solidFill>
                <a:srgbClr val="004A82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1" name="Text Box 10">
            <a:extLst>
              <a:ext uri="{FF2B5EF4-FFF2-40B4-BE49-F238E27FC236}">
                <a16:creationId xmlns:a16="http://schemas.microsoft.com/office/drawing/2014/main" id="{E66831E0-B727-4F85-8C7D-2DBA7772AD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7564" y="2577031"/>
            <a:ext cx="3261642" cy="389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保持问题的稀疏结构；</a:t>
            </a:r>
            <a:endParaRPr lang="en-US" altLang="zh-CN" sz="1600" b="1" dirty="0">
              <a:solidFill>
                <a:srgbClr val="004A82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2" name="Text Box 10">
            <a:extLst>
              <a:ext uri="{FF2B5EF4-FFF2-40B4-BE49-F238E27FC236}">
                <a16:creationId xmlns:a16="http://schemas.microsoft.com/office/drawing/2014/main" id="{70627BB6-6B37-4D42-8508-0FDFD4C69E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7099" y="3176989"/>
            <a:ext cx="3261642" cy="389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程序设计相对简单</a:t>
            </a:r>
            <a:r>
              <a:rPr lang="en-US" altLang="zh-CN" sz="1600" b="1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23" name="Text Box 10">
            <a:extLst>
              <a:ext uri="{FF2B5EF4-FFF2-40B4-BE49-F238E27FC236}">
                <a16:creationId xmlns:a16="http://schemas.microsoft.com/office/drawing/2014/main" id="{5A534C18-2D98-4D8F-B935-65258E283B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2414" y="3690719"/>
            <a:ext cx="4070058" cy="389530"/>
          </a:xfrm>
          <a:prstGeom prst="rect">
            <a:avLst/>
          </a:prstGeom>
          <a:gradFill>
            <a:gsLst>
              <a:gs pos="0">
                <a:srgbClr val="92D050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b="1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优点：可用来求解大规模稀疏线性方程组</a:t>
            </a:r>
            <a:r>
              <a:rPr lang="en-US" altLang="zh-CN" sz="1600" b="1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.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44B86EA-B796-4A8B-BFD5-AD5F0C42D10F}"/>
              </a:ext>
            </a:extLst>
          </p:cNvPr>
          <p:cNvCxnSpPr>
            <a:cxnSpLocks/>
          </p:cNvCxnSpPr>
          <p:nvPr/>
        </p:nvCxnSpPr>
        <p:spPr>
          <a:xfrm>
            <a:off x="4419332" y="1110055"/>
            <a:ext cx="0" cy="29233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9ACE060-AD13-42F9-A69A-61567B5A3FD0}"/>
              </a:ext>
            </a:extLst>
          </p:cNvPr>
          <p:cNvCxnSpPr>
            <a:cxnSpLocks/>
          </p:cNvCxnSpPr>
          <p:nvPr/>
        </p:nvCxnSpPr>
        <p:spPr>
          <a:xfrm>
            <a:off x="683754" y="1014292"/>
            <a:ext cx="76009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Box 10">
                <a:extLst>
                  <a:ext uri="{FF2B5EF4-FFF2-40B4-BE49-F238E27FC236}">
                    <a16:creationId xmlns:a16="http://schemas.microsoft.com/office/drawing/2014/main" id="{286E3E00-4983-40EE-BF8F-2711E00410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00960" y="590210"/>
                <a:ext cx="5622908" cy="4251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8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求解线性方程组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𝐴</m:t>
                    </m:r>
                    <m:r>
                      <a:rPr lang="en-US" altLang="zh-CN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𝑥</m:t>
                    </m:r>
                    <m:r>
                      <a:rPr lang="en-US" altLang="zh-CN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=</m:t>
                    </m:r>
                    <m:r>
                      <a:rPr lang="en-US" altLang="zh-CN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𝑏</m:t>
                    </m:r>
                    <m:r>
                      <a:rPr lang="en-US" altLang="zh-CN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,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其中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𝐴</m:t>
                    </m:r>
                    <m:r>
                      <a:rPr lang="en-US" altLang="zh-CN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∈</m:t>
                    </m:r>
                    <m:sSup>
                      <m:sSupPr>
                        <m:ctrlPr>
                          <a:rPr lang="en-US" altLang="zh-CN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𝑅</m:t>
                        </m:r>
                      </m:e>
                      <m:sup>
                        <m:r>
                          <a:rPr lang="en-US" altLang="zh-C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𝑛</m:t>
                        </m:r>
                        <m:r>
                          <a:rPr lang="en-US" altLang="zh-C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×</m:t>
                        </m:r>
                        <m:r>
                          <a:rPr lang="en-US" altLang="zh-C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𝑛</m:t>
                        </m:r>
                      </m:sup>
                    </m:sSup>
                    <m:r>
                      <a:rPr lang="en-US" altLang="zh-CN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,</m:t>
                    </m:r>
                    <m:r>
                      <a:rPr lang="en-US" altLang="zh-CN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  <m:r>
                      <a:rPr lang="en-US" altLang="zh-CN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∈</m:t>
                    </m:r>
                    <m:sSup>
                      <m:sSupPr>
                        <m:ctrlPr>
                          <a:rPr lang="en-US" altLang="zh-C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𝑅</m:t>
                        </m:r>
                      </m:e>
                      <m:sup>
                        <m:r>
                          <a:rPr lang="en-US" altLang="zh-C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,</m:t>
                    </m:r>
                    <m:r>
                      <a:rPr lang="en-US" altLang="zh-CN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𝑏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∈</m:t>
                    </m:r>
                    <m:sSup>
                      <m:sSupPr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𝑅</m:t>
                        </m:r>
                      </m:e>
                      <m:sup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18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.</a:t>
                </a:r>
              </a:p>
            </p:txBody>
          </p:sp>
        </mc:Choice>
        <mc:Fallback xmlns="">
          <p:sp>
            <p:nvSpPr>
              <p:cNvPr id="26" name="Text Box 10">
                <a:extLst>
                  <a:ext uri="{FF2B5EF4-FFF2-40B4-BE49-F238E27FC236}">
                    <a16:creationId xmlns:a16="http://schemas.microsoft.com/office/drawing/2014/main" id="{286E3E00-4983-40EE-BF8F-2711E0041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00960" y="590210"/>
                <a:ext cx="5622908" cy="425181"/>
              </a:xfrm>
              <a:prstGeom prst="rect">
                <a:avLst/>
              </a:prstGeom>
              <a:blipFill>
                <a:blip r:embed="rId2"/>
                <a:stretch>
                  <a:fillRect l="-976" r="-217" b="-2285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3" grpId="0" animBg="1"/>
      <p:bldP spid="11" grpId="0"/>
      <p:bldP spid="12" grpId="0"/>
      <p:bldP spid="15" grpId="0"/>
      <p:bldP spid="16" grpId="0" animBg="1"/>
      <p:bldP spid="17" grpId="0" animBg="1"/>
      <p:bldP spid="18" grpId="0"/>
      <p:bldP spid="21" grpId="0"/>
      <p:bldP spid="22" grpId="0"/>
      <p:bldP spid="23" grpId="0" animBg="1"/>
      <p:bldP spid="2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E7F064F-8544-4E76-8BE6-D4D3ABC8F908}"/>
              </a:ext>
            </a:extLst>
          </p:cNvPr>
          <p:cNvCxnSpPr/>
          <p:nvPr/>
        </p:nvCxnSpPr>
        <p:spPr>
          <a:xfrm flipV="1">
            <a:off x="0" y="355600"/>
            <a:ext cx="2886075" cy="158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5CEFB25-3703-4C02-9EC2-99523841BF1B}"/>
              </a:ext>
            </a:extLst>
          </p:cNvPr>
          <p:cNvCxnSpPr/>
          <p:nvPr/>
        </p:nvCxnSpPr>
        <p:spPr>
          <a:xfrm>
            <a:off x="6115050" y="368300"/>
            <a:ext cx="3028950" cy="31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DBAA461A-721D-4411-8E0C-37C00FB41582}"/>
              </a:ext>
            </a:extLst>
          </p:cNvPr>
          <p:cNvSpPr txBox="1"/>
          <p:nvPr/>
        </p:nvSpPr>
        <p:spPr>
          <a:xfrm>
            <a:off x="1857375" y="136525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迭代法的建立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9684D6F-94DC-4633-9D07-5E9E27C06917}"/>
              </a:ext>
            </a:extLst>
          </p:cNvPr>
          <p:cNvSpPr/>
          <p:nvPr/>
        </p:nvSpPr>
        <p:spPr>
          <a:xfrm>
            <a:off x="1559859" y="868296"/>
            <a:ext cx="3696020" cy="562268"/>
          </a:xfrm>
          <a:prstGeom prst="round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D490D01-5FF7-413C-A0FF-6EB3D48E0106}"/>
              </a:ext>
            </a:extLst>
          </p:cNvPr>
          <p:cNvSpPr txBox="1"/>
          <p:nvPr/>
        </p:nvSpPr>
        <p:spPr>
          <a:xfrm>
            <a:off x="1641502" y="949375"/>
            <a:ext cx="31187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本章即将考虑的主要问题：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19FD669-3E95-4625-8591-E0338E146914}"/>
              </a:ext>
            </a:extLst>
          </p:cNvPr>
          <p:cNvSpPr/>
          <p:nvPr/>
        </p:nvSpPr>
        <p:spPr>
          <a:xfrm>
            <a:off x="1559857" y="1727330"/>
            <a:ext cx="6400801" cy="562268"/>
          </a:xfrm>
          <a:prstGeom prst="round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FB943E2-327C-4D83-AD7B-626818FF9347}"/>
              </a:ext>
            </a:extLst>
          </p:cNvPr>
          <p:cNvSpPr txBox="1"/>
          <p:nvPr/>
        </p:nvSpPr>
        <p:spPr>
          <a:xfrm>
            <a:off x="1672118" y="1771303"/>
            <a:ext cx="3261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一般的迭代法如何建立？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F47C2DD-3CC3-4642-B339-3FA8E37C8BDC}"/>
              </a:ext>
            </a:extLst>
          </p:cNvPr>
          <p:cNvSpPr/>
          <p:nvPr/>
        </p:nvSpPr>
        <p:spPr>
          <a:xfrm>
            <a:off x="1559857" y="2475286"/>
            <a:ext cx="6400802" cy="562268"/>
          </a:xfrm>
          <a:prstGeom prst="round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46561F8-007F-4803-AC32-F84AB5F73515}"/>
              </a:ext>
            </a:extLst>
          </p:cNvPr>
          <p:cNvSpPr txBox="1"/>
          <p:nvPr/>
        </p:nvSpPr>
        <p:spPr>
          <a:xfrm>
            <a:off x="1672117" y="2556365"/>
            <a:ext cx="54906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如何判断迭代法收敛？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8D24CB8-38F9-4B82-964B-54FD2DE7D41C}"/>
              </a:ext>
            </a:extLst>
          </p:cNvPr>
          <p:cNvSpPr/>
          <p:nvPr/>
        </p:nvSpPr>
        <p:spPr>
          <a:xfrm>
            <a:off x="1559856" y="3247727"/>
            <a:ext cx="6400803" cy="692661"/>
          </a:xfrm>
          <a:prstGeom prst="round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9EBA490-C219-4E1E-B689-23ABC2FE906B}"/>
              </a:ext>
            </a:extLst>
          </p:cNvPr>
          <p:cNvSpPr txBox="1"/>
          <p:nvPr/>
        </p:nvSpPr>
        <p:spPr>
          <a:xfrm>
            <a:off x="1672117" y="3334320"/>
            <a:ext cx="46518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影响迭代法收敛速度的因素是什么？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2FF7EE0-C6DF-4A7C-8CD4-31B6F92CF9AE}"/>
              </a:ext>
            </a:extLst>
          </p:cNvPr>
          <p:cNvSpPr txBox="1"/>
          <p:nvPr/>
        </p:nvSpPr>
        <p:spPr>
          <a:xfrm>
            <a:off x="4760257" y="1777380"/>
            <a:ext cx="27077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（迭代法的具体形式）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7E96AFE-1EE3-416E-AFF0-D1009CDA1B78}"/>
              </a:ext>
            </a:extLst>
          </p:cNvPr>
          <p:cNvSpPr txBox="1"/>
          <p:nvPr/>
        </p:nvSpPr>
        <p:spPr>
          <a:xfrm>
            <a:off x="4572000" y="2568607"/>
            <a:ext cx="27077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（迭代法收敛的条件）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F807799-E59F-4727-AF50-D7E5E84B1FBF}"/>
              </a:ext>
            </a:extLst>
          </p:cNvPr>
          <p:cNvSpPr txBox="1"/>
          <p:nvPr/>
        </p:nvSpPr>
        <p:spPr>
          <a:xfrm>
            <a:off x="5925891" y="3334320"/>
            <a:ext cx="20347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（找到关键因素）</a:t>
            </a:r>
          </a:p>
        </p:txBody>
      </p:sp>
    </p:spTree>
    <p:extLst>
      <p:ext uri="{BB962C8B-B14F-4D97-AF65-F5344CB8AC3E}">
        <p14:creationId xmlns:p14="http://schemas.microsoft.com/office/powerpoint/2010/main" val="4166630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6" grpId="0" animBg="1"/>
      <p:bldP spid="8" grpId="0"/>
      <p:bldP spid="15" grpId="0" animBg="1"/>
      <p:bldP spid="16" grpId="0"/>
      <p:bldP spid="17" grpId="0" animBg="1"/>
      <p:bldP spid="18" grpId="0"/>
      <p:bldP spid="21" grpId="0" animBg="1"/>
      <p:bldP spid="22" grpId="0"/>
      <p:bldP spid="23" grpId="0"/>
      <p:bldP spid="24" grpId="0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E7F064F-8544-4E76-8BE6-D4D3ABC8F908}"/>
              </a:ext>
            </a:extLst>
          </p:cNvPr>
          <p:cNvCxnSpPr/>
          <p:nvPr/>
        </p:nvCxnSpPr>
        <p:spPr>
          <a:xfrm flipV="1">
            <a:off x="0" y="355600"/>
            <a:ext cx="2886075" cy="158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5CEFB25-3703-4C02-9EC2-99523841BF1B}"/>
              </a:ext>
            </a:extLst>
          </p:cNvPr>
          <p:cNvCxnSpPr/>
          <p:nvPr/>
        </p:nvCxnSpPr>
        <p:spPr>
          <a:xfrm>
            <a:off x="6115050" y="368300"/>
            <a:ext cx="3028950" cy="31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DBAA461A-721D-4411-8E0C-37C00FB41582}"/>
              </a:ext>
            </a:extLst>
          </p:cNvPr>
          <p:cNvSpPr txBox="1"/>
          <p:nvPr/>
        </p:nvSpPr>
        <p:spPr>
          <a:xfrm>
            <a:off x="1857375" y="136525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迭代法的建立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180E786-9297-44F8-A24D-B9E18A0BC2F5}"/>
              </a:ext>
            </a:extLst>
          </p:cNvPr>
          <p:cNvSpPr txBox="1"/>
          <p:nvPr/>
        </p:nvSpPr>
        <p:spPr>
          <a:xfrm>
            <a:off x="6929986" y="600817"/>
            <a:ext cx="461665" cy="17145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人类进化史</a:t>
            </a:r>
            <a:endParaRPr lang="en-US" altLang="zh-CN" sz="1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CD2D35C-C23A-4FBB-9C13-6196457624FB}"/>
              </a:ext>
            </a:extLst>
          </p:cNvPr>
          <p:cNvSpPr txBox="1"/>
          <p:nvPr/>
        </p:nvSpPr>
        <p:spPr>
          <a:xfrm>
            <a:off x="1778000" y="2324100"/>
            <a:ext cx="1301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初始向量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E35F2121-41C1-4C65-BA94-3F4CB249A223}"/>
              </a:ext>
            </a:extLst>
          </p:cNvPr>
          <p:cNvSpPr/>
          <p:nvPr/>
        </p:nvSpPr>
        <p:spPr>
          <a:xfrm>
            <a:off x="3135312" y="2484468"/>
            <a:ext cx="2065338" cy="87282"/>
          </a:xfrm>
          <a:prstGeom prst="rightArrow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618B6B1-CEB0-4B81-A255-178EF7D1A810}"/>
              </a:ext>
            </a:extLst>
          </p:cNvPr>
          <p:cNvSpPr txBox="1"/>
          <p:nvPr/>
        </p:nvSpPr>
        <p:spPr>
          <a:xfrm>
            <a:off x="3634575" y="2230319"/>
            <a:ext cx="1108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迭代修正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D2BE299-08FC-4B84-8992-47125878E55F}"/>
              </a:ext>
            </a:extLst>
          </p:cNvPr>
          <p:cNvSpPr txBox="1"/>
          <p:nvPr/>
        </p:nvSpPr>
        <p:spPr>
          <a:xfrm>
            <a:off x="5413377" y="2320925"/>
            <a:ext cx="15986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近似解向量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F5E4495-2602-46C6-B9B5-4A4E058DBCF3}"/>
              </a:ext>
            </a:extLst>
          </p:cNvPr>
          <p:cNvSpPr txBox="1"/>
          <p:nvPr/>
        </p:nvSpPr>
        <p:spPr>
          <a:xfrm>
            <a:off x="1210870" y="3528967"/>
            <a:ext cx="1533518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迭代法建立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57CFD59C-FDC8-49B9-AFAF-30F3680895DB}"/>
              </a:ext>
            </a:extLst>
          </p:cNvPr>
          <p:cNvCxnSpPr>
            <a:cxnSpLocks/>
          </p:cNvCxnSpPr>
          <p:nvPr/>
        </p:nvCxnSpPr>
        <p:spPr>
          <a:xfrm>
            <a:off x="3120229" y="3238500"/>
            <a:ext cx="0" cy="94615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0BF17819-157C-459B-B78B-BD667C2653FB}"/>
              </a:ext>
            </a:extLst>
          </p:cNvPr>
          <p:cNvCxnSpPr/>
          <p:nvPr/>
        </p:nvCxnSpPr>
        <p:spPr>
          <a:xfrm>
            <a:off x="3109117" y="3238500"/>
            <a:ext cx="504825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93512C7A-30B5-4889-A751-95CB6FB44016}"/>
              </a:ext>
            </a:extLst>
          </p:cNvPr>
          <p:cNvCxnSpPr/>
          <p:nvPr/>
        </p:nvCxnSpPr>
        <p:spPr>
          <a:xfrm>
            <a:off x="3120229" y="4184650"/>
            <a:ext cx="485775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647BA4AA-4BAA-42B9-8B7B-5F2F0C626DFB}"/>
              </a:ext>
            </a:extLst>
          </p:cNvPr>
          <p:cNvSpPr txBox="1"/>
          <p:nvPr/>
        </p:nvSpPr>
        <p:spPr>
          <a:xfrm>
            <a:off x="3613943" y="3051145"/>
            <a:ext cx="2257416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给定初始猜测值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478B607-5822-4AE8-87F8-E2D77C2E7A96}"/>
              </a:ext>
            </a:extLst>
          </p:cNvPr>
          <p:cNvSpPr txBox="1"/>
          <p:nvPr/>
        </p:nvSpPr>
        <p:spPr>
          <a:xfrm>
            <a:off x="3613942" y="3528967"/>
            <a:ext cx="2257417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建立迭代修正格式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B18DF51-F567-4FCB-B342-BB9C12A27539}"/>
              </a:ext>
            </a:extLst>
          </p:cNvPr>
          <p:cNvSpPr txBox="1"/>
          <p:nvPr/>
        </p:nvSpPr>
        <p:spPr>
          <a:xfrm>
            <a:off x="3617120" y="3998913"/>
            <a:ext cx="2254239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控制迭代过程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911F491-64B7-4900-8A73-4FEA415BBE29}"/>
              </a:ext>
            </a:extLst>
          </p:cNvPr>
          <p:cNvSpPr txBox="1"/>
          <p:nvPr/>
        </p:nvSpPr>
        <p:spPr>
          <a:xfrm>
            <a:off x="5838825" y="3045537"/>
            <a:ext cx="18192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（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任意给</a:t>
            </a:r>
            <a:r>
              <a:rPr lang="zh-CN" altLang="en-US" sz="2000" b="1" dirty="0">
                <a:solidFill>
                  <a:srgbClr val="FF0000"/>
                </a:solidFill>
              </a:rPr>
              <a:t>）</a:t>
            </a:r>
            <a:endParaRPr lang="zh-CN" altLang="en-US" sz="2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19E1520-AFFC-4AFC-B948-5A2F84C835CE}"/>
              </a:ext>
            </a:extLst>
          </p:cNvPr>
          <p:cNvSpPr txBox="1"/>
          <p:nvPr/>
        </p:nvSpPr>
        <p:spPr>
          <a:xfrm>
            <a:off x="5823734" y="3514711"/>
            <a:ext cx="18192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（计算简单）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8D11040-86ED-4694-A474-B836EF2A544F}"/>
              </a:ext>
            </a:extLst>
          </p:cNvPr>
          <p:cNvSpPr txBox="1"/>
          <p:nvPr/>
        </p:nvSpPr>
        <p:spPr>
          <a:xfrm>
            <a:off x="5852309" y="3978276"/>
            <a:ext cx="2936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（最大迭代步数或精度）</a:t>
            </a: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9A33444B-E367-4A89-B1E5-A3AD51F55CEB}"/>
              </a:ext>
            </a:extLst>
          </p:cNvPr>
          <p:cNvCxnSpPr>
            <a:cxnSpLocks/>
            <a:stCxn id="22" idx="3"/>
            <a:endCxn id="31" idx="1"/>
          </p:cNvCxnSpPr>
          <p:nvPr/>
        </p:nvCxnSpPr>
        <p:spPr>
          <a:xfrm>
            <a:off x="2744388" y="3729022"/>
            <a:ext cx="869554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图片 47">
            <a:extLst>
              <a:ext uri="{FF2B5EF4-FFF2-40B4-BE49-F238E27FC236}">
                <a16:creationId xmlns:a16="http://schemas.microsoft.com/office/drawing/2014/main" id="{C90F1A15-634C-4BCF-86AE-2D11F7059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505" y="604913"/>
            <a:ext cx="531495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387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5" grpId="0"/>
      <p:bldP spid="6" grpId="0"/>
      <p:bldP spid="7" grpId="0" animBg="1"/>
      <p:bldP spid="8" grpId="0"/>
      <p:bldP spid="20" grpId="0"/>
      <p:bldP spid="22" grpId="0" animBg="1"/>
      <p:bldP spid="30" grpId="0" animBg="1"/>
      <p:bldP spid="31" grpId="0" animBg="1"/>
      <p:bldP spid="32" grpId="0" animBg="1"/>
      <p:bldP spid="3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E7F064F-8544-4E76-8BE6-D4D3ABC8F908}"/>
              </a:ext>
            </a:extLst>
          </p:cNvPr>
          <p:cNvCxnSpPr/>
          <p:nvPr/>
        </p:nvCxnSpPr>
        <p:spPr>
          <a:xfrm flipV="1">
            <a:off x="0" y="355600"/>
            <a:ext cx="2886075" cy="158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5CEFB25-3703-4C02-9EC2-99523841BF1B}"/>
              </a:ext>
            </a:extLst>
          </p:cNvPr>
          <p:cNvCxnSpPr/>
          <p:nvPr/>
        </p:nvCxnSpPr>
        <p:spPr>
          <a:xfrm>
            <a:off x="6115050" y="368300"/>
            <a:ext cx="3028950" cy="31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DBAA461A-721D-4411-8E0C-37C00FB41582}"/>
              </a:ext>
            </a:extLst>
          </p:cNvPr>
          <p:cNvSpPr txBox="1"/>
          <p:nvPr/>
        </p:nvSpPr>
        <p:spPr>
          <a:xfrm>
            <a:off x="1857375" y="136525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迭代法的建立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9684D6F-94DC-4633-9D07-5E9E27C06917}"/>
              </a:ext>
            </a:extLst>
          </p:cNvPr>
          <p:cNvSpPr/>
          <p:nvPr/>
        </p:nvSpPr>
        <p:spPr>
          <a:xfrm>
            <a:off x="1087290" y="769524"/>
            <a:ext cx="3262851" cy="400050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FE2C1F85-8C13-4B71-9461-4B4DD0BED1E3}"/>
                  </a:ext>
                </a:extLst>
              </p:cNvPr>
              <p:cNvSpPr/>
              <p:nvPr/>
            </p:nvSpPr>
            <p:spPr>
              <a:xfrm>
                <a:off x="1621579" y="1280175"/>
                <a:ext cx="2984503" cy="1074910"/>
              </a:xfrm>
              <a:prstGeom prst="rect">
                <a:avLst/>
              </a:prstGeom>
              <a:gradFill>
                <a:gsLst>
                  <a:gs pos="0">
                    <a:srgbClr val="FFC000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sSub>
                                  <m:sSub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20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000" b="0" i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b>
                                  <m:sSub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20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200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20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−10</m:t>
                                </m:r>
                                <m:sSub>
                                  <m:sSub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20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000" b="0" i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200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20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b>
                                  <m:sSub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20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sSub>
                                  <m:sSub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200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FE2C1F85-8C13-4B71-9461-4B4DD0BED1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1579" y="1280175"/>
                <a:ext cx="2984503" cy="10749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7C82A5C-290D-486E-80AE-E1EEE23BB528}"/>
                  </a:ext>
                </a:extLst>
              </p:cNvPr>
              <p:cNvSpPr txBox="1"/>
              <p:nvPr/>
            </p:nvSpPr>
            <p:spPr>
              <a:xfrm>
                <a:off x="5317816" y="1800825"/>
                <a:ext cx="2633730" cy="400110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精确解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1,1,1</m:t>
                            </m:r>
                          </m:e>
                        </m:d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7C82A5C-290D-486E-80AE-E1EEE23BB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7816" y="1800825"/>
                <a:ext cx="2633730" cy="400110"/>
              </a:xfrm>
              <a:prstGeom prst="rect">
                <a:avLst/>
              </a:prstGeom>
              <a:blipFill>
                <a:blip r:embed="rId3"/>
                <a:stretch>
                  <a:fillRect l="-2315" t="-10606" b="-2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181D30F4-AD71-49C9-A549-FB1F0D00A9A0}"/>
                  </a:ext>
                </a:extLst>
              </p:cNvPr>
              <p:cNvSpPr txBox="1"/>
              <p:nvPr/>
            </p:nvSpPr>
            <p:spPr>
              <a:xfrm>
                <a:off x="1150863" y="2460800"/>
                <a:ext cx="253249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其矩阵形式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𝐴𝑥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𝑏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为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181D30F4-AD71-49C9-A549-FB1F0D00A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863" y="2460800"/>
                <a:ext cx="2532495" cy="400110"/>
              </a:xfrm>
              <a:prstGeom prst="rect">
                <a:avLst/>
              </a:prstGeom>
              <a:blipFill>
                <a:blip r:embed="rId4"/>
                <a:stretch>
                  <a:fillRect l="-2651" t="-7692" r="-964" b="-2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238F2BB-2868-46AD-9A15-76D2D36602D2}"/>
                  </a:ext>
                </a:extLst>
              </p:cNvPr>
              <p:cNvSpPr txBox="1"/>
              <p:nvPr/>
            </p:nvSpPr>
            <p:spPr>
              <a:xfrm>
                <a:off x="1621579" y="3036948"/>
                <a:ext cx="3696237" cy="906980"/>
              </a:xfrm>
              <a:prstGeom prst="rect">
                <a:avLst/>
              </a:prstGeom>
              <a:gradFill>
                <a:gsLst>
                  <a:gs pos="0">
                    <a:srgbClr val="FFC000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−10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20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20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200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238F2BB-2868-46AD-9A15-76D2D36602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1579" y="3036948"/>
                <a:ext cx="3696237" cy="9069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09CBE7B-7A93-4F48-A530-FD27A606B79C}"/>
              </a:ext>
            </a:extLst>
          </p:cNvPr>
          <p:cNvSpPr/>
          <p:nvPr/>
        </p:nvSpPr>
        <p:spPr>
          <a:xfrm>
            <a:off x="1087290" y="548374"/>
            <a:ext cx="2886076" cy="579024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AFC0FD2-C55D-4782-A09F-042727ADA868}"/>
              </a:ext>
            </a:extLst>
          </p:cNvPr>
          <p:cNvSpPr txBox="1"/>
          <p:nvPr/>
        </p:nvSpPr>
        <p:spPr>
          <a:xfrm>
            <a:off x="1131110" y="653228"/>
            <a:ext cx="257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例 求解线性方程组</a:t>
            </a:r>
          </a:p>
        </p:txBody>
      </p:sp>
      <p:sp>
        <p:nvSpPr>
          <p:cNvPr id="15" name="箭头: 下弧形 14">
            <a:extLst>
              <a:ext uri="{FF2B5EF4-FFF2-40B4-BE49-F238E27FC236}">
                <a16:creationId xmlns:a16="http://schemas.microsoft.com/office/drawing/2014/main" id="{AF3710FB-ED7B-49B4-94C6-1A13570EC001}"/>
              </a:ext>
            </a:extLst>
          </p:cNvPr>
          <p:cNvSpPr/>
          <p:nvPr/>
        </p:nvSpPr>
        <p:spPr>
          <a:xfrm>
            <a:off x="4510087" y="2288954"/>
            <a:ext cx="1087291" cy="499462"/>
          </a:xfrm>
          <a:prstGeom prst="curvedUpArrow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37333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6" grpId="0"/>
      <p:bldP spid="4" grpId="0" animBg="1"/>
      <p:bldP spid="7" grpId="0" animBg="1"/>
      <p:bldP spid="21" grpId="0"/>
      <p:bldP spid="9" grpId="0" animBg="1"/>
      <p:bldP spid="10" grpId="0" animBg="1"/>
      <p:bldP spid="11" grpId="0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E7F064F-8544-4E76-8BE6-D4D3ABC8F908}"/>
              </a:ext>
            </a:extLst>
          </p:cNvPr>
          <p:cNvCxnSpPr/>
          <p:nvPr/>
        </p:nvCxnSpPr>
        <p:spPr>
          <a:xfrm flipV="1">
            <a:off x="0" y="355600"/>
            <a:ext cx="2886075" cy="158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5CEFB25-3703-4C02-9EC2-99523841BF1B}"/>
              </a:ext>
            </a:extLst>
          </p:cNvPr>
          <p:cNvCxnSpPr/>
          <p:nvPr/>
        </p:nvCxnSpPr>
        <p:spPr>
          <a:xfrm>
            <a:off x="6115050" y="368300"/>
            <a:ext cx="3028950" cy="31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DBAA461A-721D-4411-8E0C-37C00FB41582}"/>
              </a:ext>
            </a:extLst>
          </p:cNvPr>
          <p:cNvSpPr txBox="1"/>
          <p:nvPr/>
        </p:nvSpPr>
        <p:spPr>
          <a:xfrm>
            <a:off x="1857375" y="136525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迭代法的建立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68C88D6-5494-4485-B3AE-4DE5B4BA6F91}"/>
              </a:ext>
            </a:extLst>
          </p:cNvPr>
          <p:cNvSpPr txBox="1"/>
          <p:nvPr/>
        </p:nvSpPr>
        <p:spPr>
          <a:xfrm>
            <a:off x="153679" y="490978"/>
            <a:ext cx="23666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迭代法基本步骤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DFD206E-5EE1-43F7-A7C5-AEE7C1D05A23}"/>
                  </a:ext>
                </a:extLst>
              </p:cNvPr>
              <p:cNvSpPr txBox="1"/>
              <p:nvPr/>
            </p:nvSpPr>
            <p:spPr>
              <a:xfrm>
                <a:off x="384201" y="965876"/>
                <a:ext cx="3657600" cy="421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任取初值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0,0,0</m:t>
                            </m:r>
                          </m:e>
                        </m:d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DFD206E-5EE1-43F7-A7C5-AEE7C1D05A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201" y="965876"/>
                <a:ext cx="3657600" cy="421013"/>
              </a:xfrm>
              <a:prstGeom prst="rect">
                <a:avLst/>
              </a:prstGeom>
              <a:blipFill>
                <a:blip r:embed="rId2"/>
                <a:stretch>
                  <a:fillRect l="-1500" t="-1429" b="-2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DB538306-9A98-40A1-A930-BB148B87356A}"/>
                  </a:ext>
                </a:extLst>
              </p:cNvPr>
              <p:cNvSpPr txBox="1"/>
              <p:nvPr/>
            </p:nvSpPr>
            <p:spPr>
              <a:xfrm>
                <a:off x="374955" y="1457214"/>
                <a:ext cx="213616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迭代</a:t>
                </a:r>
                <a14:m>
                  <m:oMath xmlns:m="http://schemas.openxmlformats.org/officeDocument/2006/math">
                    <m:r>
                      <a:rPr lang="zh-CN" altLang="en-US" sz="2000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修正格式</m:t>
                    </m:r>
                    <m:r>
                      <a:rPr lang="en-US" altLang="zh-CN" sz="2000" b="0" i="0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:</m:t>
                    </m:r>
                  </m:oMath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DB538306-9A98-40A1-A930-BB148B8735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55" y="1457214"/>
                <a:ext cx="2136163" cy="400110"/>
              </a:xfrm>
              <a:prstGeom prst="rect">
                <a:avLst/>
              </a:prstGeom>
              <a:blipFill>
                <a:blip r:embed="rId3"/>
                <a:stretch>
                  <a:fillRect l="-2571" t="-606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9114563-1C4C-460C-AD40-784AA9CDB838}"/>
                  </a:ext>
                </a:extLst>
              </p:cNvPr>
              <p:cNvSpPr txBox="1"/>
              <p:nvPr/>
            </p:nvSpPr>
            <p:spPr>
              <a:xfrm>
                <a:off x="2435838" y="1464137"/>
                <a:ext cx="425695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利用第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𝑖</m:t>
                    </m:r>
                    <m:r>
                      <a:rPr lang="zh-CN" altLang="en-US" sz="200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个方程更新第</m:t>
                    </m:r>
                    <m:r>
                      <a:rPr lang="en-US" altLang="zh-CN" sz="200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𝑖</m:t>
                    </m:r>
                    <m:r>
                      <a:rPr lang="zh-CN" altLang="en-US" sz="200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个分量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00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9114563-1C4C-460C-AD40-784AA9CDB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5838" y="1464137"/>
                <a:ext cx="4256955" cy="400110"/>
              </a:xfrm>
              <a:prstGeom prst="rect">
                <a:avLst/>
              </a:prstGeom>
              <a:blipFill>
                <a:blip r:embed="rId4"/>
                <a:stretch>
                  <a:fillRect l="-1576" t="-606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33A08B2B-7974-4898-A171-FDF3F7669464}"/>
                  </a:ext>
                </a:extLst>
              </p:cNvPr>
              <p:cNvSpPr txBox="1"/>
              <p:nvPr/>
            </p:nvSpPr>
            <p:spPr>
              <a:xfrm>
                <a:off x="384200" y="1926059"/>
                <a:ext cx="2136163" cy="552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20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0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𝑘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+1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2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3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33A08B2B-7974-4898-A171-FDF3F7669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200" y="1926059"/>
                <a:ext cx="2136163" cy="5529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5DB3D1AA-D259-4E52-84D9-7C072FAE898D}"/>
              </a:ext>
            </a:extLst>
          </p:cNvPr>
          <p:cNvSpPr txBox="1"/>
          <p:nvPr/>
        </p:nvSpPr>
        <p:spPr>
          <a:xfrm>
            <a:off x="2435838" y="2002490"/>
            <a:ext cx="1967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满足第一个方程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C3665F3A-D337-4A73-B898-3979C2AC16D9}"/>
                  </a:ext>
                </a:extLst>
              </p:cNvPr>
              <p:cNvSpPr txBox="1"/>
              <p:nvPr/>
            </p:nvSpPr>
            <p:spPr>
              <a:xfrm>
                <a:off x="4685979" y="1926059"/>
                <a:ext cx="3781826" cy="552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bSupPr>
                        <m:e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+1</m:t>
                              </m:r>
                            </m:e>
                          </m:d>
                        </m:sup>
                      </m:sSubSup>
                      <m:r>
                        <a:rPr lang="en-US" altLang="zh-CN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14−3</m:t>
                              </m:r>
                              <m:sSubSup>
                                <m:sSubSupPr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2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华文楷体" panose="02010600040101010101" pitchFamily="2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华文楷体" panose="02010600040101010101" pitchFamily="2" charset="-122"/>
                                        </a:rPr>
                                        <m:t>𝑘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3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华文楷体" panose="02010600040101010101" pitchFamily="2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华文楷体" panose="02010600040101010101" pitchFamily="2" charset="-122"/>
                                        </a:rPr>
                                        <m:t>𝑘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d>
                        </m:num>
                        <m:den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C3665F3A-D337-4A73-B898-3979C2AC1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5979" y="1926059"/>
                <a:ext cx="3781826" cy="5529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4C7BC612-F811-4105-922F-AB50A84669A0}"/>
                  </a:ext>
                </a:extLst>
              </p:cNvPr>
              <p:cNvSpPr txBox="1"/>
              <p:nvPr/>
            </p:nvSpPr>
            <p:spPr>
              <a:xfrm>
                <a:off x="4572000" y="2460751"/>
                <a:ext cx="4572000" cy="552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bSupPr>
                        <m:e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+1</m:t>
                              </m:r>
                            </m:e>
                          </m:d>
                        </m:sup>
                      </m:sSubSup>
                      <m:r>
                        <a:rPr lang="en-US" altLang="zh-CN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−5</m:t>
                              </m:r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−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2</m:t>
                              </m:r>
                              <m:sSubSup>
                                <m:sSubSupPr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华文楷体" panose="02010600040101010101" pitchFamily="2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华文楷体" panose="02010600040101010101" pitchFamily="2" charset="-122"/>
                                        </a:rPr>
                                        <m:t>𝑘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3</m:t>
                                  </m:r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3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华文楷体" panose="02010600040101010101" pitchFamily="2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华文楷体" panose="02010600040101010101" pitchFamily="2" charset="-122"/>
                                        </a:rPr>
                                        <m:t>𝑘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−10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4C7BC612-F811-4105-922F-AB50A8466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460751"/>
                <a:ext cx="4572000" cy="5529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9886D1F-20E9-4B31-BE8E-9598D27D4F9B}"/>
                  </a:ext>
                </a:extLst>
              </p:cNvPr>
              <p:cNvSpPr txBox="1"/>
              <p:nvPr/>
            </p:nvSpPr>
            <p:spPr>
              <a:xfrm>
                <a:off x="4685979" y="2995443"/>
                <a:ext cx="3781826" cy="552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bSupPr>
                        <m:e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3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+1</m:t>
                              </m:r>
                            </m:e>
                          </m:d>
                        </m:sup>
                      </m:sSubSup>
                      <m:r>
                        <a:rPr lang="en-US" altLang="zh-CN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14−</m:t>
                              </m:r>
                              <m:sSubSup>
                                <m:sSubSupPr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华文楷体" panose="02010600040101010101" pitchFamily="2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华文楷体" panose="02010600040101010101" pitchFamily="2" charset="-122"/>
                                        </a:rPr>
                                        <m:t>𝑘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−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3</m:t>
                              </m:r>
                              <m:sSubSup>
                                <m:sSubSupPr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2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华文楷体" panose="02010600040101010101" pitchFamily="2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华文楷体" panose="02010600040101010101" pitchFamily="2" charset="-122"/>
                                        </a:rPr>
                                        <m:t>𝑘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d>
                        </m:num>
                        <m:den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9886D1F-20E9-4B31-BE8E-9598D27D4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5979" y="2995443"/>
                <a:ext cx="3781826" cy="5529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38B18487-90A0-4789-8846-E459FEA4458C}"/>
                  </a:ext>
                </a:extLst>
              </p:cNvPr>
              <p:cNvSpPr txBox="1"/>
              <p:nvPr/>
            </p:nvSpPr>
            <p:spPr>
              <a:xfrm>
                <a:off x="358906" y="2460751"/>
                <a:ext cx="2136163" cy="552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sz="20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2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𝑘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+1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3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38B18487-90A0-4789-8846-E459FEA445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906" y="2460751"/>
                <a:ext cx="2136163" cy="5529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7C908059-781E-464C-8C6C-993256C9DE52}"/>
                  </a:ext>
                </a:extLst>
              </p:cNvPr>
              <p:cNvSpPr txBox="1"/>
              <p:nvPr/>
            </p:nvSpPr>
            <p:spPr>
              <a:xfrm>
                <a:off x="358906" y="2995443"/>
                <a:ext cx="2136163" cy="552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2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sz="20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3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𝑘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+1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7C908059-781E-464C-8C6C-993256C9D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906" y="2995443"/>
                <a:ext cx="2136163" cy="5529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本框 37">
            <a:extLst>
              <a:ext uri="{FF2B5EF4-FFF2-40B4-BE49-F238E27FC236}">
                <a16:creationId xmlns:a16="http://schemas.microsoft.com/office/drawing/2014/main" id="{F4DDA09C-26EE-4069-9275-651E4D59A00E}"/>
              </a:ext>
            </a:extLst>
          </p:cNvPr>
          <p:cNvSpPr txBox="1"/>
          <p:nvPr/>
        </p:nvSpPr>
        <p:spPr>
          <a:xfrm>
            <a:off x="2435838" y="2571750"/>
            <a:ext cx="1967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满足第二个方程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BC5144E-B35D-4563-A50A-22A15B731778}"/>
              </a:ext>
            </a:extLst>
          </p:cNvPr>
          <p:cNvSpPr txBox="1"/>
          <p:nvPr/>
        </p:nvSpPr>
        <p:spPr>
          <a:xfrm>
            <a:off x="2435838" y="3114431"/>
            <a:ext cx="1967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满足第三个方程</a:t>
            </a:r>
          </a:p>
        </p:txBody>
      </p:sp>
      <p:sp>
        <p:nvSpPr>
          <p:cNvPr id="11" name="左大括号 10">
            <a:extLst>
              <a:ext uri="{FF2B5EF4-FFF2-40B4-BE49-F238E27FC236}">
                <a16:creationId xmlns:a16="http://schemas.microsoft.com/office/drawing/2014/main" id="{891BF91E-884D-458A-AEDD-7054D7D54FE1}"/>
              </a:ext>
            </a:extLst>
          </p:cNvPr>
          <p:cNvSpPr/>
          <p:nvPr/>
        </p:nvSpPr>
        <p:spPr>
          <a:xfrm>
            <a:off x="4458022" y="2202545"/>
            <a:ext cx="227958" cy="1186114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C4C70442-80DF-4BB5-8561-459192B672AF}"/>
                  </a:ext>
                </a:extLst>
              </p:cNvPr>
              <p:cNvSpPr txBox="1"/>
              <p:nvPr/>
            </p:nvSpPr>
            <p:spPr>
              <a:xfrm>
                <a:off x="384200" y="3673610"/>
                <a:ext cx="213616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CN" altLang="en-US" sz="200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控制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迭代</m:t>
                    </m:r>
                    <m:r>
                      <a:rPr lang="zh-CN" altLang="en-US" sz="2000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格式</m:t>
                    </m:r>
                    <m:r>
                      <a:rPr lang="en-US" altLang="zh-CN" sz="2000" b="0" i="0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:</m:t>
                    </m:r>
                  </m:oMath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C4C70442-80DF-4BB5-8561-459192B67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200" y="3673610"/>
                <a:ext cx="2136163" cy="400110"/>
              </a:xfrm>
              <a:prstGeom prst="rect">
                <a:avLst/>
              </a:prstGeom>
              <a:blipFill>
                <a:blip r:embed="rId11"/>
                <a:stretch>
                  <a:fillRect l="-2571" t="-6154" b="-21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本框 40">
            <a:extLst>
              <a:ext uri="{FF2B5EF4-FFF2-40B4-BE49-F238E27FC236}">
                <a16:creationId xmlns:a16="http://schemas.microsoft.com/office/drawing/2014/main" id="{32D138B4-7A85-4F6A-8446-3D52D6E4C7C3}"/>
              </a:ext>
            </a:extLst>
          </p:cNvPr>
          <p:cNvSpPr txBox="1"/>
          <p:nvPr/>
        </p:nvSpPr>
        <p:spPr>
          <a:xfrm>
            <a:off x="2520363" y="3673610"/>
            <a:ext cx="24127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最大迭代步数控制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9F795E0C-0A50-4392-9261-6F7D5AAF62EC}"/>
                  </a:ext>
                </a:extLst>
              </p:cNvPr>
              <p:cNvSpPr txBox="1"/>
              <p:nvPr/>
            </p:nvSpPr>
            <p:spPr>
              <a:xfrm>
                <a:off x="358906" y="4118655"/>
                <a:ext cx="2527169" cy="421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1.4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0.5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1.4</m:t>
                            </m:r>
                          </m:e>
                        </m:d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</a:t>
                </a: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9F795E0C-0A50-4392-9261-6F7D5AAF62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906" y="4118655"/>
                <a:ext cx="2527169" cy="421013"/>
              </a:xfrm>
              <a:prstGeom prst="rect">
                <a:avLst/>
              </a:prstGeom>
              <a:blipFill>
                <a:blip r:embed="rId12"/>
                <a:stretch>
                  <a:fillRect t="-2899" r="-12560" b="-260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1D3EA456-E1CF-4D17-9780-CDA97E34A5FD}"/>
                  </a:ext>
                </a:extLst>
              </p:cNvPr>
              <p:cNvSpPr txBox="1"/>
              <p:nvPr/>
            </p:nvSpPr>
            <p:spPr>
              <a:xfrm>
                <a:off x="4969368" y="4108886"/>
                <a:ext cx="3777264" cy="421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d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1.0003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1.0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58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1.0003</m:t>
                            </m:r>
                          </m:e>
                        </m:d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1D3EA456-E1CF-4D17-9780-CDA97E34A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9368" y="4108886"/>
                <a:ext cx="3777264" cy="421013"/>
              </a:xfrm>
              <a:prstGeom prst="rect">
                <a:avLst/>
              </a:prstGeom>
              <a:blipFill>
                <a:blip r:embed="rId13"/>
                <a:stretch>
                  <a:fillRect t="-1449" b="-260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A1036969-1F79-4CC1-B0AE-F110DDE59E78}"/>
                  </a:ext>
                </a:extLst>
              </p:cNvPr>
              <p:cNvSpPr txBox="1"/>
              <p:nvPr/>
            </p:nvSpPr>
            <p:spPr>
              <a:xfrm>
                <a:off x="2763850" y="4108886"/>
                <a:ext cx="2327744" cy="421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</a:t>
                </a:r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sup>
                    </m:sSup>
                    <m:r>
                      <a:rPr lang="zh-CN" altLang="en-US" sz="2000" b="0" i="1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2000" b="0" i="1" smtClea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2000" b="0" i="1" smtClea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A1036969-1F79-4CC1-B0AE-F110DDE59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3850" y="4108886"/>
                <a:ext cx="2327744" cy="421013"/>
              </a:xfrm>
              <a:prstGeom prst="rect">
                <a:avLst/>
              </a:prstGeom>
              <a:blipFill>
                <a:blip r:embed="rId14"/>
                <a:stretch>
                  <a:fillRect t="-1449" b="-260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316CDD5E-B519-4F7E-BD3D-BC723689037D}"/>
                  </a:ext>
                </a:extLst>
              </p:cNvPr>
              <p:cNvSpPr/>
              <p:nvPr/>
            </p:nvSpPr>
            <p:spPr>
              <a:xfrm>
                <a:off x="6005818" y="570914"/>
                <a:ext cx="2984503" cy="10749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sSub>
                                  <m:sSub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20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000" b="0" i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b>
                                  <m:sSub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20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200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20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−10</m:t>
                                </m:r>
                                <m:sSub>
                                  <m:sSub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20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000" b="0" i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200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20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b>
                                  <m:sSub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20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sSub>
                                  <m:sSub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200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316CDD5E-B519-4F7E-BD3D-BC72368903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5818" y="570914"/>
                <a:ext cx="2984503" cy="10749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0151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2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7" grpId="0"/>
      <p:bldP spid="9" grpId="0"/>
      <p:bldP spid="22" grpId="0"/>
      <p:bldP spid="10" grpId="0"/>
      <p:bldP spid="24" grpId="0"/>
      <p:bldP spid="25" grpId="0"/>
      <p:bldP spid="26" grpId="0"/>
      <p:bldP spid="29" grpId="0"/>
      <p:bldP spid="35" grpId="0"/>
      <p:bldP spid="36" grpId="0"/>
      <p:bldP spid="37" grpId="0"/>
      <p:bldP spid="39" grpId="0"/>
      <p:bldP spid="11" grpId="0" animBg="1"/>
      <p:bldP spid="40" grpId="0"/>
      <p:bldP spid="42" grpId="0"/>
      <p:bldP spid="43" grpId="0"/>
      <p:bldP spid="44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E7F064F-8544-4E76-8BE6-D4D3ABC8F908}"/>
              </a:ext>
            </a:extLst>
          </p:cNvPr>
          <p:cNvCxnSpPr/>
          <p:nvPr/>
        </p:nvCxnSpPr>
        <p:spPr>
          <a:xfrm flipV="1">
            <a:off x="0" y="355600"/>
            <a:ext cx="2886075" cy="158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5CEFB25-3703-4C02-9EC2-99523841BF1B}"/>
              </a:ext>
            </a:extLst>
          </p:cNvPr>
          <p:cNvCxnSpPr/>
          <p:nvPr/>
        </p:nvCxnSpPr>
        <p:spPr>
          <a:xfrm>
            <a:off x="6115050" y="368300"/>
            <a:ext cx="3028950" cy="31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DBAA461A-721D-4411-8E0C-37C00FB41582}"/>
              </a:ext>
            </a:extLst>
          </p:cNvPr>
          <p:cNvSpPr txBox="1"/>
          <p:nvPr/>
        </p:nvSpPr>
        <p:spPr>
          <a:xfrm>
            <a:off x="1857375" y="136525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迭代法的建立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9684D6F-94DC-4633-9D07-5E9E27C06917}"/>
              </a:ext>
            </a:extLst>
          </p:cNvPr>
          <p:cNvSpPr/>
          <p:nvPr/>
        </p:nvSpPr>
        <p:spPr>
          <a:xfrm>
            <a:off x="1168935" y="744983"/>
            <a:ext cx="3034231" cy="400050"/>
          </a:xfrm>
          <a:prstGeom prst="round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D490D01-5FF7-413C-A0FF-6EB3D48E0106}"/>
              </a:ext>
            </a:extLst>
          </p:cNvPr>
          <p:cNvSpPr txBox="1"/>
          <p:nvPr/>
        </p:nvSpPr>
        <p:spPr>
          <a:xfrm>
            <a:off x="1168934" y="774350"/>
            <a:ext cx="3034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推广到一般的三元方程组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FE2C1F85-8C13-4B71-9461-4B4DD0BED1E3}"/>
                  </a:ext>
                </a:extLst>
              </p:cNvPr>
              <p:cNvSpPr/>
              <p:nvPr/>
            </p:nvSpPr>
            <p:spPr>
              <a:xfrm>
                <a:off x="1344683" y="1402524"/>
                <a:ext cx="2630943" cy="878446"/>
              </a:xfrm>
              <a:prstGeom prst="rect">
                <a:avLst/>
              </a:prstGeom>
              <a:gradFill>
                <a:gsLst>
                  <a:gs pos="0">
                    <a:srgbClr val="FFC000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16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600" b="0" i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16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sz="16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160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zh-CN" altLang="en-US" sz="16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16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sz="16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16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1600" b="0" i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altLang="zh-CN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</a:rPr>
                                          <m:t>23</m:t>
                                        </m:r>
                                      </m:sub>
                                    </m:sSub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160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zh-CN" altLang="en-US" sz="16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16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sz="16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16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sz="16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160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zh-CN" altLang="en-US" sz="16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FE2C1F85-8C13-4B71-9461-4B4DD0BED1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4683" y="1402524"/>
                <a:ext cx="2630943" cy="8784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FF039D0C-886C-4C51-9618-416E0EEA46E4}"/>
                  </a:ext>
                </a:extLst>
              </p:cNvPr>
              <p:cNvSpPr/>
              <p:nvPr/>
            </p:nvSpPr>
            <p:spPr>
              <a:xfrm>
                <a:off x="3887980" y="1646117"/>
                <a:ext cx="960645" cy="3912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⇔"/>
                          <m:vertJc m:val="bot"/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𝑖𝑖</m:t>
                              </m:r>
                            </m:sub>
                          </m:sSub>
                          <m:r>
                            <m:rPr>
                              <m:brk m:alnAt="2"/>
                            </m:rP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0)</m:t>
                          </m:r>
                        </m:e>
                      </m:groupCh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FF039D0C-886C-4C51-9618-416E0EEA46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7980" y="1646117"/>
                <a:ext cx="960645" cy="3912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8C0F1D30-C034-43C9-841E-0EBD2631CB90}"/>
                  </a:ext>
                </a:extLst>
              </p:cNvPr>
              <p:cNvSpPr/>
              <p:nvPr/>
            </p:nvSpPr>
            <p:spPr>
              <a:xfrm>
                <a:off x="4793858" y="1144372"/>
                <a:ext cx="3450130" cy="1427378"/>
              </a:xfrm>
              <a:prstGeom prst="rect">
                <a:avLst/>
              </a:prstGeom>
              <a:gradFill>
                <a:gsLst>
                  <a:gs pos="0">
                    <a:srgbClr val="FFC000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</m:den>
                                </m:f>
                                <m:d>
                                  <m:d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zh-CN" altLang="en-US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13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zh-CN" altLang="en-US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</m:den>
                                </m:f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b="0" i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zh-CN" altLang="en-US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33</m:t>
                                        </m:r>
                                      </m:sub>
                                    </m:sSub>
                                  </m:den>
                                </m:f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b="0" i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32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b="0" i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8C0F1D30-C034-43C9-841E-0EBD2631CB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3858" y="1144372"/>
                <a:ext cx="3450130" cy="14273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E1637784-34B8-435B-8B78-C0214A1D9C21}"/>
                  </a:ext>
                </a:extLst>
              </p:cNvPr>
              <p:cNvSpPr/>
              <p:nvPr/>
            </p:nvSpPr>
            <p:spPr>
              <a:xfrm>
                <a:off x="4793859" y="1068291"/>
                <a:ext cx="3450130" cy="1620380"/>
              </a:xfrm>
              <a:prstGeom prst="rect">
                <a:avLst/>
              </a:prstGeom>
              <a:gradFill>
                <a:gsLst>
                  <a:gs pos="0">
                    <a:srgbClr val="FFC000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+1)</m:t>
                                    </m:r>
                                  </m:sup>
                                </m:sSub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</m:den>
                                </m:f>
                                <m:d>
                                  <m:d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en-US" altLang="zh-C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13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en-US" altLang="zh-C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  <m:sup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+1)</m:t>
                                    </m:r>
                                  </m:sup>
                                </m:sSub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</m:den>
                                </m:f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Sup>
                                      <m:sSubSup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+1)</m:t>
                                        </m:r>
                                      </m:sup>
                                    </m:sSub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f>
                                      <m:f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  <m:t>33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  <m:d>
                                      <m:d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sSubSup>
                                          <m:sSubSupPr>
                                            <m:ctrlP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b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  <m:t>32</m:t>
                                            </m:r>
                                          </m:sub>
                                        </m:sSub>
                                        <m:sSubSup>
                                          <m:sSubSupPr>
                                            <m:ctrlP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                                                  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=0,1,⋯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E1637784-34B8-435B-8B78-C0214A1D9C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3859" y="1068291"/>
                <a:ext cx="3450130" cy="16203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00BC9A17-B643-4B43-ABFB-FA6FFE17D3B1}"/>
                  </a:ext>
                </a:extLst>
              </p:cNvPr>
              <p:cNvSpPr/>
              <p:nvPr/>
            </p:nvSpPr>
            <p:spPr>
              <a:xfrm>
                <a:off x="3975626" y="1694290"/>
                <a:ext cx="872999" cy="3376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→"/>
                          <m:vertJc m:val="bot"/>
                          <m:ctrlPr>
                            <a:rPr lang="en-US" altLang="zh-CN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nor/>
                            </m:rPr>
                            <a:rPr lang="zh-CN" altLang="en-US" sz="1000" dirty="0"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m:t>建立迭代法</m:t>
                          </m:r>
                        </m:e>
                      </m:groupChr>
                    </m:oMath>
                  </m:oMathPara>
                </a14:m>
                <a:endParaRPr lang="zh-CN" altLang="en-US" sz="1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00BC9A17-B643-4B43-ABFB-FA6FFE17D3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26" y="1694290"/>
                <a:ext cx="872999" cy="33765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箭头: 圆角右 11">
            <a:extLst>
              <a:ext uri="{FF2B5EF4-FFF2-40B4-BE49-F238E27FC236}">
                <a16:creationId xmlns:a16="http://schemas.microsoft.com/office/drawing/2014/main" id="{86A36E26-7FA4-468A-AED5-C377BB5033C1}"/>
              </a:ext>
            </a:extLst>
          </p:cNvPr>
          <p:cNvSpPr/>
          <p:nvPr/>
        </p:nvSpPr>
        <p:spPr>
          <a:xfrm>
            <a:off x="6907946" y="629289"/>
            <a:ext cx="464092" cy="453446"/>
          </a:xfrm>
          <a:prstGeom prst="bentArrow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704BCCD5-58D7-491F-ACBE-C20265FF8E93}"/>
              </a:ext>
            </a:extLst>
          </p:cNvPr>
          <p:cNvSpPr/>
          <p:nvPr/>
        </p:nvSpPr>
        <p:spPr>
          <a:xfrm>
            <a:off x="7372038" y="483058"/>
            <a:ext cx="1326288" cy="461959"/>
          </a:xfrm>
          <a:prstGeom prst="ellipse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611556F-A6A1-4B23-B0E2-06E3D45B0302}"/>
              </a:ext>
            </a:extLst>
          </p:cNvPr>
          <p:cNvSpPr txBox="1"/>
          <p:nvPr/>
        </p:nvSpPr>
        <p:spPr>
          <a:xfrm>
            <a:off x="7471140" y="553399"/>
            <a:ext cx="12271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Jacobi</a:t>
            </a:r>
            <a:r>
              <a:rPr lang="zh-CN" altLang="en-US" sz="1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迭代法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54084AA-B584-4898-8AE6-08C5370D64A0}"/>
                  </a:ext>
                </a:extLst>
              </p:cNvPr>
              <p:cNvSpPr txBox="1"/>
              <p:nvPr/>
            </p:nvSpPr>
            <p:spPr>
              <a:xfrm>
                <a:off x="1214078" y="3450130"/>
                <a:ext cx="1559859" cy="4171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→"/>
                          <m:vertJc m:val="bot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nor/>
                            </m:rPr>
                            <a:rPr lang="zh-CN" altLang="en-US" sz="1400" dirty="0"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m:t>采用</m:t>
                          </m:r>
                          <m:r>
                            <a:rPr lang="zh-CN" altLang="en-US" sz="1400" i="1" dirty="0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最新</m:t>
                          </m:r>
                          <m:r>
                            <a:rPr lang="zh-CN" altLang="en-US" sz="1400" i="1" dirty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计算结果</m:t>
                          </m:r>
                        </m:e>
                      </m:groupCh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54084AA-B584-4898-8AE6-08C5370D64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078" y="3450130"/>
                <a:ext cx="1559859" cy="417102"/>
              </a:xfrm>
              <a:prstGeom prst="rect">
                <a:avLst/>
              </a:prstGeom>
              <a:blipFill>
                <a:blip r:embed="rId7"/>
                <a:stretch>
                  <a:fillRect r="-1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AA388FC9-3478-4D2D-B27E-F5E65DEA14F9}"/>
                  </a:ext>
                </a:extLst>
              </p:cNvPr>
              <p:cNvSpPr/>
              <p:nvPr/>
            </p:nvSpPr>
            <p:spPr>
              <a:xfrm>
                <a:off x="2896768" y="2909530"/>
                <a:ext cx="3450130" cy="1620380"/>
              </a:xfrm>
              <a:prstGeom prst="rect">
                <a:avLst/>
              </a:prstGeom>
              <a:gradFill>
                <a:gsLst>
                  <a:gs pos="0">
                    <a:srgbClr val="FFC000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+1)</m:t>
                                    </m:r>
                                  </m:sup>
                                </m:sSub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</m:den>
                                </m:f>
                                <m:d>
                                  <m:d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en-US" altLang="zh-C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13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en-US" altLang="zh-C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  <m:sup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+1)</m:t>
                                    </m:r>
                                  </m:sup>
                                </m:sSub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</m:den>
                                </m:f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en-US" altLang="zh-CN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altLang="zh-CN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zh-CN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altLang="zh-CN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  <m:r>
                                          <a:rPr lang="en-US" altLang="zh-CN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Sup>
                                      <m:sSubSup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      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+1)</m:t>
                                        </m:r>
                                      </m:sup>
                                    </m:sSub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f>
                                      <m:f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  <m:t>33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  <m:d>
                                      <m:d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sSubSup>
                                          <m:sSubSupPr>
                                            <m:ctrlPr>
                                              <a:rPr lang="en-US" altLang="zh-CN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zh-CN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altLang="zh-CN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en-US" altLang="zh-CN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  <m:r>
                                              <a:rPr lang="en-US" altLang="zh-CN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b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  <m:t>32</m:t>
                                            </m:r>
                                          </m:sub>
                                        </m:sSub>
                                        <m:sSubSup>
                                          <m:sSubSupPr>
                                            <m:ctrlPr>
                                              <a:rPr lang="en-US" altLang="zh-CN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zh-CN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altLang="zh-CN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en-US" altLang="zh-CN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  <m:r>
                                              <a:rPr lang="en-US" altLang="zh-CN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                                                  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=0,1,⋯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AA388FC9-3478-4D2D-B27E-F5E65DEA14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6768" y="2909530"/>
                <a:ext cx="3450130" cy="16203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箭头: 右 31">
            <a:extLst>
              <a:ext uri="{FF2B5EF4-FFF2-40B4-BE49-F238E27FC236}">
                <a16:creationId xmlns:a16="http://schemas.microsoft.com/office/drawing/2014/main" id="{66E5CAE1-C66E-4BE5-9180-3FCA7007CD6F}"/>
              </a:ext>
            </a:extLst>
          </p:cNvPr>
          <p:cNvSpPr/>
          <p:nvPr/>
        </p:nvSpPr>
        <p:spPr>
          <a:xfrm>
            <a:off x="6346898" y="3719720"/>
            <a:ext cx="384315" cy="147512"/>
          </a:xfrm>
          <a:prstGeom prst="rightArrow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5AFCFA06-02C2-4B03-BBF7-76C2C203145E}"/>
              </a:ext>
            </a:extLst>
          </p:cNvPr>
          <p:cNvSpPr/>
          <p:nvPr/>
        </p:nvSpPr>
        <p:spPr>
          <a:xfrm>
            <a:off x="6907946" y="3537169"/>
            <a:ext cx="1496807" cy="546805"/>
          </a:xfrm>
          <a:prstGeom prst="ellipse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02DA907-E4B7-4B9B-AA86-B46239B64037}"/>
              </a:ext>
            </a:extLst>
          </p:cNvPr>
          <p:cNvSpPr txBox="1"/>
          <p:nvPr/>
        </p:nvSpPr>
        <p:spPr>
          <a:xfrm>
            <a:off x="7139992" y="3560754"/>
            <a:ext cx="12271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Gauss-Seidel</a:t>
            </a:r>
            <a:r>
              <a:rPr lang="zh-CN" altLang="en-US" sz="1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迭代法</a:t>
            </a:r>
          </a:p>
        </p:txBody>
      </p:sp>
    </p:spTree>
    <p:extLst>
      <p:ext uri="{BB962C8B-B14F-4D97-AF65-F5344CB8AC3E}">
        <p14:creationId xmlns:p14="http://schemas.microsoft.com/office/powerpoint/2010/main" val="2372013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3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6" grpId="0" animBg="1"/>
      <p:bldP spid="8" grpId="0"/>
      <p:bldP spid="4" grpId="0" animBg="1"/>
      <p:bldP spid="5" grpId="0"/>
      <p:bldP spid="5" grpId="1"/>
      <p:bldP spid="19" grpId="0" animBg="1"/>
      <p:bldP spid="19" grpId="1" animBg="1"/>
      <p:bldP spid="20" grpId="0" animBg="1"/>
      <p:bldP spid="27" grpId="0"/>
      <p:bldP spid="12" grpId="0" animBg="1"/>
      <p:bldP spid="13" grpId="0" animBg="1"/>
      <p:bldP spid="28" grpId="0"/>
      <p:bldP spid="30" grpId="0"/>
      <p:bldP spid="31" grpId="0" animBg="1"/>
      <p:bldP spid="32" grpId="0" animBg="1"/>
      <p:bldP spid="33" grpId="0" animBg="1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E7F064F-8544-4E76-8BE6-D4D3ABC8F908}"/>
              </a:ext>
            </a:extLst>
          </p:cNvPr>
          <p:cNvCxnSpPr/>
          <p:nvPr/>
        </p:nvCxnSpPr>
        <p:spPr>
          <a:xfrm flipV="1">
            <a:off x="0" y="355600"/>
            <a:ext cx="2886075" cy="158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5CEFB25-3703-4C02-9EC2-99523841BF1B}"/>
              </a:ext>
            </a:extLst>
          </p:cNvPr>
          <p:cNvCxnSpPr/>
          <p:nvPr/>
        </p:nvCxnSpPr>
        <p:spPr>
          <a:xfrm>
            <a:off x="6115050" y="368300"/>
            <a:ext cx="3028950" cy="31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DBAA461A-721D-4411-8E0C-37C00FB41582}"/>
              </a:ext>
            </a:extLst>
          </p:cNvPr>
          <p:cNvSpPr txBox="1"/>
          <p:nvPr/>
        </p:nvSpPr>
        <p:spPr>
          <a:xfrm>
            <a:off x="1857375" y="136525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迭代法的建立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74386DE-0B3E-4608-9CBB-0F2AE5A6DBA4}"/>
                  </a:ext>
                </a:extLst>
              </p:cNvPr>
              <p:cNvSpPr txBox="1"/>
              <p:nvPr/>
            </p:nvSpPr>
            <p:spPr>
              <a:xfrm>
                <a:off x="1297350" y="1208849"/>
                <a:ext cx="5769717" cy="40011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⋯+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=1,2,⋯,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74386DE-0B3E-4608-9CBB-0F2AE5A6D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7350" y="1208849"/>
                <a:ext cx="5769717" cy="400110"/>
              </a:xfrm>
              <a:prstGeom prst="rect">
                <a:avLst/>
              </a:prstGeom>
              <a:blipFill>
                <a:blip r:embed="rId2"/>
                <a:stretch>
                  <a:fillRect b="-2941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4E687671-50F7-4417-BE08-D055DFC4E8DD}"/>
              </a:ext>
            </a:extLst>
          </p:cNvPr>
          <p:cNvCxnSpPr>
            <a:cxnSpLocks/>
          </p:cNvCxnSpPr>
          <p:nvPr/>
        </p:nvCxnSpPr>
        <p:spPr>
          <a:xfrm>
            <a:off x="4348228" y="1599780"/>
            <a:ext cx="0" cy="2582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B8799E13-FCE8-4E9B-9ABF-FC878E725FB2}"/>
                  </a:ext>
                </a:extLst>
              </p:cNvPr>
              <p:cNvSpPr txBox="1"/>
              <p:nvPr/>
            </p:nvSpPr>
            <p:spPr>
              <a:xfrm>
                <a:off x="1301927" y="1850872"/>
                <a:ext cx="5769725" cy="1083182"/>
              </a:xfrm>
              <a:prstGeom prst="rect">
                <a:avLst/>
              </a:prstGeom>
              <a:gradFill>
                <a:gsLst>
                  <a:gs pos="0">
                    <a:srgbClr val="FFC000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bSup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𝑖𝑖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  <m:sSubSup>
                            <m:sSub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  <m:sSubSup>
                            <m:sSub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B8799E13-FCE8-4E9B-9ABF-FC878E725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1927" y="1850872"/>
                <a:ext cx="5769725" cy="10831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A6294877-ED24-4953-B192-BD5C5C7802C6}"/>
              </a:ext>
            </a:extLst>
          </p:cNvPr>
          <p:cNvCxnSpPr/>
          <p:nvPr/>
        </p:nvCxnSpPr>
        <p:spPr>
          <a:xfrm>
            <a:off x="4356234" y="2930131"/>
            <a:ext cx="0" cy="2318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1D0AFFFF-E43B-485E-8121-632979A616A6}"/>
                  </a:ext>
                </a:extLst>
              </p:cNvPr>
              <p:cNvSpPr txBox="1"/>
              <p:nvPr/>
            </p:nvSpPr>
            <p:spPr>
              <a:xfrm>
                <a:off x="1307369" y="3161951"/>
                <a:ext cx="5758838" cy="1083182"/>
              </a:xfrm>
              <a:prstGeom prst="rect">
                <a:avLst/>
              </a:prstGeom>
              <a:gradFill>
                <a:gsLst>
                  <a:gs pos="0">
                    <a:srgbClr val="FFC000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bSup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𝑖𝑖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  <m:sSubSup>
                            <m:sSubSupPr>
                              <m:ctrlP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  <m:sSubSup>
                            <m:sSub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1D0AFFFF-E43B-485E-8121-632979A61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369" y="3161951"/>
                <a:ext cx="5758838" cy="10831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B833CCE-54C9-40B5-AB36-FD8DE3FDE1F2}"/>
                  </a:ext>
                </a:extLst>
              </p:cNvPr>
              <p:cNvSpPr txBox="1"/>
              <p:nvPr/>
            </p:nvSpPr>
            <p:spPr>
              <a:xfrm>
                <a:off x="4464136" y="1598424"/>
                <a:ext cx="199803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(</a:t>
                </a:r>
                <a:r>
                  <a:rPr lang="zh-CN" altLang="en-US" sz="12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en-US" altLang="zh-CN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0,</m:t>
                    </m:r>
                  </m:oMath>
                </a14:m>
                <a:r>
                  <a:rPr lang="zh-CN" altLang="en-US" sz="12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1200" b="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𝑖</m:t>
                    </m:r>
                    <m:r>
                      <a:rPr lang="en-US" altLang="zh-CN" sz="1200" b="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=1,2,⋯,</m:t>
                    </m:r>
                    <m:r>
                      <a:rPr lang="en-US" altLang="zh-CN" sz="1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1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12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B833CCE-54C9-40B5-AB36-FD8DE3FDE1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4136" y="1598424"/>
                <a:ext cx="1998032" cy="276999"/>
              </a:xfrm>
              <a:prstGeom prst="rect">
                <a:avLst/>
              </a:prstGeom>
              <a:blipFill>
                <a:blip r:embed="rId5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BC3A5036-50AF-4D43-868D-EE64AD7C658E}"/>
                  </a:ext>
                </a:extLst>
              </p:cNvPr>
              <p:cNvSpPr txBox="1"/>
              <p:nvPr/>
            </p:nvSpPr>
            <p:spPr>
              <a:xfrm>
                <a:off x="1325485" y="1871500"/>
                <a:ext cx="5758833" cy="108318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</m:sSubSup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   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𝑖𝑖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  <m:sSubSup>
                            <m:sSub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</m:sSub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  </m:t>
                          </m:r>
                          <m:nary>
                            <m:naryPr>
                              <m:chr m:val="∑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  <m:sSubSup>
                            <m:sSub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</m:sSubSup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BC3A5036-50AF-4D43-868D-EE64AD7C65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5485" y="1871500"/>
                <a:ext cx="5758833" cy="10831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EC832AFB-ECCB-4AD4-B5BD-C28B5804B0A4}"/>
              </a:ext>
            </a:extLst>
          </p:cNvPr>
          <p:cNvSpPr txBox="1"/>
          <p:nvPr/>
        </p:nvSpPr>
        <p:spPr>
          <a:xfrm>
            <a:off x="4464136" y="2916937"/>
            <a:ext cx="23905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每次计算采用最新的计算结果）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ABB7944B-2502-465A-BA6A-A23545D0D747}"/>
              </a:ext>
            </a:extLst>
          </p:cNvPr>
          <p:cNvSpPr/>
          <p:nvPr/>
        </p:nvSpPr>
        <p:spPr>
          <a:xfrm>
            <a:off x="7084318" y="2205340"/>
            <a:ext cx="212509" cy="176917"/>
          </a:xfrm>
          <a:prstGeom prst="rightArrow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D9991DA-ED42-4C2C-94BD-748F0859D71B}"/>
              </a:ext>
            </a:extLst>
          </p:cNvPr>
          <p:cNvSpPr/>
          <p:nvPr/>
        </p:nvSpPr>
        <p:spPr>
          <a:xfrm>
            <a:off x="7314938" y="2077860"/>
            <a:ext cx="1056851" cy="431876"/>
          </a:xfrm>
          <a:prstGeom prst="ellipse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FF94415-9187-4E97-A49D-33F1709DC87B}"/>
              </a:ext>
            </a:extLst>
          </p:cNvPr>
          <p:cNvSpPr txBox="1"/>
          <p:nvPr/>
        </p:nvSpPr>
        <p:spPr>
          <a:xfrm>
            <a:off x="7412146" y="2147604"/>
            <a:ext cx="86243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J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迭代法</a:t>
            </a:r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1AD058E0-5E5B-4B8D-89A6-853A84570116}"/>
              </a:ext>
            </a:extLst>
          </p:cNvPr>
          <p:cNvSpPr/>
          <p:nvPr/>
        </p:nvSpPr>
        <p:spPr>
          <a:xfrm>
            <a:off x="7084318" y="3621161"/>
            <a:ext cx="212509" cy="176917"/>
          </a:xfrm>
          <a:prstGeom prst="rightArrow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A8AC7F16-A895-4737-86F8-C27F184DDE51}"/>
              </a:ext>
            </a:extLst>
          </p:cNvPr>
          <p:cNvSpPr/>
          <p:nvPr/>
        </p:nvSpPr>
        <p:spPr>
          <a:xfrm>
            <a:off x="7314938" y="3493681"/>
            <a:ext cx="1056851" cy="431876"/>
          </a:xfrm>
          <a:prstGeom prst="ellipse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2C6F9C5-0DC8-458E-809F-3F085F32441B}"/>
              </a:ext>
            </a:extLst>
          </p:cNvPr>
          <p:cNvSpPr txBox="1"/>
          <p:nvPr/>
        </p:nvSpPr>
        <p:spPr>
          <a:xfrm>
            <a:off x="7423817" y="3563425"/>
            <a:ext cx="96608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GS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迭代法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AD65FE9-0DBC-47AE-A64A-07A6866E7200}"/>
              </a:ext>
            </a:extLst>
          </p:cNvPr>
          <p:cNvSpPr/>
          <p:nvPr/>
        </p:nvSpPr>
        <p:spPr>
          <a:xfrm>
            <a:off x="1317822" y="589605"/>
            <a:ext cx="3845849" cy="436359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E2015BC-BFD9-4ECA-B416-48E1B7217274}"/>
                  </a:ext>
                </a:extLst>
              </p:cNvPr>
              <p:cNvSpPr txBox="1"/>
              <p:nvPr/>
            </p:nvSpPr>
            <p:spPr>
              <a:xfrm>
                <a:off x="1328712" y="603581"/>
                <a:ext cx="383495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推广到一般的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𝑛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元方程组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𝐴𝑥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𝑏</m:t>
                    </m:r>
                  </m:oMath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E2015BC-BFD9-4ECA-B416-48E1B72172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712" y="603581"/>
                <a:ext cx="3834959" cy="400110"/>
              </a:xfrm>
              <a:prstGeom prst="rect">
                <a:avLst/>
              </a:prstGeom>
              <a:blipFill>
                <a:blip r:embed="rId7"/>
                <a:stretch>
                  <a:fillRect l="-1749" t="-606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9803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5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5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" grpId="0" animBg="1"/>
      <p:bldP spid="23" grpId="0" animBg="1"/>
      <p:bldP spid="27" grpId="0" animBg="1"/>
      <p:bldP spid="6" grpId="0"/>
      <p:bldP spid="28" grpId="0" animBg="1"/>
      <p:bldP spid="28" grpId="1" animBg="1"/>
      <p:bldP spid="29" grpId="0"/>
      <p:bldP spid="7" grpId="0" animBg="1"/>
      <p:bldP spid="8" grpId="0" animBg="1"/>
      <p:bldP spid="9" grpId="0"/>
      <p:bldP spid="30" grpId="0" animBg="1"/>
      <p:bldP spid="31" grpId="0" animBg="1"/>
      <p:bldP spid="32" grpId="0"/>
      <p:bldP spid="5" grpId="0" animBg="1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E7F064F-8544-4E76-8BE6-D4D3ABC8F908}"/>
              </a:ext>
            </a:extLst>
          </p:cNvPr>
          <p:cNvCxnSpPr/>
          <p:nvPr/>
        </p:nvCxnSpPr>
        <p:spPr>
          <a:xfrm flipV="1">
            <a:off x="0" y="355600"/>
            <a:ext cx="2886075" cy="158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5CEFB25-3703-4C02-9EC2-99523841BF1B}"/>
              </a:ext>
            </a:extLst>
          </p:cNvPr>
          <p:cNvCxnSpPr/>
          <p:nvPr/>
        </p:nvCxnSpPr>
        <p:spPr>
          <a:xfrm>
            <a:off x="6115050" y="368300"/>
            <a:ext cx="3028950" cy="31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DBAA461A-721D-4411-8E0C-37C00FB41582}"/>
              </a:ext>
            </a:extLst>
          </p:cNvPr>
          <p:cNvSpPr txBox="1"/>
          <p:nvPr/>
        </p:nvSpPr>
        <p:spPr>
          <a:xfrm>
            <a:off x="1857375" y="136525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迭代法的建立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19FD669-3E95-4625-8591-E0338E146914}"/>
              </a:ext>
            </a:extLst>
          </p:cNvPr>
          <p:cNvSpPr/>
          <p:nvPr/>
        </p:nvSpPr>
        <p:spPr>
          <a:xfrm>
            <a:off x="1559858" y="1469728"/>
            <a:ext cx="6400801" cy="603857"/>
          </a:xfrm>
          <a:prstGeom prst="round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FB943E2-327C-4D83-AD7B-626818FF9347}"/>
              </a:ext>
            </a:extLst>
          </p:cNvPr>
          <p:cNvSpPr txBox="1"/>
          <p:nvPr/>
        </p:nvSpPr>
        <p:spPr>
          <a:xfrm>
            <a:off x="1443037" y="1548390"/>
            <a:ext cx="42107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0"/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1.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迭代法建立的基本思想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F47C2DD-3CC3-4642-B339-3FA8E37C8BDC}"/>
              </a:ext>
            </a:extLst>
          </p:cNvPr>
          <p:cNvSpPr/>
          <p:nvPr/>
        </p:nvSpPr>
        <p:spPr>
          <a:xfrm>
            <a:off x="1559857" y="2331188"/>
            <a:ext cx="6400802" cy="603856"/>
          </a:xfrm>
          <a:prstGeom prst="round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46561F8-007F-4803-AC32-F84AB5F73515}"/>
              </a:ext>
            </a:extLst>
          </p:cNvPr>
          <p:cNvSpPr txBox="1"/>
          <p:nvPr/>
        </p:nvSpPr>
        <p:spPr>
          <a:xfrm>
            <a:off x="1692636" y="2439807"/>
            <a:ext cx="54906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2.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以三元方程组为例建立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J-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迭代法和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GS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迭代法</a:t>
            </a:r>
            <a:endParaRPr lang="zh-CN" altLang="en-US" sz="20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8D24CB8-38F9-4B82-964B-54FD2DE7D41C}"/>
              </a:ext>
            </a:extLst>
          </p:cNvPr>
          <p:cNvSpPr/>
          <p:nvPr/>
        </p:nvSpPr>
        <p:spPr>
          <a:xfrm>
            <a:off x="1559854" y="3192647"/>
            <a:ext cx="6400803" cy="692661"/>
          </a:xfrm>
          <a:prstGeom prst="round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BF807799-E59F-4727-AF50-D7E5E84B1FBF}"/>
                  </a:ext>
                </a:extLst>
              </p:cNvPr>
              <p:cNvSpPr txBox="1"/>
              <p:nvPr/>
            </p:nvSpPr>
            <p:spPr>
              <a:xfrm>
                <a:off x="1804243" y="3394002"/>
                <a:ext cx="646345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3.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对一般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𝑛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元方程组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𝐴𝑥</m:t>
                    </m:r>
                    <m:r>
                      <a:rPr lang="en-US" altLang="zh-CN" sz="200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𝑏</m:t>
                    </m:r>
                    <m:r>
                      <m:rPr>
                        <m:nor/>
                      </m:rPr>
                      <a:rPr lang="zh-CN" altLang="en-US" sz="2000" dirty="0">
                        <a:latin typeface="华文楷体" panose="02010600040101010101" pitchFamily="2" charset="-122"/>
                        <a:ea typeface="华文楷体" panose="02010600040101010101" pitchFamily="2" charset="-122"/>
                      </a:rPr>
                      <m:t>建立</m:t>
                    </m:r>
                    <m:r>
                      <m:rPr>
                        <m:nor/>
                      </m:rPr>
                      <a:rPr lang="en-US" altLang="zh-CN" sz="2000" dirty="0">
                        <a:latin typeface="华文楷体" panose="02010600040101010101" pitchFamily="2" charset="-122"/>
                        <a:ea typeface="华文楷体" panose="02010600040101010101" pitchFamily="2" charset="-122"/>
                      </a:rPr>
                      <m:t>J</m:t>
                    </m:r>
                    <m:r>
                      <m:rPr>
                        <m:nor/>
                      </m:rPr>
                      <a:rPr lang="en-US" altLang="zh-CN" sz="2000" dirty="0">
                        <a:latin typeface="华文楷体" panose="02010600040101010101" pitchFamily="2" charset="-122"/>
                        <a:ea typeface="华文楷体" panose="02010600040101010101" pitchFamily="2" charset="-122"/>
                      </a:rPr>
                      <m:t>−</m:t>
                    </m:r>
                    <m:r>
                      <m:rPr>
                        <m:nor/>
                      </m:rPr>
                      <a:rPr lang="zh-CN" altLang="en-US" sz="2000" dirty="0">
                        <a:latin typeface="华文楷体" panose="02010600040101010101" pitchFamily="2" charset="-122"/>
                        <a:ea typeface="华文楷体" panose="02010600040101010101" pitchFamily="2" charset="-122"/>
                      </a:rPr>
                      <m:t>迭代法和</m:t>
                    </m:r>
                    <m:r>
                      <m:rPr>
                        <m:nor/>
                      </m:rPr>
                      <a:rPr lang="en-US" altLang="zh-CN" sz="2000" dirty="0">
                        <a:latin typeface="华文楷体" panose="02010600040101010101" pitchFamily="2" charset="-122"/>
                        <a:ea typeface="华文楷体" panose="02010600040101010101" pitchFamily="2" charset="-122"/>
                      </a:rPr>
                      <m:t>GS</m:t>
                    </m:r>
                    <m:r>
                      <m:rPr>
                        <m:nor/>
                      </m:rPr>
                      <a:rPr lang="zh-CN" altLang="en-US" sz="2000" dirty="0">
                        <a:latin typeface="华文楷体" panose="02010600040101010101" pitchFamily="2" charset="-122"/>
                        <a:ea typeface="华文楷体" panose="02010600040101010101" pitchFamily="2" charset="-122"/>
                      </a:rPr>
                      <m:t>迭代法</m:t>
                    </m:r>
                  </m:oMath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BF807799-E59F-4727-AF50-D7E5E84B1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4243" y="3394002"/>
                <a:ext cx="6463457" cy="400110"/>
              </a:xfrm>
              <a:prstGeom prst="rect">
                <a:avLst/>
              </a:prstGeom>
              <a:blipFill>
                <a:blip r:embed="rId2"/>
                <a:stretch>
                  <a:fillRect l="-1038" t="-7692" b="-2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6">
            <a:extLst>
              <a:ext uri="{FF2B5EF4-FFF2-40B4-BE49-F238E27FC236}">
                <a16:creationId xmlns:a16="http://schemas.microsoft.com/office/drawing/2014/main" id="{9D37D940-B031-43D7-B1E4-82671703B6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519" y="899649"/>
            <a:ext cx="49403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小结：</a:t>
            </a:r>
            <a:endParaRPr lang="en-US" altLang="zh-CN" sz="2400" dirty="0">
              <a:solidFill>
                <a:srgbClr val="004A8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2762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  <p:bldP spid="16" grpId="0"/>
      <p:bldP spid="17" grpId="0" animBg="1"/>
      <p:bldP spid="18" grpId="0"/>
      <p:bldP spid="21" grpId="0" animBg="1"/>
      <p:bldP spid="25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文本框 3077"/>
          <p:cNvSpPr txBox="1"/>
          <p:nvPr/>
        </p:nvSpPr>
        <p:spPr>
          <a:xfrm>
            <a:off x="1990402" y="266700"/>
            <a:ext cx="4366430" cy="36933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3.2 Jacobi</a:t>
            </a:r>
            <a:r>
              <a:rPr lang="zh-CN" altLang="en-US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迭代法和</a:t>
            </a:r>
            <a:r>
              <a:rPr lang="en-US" altLang="zh-CN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Gauss-Seidel</a:t>
            </a:r>
            <a:r>
              <a:rPr lang="zh-CN" altLang="en-US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迭代法</a:t>
            </a:r>
          </a:p>
        </p:txBody>
      </p:sp>
      <p:cxnSp>
        <p:nvCxnSpPr>
          <p:cNvPr id="7" name="直接连接符 6"/>
          <p:cNvCxnSpPr>
            <a:cxnSpLocks/>
            <a:endCxn id="131073" idx="1"/>
          </p:cNvCxnSpPr>
          <p:nvPr/>
        </p:nvCxnSpPr>
        <p:spPr>
          <a:xfrm flipV="1">
            <a:off x="22225" y="451366"/>
            <a:ext cx="1968177" cy="18538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"/>
          <p:cNvCxnSpPr>
            <a:cxnSpLocks/>
          </p:cNvCxnSpPr>
          <p:nvPr/>
        </p:nvCxnSpPr>
        <p:spPr>
          <a:xfrm>
            <a:off x="6416168" y="451366"/>
            <a:ext cx="2683383" cy="2659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59B1DC2-2FE7-423A-97FF-1F1710C44833}"/>
                  </a:ext>
                </a:extLst>
              </p:cNvPr>
              <p:cNvSpPr txBox="1"/>
              <p:nvPr/>
            </p:nvSpPr>
            <p:spPr>
              <a:xfrm>
                <a:off x="717729" y="966869"/>
                <a:ext cx="22444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迭代法</m:t>
                      </m:r>
                      <m:r>
                        <a:rPr lang="zh-CN" altLang="en-US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的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一般形式</m:t>
                      </m:r>
                      <m:r>
                        <a:rPr lang="zh-CN" altLang="en-US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：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59B1DC2-2FE7-423A-97FF-1F1710C44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729" y="966869"/>
                <a:ext cx="2244412" cy="400110"/>
              </a:xfrm>
              <a:prstGeom prst="rect">
                <a:avLst/>
              </a:prstGeom>
              <a:blipFill>
                <a:blip r:embed="rId2"/>
                <a:stretch>
                  <a:fillRect l="-1087" r="-9239" b="-1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5A5E3C3-64C4-4667-BDCB-FE454970CF46}"/>
                  </a:ext>
                </a:extLst>
              </p:cNvPr>
              <p:cNvSpPr txBox="1"/>
              <p:nvPr/>
            </p:nvSpPr>
            <p:spPr>
              <a:xfrm>
                <a:off x="877402" y="1537989"/>
                <a:ext cx="1036491" cy="40011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𝐴𝑥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𝑏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5A5E3C3-64C4-4667-BDCB-FE454970C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02" y="1537989"/>
                <a:ext cx="1036491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2C789EF1-7A1B-4546-BB5C-63B4E4D3BF7E}"/>
                  </a:ext>
                </a:extLst>
              </p:cNvPr>
              <p:cNvSpPr/>
              <p:nvPr/>
            </p:nvSpPr>
            <p:spPr>
              <a:xfrm>
                <a:off x="1744719" y="1533749"/>
                <a:ext cx="872999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⟺</m:t>
                      </m:r>
                    </m:oMath>
                  </m:oMathPara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2C789EF1-7A1B-4546-BB5C-63B4E4D3BF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4719" y="1533749"/>
                <a:ext cx="872999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CB0FCA4-EE2E-472A-94D8-00FDF4A40DDA}"/>
                  </a:ext>
                </a:extLst>
              </p:cNvPr>
              <p:cNvSpPr txBox="1"/>
              <p:nvPr/>
            </p:nvSpPr>
            <p:spPr>
              <a:xfrm>
                <a:off x="2493300" y="1531580"/>
                <a:ext cx="1552911" cy="40011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𝑥</m:t>
                      </m:r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𝑀𝑥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𝑔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CB0FCA4-EE2E-472A-94D8-00FDF4A40D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300" y="1531580"/>
                <a:ext cx="1552911" cy="400110"/>
              </a:xfrm>
              <a:prstGeom prst="rect">
                <a:avLst/>
              </a:prstGeom>
              <a:blipFill>
                <a:blip r:embed="rId5"/>
                <a:stretch>
                  <a:fillRect b="-8824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8DE3B40-9CF3-4FFE-B84C-989156BAD660}"/>
                  </a:ext>
                </a:extLst>
              </p:cNvPr>
              <p:cNvSpPr txBox="1"/>
              <p:nvPr/>
            </p:nvSpPr>
            <p:spPr>
              <a:xfrm>
                <a:off x="4046211" y="1585441"/>
                <a:ext cx="340598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⟶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8DE3B40-9CF3-4FFE-B84C-989156BAD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6211" y="1585441"/>
                <a:ext cx="340598" cy="2923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93C7C6F1-DCA2-43DA-940A-D98CB4FA993F}"/>
                  </a:ext>
                </a:extLst>
              </p:cNvPr>
              <p:cNvSpPr txBox="1"/>
              <p:nvPr/>
            </p:nvSpPr>
            <p:spPr>
              <a:xfrm>
                <a:off x="4398367" y="1514208"/>
                <a:ext cx="3868231" cy="421013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</m:t>
                      </m:r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𝑀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𝑔</m:t>
                      </m:r>
                      <m:r>
                        <a:rPr lang="en-US" altLang="zh-CN" sz="2000" b="0" i="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,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𝑘</m:t>
                      </m:r>
                      <m:r>
                        <a:rPr lang="en-US" altLang="zh-CN" sz="2000" b="0" i="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=0,1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⋯,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𝑛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93C7C6F1-DCA2-43DA-940A-D98CB4FA99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8367" y="1514208"/>
                <a:ext cx="3868231" cy="421013"/>
              </a:xfrm>
              <a:prstGeom prst="rect">
                <a:avLst/>
              </a:prstGeom>
              <a:blipFill>
                <a:blip r:embed="rId7"/>
                <a:stretch>
                  <a:fillRect b="-8451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A2F3FDC9-9227-41B7-8921-BBAF4E24B24F}"/>
              </a:ext>
            </a:extLst>
          </p:cNvPr>
          <p:cNvCxnSpPr/>
          <p:nvPr/>
        </p:nvCxnSpPr>
        <p:spPr>
          <a:xfrm flipV="1">
            <a:off x="5673144" y="1300766"/>
            <a:ext cx="251138" cy="2846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>
            <a:extLst>
              <a:ext uri="{FF2B5EF4-FFF2-40B4-BE49-F238E27FC236}">
                <a16:creationId xmlns:a16="http://schemas.microsoft.com/office/drawing/2014/main" id="{1F013399-4EAC-480A-83A1-171917928772}"/>
              </a:ext>
            </a:extLst>
          </p:cNvPr>
          <p:cNvSpPr/>
          <p:nvPr/>
        </p:nvSpPr>
        <p:spPr>
          <a:xfrm>
            <a:off x="5866703" y="1003945"/>
            <a:ext cx="1307206" cy="400110"/>
          </a:xfrm>
          <a:prstGeom prst="ellipse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DEECD0B-C830-4B64-9470-70329A393E14}"/>
              </a:ext>
            </a:extLst>
          </p:cNvPr>
          <p:cNvSpPr txBox="1"/>
          <p:nvPr/>
        </p:nvSpPr>
        <p:spPr>
          <a:xfrm>
            <a:off x="5982612" y="1034723"/>
            <a:ext cx="11657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迭代矩阵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9995E6A5-A36A-4D84-9FDD-F3FBB06F29B8}"/>
                  </a:ext>
                </a:extLst>
              </p:cNvPr>
              <p:cNvSpPr txBox="1"/>
              <p:nvPr/>
            </p:nvSpPr>
            <p:spPr>
              <a:xfrm>
                <a:off x="4398367" y="2171640"/>
                <a:ext cx="1781872" cy="40011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∗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</m:t>
                      </m:r>
                      <m:r>
                        <a:rPr lang="en-US" altLang="zh-CN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𝑀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∗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+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𝑔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9995E6A5-A36A-4D84-9FDD-F3FBB06F29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8367" y="2171640"/>
                <a:ext cx="1781872" cy="400110"/>
              </a:xfrm>
              <a:prstGeom prst="rect">
                <a:avLst/>
              </a:prstGeom>
              <a:blipFill>
                <a:blip r:embed="rId8"/>
                <a:stretch>
                  <a:fillRect b="-8824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1C2A8FB5-5E27-438D-8530-F72288FFB953}"/>
                  </a:ext>
                </a:extLst>
              </p:cNvPr>
              <p:cNvSpPr txBox="1"/>
              <p:nvPr/>
            </p:nvSpPr>
            <p:spPr>
              <a:xfrm>
                <a:off x="744021" y="2167450"/>
                <a:ext cx="313693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迭代</m:t>
                      </m:r>
                      <m:r>
                        <a:rPr lang="zh-CN" alt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矩阵</m:t>
                      </m:r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𝑀</m:t>
                      </m:r>
                      <m:r>
                        <a:rPr lang="zh-CN" alt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决定</m:t>
                      </m:r>
                      <m:r>
                        <a:rPr lang="zh-CN" alt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迭代格式</m:t>
                      </m:r>
                      <m:r>
                        <a:rPr lang="zh-CN" alt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！</m:t>
                      </m:r>
                    </m:oMath>
                  </m:oMathPara>
                </a14:m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1C2A8FB5-5E27-438D-8530-F72288FFB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021" y="2167450"/>
                <a:ext cx="3136936" cy="400110"/>
              </a:xfrm>
              <a:prstGeom prst="rect">
                <a:avLst/>
              </a:prstGeom>
              <a:blipFill>
                <a:blip r:embed="rId9"/>
                <a:stretch>
                  <a:fillRect l="-583" r="-2136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8482C785-3C6F-4CCF-B6CD-78FD8AB593D0}"/>
                  </a:ext>
                </a:extLst>
              </p:cNvPr>
              <p:cNvSpPr txBox="1"/>
              <p:nvPr/>
            </p:nvSpPr>
            <p:spPr>
              <a:xfrm>
                <a:off x="6852038" y="2167450"/>
                <a:ext cx="1203697" cy="40011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𝐴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∗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𝑏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8482C785-3C6F-4CCF-B6CD-78FD8AB59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2038" y="2167450"/>
                <a:ext cx="1203697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A20794EA-CF54-4094-A262-F16D3E07CDCC}"/>
                  </a:ext>
                </a:extLst>
              </p:cNvPr>
              <p:cNvSpPr/>
              <p:nvPr/>
            </p:nvSpPr>
            <p:spPr>
              <a:xfrm>
                <a:off x="6083806" y="2171640"/>
                <a:ext cx="872999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⟺</m:t>
                      </m:r>
                    </m:oMath>
                  </m:oMathPara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A20794EA-CF54-4094-A262-F16D3E07CD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3806" y="2171640"/>
                <a:ext cx="872999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29CFEE54-5CF4-4A7D-A1EF-1626B8B14392}"/>
              </a:ext>
            </a:extLst>
          </p:cNvPr>
          <p:cNvCxnSpPr/>
          <p:nvPr/>
        </p:nvCxnSpPr>
        <p:spPr>
          <a:xfrm>
            <a:off x="5433187" y="1938099"/>
            <a:ext cx="0" cy="2318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E4ED595D-B9A6-4A16-A64A-C2E1FC2BA2EB}"/>
                  </a:ext>
                </a:extLst>
              </p:cNvPr>
              <p:cNvSpPr txBox="1"/>
              <p:nvPr/>
            </p:nvSpPr>
            <p:spPr>
              <a:xfrm>
                <a:off x="368876" y="2753208"/>
                <a:ext cx="1895204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矩阵分裂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E4ED595D-B9A6-4A16-A64A-C2E1FC2BA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876" y="2753208"/>
                <a:ext cx="1895204" cy="400110"/>
              </a:xfrm>
              <a:prstGeom prst="rect">
                <a:avLst/>
              </a:prstGeom>
              <a:blipFill>
                <a:blip r:embed="rId12"/>
                <a:stretch>
                  <a:fillRect b="-153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B3DE1222-2815-48DE-B81D-92722CA494E8}"/>
                  </a:ext>
                </a:extLst>
              </p:cNvPr>
              <p:cNvSpPr/>
              <p:nvPr/>
            </p:nvSpPr>
            <p:spPr>
              <a:xfrm>
                <a:off x="1848039" y="3307530"/>
                <a:ext cx="416041" cy="2923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⟶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B3DE1222-2815-48DE-B81D-92722CA494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8039" y="3307530"/>
                <a:ext cx="416041" cy="29238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B82A2993-6BE5-4BBD-AD4B-DC97D4AADD14}"/>
                  </a:ext>
                </a:extLst>
              </p:cNvPr>
              <p:cNvSpPr txBox="1"/>
              <p:nvPr/>
            </p:nvSpPr>
            <p:spPr>
              <a:xfrm>
                <a:off x="2090861" y="3259370"/>
                <a:ext cx="1780524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𝐾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𝑁</m:t>
                          </m:r>
                        </m:e>
                      </m:d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𝑥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𝑏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B82A2993-6BE5-4BBD-AD4B-DC97D4AAD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0861" y="3259370"/>
                <a:ext cx="1780524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1AC4EA75-563A-45EA-A389-BF98063607D6}"/>
                  </a:ext>
                </a:extLst>
              </p:cNvPr>
              <p:cNvSpPr txBox="1"/>
              <p:nvPr/>
            </p:nvSpPr>
            <p:spPr>
              <a:xfrm>
                <a:off x="3705613" y="3313231"/>
                <a:ext cx="340598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⟶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1AC4EA75-563A-45EA-A389-BF98063607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5613" y="3313231"/>
                <a:ext cx="340598" cy="29238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1FFA5DEB-9E3E-481C-B84D-5D2A0DA3BC82}"/>
                  </a:ext>
                </a:extLst>
              </p:cNvPr>
              <p:cNvSpPr txBox="1"/>
              <p:nvPr/>
            </p:nvSpPr>
            <p:spPr>
              <a:xfrm>
                <a:off x="3945925" y="3258828"/>
                <a:ext cx="1780524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𝐾𝑥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𝑁𝑥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𝑏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1FFA5DEB-9E3E-481C-B84D-5D2A0DA3B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925" y="3258828"/>
                <a:ext cx="1780524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3DD5743E-035E-4C47-A73B-7FFBCB43DBE7}"/>
                  </a:ext>
                </a:extLst>
              </p:cNvPr>
              <p:cNvSpPr/>
              <p:nvPr/>
            </p:nvSpPr>
            <p:spPr>
              <a:xfrm>
                <a:off x="5460139" y="3292771"/>
                <a:ext cx="538456" cy="2923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⟶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3DD5743E-035E-4C47-A73B-7FFBCB43DB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0139" y="3292771"/>
                <a:ext cx="538456" cy="29238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8B849FBE-0ACE-4806-A6A9-F935D45AB348}"/>
                  </a:ext>
                </a:extLst>
              </p:cNvPr>
              <p:cNvSpPr txBox="1"/>
              <p:nvPr/>
            </p:nvSpPr>
            <p:spPr>
              <a:xfrm>
                <a:off x="5906383" y="3238910"/>
                <a:ext cx="2377614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𝑥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𝐾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−1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𝑁</m:t>
                      </m:r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𝑥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+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𝐾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−1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𝑏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8B849FBE-0ACE-4806-A6A9-F935D45AB3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6383" y="3238910"/>
                <a:ext cx="2377614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9C5CB0C7-D377-4E2D-A85D-D6FCE631DB0D}"/>
                  </a:ext>
                </a:extLst>
              </p:cNvPr>
              <p:cNvSpPr/>
              <p:nvPr/>
            </p:nvSpPr>
            <p:spPr>
              <a:xfrm>
                <a:off x="871475" y="3253127"/>
                <a:ext cx="103945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𝐴𝑥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𝑏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9C5CB0C7-D377-4E2D-A85D-D6FCE631DB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475" y="3253127"/>
                <a:ext cx="1039452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2E74861D-1556-4779-A005-EE3B0ECF12D0}"/>
                  </a:ext>
                </a:extLst>
              </p:cNvPr>
              <p:cNvSpPr txBox="1"/>
              <p:nvPr/>
            </p:nvSpPr>
            <p:spPr>
              <a:xfrm>
                <a:off x="2090861" y="2753208"/>
                <a:ext cx="1412133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𝐴</m:t>
                      </m:r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𝐾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−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𝑁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2E74861D-1556-4779-A005-EE3B0ECF1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0861" y="2753208"/>
                <a:ext cx="1412133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972937D3-7355-416E-B9F8-79EC2533E9E7}"/>
              </a:ext>
            </a:extLst>
          </p:cNvPr>
          <p:cNvCxnSpPr>
            <a:cxnSpLocks/>
          </p:cNvCxnSpPr>
          <p:nvPr/>
        </p:nvCxnSpPr>
        <p:spPr>
          <a:xfrm>
            <a:off x="6501464" y="3599918"/>
            <a:ext cx="57488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074" name="直接连接符 131073">
            <a:extLst>
              <a:ext uri="{FF2B5EF4-FFF2-40B4-BE49-F238E27FC236}">
                <a16:creationId xmlns:a16="http://schemas.microsoft.com/office/drawing/2014/main" id="{36B4C503-9A81-4A2C-B0C5-8D92257D61E3}"/>
              </a:ext>
            </a:extLst>
          </p:cNvPr>
          <p:cNvCxnSpPr/>
          <p:nvPr/>
        </p:nvCxnSpPr>
        <p:spPr>
          <a:xfrm>
            <a:off x="7579217" y="3585159"/>
            <a:ext cx="5602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1075" name="矩形 131074">
                <a:extLst>
                  <a:ext uri="{FF2B5EF4-FFF2-40B4-BE49-F238E27FC236}">
                    <a16:creationId xmlns:a16="http://schemas.microsoft.com/office/drawing/2014/main" id="{667D833E-34FC-45B6-8296-C3244348A320}"/>
                  </a:ext>
                </a:extLst>
              </p:cNvPr>
              <p:cNvSpPr/>
              <p:nvPr/>
            </p:nvSpPr>
            <p:spPr>
              <a:xfrm>
                <a:off x="6593404" y="3563472"/>
                <a:ext cx="391004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𝑀</m:t>
                      </m:r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1075" name="矩形 131074">
                <a:extLst>
                  <a:ext uri="{FF2B5EF4-FFF2-40B4-BE49-F238E27FC236}">
                    <a16:creationId xmlns:a16="http://schemas.microsoft.com/office/drawing/2014/main" id="{667D833E-34FC-45B6-8296-C3244348A3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3404" y="3563472"/>
                <a:ext cx="391004" cy="30777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076" name="矩形 131075">
                <a:extLst>
                  <a:ext uri="{FF2B5EF4-FFF2-40B4-BE49-F238E27FC236}">
                    <a16:creationId xmlns:a16="http://schemas.microsoft.com/office/drawing/2014/main" id="{F422986B-8566-4BD9-A446-F8C1807EC7BB}"/>
                  </a:ext>
                </a:extLst>
              </p:cNvPr>
              <p:cNvSpPr/>
              <p:nvPr/>
            </p:nvSpPr>
            <p:spPr>
              <a:xfrm>
                <a:off x="7666685" y="3486953"/>
                <a:ext cx="348044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𝑔</m:t>
                      </m:r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1076" name="矩形 131075">
                <a:extLst>
                  <a:ext uri="{FF2B5EF4-FFF2-40B4-BE49-F238E27FC236}">
                    <a16:creationId xmlns:a16="http://schemas.microsoft.com/office/drawing/2014/main" id="{F422986B-8566-4BD9-A446-F8C1807EC7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6685" y="3486953"/>
                <a:ext cx="348044" cy="307777"/>
              </a:xfrm>
              <a:prstGeom prst="rect">
                <a:avLst/>
              </a:prstGeom>
              <a:blipFill>
                <a:blip r:embed="rId22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077" name="文本框 131076">
                <a:extLst>
                  <a:ext uri="{FF2B5EF4-FFF2-40B4-BE49-F238E27FC236}">
                    <a16:creationId xmlns:a16="http://schemas.microsoft.com/office/drawing/2014/main" id="{FD33E125-53E6-4ED9-AF51-A210B4DFC117}"/>
                  </a:ext>
                </a:extLst>
              </p:cNvPr>
              <p:cNvSpPr txBox="1"/>
              <p:nvPr/>
            </p:nvSpPr>
            <p:spPr>
              <a:xfrm>
                <a:off x="5289303" y="1892849"/>
                <a:ext cx="1023273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→∞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1077" name="文本框 131076">
                <a:extLst>
                  <a:ext uri="{FF2B5EF4-FFF2-40B4-BE49-F238E27FC236}">
                    <a16:creationId xmlns:a16="http://schemas.microsoft.com/office/drawing/2014/main" id="{FD33E125-53E6-4ED9-AF51-A210B4DFC1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303" y="1892849"/>
                <a:ext cx="1023273" cy="292388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F38C13E8-57A9-41E4-BFC0-A57D2F8554B5}"/>
                  </a:ext>
                </a:extLst>
              </p:cNvPr>
              <p:cNvSpPr txBox="1"/>
              <p:nvPr/>
            </p:nvSpPr>
            <p:spPr>
              <a:xfrm>
                <a:off x="3645593" y="2753208"/>
                <a:ext cx="2613943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(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通常</m:t>
                      </m:r>
                      <m:r>
                        <a:rPr lang="zh-CN" altLang="en-US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要求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𝐾</m:t>
                      </m:r>
                      <m:r>
                        <a:rPr lang="zh-CN" altLang="en-US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非奇异</m:t>
                      </m:r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)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F38C13E8-57A9-41E4-BFC0-A57D2F855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5593" y="2753208"/>
                <a:ext cx="2613943" cy="400110"/>
              </a:xfrm>
              <a:prstGeom prst="rect">
                <a:avLst/>
              </a:prstGeom>
              <a:blipFill>
                <a:blip r:embed="rId24"/>
                <a:stretch>
                  <a:fillRect b="-1846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3223089"/>
      </p:ext>
    </p:extLst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3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5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1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1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1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107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10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107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10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107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10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107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107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4" dur="2000"/>
                                        <p:tgtEl>
                                          <p:spTgt spid="131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107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10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107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10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107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10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107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107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3" grpId="0"/>
      <p:bldP spid="11" grpId="0"/>
      <p:bldP spid="12" grpId="0" animBg="1"/>
      <p:bldP spid="14" grpId="0"/>
      <p:bldP spid="15" grpId="0" animBg="1"/>
      <p:bldP spid="8" grpId="0"/>
      <p:bldP spid="17" grpId="0" animBg="1"/>
      <p:bldP spid="19" grpId="0" animBg="1"/>
      <p:bldP spid="20" grpId="0"/>
      <p:bldP spid="21" grpId="0" animBg="1"/>
      <p:bldP spid="22" grpId="0"/>
      <p:bldP spid="23" grpId="0" animBg="1"/>
      <p:bldP spid="27" grpId="0"/>
      <p:bldP spid="29" grpId="0"/>
      <p:bldP spid="3" grpId="0"/>
      <p:bldP spid="30" grpId="0"/>
      <p:bldP spid="31" grpId="0"/>
      <p:bldP spid="32" grpId="0"/>
      <p:bldP spid="5" grpId="0"/>
      <p:bldP spid="33" grpId="0"/>
      <p:bldP spid="6" grpId="0"/>
      <p:bldP spid="34" grpId="0"/>
      <p:bldP spid="131075" grpId="0"/>
      <p:bldP spid="131076" grpId="0"/>
      <p:bldP spid="131077" grpId="0"/>
      <p:bldP spid="3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 flipV="1">
            <a:off x="22225" y="454025"/>
            <a:ext cx="2268538" cy="158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099" name="文本框 3077"/>
          <p:cNvSpPr txBox="1"/>
          <p:nvPr/>
        </p:nvSpPr>
        <p:spPr>
          <a:xfrm>
            <a:off x="1635125" y="277813"/>
            <a:ext cx="5503863" cy="36933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Jacobi</a:t>
            </a:r>
            <a:r>
              <a:rPr lang="zh-CN" altLang="en-US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迭代法和</a:t>
            </a:r>
            <a:r>
              <a:rPr lang="en-US" altLang="zh-CN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Gauss-Seidel</a:t>
            </a:r>
            <a:r>
              <a:rPr lang="zh-CN" altLang="en-US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迭代法</a:t>
            </a:r>
          </a:p>
        </p:txBody>
      </p:sp>
      <p:cxnSp>
        <p:nvCxnSpPr>
          <p:cNvPr id="2" name="直接连接符 1"/>
          <p:cNvCxnSpPr/>
          <p:nvPr/>
        </p:nvCxnSpPr>
        <p:spPr>
          <a:xfrm>
            <a:off x="6475413" y="450850"/>
            <a:ext cx="2624138" cy="31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9F835555-B80B-48F3-901C-3CC2E79BB5BD}"/>
                  </a:ext>
                </a:extLst>
              </p:cNvPr>
              <p:cNvSpPr/>
              <p:nvPr/>
            </p:nvSpPr>
            <p:spPr>
              <a:xfrm>
                <a:off x="1102607" y="904107"/>
                <a:ext cx="187545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𝐴</m:t>
                      </m:r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𝐷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−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𝐿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−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𝑈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9F835555-B80B-48F3-901C-3CC2E79BB5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607" y="904107"/>
                <a:ext cx="1875450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FD0D592-E3EF-4D95-8ABF-85FFB812945A}"/>
                  </a:ext>
                </a:extLst>
              </p:cNvPr>
              <p:cNvSpPr/>
              <p:nvPr/>
            </p:nvSpPr>
            <p:spPr>
              <a:xfrm>
                <a:off x="2827723" y="1376982"/>
                <a:ext cx="3242662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𝑫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𝑑𝑖𝑎𝑔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11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22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,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⋯,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𝑛𝑛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FD0D592-E3EF-4D95-8ABF-85FFB81294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7723" y="1376982"/>
                <a:ext cx="3242662" cy="400110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792E73E8-E3C9-4721-8C75-215AC5D3023E}"/>
              </a:ext>
            </a:extLst>
          </p:cNvPr>
          <p:cNvSpPr txBox="1"/>
          <p:nvPr/>
        </p:nvSpPr>
        <p:spPr>
          <a:xfrm>
            <a:off x="3102674" y="904107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ea typeface="华文楷体" panose="02010600040101010101" pitchFamily="2" charset="-122"/>
                <a:sym typeface="Symbol" panose="05050102010706020507" pitchFamily="18" charset="2"/>
              </a:rPr>
              <a:t>其中，</a:t>
            </a:r>
            <a:endParaRPr lang="zh-CN" altLang="en-US" sz="20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C28E92C-71FC-4291-821C-8B2E8F813F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394" y="2035086"/>
            <a:ext cx="3242662" cy="186921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4661F60-A4B0-4560-B91B-E3B6570A92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7056" y="2035086"/>
            <a:ext cx="3304660" cy="1866039"/>
          </a:xfrm>
          <a:prstGeom prst="rect">
            <a:avLst/>
          </a:prstGeom>
        </p:spPr>
      </p:pic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099" grpId="0"/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6475413" y="450850"/>
            <a:ext cx="2624138" cy="31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V="1">
            <a:off x="22225" y="454025"/>
            <a:ext cx="2268538" cy="158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124" name="文本框 3077"/>
          <p:cNvSpPr txBox="1"/>
          <p:nvPr/>
        </p:nvSpPr>
        <p:spPr>
          <a:xfrm>
            <a:off x="1635125" y="277813"/>
            <a:ext cx="5503863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Jacobi</a:t>
            </a:r>
            <a:r>
              <a:rPr lang="zh-CN" altLang="en-US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迭代法和</a:t>
            </a:r>
            <a:r>
              <a:rPr lang="en-US" altLang="zh-CN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Gauss-Seidel</a:t>
            </a:r>
            <a:r>
              <a:rPr lang="zh-CN" altLang="en-US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迭代法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0622C4EB-434D-467D-996A-C8146A75DA0B}"/>
                  </a:ext>
                </a:extLst>
              </p:cNvPr>
              <p:cNvSpPr/>
              <p:nvPr/>
            </p:nvSpPr>
            <p:spPr>
              <a:xfrm>
                <a:off x="595674" y="722211"/>
                <a:ext cx="103945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𝐴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𝑥</m:t>
                      </m:r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𝑏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0622C4EB-434D-467D-996A-C8146A75D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674" y="722211"/>
                <a:ext cx="1039451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D018476-21ED-4658-86F9-81AFE944F5BB}"/>
                  </a:ext>
                </a:extLst>
              </p:cNvPr>
              <p:cNvSpPr/>
              <p:nvPr/>
            </p:nvSpPr>
            <p:spPr>
              <a:xfrm>
                <a:off x="1638702" y="731100"/>
                <a:ext cx="652061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⟺</m:t>
                      </m:r>
                    </m:oMath>
                  </m:oMathPara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D018476-21ED-4658-86F9-81AFE944F5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8702" y="731100"/>
                <a:ext cx="652061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64EFCACC-AA8A-480E-99E1-98232593DC1E}"/>
                  </a:ext>
                </a:extLst>
              </p:cNvPr>
              <p:cNvSpPr/>
              <p:nvPr/>
            </p:nvSpPr>
            <p:spPr>
              <a:xfrm>
                <a:off x="2229151" y="722211"/>
                <a:ext cx="2211439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𝐷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𝐿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𝑈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𝑥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𝑏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64EFCACC-AA8A-480E-99E1-98232593DC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9151" y="722211"/>
                <a:ext cx="2211439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1CDB276-D3AF-46E4-8F90-D0CC13EFDE2F}"/>
                  </a:ext>
                </a:extLst>
              </p:cNvPr>
              <p:cNvSpPr txBox="1"/>
              <p:nvPr/>
            </p:nvSpPr>
            <p:spPr>
              <a:xfrm>
                <a:off x="595674" y="1258566"/>
                <a:ext cx="2550756" cy="40011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rgbClr val="004A82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𝐾</m:t>
                    </m:r>
                    <m:r>
                      <a:rPr lang="en-US" altLang="zh-CN" sz="2000" b="0" i="1" smtClean="0">
                        <a:solidFill>
                          <a:srgbClr val="004A82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=</m:t>
                    </m:r>
                    <m:r>
                      <a:rPr lang="en-US" altLang="zh-CN" sz="2000" b="0" i="1" smtClean="0">
                        <a:solidFill>
                          <a:srgbClr val="004A82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𝐷</m:t>
                    </m:r>
                    <m:r>
                      <a:rPr lang="en-US" altLang="zh-CN" sz="2000" b="0" i="1" smtClean="0">
                        <a:solidFill>
                          <a:srgbClr val="004A82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,  </m:t>
                    </m:r>
                    <m:r>
                      <a:rPr lang="en-US" altLang="zh-CN" sz="2000" i="1">
                        <a:solidFill>
                          <a:srgbClr val="004A82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𝑁</m:t>
                    </m:r>
                    <m:r>
                      <a:rPr lang="en-US" altLang="zh-CN" sz="2000" b="0" i="1" smtClean="0">
                        <a:solidFill>
                          <a:srgbClr val="004A82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=</m:t>
                    </m:r>
                    <m:r>
                      <a:rPr lang="en-US" altLang="zh-CN" sz="2000" b="0" i="1" smtClean="0">
                        <a:solidFill>
                          <a:srgbClr val="004A82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𝐿</m:t>
                    </m:r>
                    <m:r>
                      <a:rPr lang="en-US" altLang="zh-CN" sz="2000" b="0" i="1" smtClean="0">
                        <a:solidFill>
                          <a:srgbClr val="004A82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+</m:t>
                    </m:r>
                    <m:r>
                      <a:rPr lang="en-US" altLang="zh-CN" sz="2000" b="0" i="1" smtClean="0">
                        <a:solidFill>
                          <a:srgbClr val="004A82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𝑈</m:t>
                    </m:r>
                  </m:oMath>
                </a14:m>
                <a:endParaRPr lang="zh-CN" altLang="en-US" sz="2000" dirty="0">
                  <a:solidFill>
                    <a:srgbClr val="004A82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1CDB276-D3AF-46E4-8F90-D0CC13EFDE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674" y="1258566"/>
                <a:ext cx="2550756" cy="400110"/>
              </a:xfrm>
              <a:prstGeom prst="rect">
                <a:avLst/>
              </a:prstGeom>
              <a:blipFill>
                <a:blip r:embed="rId5"/>
                <a:stretch>
                  <a:fillRect l="-1905" t="-2941" b="-19118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DEBAC7BA-EECC-4F27-961D-3F57BEB721C8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3146430" y="1458621"/>
            <a:ext cx="30736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5C3597DF-3CD4-4E67-8B19-0D684135B511}"/>
                  </a:ext>
                </a:extLst>
              </p:cNvPr>
              <p:cNvSpPr/>
              <p:nvPr/>
            </p:nvSpPr>
            <p:spPr>
              <a:xfrm>
                <a:off x="3453791" y="1266962"/>
                <a:ext cx="2290712" cy="400110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𝐷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𝑥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𝐿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+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𝑈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𝑥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𝑏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5C3597DF-3CD4-4E67-8B19-0D684135B5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3791" y="1266962"/>
                <a:ext cx="2290712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D3F84FF6-9042-43EA-98D8-1E97B61FDC9D}"/>
                  </a:ext>
                </a:extLst>
              </p:cNvPr>
              <p:cNvSpPr/>
              <p:nvPr/>
            </p:nvSpPr>
            <p:spPr>
              <a:xfrm>
                <a:off x="2284983" y="2056380"/>
                <a:ext cx="3106464" cy="400110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𝑥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𝐷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𝐿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+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𝑈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𝑥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+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𝐷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−1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𝑏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D3F84FF6-9042-43EA-98D8-1E97B61FDC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4983" y="2056380"/>
                <a:ext cx="3106464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3499918-5499-4319-80D0-C6AD2FC8D919}"/>
              </a:ext>
            </a:extLst>
          </p:cNvPr>
          <p:cNvCxnSpPr/>
          <p:nvPr/>
        </p:nvCxnSpPr>
        <p:spPr>
          <a:xfrm>
            <a:off x="4126326" y="1697808"/>
            <a:ext cx="0" cy="2983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011EF762-BC13-4C22-8A1D-DF357C895531}"/>
                  </a:ext>
                </a:extLst>
              </p:cNvPr>
              <p:cNvSpPr/>
              <p:nvPr/>
            </p:nvSpPr>
            <p:spPr>
              <a:xfrm>
                <a:off x="2290763" y="2040970"/>
                <a:ext cx="3837444" cy="421013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𝐷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𝐿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+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𝑈</m:t>
                          </m:r>
                        </m:e>
                      </m:d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+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𝐷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−1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𝑏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011EF762-BC13-4C22-8A1D-DF357C8955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0763" y="2040970"/>
                <a:ext cx="3837444" cy="42101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9227538-574D-490F-A815-64BD62895134}"/>
                  </a:ext>
                </a:extLst>
              </p:cNvPr>
              <p:cNvSpPr txBox="1"/>
              <p:nvPr/>
            </p:nvSpPr>
            <p:spPr>
              <a:xfrm>
                <a:off x="595674" y="2877327"/>
                <a:ext cx="2550756" cy="40011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rgbClr val="004A82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𝐾</m:t>
                    </m:r>
                    <m:r>
                      <a:rPr lang="en-US" altLang="zh-CN" sz="2000" b="0" i="1" smtClean="0">
                        <a:solidFill>
                          <a:srgbClr val="004A82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=</m:t>
                    </m:r>
                    <m:r>
                      <a:rPr lang="en-US" altLang="zh-CN" sz="2000" b="0" i="1" smtClean="0">
                        <a:solidFill>
                          <a:srgbClr val="004A82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𝐷</m:t>
                    </m:r>
                    <m:r>
                      <a:rPr lang="en-US" altLang="zh-CN" sz="2000" b="0" i="1" smtClean="0">
                        <a:solidFill>
                          <a:srgbClr val="004A82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−</m:t>
                    </m:r>
                    <m:r>
                      <a:rPr lang="en-US" altLang="zh-CN" sz="2000" b="0" i="1" smtClean="0">
                        <a:solidFill>
                          <a:srgbClr val="004A82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𝐿</m:t>
                    </m:r>
                    <m:r>
                      <a:rPr lang="en-US" altLang="zh-CN" sz="2000" b="0" i="1" smtClean="0">
                        <a:solidFill>
                          <a:srgbClr val="004A82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,  </m:t>
                    </m:r>
                    <m:r>
                      <a:rPr lang="en-US" altLang="zh-CN" sz="2000" i="1">
                        <a:solidFill>
                          <a:srgbClr val="004A82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𝑁</m:t>
                    </m:r>
                    <m:r>
                      <a:rPr lang="en-US" altLang="zh-CN" sz="2000" b="0" i="1" smtClean="0">
                        <a:solidFill>
                          <a:srgbClr val="004A82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=</m:t>
                    </m:r>
                    <m:r>
                      <a:rPr lang="en-US" altLang="zh-CN" sz="2000" b="0" i="1" smtClean="0">
                        <a:solidFill>
                          <a:srgbClr val="004A82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𝑈</m:t>
                    </m:r>
                  </m:oMath>
                </a14:m>
                <a:endParaRPr lang="zh-CN" altLang="en-US" sz="2000" dirty="0">
                  <a:solidFill>
                    <a:srgbClr val="004A82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9227538-574D-490F-A815-64BD628951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674" y="2877327"/>
                <a:ext cx="2550756" cy="400110"/>
              </a:xfrm>
              <a:prstGeom prst="rect">
                <a:avLst/>
              </a:prstGeom>
              <a:blipFill>
                <a:blip r:embed="rId9"/>
                <a:stretch>
                  <a:fillRect l="-1905" t="-4412" b="-19118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491C795E-241F-4E8B-8559-AC341B743DE7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3146430" y="3077382"/>
            <a:ext cx="30736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52595B17-2CEB-4C2A-8576-B4E343CE9808}"/>
                  </a:ext>
                </a:extLst>
              </p:cNvPr>
              <p:cNvSpPr/>
              <p:nvPr/>
            </p:nvSpPr>
            <p:spPr>
              <a:xfrm>
                <a:off x="3453791" y="2873175"/>
                <a:ext cx="2290712" cy="400110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𝐷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𝐿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𝑥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𝑈𝑥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𝑏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52595B17-2CEB-4C2A-8576-B4E343CE98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3791" y="2873175"/>
                <a:ext cx="2290712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1EE86A5D-5E76-47B9-AE09-73334B9E0E15}"/>
                  </a:ext>
                </a:extLst>
              </p:cNvPr>
              <p:cNvSpPr/>
              <p:nvPr/>
            </p:nvSpPr>
            <p:spPr>
              <a:xfrm>
                <a:off x="2110459" y="3676058"/>
                <a:ext cx="3634044" cy="400110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𝑥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𝐷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𝐿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−1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𝑈𝑥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+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𝐷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𝐿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−1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𝑏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1EE86A5D-5E76-47B9-AE09-73334B9E0E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0459" y="3676058"/>
                <a:ext cx="3634044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69B81A5E-62A8-4A0C-80A9-D6D34A90BDEF}"/>
              </a:ext>
            </a:extLst>
          </p:cNvPr>
          <p:cNvCxnSpPr>
            <a:cxnSpLocks/>
          </p:cNvCxnSpPr>
          <p:nvPr/>
        </p:nvCxnSpPr>
        <p:spPr>
          <a:xfrm>
            <a:off x="3771580" y="3342555"/>
            <a:ext cx="0" cy="3423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7010743F-EFD8-43FD-94AE-EEBDE5C9F605}"/>
                  </a:ext>
                </a:extLst>
              </p:cNvPr>
              <p:cNvSpPr/>
              <p:nvPr/>
            </p:nvSpPr>
            <p:spPr>
              <a:xfrm>
                <a:off x="2110459" y="3680210"/>
                <a:ext cx="4433531" cy="421013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𝐷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𝐿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−1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𝑈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+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𝐷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𝐿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−1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𝑏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7010743F-EFD8-43FD-94AE-EEBDE5C9F6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0459" y="3680210"/>
                <a:ext cx="4433531" cy="42101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8955AD5-E3EC-4AFF-92F1-7CDB7BF09214}"/>
              </a:ext>
            </a:extLst>
          </p:cNvPr>
          <p:cNvCxnSpPr/>
          <p:nvPr/>
        </p:nvCxnSpPr>
        <p:spPr>
          <a:xfrm>
            <a:off x="3377132" y="2434233"/>
            <a:ext cx="121407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1F263698-D2B3-4C1D-9F8B-BEE67D4A0427}"/>
              </a:ext>
            </a:extLst>
          </p:cNvPr>
          <p:cNvCxnSpPr/>
          <p:nvPr/>
        </p:nvCxnSpPr>
        <p:spPr>
          <a:xfrm>
            <a:off x="3231176" y="4076168"/>
            <a:ext cx="121407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BA7E0573-EB31-48F5-92A6-82F8C02D8C99}"/>
              </a:ext>
            </a:extLst>
          </p:cNvPr>
          <p:cNvCxnSpPr>
            <a:cxnSpLocks/>
          </p:cNvCxnSpPr>
          <p:nvPr/>
        </p:nvCxnSpPr>
        <p:spPr>
          <a:xfrm flipV="1">
            <a:off x="5206367" y="1757434"/>
            <a:ext cx="1035407" cy="3482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D344950C-0878-4539-B0F3-9789A08EB7FA}"/>
                  </a:ext>
                </a:extLst>
              </p:cNvPr>
              <p:cNvSpPr txBox="1"/>
              <p:nvPr/>
            </p:nvSpPr>
            <p:spPr>
              <a:xfrm>
                <a:off x="3838215" y="2382703"/>
                <a:ext cx="30736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𝑩</m:t>
                      </m:r>
                    </m:oMath>
                  </m:oMathPara>
                </a14:m>
                <a:endParaRPr lang="zh-CN" alt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D344950C-0878-4539-B0F3-9789A08EB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8215" y="2382703"/>
                <a:ext cx="307361" cy="400110"/>
              </a:xfrm>
              <a:prstGeom prst="rect">
                <a:avLst/>
              </a:prstGeom>
              <a:blipFill>
                <a:blip r:embed="rId13"/>
                <a:stretch>
                  <a:fillRect r="-1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F266C7E5-D06C-47BE-BFC0-99B3FBFAF80E}"/>
                  </a:ext>
                </a:extLst>
              </p:cNvPr>
              <p:cNvSpPr txBox="1"/>
              <p:nvPr/>
            </p:nvSpPr>
            <p:spPr>
              <a:xfrm>
                <a:off x="3521709" y="4101223"/>
                <a:ext cx="47018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𝑮</m:t>
                      </m:r>
                    </m:oMath>
                  </m:oMathPara>
                </a14:m>
                <a:endParaRPr lang="zh-CN" altLang="en-US" sz="2000" b="1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F266C7E5-D06C-47BE-BFC0-99B3FBFAF8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1709" y="4101223"/>
                <a:ext cx="470186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椭圆 10">
            <a:extLst>
              <a:ext uri="{FF2B5EF4-FFF2-40B4-BE49-F238E27FC236}">
                <a16:creationId xmlns:a16="http://schemas.microsoft.com/office/drawing/2014/main" id="{98205602-36A1-4BFE-87BB-2AEA622A022D}"/>
              </a:ext>
            </a:extLst>
          </p:cNvPr>
          <p:cNvSpPr/>
          <p:nvPr/>
        </p:nvSpPr>
        <p:spPr>
          <a:xfrm>
            <a:off x="6475412" y="1357323"/>
            <a:ext cx="1615033" cy="629293"/>
          </a:xfrm>
          <a:prstGeom prst="ellipse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A6FFC72-741D-437A-AA0C-68A2D68AEC78}"/>
              </a:ext>
            </a:extLst>
          </p:cNvPr>
          <p:cNvSpPr txBox="1"/>
          <p:nvPr/>
        </p:nvSpPr>
        <p:spPr>
          <a:xfrm>
            <a:off x="6698974" y="1455013"/>
            <a:ext cx="12423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J 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迭代法</a:t>
            </a: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2ED65525-5D79-4552-A57E-6D860061E896}"/>
              </a:ext>
            </a:extLst>
          </p:cNvPr>
          <p:cNvCxnSpPr>
            <a:cxnSpLocks/>
          </p:cNvCxnSpPr>
          <p:nvPr/>
        </p:nvCxnSpPr>
        <p:spPr>
          <a:xfrm>
            <a:off x="5697917" y="4036521"/>
            <a:ext cx="696210" cy="3073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椭圆 34">
            <a:extLst>
              <a:ext uri="{FF2B5EF4-FFF2-40B4-BE49-F238E27FC236}">
                <a16:creationId xmlns:a16="http://schemas.microsoft.com/office/drawing/2014/main" id="{9804B688-EB89-44FA-99D5-8D0F3CF27647}"/>
              </a:ext>
            </a:extLst>
          </p:cNvPr>
          <p:cNvSpPr/>
          <p:nvPr/>
        </p:nvSpPr>
        <p:spPr>
          <a:xfrm>
            <a:off x="6406012" y="4115521"/>
            <a:ext cx="1465952" cy="682727"/>
          </a:xfrm>
          <a:prstGeom prst="ellipse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37B95DB-2B64-4AD6-AAB1-AB34DE67B1D8}"/>
              </a:ext>
            </a:extLst>
          </p:cNvPr>
          <p:cNvSpPr txBox="1"/>
          <p:nvPr/>
        </p:nvSpPr>
        <p:spPr>
          <a:xfrm>
            <a:off x="6475413" y="4263477"/>
            <a:ext cx="1340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GS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迭代法</a:t>
            </a:r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8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8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0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9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4" grpId="0"/>
      <p:bldP spid="6" grpId="0"/>
      <p:bldP spid="8" grpId="0"/>
      <p:bldP spid="9" grpId="0"/>
      <p:bldP spid="10" grpId="0" animBg="1"/>
      <p:bldP spid="12" grpId="0" animBg="1"/>
      <p:bldP spid="14" grpId="0" animBg="1"/>
      <p:bldP spid="14" grpId="1" animBg="1"/>
      <p:bldP spid="18" grpId="0" animBg="1"/>
      <p:bldP spid="19" grpId="0" animBg="1"/>
      <p:bldP spid="21" grpId="0" animBg="1"/>
      <p:bldP spid="22" grpId="0" animBg="1"/>
      <p:bldP spid="22" grpId="1" animBg="1"/>
      <p:bldP spid="26" grpId="0" animBg="1"/>
      <p:bldP spid="36" grpId="0"/>
      <p:bldP spid="39" grpId="0"/>
      <p:bldP spid="11" grpId="0" animBg="1"/>
      <p:bldP spid="16" grpId="0"/>
      <p:bldP spid="35" grpId="0" animBg="1"/>
      <p:bldP spid="3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 flipV="1">
            <a:off x="22225" y="454025"/>
            <a:ext cx="2268538" cy="158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099" name="文本框 3077"/>
          <p:cNvSpPr txBox="1"/>
          <p:nvPr/>
        </p:nvSpPr>
        <p:spPr>
          <a:xfrm>
            <a:off x="1635125" y="277813"/>
            <a:ext cx="5503863" cy="36933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Jacobi</a:t>
            </a:r>
            <a:r>
              <a:rPr lang="zh-CN" altLang="en-US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迭代法和</a:t>
            </a:r>
            <a:r>
              <a:rPr lang="en-US" altLang="zh-CN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Gauss-Seidel</a:t>
            </a:r>
            <a:r>
              <a:rPr lang="zh-CN" altLang="en-US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迭代法</a:t>
            </a:r>
          </a:p>
        </p:txBody>
      </p:sp>
      <p:cxnSp>
        <p:nvCxnSpPr>
          <p:cNvPr id="2" name="直接连接符 1"/>
          <p:cNvCxnSpPr/>
          <p:nvPr/>
        </p:nvCxnSpPr>
        <p:spPr>
          <a:xfrm>
            <a:off x="6475413" y="450850"/>
            <a:ext cx="2624138" cy="31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9F835555-B80B-48F3-901C-3CC2E79BB5BD}"/>
                  </a:ext>
                </a:extLst>
              </p:cNvPr>
              <p:cNvSpPr/>
              <p:nvPr/>
            </p:nvSpPr>
            <p:spPr>
              <a:xfrm>
                <a:off x="529411" y="1015444"/>
                <a:ext cx="1790875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𝐽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迭代法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:</m:t>
                      </m:r>
                    </m:oMath>
                  </m:oMathPara>
                </a14:m>
                <a:endParaRPr lang="en-US" altLang="zh-CN" sz="2000" i="1" dirty="0">
                  <a:latin typeface="Cambria Math" panose="02040503050406030204" pitchFamily="18" charset="0"/>
                  <a:ea typeface="华文楷体" panose="02010600040101010101" pitchFamily="2" charset="-122"/>
                  <a:sym typeface="Symbol" panose="05050102010706020507" pitchFamily="18" charset="2"/>
                </a:endParaRPr>
              </a:p>
              <a:p>
                <a:r>
                  <a:rPr lang="zh-CN" altLang="en-US" sz="2000" dirty="0">
                    <a:ea typeface="华文楷体" panose="02010600040101010101" pitchFamily="2" charset="-122"/>
                    <a:sym typeface="Symbol" panose="05050102010706020507" pitchFamily="18" charset="2"/>
                  </a:rPr>
                  <a:t>（分量</a:t>
                </a:r>
                <a14:m>
                  <m:oMath xmlns:m="http://schemas.openxmlformats.org/officeDocument/2006/math">
                    <m:r>
                      <a:rPr lang="zh-CN" altLang="en-US" sz="2000" i="1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形式</m:t>
                    </m:r>
                  </m:oMath>
                </a14:m>
                <a:r>
                  <a:rPr lang="zh-CN" altLang="en-US" sz="2000" dirty="0">
                    <a:ea typeface="华文楷体" panose="02010600040101010101" pitchFamily="2" charset="-122"/>
                    <a:sym typeface="Symbol" panose="05050102010706020507" pitchFamily="18" charset="2"/>
                  </a:rPr>
                  <a:t>）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9F835555-B80B-48F3-901C-3CC2E79BB5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411" y="1015444"/>
                <a:ext cx="1790875" cy="707886"/>
              </a:xfrm>
              <a:prstGeom prst="rect">
                <a:avLst/>
              </a:prstGeom>
              <a:blipFill>
                <a:blip r:embed="rId2"/>
                <a:stretch>
                  <a:fillRect l="-3741" b="-155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7F271EB7-2D95-4511-91EE-CF62E34B8848}"/>
                  </a:ext>
                </a:extLst>
              </p:cNvPr>
              <p:cNvSpPr/>
              <p:nvPr/>
            </p:nvSpPr>
            <p:spPr>
              <a:xfrm>
                <a:off x="2143125" y="646112"/>
                <a:ext cx="5365750" cy="157023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</m:den>
                              </m:f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</m:den>
                              </m:f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−⋯−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</m:den>
                              </m:f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22</m:t>
                                      </m:r>
                                    </m:sub>
                                  </m:sSub>
                                </m:den>
                              </m:f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22</m:t>
                                      </m:r>
                                    </m:sub>
                                  </m:sSub>
                                </m:den>
                              </m:f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−⋯−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22</m:t>
                                      </m:r>
                                    </m:sub>
                                  </m:sSub>
                                </m:den>
                              </m:f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22</m:t>
                                      </m:r>
                                    </m:sub>
                                  </m:sSub>
                                </m:den>
                              </m:f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/>
                                  <m:e/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/>
                                        <m:e>
                                          <m:m>
                                            <m:mPr>
                                              <m:plcHide m:val="on"/>
                                              <m:mcs>
                                                <m:mc>
                                                  <m:mcPr>
                                                    <m:count m:val="2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zh-CN" alt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/>
                                              <m:e/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en-US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/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⋯⋯⋯⋯⋯⋯⋯⋯⋯⋯⋯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𝑛𝑛</m:t>
                                      </m:r>
                                    </m:sub>
                                  </m:sSub>
                                </m:den>
                              </m:f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𝑛𝑛</m:t>
                                      </m:r>
                                    </m:sub>
                                  </m:sSub>
                                </m:den>
                              </m:f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−⋯−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𝑛𝑛</m:t>
                                      </m:r>
                                    </m:sub>
                                  </m:sSub>
                                </m:den>
                              </m:f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𝑛𝑛</m:t>
                                      </m:r>
                                    </m:sub>
                                  </m:sSub>
                                </m:den>
                              </m:f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/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=0,1,2,⋯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7F271EB7-2D95-4511-91EE-CF62E34B88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125" y="646112"/>
                <a:ext cx="5365750" cy="15702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2AF856B-CD29-4E1A-83B2-54A007B1B9C3}"/>
                  </a:ext>
                </a:extLst>
              </p:cNvPr>
              <p:cNvSpPr txBox="1"/>
              <p:nvPr/>
            </p:nvSpPr>
            <p:spPr>
              <a:xfrm>
                <a:off x="2290763" y="872971"/>
                <a:ext cx="5773568" cy="10831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bSup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   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𝑖𝑖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  <m:sSubSup>
                            <m:sSub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  </m:t>
                          </m:r>
                          <m:nary>
                            <m:naryPr>
                              <m:chr m:val="∑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  <m:sSubSup>
                            <m:sSub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2AF856B-CD29-4E1A-83B2-54A007B1B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0763" y="872971"/>
                <a:ext cx="5773568" cy="10831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FA0E38D4-B726-4C42-9299-10630155E156}"/>
                  </a:ext>
                </a:extLst>
              </p:cNvPr>
              <p:cNvSpPr/>
              <p:nvPr/>
            </p:nvSpPr>
            <p:spPr>
              <a:xfrm>
                <a:off x="589286" y="2384594"/>
                <a:ext cx="159055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（矩阵形式）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FA0E38D4-B726-4C42-9299-10630155E1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86" y="2384594"/>
                <a:ext cx="1590553" cy="400110"/>
              </a:xfrm>
              <a:prstGeom prst="rect">
                <a:avLst/>
              </a:prstGeom>
              <a:blipFill>
                <a:blip r:embed="rId5"/>
                <a:stretch>
                  <a:fillRect l="-1916" r="-9579" b="-151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F908AD49-9651-4FB9-A2A2-CF0F171ADF22}"/>
                  </a:ext>
                </a:extLst>
              </p:cNvPr>
              <p:cNvSpPr/>
              <p:nvPr/>
            </p:nvSpPr>
            <p:spPr>
              <a:xfrm>
                <a:off x="925708" y="3190714"/>
                <a:ext cx="177775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迭代矩阵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𝐵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F908AD49-9651-4FB9-A2A2-CF0F171ADF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708" y="3190714"/>
                <a:ext cx="1777753" cy="400110"/>
              </a:xfrm>
              <a:prstGeom prst="rect">
                <a:avLst/>
              </a:prstGeom>
              <a:blipFill>
                <a:blip r:embed="rId6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F453E952-0516-44EF-8F19-AA1DAEFDF6DE}"/>
                  </a:ext>
                </a:extLst>
              </p:cNvPr>
              <p:cNvSpPr/>
              <p:nvPr/>
            </p:nvSpPr>
            <p:spPr>
              <a:xfrm>
                <a:off x="2608817" y="3196910"/>
                <a:ext cx="146622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𝐷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𝐿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𝑈</m:t>
                          </m:r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F453E952-0516-44EF-8F19-AA1DAEFDF6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8817" y="3196910"/>
                <a:ext cx="146622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F197030-AA98-4B0C-9EF7-1DDD1CC55698}"/>
                  </a:ext>
                </a:extLst>
              </p:cNvPr>
              <p:cNvSpPr/>
              <p:nvPr/>
            </p:nvSpPr>
            <p:spPr>
              <a:xfrm>
                <a:off x="4732534" y="2859358"/>
                <a:ext cx="3485758" cy="11170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−1,1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−1,2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−1,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F197030-AA98-4B0C-9EF7-1DDD1CC556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2534" y="2859358"/>
                <a:ext cx="3485758" cy="111703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E6E5D27A-646E-4055-B3D5-98ACC78775BE}"/>
                  </a:ext>
                </a:extLst>
              </p:cNvPr>
              <p:cNvSpPr/>
              <p:nvPr/>
            </p:nvSpPr>
            <p:spPr>
              <a:xfrm>
                <a:off x="2499081" y="2830455"/>
                <a:ext cx="2530821" cy="11206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7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sz="1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en-US" sz="17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zh-CN" altLang="en-US" sz="17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17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zh-CN" altLang="en-US" sz="17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</m:e>
                                  <m:e/>
                                  <m:e/>
                                  <m:e/>
                                </m:mr>
                                <m:mr>
                                  <m:e/>
                                  <m:e>
                                    <m:sSub>
                                      <m:sSubPr>
                                        <m:ctrlPr>
                                          <a:rPr lang="zh-CN" altLang="en-US" sz="17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17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zh-CN" altLang="en-US" sz="17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</m:e>
                                  <m:e/>
                                  <m:e/>
                                </m:mr>
                                <m:mr>
                                  <m:e/>
                                  <m:e/>
                                  <m:e>
                                    <m:r>
                                      <a:rPr lang="zh-CN" altLang="en-US" sz="17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⋱</m:t>
                                    </m:r>
                                  </m:e>
                                  <m:e/>
                                </m:mr>
                                <m:mr>
                                  <m:e/>
                                  <m:e/>
                                  <m:e/>
                                  <m:e>
                                    <m:sSub>
                                      <m:sSubPr>
                                        <m:ctrlPr>
                                          <a:rPr lang="zh-CN" altLang="en-US" sz="17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17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zh-CN" altLang="en-US" sz="17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𝑛𝑛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altLang="zh-CN" sz="17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zh-CN" altLang="en-US" sz="1700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E6E5D27A-646E-4055-B3D5-98ACC78775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9081" y="2830455"/>
                <a:ext cx="2530821" cy="112062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AEA4DC-5F52-495C-A000-9CBE2A46FE4E}"/>
                  </a:ext>
                </a:extLst>
              </p:cNvPr>
              <p:cNvSpPr/>
              <p:nvPr/>
            </p:nvSpPr>
            <p:spPr>
              <a:xfrm>
                <a:off x="2176112" y="2363691"/>
                <a:ext cx="3982036" cy="4210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𝐷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𝐿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+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𝑈</m:t>
                          </m:r>
                        </m:e>
                      </m:d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+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𝐷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−1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𝑏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AEA4DC-5F52-495C-A000-9CBE2A46FE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6112" y="2363691"/>
                <a:ext cx="3982036" cy="42101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96650276-3EF6-43B3-B350-BBA7C7C78F9B}"/>
                  </a:ext>
                </a:extLst>
              </p:cNvPr>
              <p:cNvSpPr/>
              <p:nvPr/>
            </p:nvSpPr>
            <p:spPr>
              <a:xfrm>
                <a:off x="2499081" y="2761529"/>
                <a:ext cx="4013514" cy="18428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−11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−12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𝑛𝑛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𝑛𝑛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𝑛𝑛</m:t>
                                        </m:r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𝑛𝑛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96650276-3EF6-43B3-B350-BBA7C7C78F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9081" y="2761529"/>
                <a:ext cx="4013514" cy="18428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1041533"/>
      </p:ext>
    </p:extLst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099" grpId="0"/>
      <p:bldP spid="4" grpId="0"/>
      <p:bldP spid="3" grpId="0"/>
      <p:bldP spid="13" grpId="0" animBg="1"/>
      <p:bldP spid="13" grpId="1" animBg="1"/>
      <p:bldP spid="14" grpId="0"/>
      <p:bldP spid="15" grpId="0"/>
      <p:bldP spid="16" grpId="0"/>
      <p:bldP spid="16" grpId="1"/>
      <p:bldP spid="6" grpId="0"/>
      <p:bldP spid="6" grpId="1"/>
      <p:bldP spid="9" grpId="0"/>
      <p:bldP spid="9" grpId="1"/>
      <p:bldP spid="18" grpId="0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 flipV="1">
            <a:off x="22225" y="454025"/>
            <a:ext cx="2268538" cy="158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099" name="文本框 3077"/>
          <p:cNvSpPr txBox="1"/>
          <p:nvPr/>
        </p:nvSpPr>
        <p:spPr>
          <a:xfrm>
            <a:off x="1635125" y="277813"/>
            <a:ext cx="5503863" cy="36933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Jacobi</a:t>
            </a:r>
            <a:r>
              <a:rPr lang="zh-CN" altLang="en-US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迭代法和</a:t>
            </a:r>
            <a:r>
              <a:rPr lang="en-US" altLang="zh-CN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Gauss-Seidel</a:t>
            </a:r>
            <a:r>
              <a:rPr lang="zh-CN" altLang="en-US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迭代法</a:t>
            </a:r>
          </a:p>
        </p:txBody>
      </p:sp>
      <p:cxnSp>
        <p:nvCxnSpPr>
          <p:cNvPr id="2" name="直接连接符 1"/>
          <p:cNvCxnSpPr/>
          <p:nvPr/>
        </p:nvCxnSpPr>
        <p:spPr>
          <a:xfrm>
            <a:off x="6475413" y="450850"/>
            <a:ext cx="2624138" cy="31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9F835555-B80B-48F3-901C-3CC2E79BB5BD}"/>
                  </a:ext>
                </a:extLst>
              </p:cNvPr>
              <p:cNvSpPr/>
              <p:nvPr/>
            </p:nvSpPr>
            <p:spPr>
              <a:xfrm>
                <a:off x="529411" y="1015444"/>
                <a:ext cx="1790875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𝐺𝑆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迭代法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:</m:t>
                      </m:r>
                    </m:oMath>
                  </m:oMathPara>
                </a14:m>
                <a:endParaRPr lang="en-US" altLang="zh-CN" sz="2000" i="1" dirty="0">
                  <a:latin typeface="Cambria Math" panose="02040503050406030204" pitchFamily="18" charset="0"/>
                  <a:ea typeface="华文楷体" panose="02010600040101010101" pitchFamily="2" charset="-122"/>
                  <a:sym typeface="Symbol" panose="05050102010706020507" pitchFamily="18" charset="2"/>
                </a:endParaRPr>
              </a:p>
              <a:p>
                <a:r>
                  <a:rPr lang="zh-CN" altLang="en-US" sz="2000" dirty="0">
                    <a:ea typeface="华文楷体" panose="02010600040101010101" pitchFamily="2" charset="-122"/>
                    <a:sym typeface="Symbol" panose="05050102010706020507" pitchFamily="18" charset="2"/>
                  </a:rPr>
                  <a:t>（分量</a:t>
                </a:r>
                <a14:m>
                  <m:oMath xmlns:m="http://schemas.openxmlformats.org/officeDocument/2006/math">
                    <m:r>
                      <a:rPr lang="zh-CN" altLang="en-US" sz="2000" i="1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形式</m:t>
                    </m:r>
                  </m:oMath>
                </a14:m>
                <a:r>
                  <a:rPr lang="zh-CN" altLang="en-US" sz="2000" dirty="0">
                    <a:ea typeface="华文楷体" panose="02010600040101010101" pitchFamily="2" charset="-122"/>
                    <a:sym typeface="Symbol" panose="05050102010706020507" pitchFamily="18" charset="2"/>
                  </a:rPr>
                  <a:t>）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9F835555-B80B-48F3-901C-3CC2E79BB5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411" y="1015444"/>
                <a:ext cx="1790875" cy="707886"/>
              </a:xfrm>
              <a:prstGeom prst="rect">
                <a:avLst/>
              </a:prstGeom>
              <a:blipFill>
                <a:blip r:embed="rId2"/>
                <a:stretch>
                  <a:fillRect l="-3741" b="-155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7F271EB7-2D95-4511-91EE-CF62E34B8848}"/>
                  </a:ext>
                </a:extLst>
              </p:cNvPr>
              <p:cNvSpPr/>
              <p:nvPr/>
            </p:nvSpPr>
            <p:spPr>
              <a:xfrm>
                <a:off x="2143125" y="646112"/>
                <a:ext cx="5365750" cy="157023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</m:den>
                              </m:f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</m:den>
                              </m:f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−⋯−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</m:den>
                              </m:f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22</m:t>
                                      </m:r>
                                    </m:sub>
                                  </m:sSub>
                                </m:den>
                              </m:f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22</m:t>
                                      </m:r>
                                    </m:sub>
                                  </m:sSub>
                                </m:den>
                              </m:f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−⋯−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22</m:t>
                                      </m:r>
                                    </m:sub>
                                  </m:sSub>
                                </m:den>
                              </m:f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22</m:t>
                                      </m:r>
                                    </m:sub>
                                  </m:sSub>
                                </m:den>
                              </m:f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/>
                                  <m:e/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/>
                                        <m:e>
                                          <m:m>
                                            <m:mPr>
                                              <m:plcHide m:val="on"/>
                                              <m:mcs>
                                                <m:mc>
                                                  <m:mcPr>
                                                    <m:count m:val="2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zh-CN" alt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/>
                                              <m:e/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en-US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/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⋯⋯⋯⋯⋯⋯⋯⋯⋯⋯⋯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𝑛𝑛</m:t>
                                      </m:r>
                                    </m:sub>
                                  </m:sSub>
                                </m:den>
                              </m:f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𝑛𝑛</m:t>
                                      </m:r>
                                    </m:sub>
                                  </m:sSub>
                                </m:den>
                              </m:f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−⋯−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𝑛𝑛</m:t>
                                      </m:r>
                                    </m:sub>
                                  </m:sSub>
                                </m:den>
                              </m:f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𝑛𝑛</m:t>
                                      </m:r>
                                    </m:sub>
                                  </m:sSub>
                                </m:den>
                              </m:f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/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=0,1,2,⋯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7F271EB7-2D95-4511-91EE-CF62E34B88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125" y="646112"/>
                <a:ext cx="5365750" cy="1570238"/>
              </a:xfrm>
              <a:prstGeom prst="rect">
                <a:avLst/>
              </a:prstGeom>
              <a:blipFill>
                <a:blip r:embed="rId3"/>
                <a:stretch>
                  <a:fillRect r="-4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2AF856B-CD29-4E1A-83B2-54A007B1B9C3}"/>
                  </a:ext>
                </a:extLst>
              </p:cNvPr>
              <p:cNvSpPr txBox="1"/>
              <p:nvPr/>
            </p:nvSpPr>
            <p:spPr>
              <a:xfrm>
                <a:off x="1990158" y="662926"/>
                <a:ext cx="5773568" cy="10831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bSup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   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𝑖𝑖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  <m:sSubSup>
                            <m:sSub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  </m:t>
                          </m:r>
                          <m:nary>
                            <m:naryPr>
                              <m:chr m:val="∑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  <m:sSubSup>
                            <m:sSub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2AF856B-CD29-4E1A-83B2-54A007B1B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158" y="662926"/>
                <a:ext cx="5773568" cy="10831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FA0E38D4-B726-4C42-9299-10630155E156}"/>
                  </a:ext>
                </a:extLst>
              </p:cNvPr>
              <p:cNvSpPr/>
              <p:nvPr/>
            </p:nvSpPr>
            <p:spPr>
              <a:xfrm>
                <a:off x="589286" y="2384594"/>
                <a:ext cx="159055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（矩阵形式）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FA0E38D4-B726-4C42-9299-10630155E1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86" y="2384594"/>
                <a:ext cx="1590553" cy="400110"/>
              </a:xfrm>
              <a:prstGeom prst="rect">
                <a:avLst/>
              </a:prstGeom>
              <a:blipFill>
                <a:blip r:embed="rId5"/>
                <a:stretch>
                  <a:fillRect l="-1916" r="-9579" b="-151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F908AD49-9651-4FB9-A2A2-CF0F171ADF22}"/>
                  </a:ext>
                </a:extLst>
              </p:cNvPr>
              <p:cNvSpPr/>
              <p:nvPr/>
            </p:nvSpPr>
            <p:spPr>
              <a:xfrm>
                <a:off x="1990158" y="3023080"/>
                <a:ext cx="1776499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000" b="0" dirty="0">
                    <a:ea typeface="华文楷体" panose="02010600040101010101" pitchFamily="2" charset="-122"/>
                    <a:sym typeface="Symbol" panose="05050102010706020507" pitchFamily="18" charset="2"/>
                  </a:rPr>
                  <a:t>迭代矩阵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𝐺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=</m:t>
                    </m:r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F908AD49-9651-4FB9-A2A2-CF0F171ADF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158" y="3023080"/>
                <a:ext cx="1776499" cy="400110"/>
              </a:xfrm>
              <a:prstGeom prst="rect">
                <a:avLst/>
              </a:prstGeom>
              <a:blipFill>
                <a:blip r:embed="rId6"/>
                <a:stretch>
                  <a:fillRect l="-3425" t="-7576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F453E952-0516-44EF-8F19-AA1DAEFDF6DE}"/>
                  </a:ext>
                </a:extLst>
              </p:cNvPr>
              <p:cNvSpPr/>
              <p:nvPr/>
            </p:nvSpPr>
            <p:spPr>
              <a:xfrm>
                <a:off x="3520834" y="3023080"/>
                <a:ext cx="146622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𝐷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𝐿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−1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𝑈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F453E952-0516-44EF-8F19-AA1DAEFDF6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0834" y="3023080"/>
                <a:ext cx="146622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AEA4DC-5F52-495C-A000-9CBE2A46FE4E}"/>
                  </a:ext>
                </a:extLst>
              </p:cNvPr>
              <p:cNvSpPr/>
              <p:nvPr/>
            </p:nvSpPr>
            <p:spPr>
              <a:xfrm>
                <a:off x="2176112" y="2363691"/>
                <a:ext cx="5119210" cy="4210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𝐷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−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𝐿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−1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𝑈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+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𝐷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𝐿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−1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𝑏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AEA4DC-5F52-495C-A000-9CBE2A46FE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6112" y="2363691"/>
                <a:ext cx="5119210" cy="42101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C5637DA4-A2B4-4EA0-A7D8-A526C44013FF}"/>
                  </a:ext>
                </a:extLst>
              </p:cNvPr>
              <p:cNvSpPr/>
              <p:nvPr/>
            </p:nvSpPr>
            <p:spPr>
              <a:xfrm>
                <a:off x="703034" y="3727946"/>
                <a:ext cx="470994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𝐺𝑆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迭代法迭代矩阵</m:t>
                      </m:r>
                      <m:r>
                        <a:rPr lang="zh-CN" altLang="en-US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的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具体形式</m:t>
                      </m:r>
                      <m:r>
                        <a:rPr lang="zh-CN" altLang="en-US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留作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思考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.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C5637DA4-A2B4-4EA0-A7D8-A526C44013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034" y="3727946"/>
                <a:ext cx="4709943" cy="400110"/>
              </a:xfrm>
              <a:prstGeom prst="rect">
                <a:avLst/>
              </a:prstGeom>
              <a:blipFill>
                <a:blip r:embed="rId9"/>
                <a:stretch>
                  <a:fillRect b="-16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4787738"/>
      </p:ext>
    </p:extLst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099" grpId="0"/>
      <p:bldP spid="4" grpId="0"/>
      <p:bldP spid="3" grpId="0"/>
      <p:bldP spid="13" grpId="0" animBg="1"/>
      <p:bldP spid="13" grpId="1" animBg="1"/>
      <p:bldP spid="14" grpId="0"/>
      <p:bldP spid="15" grpId="0"/>
      <p:bldP spid="16" grpId="0"/>
      <p:bldP spid="18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E7F064F-8544-4E76-8BE6-D4D3ABC8F908}"/>
              </a:ext>
            </a:extLst>
          </p:cNvPr>
          <p:cNvCxnSpPr>
            <a:cxnSpLocks/>
          </p:cNvCxnSpPr>
          <p:nvPr/>
        </p:nvCxnSpPr>
        <p:spPr>
          <a:xfrm flipV="1">
            <a:off x="0" y="368300"/>
            <a:ext cx="2292350" cy="3176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5CEFB25-3703-4C02-9EC2-99523841BF1B}"/>
              </a:ext>
            </a:extLst>
          </p:cNvPr>
          <p:cNvCxnSpPr>
            <a:cxnSpLocks/>
          </p:cNvCxnSpPr>
          <p:nvPr/>
        </p:nvCxnSpPr>
        <p:spPr>
          <a:xfrm>
            <a:off x="6739788" y="368300"/>
            <a:ext cx="2404212" cy="31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DBAA461A-721D-4411-8E0C-37C00FB41582}"/>
              </a:ext>
            </a:extLst>
          </p:cNvPr>
          <p:cNvSpPr txBox="1"/>
          <p:nvPr/>
        </p:nvSpPr>
        <p:spPr>
          <a:xfrm>
            <a:off x="1857375" y="136525"/>
            <a:ext cx="5305425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Jacobi</a:t>
            </a:r>
            <a:r>
              <a:rPr lang="zh-CN" altLang="en-US" sz="20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迭代法和</a:t>
            </a:r>
            <a:r>
              <a:rPr lang="en-US" altLang="zh-CN" sz="20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Gauss-Seidel</a:t>
            </a:r>
            <a:r>
              <a:rPr lang="zh-CN" altLang="en-US" sz="20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迭代法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9684D6F-94DC-4633-9D07-5E9E27C06917}"/>
              </a:ext>
            </a:extLst>
          </p:cNvPr>
          <p:cNvSpPr/>
          <p:nvPr/>
        </p:nvSpPr>
        <p:spPr>
          <a:xfrm>
            <a:off x="1087290" y="769524"/>
            <a:ext cx="3262851" cy="400050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FE2C1F85-8C13-4B71-9461-4B4DD0BED1E3}"/>
                  </a:ext>
                </a:extLst>
              </p:cNvPr>
              <p:cNvSpPr/>
              <p:nvPr/>
            </p:nvSpPr>
            <p:spPr>
              <a:xfrm>
                <a:off x="2715451" y="675560"/>
                <a:ext cx="2984503" cy="1074910"/>
              </a:xfrm>
              <a:prstGeom prst="rect">
                <a:avLst/>
              </a:prstGeom>
              <a:gradFill>
                <a:gsLst>
                  <a:gs pos="0">
                    <a:srgbClr val="FFC000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sSub>
                                  <m:sSub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20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000" b="0" i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b>
                                  <m:sSub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20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200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20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−10</m:t>
                                </m:r>
                                <m:sSub>
                                  <m:sSub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20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000" b="0" i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200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20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b>
                                  <m:sSub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20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sSub>
                                  <m:sSub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200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FE2C1F85-8C13-4B71-9461-4B4DD0BED1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5451" y="675560"/>
                <a:ext cx="2984503" cy="10749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7C82A5C-290D-486E-80AE-E1EEE23BB528}"/>
                  </a:ext>
                </a:extLst>
              </p:cNvPr>
              <p:cNvSpPr txBox="1"/>
              <p:nvPr/>
            </p:nvSpPr>
            <p:spPr>
              <a:xfrm>
                <a:off x="6062908" y="971107"/>
                <a:ext cx="2482298" cy="400110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精确解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1,1,1</m:t>
                            </m:r>
                          </m:e>
                        </m:d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7C82A5C-290D-486E-80AE-E1EEE23BB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2908" y="971107"/>
                <a:ext cx="2482298" cy="400110"/>
              </a:xfrm>
              <a:prstGeom prst="rect">
                <a:avLst/>
              </a:prstGeom>
              <a:blipFill>
                <a:blip r:embed="rId3"/>
                <a:stretch>
                  <a:fillRect l="-2703" t="-10606" b="-2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09CBE7B-7A93-4F48-A530-FD27A606B79C}"/>
              </a:ext>
            </a:extLst>
          </p:cNvPr>
          <p:cNvSpPr/>
          <p:nvPr/>
        </p:nvSpPr>
        <p:spPr>
          <a:xfrm>
            <a:off x="376687" y="684761"/>
            <a:ext cx="1988827" cy="1062889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AFC0FD2-C55D-4782-A09F-042727ADA868}"/>
                  </a:ext>
                </a:extLst>
              </p:cNvPr>
              <p:cNvSpPr txBox="1"/>
              <p:nvPr/>
            </p:nvSpPr>
            <p:spPr>
              <a:xfrm>
                <a:off x="420508" y="790120"/>
                <a:ext cx="230796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例 用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J</m:t>
                    </m:r>
                    <m:r>
                      <a:rPr lang="en-US" altLang="zh-CN" sz="1800" b="0" i="0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,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𝐺𝑆</m:t>
                    </m:r>
                    <m:r>
                      <a:rPr lang="zh-CN" altLang="en-US" sz="1800" i="1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迭代法</m:t>
                    </m:r>
                  </m:oMath>
                </a14:m>
                <a:endParaRPr lang="en-US" altLang="zh-CN" sz="18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r>
                  <a:rPr lang="zh-CN" altLang="en-US" sz="1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  求解方程组</a:t>
                </a:r>
                <a:r>
                  <a:rPr lang="en-US" altLang="zh-CN" sz="1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:</a:t>
                </a:r>
                <a:endParaRPr lang="zh-CN" altLang="en-US" sz="18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AFC0FD2-C55D-4782-A09F-042727ADA8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508" y="790120"/>
                <a:ext cx="2307960" cy="646331"/>
              </a:xfrm>
              <a:prstGeom prst="rect">
                <a:avLst/>
              </a:prstGeom>
              <a:blipFill>
                <a:blip r:embed="rId4"/>
                <a:stretch>
                  <a:fillRect l="-2375" t="-4717" b="-150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箭头: 右 4">
            <a:extLst>
              <a:ext uri="{FF2B5EF4-FFF2-40B4-BE49-F238E27FC236}">
                <a16:creationId xmlns:a16="http://schemas.microsoft.com/office/drawing/2014/main" id="{3F1E8504-54C9-49A1-965C-3F44F1668ADE}"/>
              </a:ext>
            </a:extLst>
          </p:cNvPr>
          <p:cNvSpPr/>
          <p:nvPr/>
        </p:nvSpPr>
        <p:spPr>
          <a:xfrm>
            <a:off x="5712971" y="1066514"/>
            <a:ext cx="336920" cy="268130"/>
          </a:xfrm>
          <a:prstGeom prst="rightArrow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C2996F65-17F6-4B52-958C-C46B1FFDA2A2}"/>
                  </a:ext>
                </a:extLst>
              </p:cNvPr>
              <p:cNvSpPr/>
              <p:nvPr/>
            </p:nvSpPr>
            <p:spPr>
              <a:xfrm>
                <a:off x="2972847" y="1898357"/>
                <a:ext cx="4030783" cy="1805110"/>
              </a:xfrm>
              <a:prstGeom prst="rect">
                <a:avLst/>
              </a:prstGeom>
              <a:gradFill>
                <a:gsLst>
                  <a:gs pos="0">
                    <a:srgbClr val="FFC000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+1)</m:t>
                                  </m:r>
                                </m:sup>
                              </m:sSubSup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f>
                                <m:fPr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  <m:e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+1)</m:t>
                                  </m:r>
                                </m:sup>
                              </m:sSubSup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+1)</m:t>
                                  </m:r>
                                </m:sup>
                              </m:sSubSup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+1)</m:t>
                                  </m:r>
                                </m:sup>
                              </m:sSubSup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f>
                                <m:fPr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+1)</m:t>
                                  </m:r>
                                </m:sup>
                              </m:sSubSup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+1)</m:t>
                                  </m:r>
                                </m:sup>
                              </m:sSubSup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C2996F65-17F6-4B52-958C-C46B1FFDA2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2847" y="1898357"/>
                <a:ext cx="4030783" cy="1805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A36358E0-D0D3-40A7-A18D-B863022DEBE9}"/>
              </a:ext>
            </a:extLst>
          </p:cNvPr>
          <p:cNvSpPr txBox="1"/>
          <p:nvPr/>
        </p:nvSpPr>
        <p:spPr>
          <a:xfrm>
            <a:off x="408580" y="2216380"/>
            <a:ext cx="583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解：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CB90123-14E6-49DD-8FAC-B1AC1C9CEEB0}"/>
                  </a:ext>
                </a:extLst>
              </p:cNvPr>
              <p:cNvSpPr txBox="1"/>
              <p:nvPr/>
            </p:nvSpPr>
            <p:spPr>
              <a:xfrm>
                <a:off x="1731507" y="2241858"/>
                <a:ext cx="82781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迭代法</m:t>
                      </m:r>
                    </m:oMath>
                  </m:oMathPara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CB90123-14E6-49DD-8FAC-B1AC1C9CE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1507" y="2241858"/>
                <a:ext cx="827817" cy="400110"/>
              </a:xfrm>
              <a:prstGeom prst="rect">
                <a:avLst/>
              </a:prstGeom>
              <a:blipFill>
                <a:blip r:embed="rId6"/>
                <a:stretch>
                  <a:fillRect l="-2206" r="-17647"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1C15A187-72D0-4018-8338-F38468F00AA0}"/>
                  </a:ext>
                </a:extLst>
              </p:cNvPr>
              <p:cNvSpPr/>
              <p:nvPr/>
            </p:nvSpPr>
            <p:spPr>
              <a:xfrm>
                <a:off x="160516" y="4045805"/>
                <a:ext cx="8094372" cy="4129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pPr>
                        <m:e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均取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初始</m:t>
                          </m:r>
                          <m:r>
                            <a:rPr lang="zh-CN" altLang="en-US" sz="20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向量</m:t>
                          </m:r>
                          <m:r>
                            <a:rPr lang="zh-CN" altLang="en-US" sz="20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0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(0)</m:t>
                          </m:r>
                        </m:sup>
                      </m:sSup>
                      <m:r>
                        <a:rPr lang="zh-CN" altLang="en-US" sz="20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=(0,0,0</m:t>
                      </m:r>
                      <m:sSup>
                        <m:sSupPr>
                          <m:ctrlPr>
                            <a:rPr lang="zh-CN" altLang="en-US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pPr>
                        <m:e>
                          <m:r>
                            <a:rPr lang="zh-CN" altLang="en-US" sz="20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)</m:t>
                          </m:r>
                        </m:e>
                        <m:sup>
                          <m:r>
                            <a:rPr lang="zh-CN" altLang="en-US" sz="20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𝑇</m:t>
                          </m:r>
                        </m:sup>
                      </m:sSup>
                      <m:r>
                        <a:rPr lang="zh-CN" altLang="en-US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，用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𝐽</m:t>
                      </m:r>
                      <m:r>
                        <a:rPr lang="zh-CN" altLang="en-US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和</m:t>
                      </m:r>
                      <m:r>
                        <m:rPr>
                          <m:sty m:val="p"/>
                        </m:rP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GS</m:t>
                      </m:r>
                      <m:r>
                        <a:rPr lang="zh-CN" altLang="en-US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迭代法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进行计算</m:t>
                      </m:r>
                      <m:r>
                        <a:rPr lang="zh-CN" altLang="en-US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，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结果</m:t>
                      </m:r>
                      <m:r>
                        <a:rPr lang="zh-CN" altLang="en-US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列表</m:t>
                      </m:r>
                      <m:r>
                        <a:rPr lang="zh-CN" altLang="en-US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：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1C15A187-72D0-4018-8338-F38468F00A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516" y="4045805"/>
                <a:ext cx="8094372" cy="412934"/>
              </a:xfrm>
              <a:prstGeom prst="rect">
                <a:avLst/>
              </a:prstGeom>
              <a:blipFill>
                <a:blip r:embed="rId7"/>
                <a:stretch>
                  <a:fillRect b="-179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34CCDA0E-DB0B-4AED-B574-B08E1C91E669}"/>
                  </a:ext>
                </a:extLst>
              </p:cNvPr>
              <p:cNvSpPr txBox="1"/>
              <p:nvPr/>
            </p:nvSpPr>
            <p:spPr>
              <a:xfrm>
                <a:off x="1522766" y="2226217"/>
                <a:ext cx="35723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𝐽</m:t>
                      </m:r>
                    </m:oMath>
                  </m:oMathPara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34CCDA0E-DB0B-4AED-B574-B08E1C91E6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2766" y="2226217"/>
                <a:ext cx="357235" cy="400110"/>
              </a:xfrm>
              <a:prstGeom prst="rect">
                <a:avLst/>
              </a:prstGeom>
              <a:blipFill>
                <a:blip r:embed="rId9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61C65F76-539B-4F32-961E-4963C87FB40C}"/>
                  </a:ext>
                </a:extLst>
              </p:cNvPr>
              <p:cNvSpPr/>
              <p:nvPr/>
            </p:nvSpPr>
            <p:spPr>
              <a:xfrm>
                <a:off x="2967205" y="1898357"/>
                <a:ext cx="3793087" cy="1805110"/>
              </a:xfrm>
              <a:prstGeom prst="rect">
                <a:avLst/>
              </a:prstGeom>
              <a:gradFill>
                <a:gsLst>
                  <a:gs pos="0">
                    <a:srgbClr val="FFC000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+1)</m:t>
                                  </m:r>
                                </m:sup>
                              </m:sSubSup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f>
                                <m:fPr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  <m:e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+1)</m:t>
                                  </m:r>
                                </m:sup>
                              </m:sSubSup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+1)</m:t>
                                  </m:r>
                                </m:sup>
                              </m:sSubSup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f>
                                <m:fPr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61C65F76-539B-4F32-961E-4963C87FB4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7205" y="1898357"/>
                <a:ext cx="3793087" cy="1805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71739974-73A4-4555-A088-A6874C3E2CF2}"/>
                  </a:ext>
                </a:extLst>
              </p:cNvPr>
              <p:cNvSpPr/>
              <p:nvPr/>
            </p:nvSpPr>
            <p:spPr>
              <a:xfrm>
                <a:off x="1418725" y="2226217"/>
                <a:ext cx="362286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𝐺𝑆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71739974-73A4-4555-A088-A6874C3E2C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725" y="2226217"/>
                <a:ext cx="362286" cy="400110"/>
              </a:xfrm>
              <a:prstGeom prst="rect">
                <a:avLst/>
              </a:prstGeom>
              <a:blipFill>
                <a:blip r:embed="rId12"/>
                <a:stretch>
                  <a:fillRect r="-305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>
            <a:extLst>
              <a:ext uri="{FF2B5EF4-FFF2-40B4-BE49-F238E27FC236}">
                <a16:creationId xmlns:a16="http://schemas.microsoft.com/office/drawing/2014/main" id="{9AE47A54-D830-4728-9F5E-D68ED3765CD0}"/>
              </a:ext>
            </a:extLst>
          </p:cNvPr>
          <p:cNvSpPr/>
          <p:nvPr/>
        </p:nvSpPr>
        <p:spPr>
          <a:xfrm>
            <a:off x="869592" y="2227466"/>
            <a:ext cx="6976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建立</a:t>
            </a:r>
            <a:endParaRPr lang="zh-CN" altLang="en-US" sz="2000" dirty="0"/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180469FE-FE06-425B-AF9A-4DAE0092E047}"/>
              </a:ext>
            </a:extLst>
          </p:cNvPr>
          <p:cNvCxnSpPr>
            <a:cxnSpLocks/>
          </p:cNvCxnSpPr>
          <p:nvPr/>
        </p:nvCxnSpPr>
        <p:spPr>
          <a:xfrm>
            <a:off x="4387122" y="3022968"/>
            <a:ext cx="36975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D0308EC4-0A38-4F3B-8BC3-36F99DDF5133}"/>
              </a:ext>
            </a:extLst>
          </p:cNvPr>
          <p:cNvCxnSpPr>
            <a:cxnSpLocks/>
          </p:cNvCxnSpPr>
          <p:nvPr/>
        </p:nvCxnSpPr>
        <p:spPr>
          <a:xfrm>
            <a:off x="4756877" y="3556368"/>
            <a:ext cx="36975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02BB9CAD-EB64-4BD2-B32F-CC8F43E8673B}"/>
              </a:ext>
            </a:extLst>
          </p:cNvPr>
          <p:cNvCxnSpPr>
            <a:cxnSpLocks/>
          </p:cNvCxnSpPr>
          <p:nvPr/>
        </p:nvCxnSpPr>
        <p:spPr>
          <a:xfrm>
            <a:off x="5865013" y="3556368"/>
            <a:ext cx="50953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DA400C9C-3117-4355-B3DB-A020FAC31F45}"/>
                  </a:ext>
                </a:extLst>
              </p:cNvPr>
              <p:cNvSpPr txBox="1"/>
              <p:nvPr/>
            </p:nvSpPr>
            <p:spPr>
              <a:xfrm>
                <a:off x="458069" y="1234052"/>
                <a:ext cx="1883770" cy="5254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8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𝑒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  <a:ea typeface="华文楷体" panose="02010600040101010101" pitchFamily="2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  <a:ea typeface="华文楷体" panose="02010600040101010101" pitchFamily="2" charset="-122"/>
                                        </a:rPr>
                                        <m:t>𝑘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/>
                      </m:sSubSup>
                      <m:r>
                        <a:rPr lang="zh-CN" altLang="en-US" sz="1800" i="1" smtClean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altLang="zh-CN" sz="1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</m:oMath>
                  </m:oMathPara>
                </a14:m>
                <a:endParaRPr lang="zh-CN" altLang="en-US" sz="18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DA400C9C-3117-4355-B3DB-A020FAC31F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069" y="1234052"/>
                <a:ext cx="1883770" cy="5254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7111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9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2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5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6" grpId="0"/>
      <p:bldP spid="4" grpId="0" animBg="1"/>
      <p:bldP spid="7" grpId="0" animBg="1"/>
      <p:bldP spid="10" grpId="0" animBg="1"/>
      <p:bldP spid="11" grpId="0"/>
      <p:bldP spid="5" grpId="0" animBg="1"/>
      <p:bldP spid="8" grpId="0" animBg="1"/>
      <p:bldP spid="12" grpId="0"/>
      <p:bldP spid="16" grpId="0"/>
      <p:bldP spid="13" grpId="0"/>
      <p:bldP spid="19" grpId="0"/>
      <p:bldP spid="19" grpId="1"/>
      <p:bldP spid="20" grpId="0" animBg="1"/>
      <p:bldP spid="20" grpId="1" animBg="1"/>
      <p:bldP spid="17" grpId="0"/>
      <p:bldP spid="23" grpId="0"/>
      <p:bldP spid="3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E7F064F-8544-4E76-8BE6-D4D3ABC8F908}"/>
              </a:ext>
            </a:extLst>
          </p:cNvPr>
          <p:cNvCxnSpPr>
            <a:cxnSpLocks/>
          </p:cNvCxnSpPr>
          <p:nvPr/>
        </p:nvCxnSpPr>
        <p:spPr>
          <a:xfrm flipV="1">
            <a:off x="0" y="368300"/>
            <a:ext cx="2311400" cy="3176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5CEFB25-3703-4C02-9EC2-99523841BF1B}"/>
              </a:ext>
            </a:extLst>
          </p:cNvPr>
          <p:cNvCxnSpPr>
            <a:cxnSpLocks/>
          </p:cNvCxnSpPr>
          <p:nvPr/>
        </p:nvCxnSpPr>
        <p:spPr>
          <a:xfrm>
            <a:off x="6648450" y="368300"/>
            <a:ext cx="2495550" cy="31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DBAA461A-721D-4411-8E0C-37C00FB41582}"/>
              </a:ext>
            </a:extLst>
          </p:cNvPr>
          <p:cNvSpPr txBox="1"/>
          <p:nvPr/>
        </p:nvSpPr>
        <p:spPr>
          <a:xfrm>
            <a:off x="1857375" y="136525"/>
            <a:ext cx="5305425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Jacobi</a:t>
            </a:r>
            <a:r>
              <a:rPr lang="zh-CN" altLang="en-US" sz="20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迭代法和</a:t>
            </a:r>
            <a:r>
              <a:rPr lang="en-US" altLang="zh-CN" sz="20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Gauss-Seidel</a:t>
            </a:r>
            <a:r>
              <a:rPr lang="zh-CN" altLang="en-US" sz="20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迭代法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31CF787-5F40-4821-935D-61F198F3BD17}"/>
                  </a:ext>
                </a:extLst>
              </p:cNvPr>
              <p:cNvSpPr txBox="1"/>
              <p:nvPr/>
            </p:nvSpPr>
            <p:spPr>
              <a:xfrm>
                <a:off x="360363" y="404646"/>
                <a:ext cx="113665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𝐽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迭代法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31CF787-5F40-4821-935D-61F198F3B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363" y="404646"/>
                <a:ext cx="1136650" cy="400110"/>
              </a:xfrm>
              <a:prstGeom prst="rect">
                <a:avLst/>
              </a:prstGeom>
              <a:blipFill>
                <a:blip r:embed="rId3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E4C2A4E-1080-4618-B839-476766EC5474}"/>
                  </a:ext>
                </a:extLst>
              </p:cNvPr>
              <p:cNvSpPr txBox="1"/>
              <p:nvPr/>
            </p:nvSpPr>
            <p:spPr>
              <a:xfrm>
                <a:off x="193296" y="2801055"/>
                <a:ext cx="113665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𝐺𝑆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迭代法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E4C2A4E-1080-4618-B839-476766EC5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96" y="2801055"/>
                <a:ext cx="1136650" cy="400110"/>
              </a:xfrm>
              <a:prstGeom prst="rect">
                <a:avLst/>
              </a:prstGeom>
              <a:blipFill>
                <a:blip r:embed="rId4"/>
                <a:stretch>
                  <a:fillRect r="-11290"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768116C2-FAA1-4CB7-8776-FA4147E1572B}"/>
                  </a:ext>
                </a:extLst>
              </p:cNvPr>
              <p:cNvSpPr/>
              <p:nvPr/>
            </p:nvSpPr>
            <p:spPr>
              <a:xfrm>
                <a:off x="5810420" y="2254738"/>
                <a:ext cx="2520821" cy="5254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8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𝑥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  <a:ea typeface="华文楷体" panose="02010600040101010101" pitchFamily="2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  <a:ea typeface="华文楷体" panose="02010600040101010101" pitchFamily="2" charset="-122"/>
                                        </a:rPr>
                                        <m:t>6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/>
                      </m:sSubSup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0.0058</m:t>
                      </m:r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768116C2-FAA1-4CB7-8776-FA4147E157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0420" y="2254738"/>
                <a:ext cx="2520821" cy="5254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91C2D942-38A3-42B8-B9A2-009AAAEC637B}"/>
                  </a:ext>
                </a:extLst>
              </p:cNvPr>
              <p:cNvSpPr/>
              <p:nvPr/>
            </p:nvSpPr>
            <p:spPr>
              <a:xfrm>
                <a:off x="5759284" y="4311762"/>
                <a:ext cx="2623095" cy="5254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8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𝑥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altLang="zh-CN" sz="1800" i="1" smtClean="0">
                                          <a:latin typeface="Cambria Math" panose="02040503050406030204" pitchFamily="18" charset="0"/>
                                          <a:ea typeface="华文楷体" panose="02010600040101010101" pitchFamily="2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  <a:ea typeface="华文楷体" panose="02010600040101010101" pitchFamily="2" charset="-122"/>
                                        </a:rPr>
                                        <m:t>3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/>
                      </m:sSubSup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0.0049</m:t>
                      </m:r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91C2D942-38A3-42B8-B9A2-009AAAEC63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9284" y="4311762"/>
                <a:ext cx="2623095" cy="5254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5A02B08-D29D-481D-8FBB-DFDF383056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1621" y="3239205"/>
          <a:ext cx="4914900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Worksheet" r:id="rId7" imgW="4076576" imgH="1295460" progId="Excel.Sheet.12">
                  <p:embed/>
                </p:oleObj>
              </mc:Choice>
              <mc:Fallback>
                <p:oleObj name="Worksheet" r:id="rId7" imgW="4076576" imgH="1295460" progId="Excel.Sheet.12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15A02B08-D29D-481D-8FBB-DFDF383056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61621" y="3239205"/>
                        <a:ext cx="4914900" cy="156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6A36631-0CB7-411B-9E17-9ABD400AE1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1621" y="804756"/>
          <a:ext cx="4914900" cy="200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Worksheet" r:id="rId9" imgW="4029033" imgH="2000160" progId="Excel.Sheet.12">
                  <p:embed/>
                </p:oleObj>
              </mc:Choice>
              <mc:Fallback>
                <p:oleObj name="Worksheet" r:id="rId9" imgW="4029033" imgH="2000160" progId="Excel.Sheet.12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46A36631-0CB7-411B-9E17-9ABD400AE1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61621" y="804756"/>
                        <a:ext cx="4914900" cy="2000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C326E2F-D28D-4E81-80F1-2EA3F326C70C}"/>
                  </a:ext>
                </a:extLst>
              </p:cNvPr>
              <p:cNvSpPr/>
              <p:nvPr/>
            </p:nvSpPr>
            <p:spPr>
              <a:xfrm>
                <a:off x="5676521" y="1919238"/>
                <a:ext cx="3409075" cy="3808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18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pPr>
                        <m:e>
                          <m:r>
                            <a:rPr lang="zh-CN" altLang="en-US" sz="18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18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(</m:t>
                          </m:r>
                          <m:r>
                            <a:rPr lang="en-US" altLang="zh-CN" sz="18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6</m:t>
                          </m:r>
                          <m:r>
                            <a:rPr lang="zh-CN" altLang="en-US" sz="18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)</m:t>
                          </m:r>
                        </m:sup>
                      </m:sSup>
                      <m:r>
                        <a:rPr lang="zh-CN" altLang="en-US" sz="18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1.0003,1.0058,1.0003</m:t>
                              </m:r>
                            </m:e>
                          </m:d>
                        </m:e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C326E2F-D28D-4E81-80F1-2EA3F326C7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521" y="1919238"/>
                <a:ext cx="3409075" cy="3808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D83D88AF-9573-4B95-A18D-48E60D99318F}"/>
                  </a:ext>
                </a:extLst>
              </p:cNvPr>
              <p:cNvSpPr/>
              <p:nvPr/>
            </p:nvSpPr>
            <p:spPr>
              <a:xfrm>
                <a:off x="5624139" y="3985651"/>
                <a:ext cx="3409844" cy="3808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18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pPr>
                        <m:e>
                          <m:r>
                            <a:rPr lang="zh-CN" altLang="en-US" sz="18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18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(</m:t>
                          </m:r>
                          <m:r>
                            <a:rPr lang="en-US" altLang="zh-CN" sz="18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3</m:t>
                          </m:r>
                          <m:r>
                            <a:rPr lang="zh-CN" altLang="en-US" sz="18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)</m:t>
                          </m:r>
                        </m:sup>
                      </m:sSup>
                      <m:r>
                        <a:rPr lang="zh-CN" altLang="en-US" sz="18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=(</m:t>
                      </m:r>
                      <m:r>
                        <a:rPr lang="en-US" altLang="zh-CN" sz="18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0.9951</m:t>
                      </m:r>
                      <m:r>
                        <a:rPr lang="zh-CN" altLang="en-US" sz="18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,</m:t>
                      </m:r>
                      <m:r>
                        <a:rPr lang="en-US" altLang="zh-CN" sz="18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0.9953</m:t>
                      </m:r>
                      <m:r>
                        <a:rPr lang="zh-CN" altLang="en-US" sz="18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,</m:t>
                      </m:r>
                      <m:r>
                        <a:rPr lang="en-US" altLang="zh-CN" sz="18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1.00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19</m:t>
                      </m:r>
                      <m:sSup>
                        <m:sSupPr>
                          <m:ctrlPr>
                            <a:rPr lang="zh-CN" altLang="en-US" sz="18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pPr>
                        <m:e>
                          <m:r>
                            <a:rPr lang="zh-CN" altLang="en-US" sz="18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)</m:t>
                          </m:r>
                        </m:e>
                        <m:sup>
                          <m:r>
                            <a:rPr lang="zh-CN" altLang="en-US" sz="18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D83D88AF-9573-4B95-A18D-48E60D9931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4139" y="3985651"/>
                <a:ext cx="3409844" cy="380810"/>
              </a:xfrm>
              <a:prstGeom prst="rect">
                <a:avLst/>
              </a:prstGeom>
              <a:blipFill>
                <a:blip r:embed="rId12"/>
                <a:stretch>
                  <a:fillRect b="-145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4982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5" grpId="0"/>
      <p:bldP spid="22" grpId="0"/>
      <p:bldP spid="23" grpId="0"/>
      <p:bldP spid="26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E7F064F-8544-4E76-8BE6-D4D3ABC8F908}"/>
              </a:ext>
            </a:extLst>
          </p:cNvPr>
          <p:cNvCxnSpPr>
            <a:cxnSpLocks/>
          </p:cNvCxnSpPr>
          <p:nvPr/>
        </p:nvCxnSpPr>
        <p:spPr>
          <a:xfrm flipV="1">
            <a:off x="0" y="368300"/>
            <a:ext cx="2311400" cy="3176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5CEFB25-3703-4C02-9EC2-99523841BF1B}"/>
              </a:ext>
            </a:extLst>
          </p:cNvPr>
          <p:cNvCxnSpPr>
            <a:cxnSpLocks/>
          </p:cNvCxnSpPr>
          <p:nvPr/>
        </p:nvCxnSpPr>
        <p:spPr>
          <a:xfrm>
            <a:off x="6648450" y="368300"/>
            <a:ext cx="2495550" cy="31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DBAA461A-721D-4411-8E0C-37C00FB41582}"/>
              </a:ext>
            </a:extLst>
          </p:cNvPr>
          <p:cNvSpPr txBox="1"/>
          <p:nvPr/>
        </p:nvSpPr>
        <p:spPr>
          <a:xfrm>
            <a:off x="1857375" y="136525"/>
            <a:ext cx="5305425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Jacobi</a:t>
            </a:r>
            <a:r>
              <a:rPr lang="zh-CN" altLang="en-US" sz="20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迭代法和</a:t>
            </a:r>
            <a:r>
              <a:rPr lang="en-US" altLang="zh-CN" sz="20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Gauss-Seidel</a:t>
            </a:r>
            <a:r>
              <a:rPr lang="zh-CN" altLang="en-US" sz="20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迭代法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19FD669-3E95-4625-8591-E0338E146914}"/>
              </a:ext>
            </a:extLst>
          </p:cNvPr>
          <p:cNvSpPr/>
          <p:nvPr/>
        </p:nvSpPr>
        <p:spPr>
          <a:xfrm>
            <a:off x="1559858" y="1469728"/>
            <a:ext cx="6400801" cy="603857"/>
          </a:xfrm>
          <a:prstGeom prst="round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FB943E2-327C-4D83-AD7B-626818FF9347}"/>
              </a:ext>
            </a:extLst>
          </p:cNvPr>
          <p:cNvSpPr txBox="1"/>
          <p:nvPr/>
        </p:nvSpPr>
        <p:spPr>
          <a:xfrm>
            <a:off x="1443037" y="1548390"/>
            <a:ext cx="42107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0"/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1.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迭代法一般形式的构造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F47C2DD-3CC3-4642-B339-3FA8E37C8BDC}"/>
              </a:ext>
            </a:extLst>
          </p:cNvPr>
          <p:cNvSpPr/>
          <p:nvPr/>
        </p:nvSpPr>
        <p:spPr>
          <a:xfrm>
            <a:off x="1559857" y="2331188"/>
            <a:ext cx="6400802" cy="603856"/>
          </a:xfrm>
          <a:prstGeom prst="round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46561F8-007F-4803-AC32-F84AB5F73515}"/>
              </a:ext>
            </a:extLst>
          </p:cNvPr>
          <p:cNvSpPr txBox="1"/>
          <p:nvPr/>
        </p:nvSpPr>
        <p:spPr>
          <a:xfrm>
            <a:off x="1692636" y="2439807"/>
            <a:ext cx="54906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2.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J-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迭代法和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GS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迭代法矩阵形式的进一步讨论</a:t>
            </a:r>
            <a:endParaRPr lang="zh-CN" altLang="en-US" sz="20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8D24CB8-38F9-4B82-964B-54FD2DE7D41C}"/>
              </a:ext>
            </a:extLst>
          </p:cNvPr>
          <p:cNvSpPr/>
          <p:nvPr/>
        </p:nvSpPr>
        <p:spPr>
          <a:xfrm>
            <a:off x="1559854" y="3192647"/>
            <a:ext cx="6400803" cy="692661"/>
          </a:xfrm>
          <a:prstGeom prst="round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BF807799-E59F-4727-AF50-D7E5E84B1FBF}"/>
                  </a:ext>
                </a:extLst>
              </p:cNvPr>
              <p:cNvSpPr txBox="1"/>
              <p:nvPr/>
            </p:nvSpPr>
            <p:spPr>
              <a:xfrm>
                <a:off x="1804243" y="3394002"/>
                <a:ext cx="646345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3.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000" dirty="0">
                        <a:latin typeface="华文楷体" panose="02010600040101010101" pitchFamily="2" charset="-122"/>
                        <a:ea typeface="华文楷体" panose="02010600040101010101" pitchFamily="2" charset="-122"/>
                      </a:rPr>
                      <m:t>J</m:t>
                    </m:r>
                    <m:r>
                      <m:rPr>
                        <m:nor/>
                      </m:rPr>
                      <a:rPr lang="en-US" altLang="zh-CN" sz="2000" dirty="0">
                        <a:latin typeface="华文楷体" panose="02010600040101010101" pitchFamily="2" charset="-122"/>
                        <a:ea typeface="华文楷体" panose="02010600040101010101" pitchFamily="2" charset="-122"/>
                      </a:rPr>
                      <m:t>−</m:t>
                    </m:r>
                    <m:r>
                      <m:rPr>
                        <m:nor/>
                      </m:rPr>
                      <a:rPr lang="zh-CN" altLang="en-US" sz="2000" dirty="0">
                        <a:latin typeface="华文楷体" panose="02010600040101010101" pitchFamily="2" charset="-122"/>
                        <a:ea typeface="华文楷体" panose="02010600040101010101" pitchFamily="2" charset="-122"/>
                      </a:rPr>
                      <m:t>迭代法和</m:t>
                    </m:r>
                    <m:r>
                      <m:rPr>
                        <m:nor/>
                      </m:rPr>
                      <a:rPr lang="en-US" altLang="zh-CN" sz="2000" dirty="0">
                        <a:latin typeface="华文楷体" panose="02010600040101010101" pitchFamily="2" charset="-122"/>
                        <a:ea typeface="华文楷体" panose="02010600040101010101" pitchFamily="2" charset="-122"/>
                      </a:rPr>
                      <m:t>GS</m:t>
                    </m:r>
                    <m:r>
                      <m:rPr>
                        <m:nor/>
                      </m:rPr>
                      <a:rPr lang="zh-CN" altLang="en-US" sz="2000" dirty="0">
                        <a:latin typeface="华文楷体" panose="02010600040101010101" pitchFamily="2" charset="-122"/>
                        <a:ea typeface="华文楷体" panose="02010600040101010101" pitchFamily="2" charset="-122"/>
                      </a:rPr>
                      <m:t>迭代法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收敛速度比较</m:t>
                    </m:r>
                    <m:r>
                      <a:rPr lang="zh-CN" altLang="en-US" sz="2000" b="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的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具体</m:t>
                    </m:r>
                    <m:r>
                      <a:rPr lang="zh-CN" altLang="en-US" sz="200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算例</m:t>
                    </m:r>
                  </m:oMath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BF807799-E59F-4727-AF50-D7E5E84B1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4243" y="3394002"/>
                <a:ext cx="6463457" cy="400110"/>
              </a:xfrm>
              <a:prstGeom prst="rect">
                <a:avLst/>
              </a:prstGeom>
              <a:blipFill>
                <a:blip r:embed="rId2"/>
                <a:stretch>
                  <a:fillRect l="-1038" t="-7692" b="-2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6">
            <a:extLst>
              <a:ext uri="{FF2B5EF4-FFF2-40B4-BE49-F238E27FC236}">
                <a16:creationId xmlns:a16="http://schemas.microsoft.com/office/drawing/2014/main" id="{9D37D940-B031-43D7-B1E4-82671703B6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519" y="899649"/>
            <a:ext cx="49403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小结</a:t>
            </a:r>
            <a:r>
              <a:rPr lang="zh-CN" altLang="en-US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endParaRPr lang="en-US" altLang="zh-CN" dirty="0">
              <a:solidFill>
                <a:srgbClr val="004A8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607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  <p:bldP spid="16" grpId="0"/>
      <p:bldP spid="17" grpId="0" animBg="1"/>
      <p:bldP spid="18" grpId="0"/>
      <p:bldP spid="21" grpId="0" animBg="1"/>
      <p:bldP spid="25" grpId="0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E7F064F-8544-4E76-8BE6-D4D3ABC8F908}"/>
              </a:ext>
            </a:extLst>
          </p:cNvPr>
          <p:cNvCxnSpPr/>
          <p:nvPr/>
        </p:nvCxnSpPr>
        <p:spPr>
          <a:xfrm flipV="1">
            <a:off x="0" y="355600"/>
            <a:ext cx="2886075" cy="158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5CEFB25-3703-4C02-9EC2-99523841BF1B}"/>
              </a:ext>
            </a:extLst>
          </p:cNvPr>
          <p:cNvCxnSpPr/>
          <p:nvPr/>
        </p:nvCxnSpPr>
        <p:spPr>
          <a:xfrm>
            <a:off x="6115050" y="368300"/>
            <a:ext cx="3028950" cy="31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DBAA461A-721D-4411-8E0C-37C00FB41582}"/>
              </a:ext>
            </a:extLst>
          </p:cNvPr>
          <p:cNvSpPr txBox="1"/>
          <p:nvPr/>
        </p:nvSpPr>
        <p:spPr>
          <a:xfrm>
            <a:off x="1857375" y="136525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3.3 </a:t>
            </a: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迭代法的收敛条件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9D37D940-B031-43D7-B1E4-82671703B6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542" y="687615"/>
            <a:ext cx="276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什么是迭代法收敛？</a:t>
            </a:r>
            <a:endParaRPr lang="en-US" altLang="zh-CN" dirty="0">
              <a:solidFill>
                <a:srgbClr val="004A8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5860E4D-D926-41CC-B2A4-2EDBC289EE18}"/>
                  </a:ext>
                </a:extLst>
              </p:cNvPr>
              <p:cNvSpPr txBox="1"/>
              <p:nvPr/>
            </p:nvSpPr>
            <p:spPr>
              <a:xfrm>
                <a:off x="687799" y="1184905"/>
                <a:ext cx="1036491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𝐴𝑥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𝑏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5860E4D-D926-41CC-B2A4-2EDBC289E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799" y="1184905"/>
                <a:ext cx="1036491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ED2A6B3-8E7C-4B89-B2D6-9D0CE713C79E}"/>
                  </a:ext>
                </a:extLst>
              </p:cNvPr>
              <p:cNvSpPr/>
              <p:nvPr/>
            </p:nvSpPr>
            <p:spPr>
              <a:xfrm>
                <a:off x="1497069" y="1187074"/>
                <a:ext cx="872999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⟺</m:t>
                      </m:r>
                    </m:oMath>
                  </m:oMathPara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ED2A6B3-8E7C-4B89-B2D6-9D0CE713C7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069" y="1187074"/>
                <a:ext cx="872999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1083C1B-53A0-4E34-8C03-16E27250740D}"/>
                  </a:ext>
                </a:extLst>
              </p:cNvPr>
              <p:cNvSpPr txBox="1"/>
              <p:nvPr/>
            </p:nvSpPr>
            <p:spPr>
              <a:xfrm>
                <a:off x="2245650" y="1184905"/>
                <a:ext cx="1552911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𝑥</m:t>
                      </m:r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𝑀𝑥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𝑔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1083C1B-53A0-4E34-8C03-16E272507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5650" y="1184905"/>
                <a:ext cx="1552911" cy="400110"/>
              </a:xfrm>
              <a:prstGeom prst="rect">
                <a:avLst/>
              </a:prstGeom>
              <a:blipFill>
                <a:blip r:embed="rId4"/>
                <a:stretch>
                  <a:fillRect b="-1060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F60C194-CF13-4225-B30F-35488F650E99}"/>
                  </a:ext>
                </a:extLst>
              </p:cNvPr>
              <p:cNvSpPr txBox="1"/>
              <p:nvPr/>
            </p:nvSpPr>
            <p:spPr>
              <a:xfrm>
                <a:off x="3798561" y="1238766"/>
                <a:ext cx="340598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⟶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F60C194-CF13-4225-B30F-35488F650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8561" y="1238766"/>
                <a:ext cx="340598" cy="2923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BE8F0C2-5278-4F79-925C-1AB3B2A776ED}"/>
                  </a:ext>
                </a:extLst>
              </p:cNvPr>
              <p:cNvSpPr txBox="1"/>
              <p:nvPr/>
            </p:nvSpPr>
            <p:spPr>
              <a:xfrm>
                <a:off x="4150717" y="1167533"/>
                <a:ext cx="3868231" cy="4210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𝑀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𝑔</m:t>
                      </m:r>
                      <m:r>
                        <a:rPr lang="en-US" altLang="zh-CN" sz="2000" b="0" i="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,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𝑘</m:t>
                      </m:r>
                      <m:r>
                        <a:rPr lang="en-US" altLang="zh-CN" sz="2000" b="0" i="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=0,1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⋯,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𝑛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BE8F0C2-5278-4F79-925C-1AB3B2A77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0717" y="1167533"/>
                <a:ext cx="3868231" cy="421013"/>
              </a:xfrm>
              <a:prstGeom prst="rect">
                <a:avLst/>
              </a:prstGeom>
              <a:blipFill>
                <a:blip r:embed="rId6"/>
                <a:stretch>
                  <a:fillRect b="-869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6">
                <a:extLst>
                  <a:ext uri="{FF2B5EF4-FFF2-40B4-BE49-F238E27FC236}">
                    <a16:creationId xmlns:a16="http://schemas.microsoft.com/office/drawing/2014/main" id="{3E4C9BA4-53CF-4612-BF67-4506B68E9D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5671" y="1682963"/>
                <a:ext cx="2835076" cy="42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5pPr>
                <a:lvl6pPr marL="25146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6pPr>
                <a:lvl7pPr marL="29718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7pPr>
                <a:lvl8pPr marL="34290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8pPr>
                <a:lvl9pPr marL="38862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zh-CN" altLang="en-US" dirty="0">
                    <a:solidFill>
                      <a:srgbClr val="004A82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如果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 </m:t>
                        </m:r>
                        <m: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altLang="zh-CN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a:rPr lang="en-US" altLang="zh-CN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→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∗</m:t>
                        </m:r>
                      </m:sup>
                    </m:sSup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,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𝑘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→∞，</m:t>
                    </m:r>
                  </m:oMath>
                </a14:m>
                <a:endParaRPr lang="en-US" altLang="zh-CN" b="0" dirty="0">
                  <a:solidFill>
                    <a:srgbClr val="004A82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1" name="TextBox 6">
                <a:extLst>
                  <a:ext uri="{FF2B5EF4-FFF2-40B4-BE49-F238E27FC236}">
                    <a16:creationId xmlns:a16="http://schemas.microsoft.com/office/drawing/2014/main" id="{3E4C9BA4-53CF-4612-BF67-4506B68E9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5671" y="1682963"/>
                <a:ext cx="2835076" cy="421013"/>
              </a:xfrm>
              <a:prstGeom prst="rect">
                <a:avLst/>
              </a:prstGeom>
              <a:blipFill>
                <a:blip r:embed="rId7"/>
                <a:stretch>
                  <a:fillRect l="-2151" t="-1449" b="-2608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6">
                <a:extLst>
                  <a:ext uri="{FF2B5EF4-FFF2-40B4-BE49-F238E27FC236}">
                    <a16:creationId xmlns:a16="http://schemas.microsoft.com/office/drawing/2014/main" id="{F34C452E-0766-4B79-A4F4-4D92ACAF2F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68650" y="1711402"/>
                <a:ext cx="2476776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5pPr>
                <a:lvl6pPr marL="25146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6pPr>
                <a:lvl7pPr marL="29718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7pPr>
                <a:lvl8pPr marL="34290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8pPr>
                <a:lvl9pPr marL="38862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zh-CN" altLang="en-US" b="0" dirty="0">
                    <a:solidFill>
                      <a:srgbClr val="004A82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此时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𝑥</m:t>
                        </m:r>
                      </m:e>
                      <m:sup>
                        <m: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∗</m:t>
                        </m:r>
                      </m:sup>
                    </m:sSup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=</m:t>
                    </m:r>
                    <m:r>
                      <a:rPr lang="en-US" altLang="zh-CN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𝑀</m:t>
                    </m:r>
                    <m:sSup>
                      <m:sSupPr>
                        <m:ctrlP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𝑥</m:t>
                        </m:r>
                      </m:e>
                      <m:sup>
                        <m: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∗</m:t>
                        </m:r>
                      </m:sup>
                    </m:sSup>
                    <m:r>
                      <a:rPr lang="en-US" altLang="zh-CN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+</m:t>
                    </m:r>
                    <m:r>
                      <a:rPr lang="en-US" altLang="zh-CN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𝑔</m:t>
                    </m:r>
                    <m:r>
                      <a:rPr lang="zh-CN" alt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，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TextBox 6">
                <a:extLst>
                  <a:ext uri="{FF2B5EF4-FFF2-40B4-BE49-F238E27FC236}">
                    <a16:creationId xmlns:a16="http://schemas.microsoft.com/office/drawing/2014/main" id="{F34C452E-0766-4B79-A4F4-4D92ACAF2F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68650" y="1711402"/>
                <a:ext cx="2476776" cy="400110"/>
              </a:xfrm>
              <a:prstGeom prst="rect">
                <a:avLst/>
              </a:prstGeom>
              <a:blipFill>
                <a:blip r:embed="rId8"/>
                <a:stretch>
                  <a:fillRect l="-2709" t="-7692" b="-2923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6">
            <a:extLst>
              <a:ext uri="{FF2B5EF4-FFF2-40B4-BE49-F238E27FC236}">
                <a16:creationId xmlns:a16="http://schemas.microsoft.com/office/drawing/2014/main" id="{68539056-2111-45B5-9284-E81C15C709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671" y="2146222"/>
            <a:ext cx="36134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迭代法收敛的条件是什么？</a:t>
            </a:r>
            <a:endParaRPr lang="en-US" altLang="zh-CN" dirty="0">
              <a:solidFill>
                <a:srgbClr val="004A8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88A9AEC-7FDA-4736-BAF1-1D36A4186F32}"/>
                  </a:ext>
                </a:extLst>
              </p:cNvPr>
              <p:cNvSpPr txBox="1"/>
              <p:nvPr/>
            </p:nvSpPr>
            <p:spPr>
              <a:xfrm>
                <a:off x="687798" y="2546332"/>
                <a:ext cx="3613489" cy="4210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ea typeface="华文楷体" panose="02010600040101010101" pitchFamily="2" charset="-122"/>
                    <a:sym typeface="Symbol" panose="05050102010706020507" pitchFamily="18" charset="2"/>
                  </a:rPr>
                  <a:t>引入</a:t>
                </a:r>
                <a14:m>
                  <m:oMath xmlns:m="http://schemas.openxmlformats.org/officeDocument/2006/math">
                    <m:r>
                      <a:rPr lang="zh-CN" alt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误差向量</m:t>
                    </m:r>
                    <m:sSup>
                      <m:sSupPr>
                        <m:ctrlP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𝑒</m:t>
                        </m:r>
                      </m:e>
                      <m:sup>
                        <m:d>
                          <m:d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=</m:t>
                    </m:r>
                    <m:sSup>
                      <m:sSup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−</m:t>
                    </m:r>
                    <m:sSup>
                      <m:sSup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𝑥</m:t>
                        </m:r>
                      </m:e>
                      <m:sup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2000" dirty="0"/>
                  <a:t>,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88A9AEC-7FDA-4736-BAF1-1D36A4186F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798" y="2546332"/>
                <a:ext cx="3613489" cy="421013"/>
              </a:xfrm>
              <a:prstGeom prst="rect">
                <a:avLst/>
              </a:prstGeom>
              <a:blipFill>
                <a:blip r:embed="rId9"/>
                <a:stretch>
                  <a:fillRect l="-1855" t="-5797" b="-2608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335CE00D-7A4C-4EE9-B522-2B7696CC2C72}"/>
              </a:ext>
            </a:extLst>
          </p:cNvPr>
          <p:cNvSpPr txBox="1"/>
          <p:nvPr/>
        </p:nvSpPr>
        <p:spPr>
          <a:xfrm>
            <a:off x="4441173" y="2577693"/>
            <a:ext cx="1497573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迭代法收敛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446C5727-28E4-45F9-9796-41888C377CCD}"/>
                  </a:ext>
                </a:extLst>
              </p:cNvPr>
              <p:cNvSpPr/>
              <p:nvPr/>
            </p:nvSpPr>
            <p:spPr>
              <a:xfrm>
                <a:off x="6272038" y="2581981"/>
                <a:ext cx="2417457" cy="4210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𝑒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→</m:t>
                      </m:r>
                      <m:r>
                        <a:rPr lang="en-US" altLang="zh-CN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𝟎</m:t>
                      </m:r>
                      <m:r>
                        <a:rPr lang="zh-CN" alt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（</m:t>
                      </m:r>
                      <m:r>
                        <a:rPr lang="zh-CN" alt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零</m:t>
                      </m:r>
                      <m:r>
                        <a:rPr lang="zh-CN" alt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向量</m:t>
                      </m:r>
                      <m:r>
                        <a:rPr lang="zh-CN" alt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）</m:t>
                      </m:r>
                    </m:oMath>
                  </m:oMathPara>
                </a14:m>
                <a:endParaRPr lang="zh-CN" altLang="en-US" sz="2000" b="1" dirty="0">
                  <a:latin typeface="华文行楷" panose="02010800040101010101" pitchFamily="2" charset="-122"/>
                  <a:ea typeface="华文行楷" panose="02010800040101010101" pitchFamily="2" charset="-122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446C5727-28E4-45F9-9796-41888C377C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2038" y="2581981"/>
                <a:ext cx="2417457" cy="421013"/>
              </a:xfrm>
              <a:prstGeom prst="rect">
                <a:avLst/>
              </a:prstGeom>
              <a:blipFill>
                <a:blip r:embed="rId10"/>
                <a:stretch>
                  <a:fillRect r="-253" b="-5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 16">
            <a:extLst>
              <a:ext uri="{FF2B5EF4-FFF2-40B4-BE49-F238E27FC236}">
                <a16:creationId xmlns:a16="http://schemas.microsoft.com/office/drawing/2014/main" id="{155A5F08-DEE0-43F0-BD88-6E43A7A64465}"/>
              </a:ext>
            </a:extLst>
          </p:cNvPr>
          <p:cNvSpPr/>
          <p:nvPr/>
        </p:nvSpPr>
        <p:spPr>
          <a:xfrm>
            <a:off x="4160693" y="2563318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ea typeface="华文楷体" panose="02010600040101010101" pitchFamily="2" charset="-122"/>
                <a:sym typeface="Symbol" panose="05050102010706020507" pitchFamily="18" charset="2"/>
              </a:rPr>
              <a:t>则</a:t>
            </a:r>
            <a:endParaRPr lang="zh-CN" altLang="en-US" sz="2000" dirty="0"/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52DD6AD8-BD02-450A-A92C-DAA73D34DA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015" y="1711402"/>
            <a:ext cx="24767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则称迭代法是</a:t>
            </a:r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收敛</a:t>
            </a:r>
            <a:r>
              <a:rPr lang="zh-CN" altLang="en-US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</a:t>
            </a:r>
            <a:r>
              <a:rPr lang="en-US" altLang="zh-CN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endParaRPr lang="en-US" altLang="zh-CN" b="0" dirty="0">
              <a:solidFill>
                <a:srgbClr val="004A8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70D03332-3DD4-405E-B6BA-3162E3A98B54}"/>
                  </a:ext>
                </a:extLst>
              </p:cNvPr>
              <p:cNvSpPr txBox="1"/>
              <p:nvPr/>
            </p:nvSpPr>
            <p:spPr>
              <a:xfrm>
                <a:off x="694365" y="3004726"/>
                <a:ext cx="5620012" cy="4264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由于</m:t>
                    </m:r>
                    <m:sSup>
                      <m:sSupPr>
                        <m:ctrlP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𝑒</m:t>
                        </m:r>
                      </m:e>
                      <m:sup>
                        <m:d>
                          <m:d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  <m:t>𝑘</m:t>
                            </m:r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  <m:t>+1</m:t>
                            </m:r>
                          </m:e>
                        </m:d>
                      </m:sup>
                    </m:sSup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=</m:t>
                    </m:r>
                    <m:sSup>
                      <m:sSup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𝑀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𝑒</m:t>
                        </m:r>
                      </m:e>
                      <m:sup>
                        <m:d>
                          <m:dPr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=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  <m:t>𝑀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𝑒</m:t>
                        </m:r>
                      </m:e>
                      <m:sup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  <m:t>𝑘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  <m:t>−1</m:t>
                            </m:r>
                          </m:e>
                        </m:d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⋯=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  <m:t>𝑀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  <m:t>𝑘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  <m:t>+1</m:t>
                            </m:r>
                          </m:sup>
                        </m:s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𝑒</m:t>
                        </m:r>
                      </m:e>
                      <m:sup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  <m:t>0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altLang="zh-CN" sz="2000" dirty="0"/>
                  <a:t>,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70D03332-3DD4-405E-B6BA-3162E3A98B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65" y="3004726"/>
                <a:ext cx="5620012" cy="426463"/>
              </a:xfrm>
              <a:prstGeom prst="rect">
                <a:avLst/>
              </a:prstGeom>
              <a:blipFill>
                <a:blip r:embed="rId11"/>
                <a:stretch>
                  <a:fillRect l="-434" t="-2857" r="-1085" b="-242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3EE7BC24-ECFF-4375-B737-BFC96DDB13B6}"/>
                  </a:ext>
                </a:extLst>
              </p:cNvPr>
              <p:cNvSpPr/>
              <p:nvPr/>
            </p:nvSpPr>
            <p:spPr>
              <a:xfrm>
                <a:off x="6220192" y="2978682"/>
                <a:ext cx="2042097" cy="4210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得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𝑒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𝑒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0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3EE7BC24-ECFF-4375-B737-BFC96DDB13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0192" y="2978682"/>
                <a:ext cx="2042097" cy="421013"/>
              </a:xfrm>
              <a:prstGeom prst="rect">
                <a:avLst/>
              </a:prstGeom>
              <a:blipFill>
                <a:blip r:embed="rId12"/>
                <a:stretch>
                  <a:fillRect b="-115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AA01409F-8094-4BD2-B654-9B7720B54D53}"/>
                  </a:ext>
                </a:extLst>
              </p:cNvPr>
              <p:cNvSpPr/>
              <p:nvPr/>
            </p:nvSpPr>
            <p:spPr>
              <a:xfrm>
                <a:off x="5823408" y="2569356"/>
                <a:ext cx="55816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⟺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AA01409F-8094-4BD2-B654-9B7720B54D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3408" y="2569356"/>
                <a:ext cx="558166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A2520AB8-B310-4D9D-8C7F-CD55F82C6C73}"/>
                  </a:ext>
                </a:extLst>
              </p:cNvPr>
              <p:cNvSpPr/>
              <p:nvPr/>
            </p:nvSpPr>
            <p:spPr>
              <a:xfrm>
                <a:off x="3785356" y="3495488"/>
                <a:ext cx="55816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⟺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A2520AB8-B310-4D9D-8C7F-CD55F82C6C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5356" y="3495488"/>
                <a:ext cx="558166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10F7D64A-987E-4FBC-9E75-EFC152EEBA20}"/>
                  </a:ext>
                </a:extLst>
              </p:cNvPr>
              <p:cNvSpPr txBox="1"/>
              <p:nvPr/>
            </p:nvSpPr>
            <p:spPr>
              <a:xfrm>
                <a:off x="2762912" y="3499028"/>
                <a:ext cx="1253645" cy="4264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𝑒</m:t>
                        </m:r>
                      </m:e>
                      <m:sup>
                        <m:d>
                          <m:dPr>
                            <m:ctrlP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→</m:t>
                    </m:r>
                  </m:oMath>
                </a14:m>
                <a:r>
                  <a:rPr lang="en-US" altLang="zh-CN" sz="2000" b="1" dirty="0">
                    <a:solidFill>
                      <a:srgbClr val="FF0000"/>
                    </a:solidFill>
                    <a:ea typeface="Cambria Math" panose="020405030504060302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𝟎</m:t>
                    </m:r>
                  </m:oMath>
                </a14:m>
                <a:endParaRPr lang="zh-CN" altLang="en-US" sz="2000" b="1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10F7D64A-987E-4FBC-9E75-EFC152EEBA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912" y="3499028"/>
                <a:ext cx="1253645" cy="42646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7A52BE44-A0F1-47CA-AD87-9409EB9E3DA4}"/>
                  </a:ext>
                </a:extLst>
              </p:cNvPr>
              <p:cNvSpPr/>
              <p:nvPr/>
            </p:nvSpPr>
            <p:spPr>
              <a:xfrm>
                <a:off x="583097" y="3495488"/>
                <a:ext cx="62294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故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7A52BE44-A0F1-47CA-AD87-9409EB9E3D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97" y="3495488"/>
                <a:ext cx="622948" cy="400110"/>
              </a:xfrm>
              <a:prstGeom prst="rect">
                <a:avLst/>
              </a:prstGeom>
              <a:blipFill>
                <a:blip r:embed="rId16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A0493D78-3B95-4F5B-A39B-D3E0981FAD76}"/>
                  </a:ext>
                </a:extLst>
              </p:cNvPr>
              <p:cNvSpPr/>
              <p:nvPr/>
            </p:nvSpPr>
            <p:spPr>
              <a:xfrm>
                <a:off x="4160693" y="3485036"/>
                <a:ext cx="1524905" cy="4210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𝑒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0</m:t>
                              </m:r>
                            </m:e>
                          </m:d>
                        </m:sup>
                      </m:sSup>
                      <m:r>
                        <a:rPr lang="en-US" altLang="zh-CN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→</m:t>
                      </m:r>
                      <m:r>
                        <a:rPr lang="en-US" altLang="zh-CN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𝟎</m:t>
                      </m:r>
                    </m:oMath>
                  </m:oMathPara>
                </a14:m>
                <a:endParaRPr lang="zh-CN" altLang="en-US" sz="2000" b="1" dirty="0"/>
              </a:p>
            </p:txBody>
          </p:sp>
        </mc:Choice>
        <mc:Fallback xmlns="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A0493D78-3B95-4F5B-A39B-D3E0981FAD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0693" y="3485036"/>
                <a:ext cx="1524905" cy="421013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8621FFAE-0DDA-4035-A1CE-B9413F3CDE14}"/>
                  </a:ext>
                </a:extLst>
              </p:cNvPr>
              <p:cNvSpPr/>
              <p:nvPr/>
            </p:nvSpPr>
            <p:spPr>
              <a:xfrm>
                <a:off x="5515406" y="3495488"/>
                <a:ext cx="55816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⟺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8621FFAE-0DDA-4035-A1CE-B9413F3CDE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5406" y="3495488"/>
                <a:ext cx="558166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C6275AD9-CBE9-4869-99D3-A436AEF55363}"/>
                  </a:ext>
                </a:extLst>
              </p:cNvPr>
              <p:cNvSpPr/>
              <p:nvPr/>
            </p:nvSpPr>
            <p:spPr>
              <a:xfrm>
                <a:off x="5954071" y="3476302"/>
                <a:ext cx="2417457" cy="4056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𝑀</m:t>
                          </m:r>
                        </m:e>
                        <m:sup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𝑘</m:t>
                          </m:r>
                        </m:sup>
                      </m:sSup>
                      <m:r>
                        <a:rPr lang="en-US" altLang="zh-CN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US" altLang="zh-CN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O</m:t>
                      </m:r>
                      <m:r>
                        <a:rPr lang="zh-CN" alt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（</m:t>
                      </m:r>
                      <m:r>
                        <a:rPr lang="zh-CN" alt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零</m:t>
                      </m:r>
                      <m:r>
                        <a:rPr lang="zh-CN" alt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矩阵</m:t>
                      </m:r>
                      <m:r>
                        <a:rPr lang="zh-CN" alt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）</m:t>
                      </m:r>
                    </m:oMath>
                  </m:oMathPara>
                </a14:m>
                <a:endParaRPr lang="zh-CN" altLang="en-US" sz="2000" b="1" dirty="0"/>
              </a:p>
            </p:txBody>
          </p:sp>
        </mc:Choice>
        <mc:Fallback xmlns="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C6275AD9-CBE9-4869-99D3-A436AEF553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071" y="3476302"/>
                <a:ext cx="2417457" cy="405624"/>
              </a:xfrm>
              <a:prstGeom prst="rect">
                <a:avLst/>
              </a:prstGeom>
              <a:blipFill>
                <a:blip r:embed="rId19"/>
                <a:stretch>
                  <a:fillRect b="-119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文本框 36">
            <a:extLst>
              <a:ext uri="{FF2B5EF4-FFF2-40B4-BE49-F238E27FC236}">
                <a16:creationId xmlns:a16="http://schemas.microsoft.com/office/drawing/2014/main" id="{04255D16-4F03-49EA-AB42-75FE4D40C90C}"/>
              </a:ext>
            </a:extLst>
          </p:cNvPr>
          <p:cNvSpPr txBox="1"/>
          <p:nvPr/>
        </p:nvSpPr>
        <p:spPr>
          <a:xfrm>
            <a:off x="1013017" y="3515636"/>
            <a:ext cx="1673043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迭代法收敛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B59C6442-D5F1-4E45-8968-3C75D3FFEBE8}"/>
                  </a:ext>
                </a:extLst>
              </p:cNvPr>
              <p:cNvSpPr/>
              <p:nvPr/>
            </p:nvSpPr>
            <p:spPr>
              <a:xfrm>
                <a:off x="2373087" y="3495488"/>
                <a:ext cx="509774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⟺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B59C6442-D5F1-4E45-8968-3C75D3FFEB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3087" y="3495488"/>
                <a:ext cx="509774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67BA5AAC-755A-45C6-A440-7060DE6A769D}"/>
                  </a:ext>
                </a:extLst>
              </p:cNvPr>
              <p:cNvSpPr/>
              <p:nvPr/>
            </p:nvSpPr>
            <p:spPr>
              <a:xfrm>
                <a:off x="2370068" y="4055775"/>
                <a:ext cx="55816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⟺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67BA5AAC-755A-45C6-A440-7060DE6A76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0068" y="4055775"/>
                <a:ext cx="558166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4BA2D785-30F3-447D-9168-2EA88ABBDDD3}"/>
                  </a:ext>
                </a:extLst>
              </p:cNvPr>
              <p:cNvSpPr/>
              <p:nvPr/>
            </p:nvSpPr>
            <p:spPr>
              <a:xfrm>
                <a:off x="2762912" y="4052367"/>
                <a:ext cx="1452192" cy="4456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altLang="zh-CN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𝑒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altLang="zh-CN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→</m:t>
                      </m:r>
                      <m:r>
                        <a:rPr lang="en-US" altLang="zh-CN" sz="20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0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4BA2D785-30F3-447D-9168-2EA88ABBDD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912" y="4052367"/>
                <a:ext cx="1452192" cy="445635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E02B21C7-4910-4EAC-A548-AC783865EB26}"/>
                  </a:ext>
                </a:extLst>
              </p:cNvPr>
              <p:cNvSpPr/>
              <p:nvPr/>
            </p:nvSpPr>
            <p:spPr>
              <a:xfrm>
                <a:off x="3989445" y="4041916"/>
                <a:ext cx="55816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⟺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E02B21C7-4910-4EAC-A548-AC783865EB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9445" y="4041916"/>
                <a:ext cx="558166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AFBE6DA1-A574-4EC4-8266-422D3FBFDA4E}"/>
                  </a:ext>
                </a:extLst>
              </p:cNvPr>
              <p:cNvSpPr/>
              <p:nvPr/>
            </p:nvSpPr>
            <p:spPr>
              <a:xfrm>
                <a:off x="4382289" y="4038508"/>
                <a:ext cx="1391855" cy="439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altLang="zh-CN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altLang="zh-CN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→</m:t>
                      </m:r>
                      <m:r>
                        <a:rPr lang="en-US" altLang="zh-CN" sz="20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0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AFBE6DA1-A574-4EC4-8266-422D3FBFDA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2289" y="4038508"/>
                <a:ext cx="1391855" cy="439736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8374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5" grpId="0"/>
      <p:bldP spid="16" grpId="0"/>
      <p:bldP spid="4" grpId="0"/>
      <p:bldP spid="17" grpId="0"/>
      <p:bldP spid="21" grpId="0"/>
      <p:bldP spid="22" grpId="0"/>
      <p:bldP spid="18" grpId="0"/>
      <p:bldP spid="29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E7F064F-8544-4E76-8BE6-D4D3ABC8F908}"/>
              </a:ext>
            </a:extLst>
          </p:cNvPr>
          <p:cNvCxnSpPr>
            <a:cxnSpLocks/>
          </p:cNvCxnSpPr>
          <p:nvPr/>
        </p:nvCxnSpPr>
        <p:spPr>
          <a:xfrm>
            <a:off x="0" y="371476"/>
            <a:ext cx="3173506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5CEFB25-3703-4C02-9EC2-99523841BF1B}"/>
              </a:ext>
            </a:extLst>
          </p:cNvPr>
          <p:cNvCxnSpPr>
            <a:cxnSpLocks/>
          </p:cNvCxnSpPr>
          <p:nvPr/>
        </p:nvCxnSpPr>
        <p:spPr>
          <a:xfrm>
            <a:off x="5755341" y="371475"/>
            <a:ext cx="3388659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DBAA461A-721D-4411-8E0C-37C00FB41582}"/>
              </a:ext>
            </a:extLst>
          </p:cNvPr>
          <p:cNvSpPr txBox="1"/>
          <p:nvPr/>
        </p:nvSpPr>
        <p:spPr>
          <a:xfrm>
            <a:off x="1857375" y="136525"/>
            <a:ext cx="5305425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迭代法的收敛条件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B031D5F-817D-4B23-87A9-2699EFF3C18E}"/>
              </a:ext>
            </a:extLst>
          </p:cNvPr>
          <p:cNvSpPr/>
          <p:nvPr/>
        </p:nvSpPr>
        <p:spPr>
          <a:xfrm>
            <a:off x="694596" y="935314"/>
            <a:ext cx="7615163" cy="1157807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3B65583-B2FF-4334-9DC5-300DD5F83F27}"/>
                  </a:ext>
                </a:extLst>
              </p:cNvPr>
              <p:cNvSpPr txBox="1"/>
              <p:nvPr/>
            </p:nvSpPr>
            <p:spPr>
              <a:xfrm>
                <a:off x="1701490" y="1157395"/>
                <a:ext cx="6608269" cy="426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对任意初始向量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0</m:t>
                            </m:r>
                          </m:e>
                        </m:d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,</m:t>
                    </m:r>
                    <m:r>
                      <a:rPr lang="zh-CN" alt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迭代法收敛</m:t>
                    </m:r>
                    <m:r>
                      <a:rPr lang="zh-CN" altLang="en-US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的</m:t>
                    </m:r>
                    <m:r>
                      <a:rPr lang="zh-CN" alt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充分必要条件</m:t>
                    </m:r>
                    <m:r>
                      <a:rPr lang="zh-CN" altLang="en-US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是</m:t>
                    </m:r>
                  </m:oMath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3B65583-B2FF-4334-9DC5-300DD5F83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1490" y="1157395"/>
                <a:ext cx="6608269" cy="426463"/>
              </a:xfrm>
              <a:prstGeom prst="rect">
                <a:avLst/>
              </a:prstGeom>
              <a:blipFill>
                <a:blip r:embed="rId2"/>
                <a:stretch>
                  <a:fillRect l="-923" t="-2857" b="-2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B76F4186-B862-4D12-B8FD-273C5C89A433}"/>
                  </a:ext>
                </a:extLst>
              </p:cNvPr>
              <p:cNvSpPr txBox="1"/>
              <p:nvPr/>
            </p:nvSpPr>
            <p:spPr>
              <a:xfrm>
                <a:off x="3626106" y="1549652"/>
                <a:ext cx="189795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𝜌</m:t>
                    </m:r>
                    <m:d>
                      <m:dPr>
                        <m:ctrlP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𝑀</m:t>
                        </m:r>
                      </m:e>
                    </m:d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B76F4186-B862-4D12-B8FD-273C5C89A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6106" y="1549652"/>
                <a:ext cx="1897957" cy="400110"/>
              </a:xfrm>
              <a:prstGeom prst="rect">
                <a:avLst/>
              </a:prstGeom>
              <a:blipFill>
                <a:blip r:embed="rId3"/>
                <a:stretch>
                  <a:fillRect t="-606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DF8738C6-985B-46C9-9688-B9908F091171}"/>
                  </a:ext>
                </a:extLst>
              </p:cNvPr>
              <p:cNvSpPr txBox="1"/>
              <p:nvPr/>
            </p:nvSpPr>
            <p:spPr>
              <a:xfrm>
                <a:off x="1203074" y="1579620"/>
                <a:ext cx="24230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迭代矩阵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𝑀</m:t>
                      </m:r>
                      <m:r>
                        <a:rPr lang="zh-CN" altLang="en-US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的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谱半径</m:t>
                      </m:r>
                    </m:oMath>
                  </m:oMathPara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DF8738C6-985B-46C9-9688-B9908F0911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074" y="1579620"/>
                <a:ext cx="2423032" cy="400110"/>
              </a:xfrm>
              <a:prstGeom prst="rect">
                <a:avLst/>
              </a:prstGeom>
              <a:blipFill>
                <a:blip r:embed="rId4"/>
                <a:stretch>
                  <a:fillRect l="-1005" r="-1508"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FD3A1E7D-2659-42EC-9646-59E5BFD35E53}"/>
              </a:ext>
            </a:extLst>
          </p:cNvPr>
          <p:cNvSpPr txBox="1"/>
          <p:nvPr/>
        </p:nvSpPr>
        <p:spPr>
          <a:xfrm>
            <a:off x="694596" y="2172107"/>
            <a:ext cx="4149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证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97A0283-CC05-4B0B-BA2E-53386D5B5B5C}"/>
              </a:ext>
            </a:extLst>
          </p:cNvPr>
          <p:cNvSpPr txBox="1"/>
          <p:nvPr/>
        </p:nvSpPr>
        <p:spPr>
          <a:xfrm>
            <a:off x="1109533" y="2172107"/>
            <a:ext cx="12185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只需证明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C2AE9214-0B73-4B36-BB03-879E217834B1}"/>
                  </a:ext>
                </a:extLst>
              </p:cNvPr>
              <p:cNvSpPr/>
              <p:nvPr/>
            </p:nvSpPr>
            <p:spPr>
              <a:xfrm>
                <a:off x="2308579" y="2167518"/>
                <a:ext cx="1391855" cy="439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altLang="zh-CN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→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0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C2AE9214-0B73-4B36-BB03-879E217834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8579" y="2167518"/>
                <a:ext cx="1391855" cy="4397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3C71EDF2-2984-492A-BD75-EFCBE0A04DBC}"/>
                  </a:ext>
                </a:extLst>
              </p:cNvPr>
              <p:cNvSpPr txBox="1"/>
              <p:nvPr/>
            </p:nvSpPr>
            <p:spPr>
              <a:xfrm>
                <a:off x="4049468" y="2147697"/>
                <a:ext cx="189795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𝜌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𝑀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3C71EDF2-2984-492A-BD75-EFCBE0A04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9468" y="2147697"/>
                <a:ext cx="1897957" cy="400110"/>
              </a:xfrm>
              <a:prstGeom prst="rect">
                <a:avLst/>
              </a:prstGeom>
              <a:blipFill>
                <a:blip r:embed="rId6"/>
                <a:stretch>
                  <a:fillRect t="-606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5B235D36-7483-48FB-8E66-608840E2CC10}"/>
                  </a:ext>
                </a:extLst>
              </p:cNvPr>
              <p:cNvSpPr/>
              <p:nvPr/>
            </p:nvSpPr>
            <p:spPr>
              <a:xfrm>
                <a:off x="3626106" y="2174007"/>
                <a:ext cx="509774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⟺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5B235D36-7483-48FB-8E66-608840E2CC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6106" y="2174007"/>
                <a:ext cx="509774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BA8F161E-C33A-431E-8E47-707B9CFF09F5}"/>
                  </a:ext>
                </a:extLst>
              </p:cNvPr>
              <p:cNvSpPr/>
              <p:nvPr/>
            </p:nvSpPr>
            <p:spPr>
              <a:xfrm>
                <a:off x="1350443" y="2633556"/>
                <a:ext cx="1823063" cy="439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dirty="0">
                    <a:solidFill>
                      <a:schemeClr val="tx1"/>
                    </a:solidFill>
                    <a:ea typeface="华文楷体" panose="02010600040101010101" pitchFamily="2" charset="-122"/>
                    <a:sym typeface="Symbol" panose="05050102010706020507" pitchFamily="18" charset="2"/>
                  </a:rPr>
                  <a:t>设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  <m:t>𝑀</m:t>
                            </m:r>
                          </m:e>
                          <m:sup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US" altLang="zh-CN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→</m:t>
                    </m:r>
                    <m:r>
                      <a:rPr lang="en-US" altLang="zh-CN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0</m:t>
                    </m:r>
                    <m:r>
                      <a:rPr lang="zh-CN" alt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，</m:t>
                    </m:r>
                  </m:oMath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BA8F161E-C33A-431E-8E47-707B9CFF09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443" y="2633556"/>
                <a:ext cx="1823063" cy="439736"/>
              </a:xfrm>
              <a:prstGeom prst="rect">
                <a:avLst/>
              </a:prstGeom>
              <a:blipFill>
                <a:blip r:embed="rId8"/>
                <a:stretch>
                  <a:fillRect l="-3679" b="-22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186C8952-D285-4316-A47C-4045D775BE6A}"/>
                  </a:ext>
                </a:extLst>
              </p:cNvPr>
              <p:cNvSpPr txBox="1"/>
              <p:nvPr/>
            </p:nvSpPr>
            <p:spPr>
              <a:xfrm>
                <a:off x="548773" y="2633556"/>
                <a:ext cx="6543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“⟹”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186C8952-D285-4316-A47C-4045D775B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773" y="2633556"/>
                <a:ext cx="654301" cy="400110"/>
              </a:xfrm>
              <a:prstGeom prst="rect">
                <a:avLst/>
              </a:prstGeom>
              <a:blipFill>
                <a:blip r:embed="rId9"/>
                <a:stretch>
                  <a:fillRect r="-252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F58AA903-B722-4D08-AE58-772C6884B11E}"/>
                  </a:ext>
                </a:extLst>
              </p:cNvPr>
              <p:cNvSpPr/>
              <p:nvPr/>
            </p:nvSpPr>
            <p:spPr>
              <a:xfrm>
                <a:off x="3004506" y="2633556"/>
                <a:ext cx="3949543" cy="4397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000" dirty="0">
                    <a:solidFill>
                      <a:schemeClr val="tx1"/>
                    </a:solidFill>
                    <a:ea typeface="华文楷体" panose="02010600040101010101" pitchFamily="2" charset="-122"/>
                    <a:sym typeface="Symbol" panose="05050102010706020507" pitchFamily="18" charset="2"/>
                  </a:rPr>
                  <a:t>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zh-CN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𝜌</m:t>
                        </m:r>
                      </m:e>
                      <m:sup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𝑘</m:t>
                        </m:r>
                      </m:sup>
                    </m:sSup>
                    <m:d>
                      <m:dPr>
                        <m:ctrlP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𝑀</m:t>
                        </m:r>
                      </m:e>
                    </m:d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=</m:t>
                    </m:r>
                    <m:r>
                      <a:rPr lang="zh-CN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𝜌</m:t>
                    </m:r>
                    <m:d>
                      <m:dPr>
                        <m:ctrl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  <m:t>𝑀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≤</m:t>
                    </m:r>
                    <m:d>
                      <m:dPr>
                        <m:begChr m:val="‖"/>
                        <m:endChr m:val="‖"/>
                        <m:ctrlP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  <m:t>𝑀</m:t>
                            </m:r>
                          </m:e>
                          <m:sup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US" altLang="zh-CN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→</m:t>
                    </m:r>
                    <m:r>
                      <a:rPr lang="en-US" altLang="zh-CN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0</m:t>
                    </m:r>
                    <m:r>
                      <a:rPr lang="zh-CN" alt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，</m:t>
                    </m:r>
                  </m:oMath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F58AA903-B722-4D08-AE58-772C6884B1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506" y="2633556"/>
                <a:ext cx="3949543" cy="439736"/>
              </a:xfrm>
              <a:prstGeom prst="rect">
                <a:avLst/>
              </a:prstGeom>
              <a:blipFill>
                <a:blip r:embed="rId10"/>
                <a:stretch>
                  <a:fillRect l="-1698" b="-22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61DEE325-9DF1-48C4-B332-6CFBF435E5BE}"/>
                  </a:ext>
                </a:extLst>
              </p:cNvPr>
              <p:cNvSpPr txBox="1"/>
              <p:nvPr/>
            </p:nvSpPr>
            <p:spPr>
              <a:xfrm>
                <a:off x="6708857" y="2633556"/>
                <a:ext cx="189795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b="0" dirty="0">
                    <a:ea typeface="华文楷体" panose="02010600040101010101" pitchFamily="2" charset="-122"/>
                  </a:rPr>
                  <a:t>必有</a:t>
                </a:r>
                <a14:m>
                  <m:oMath xmlns:m="http://schemas.openxmlformats.org/officeDocument/2006/math">
                    <m:r>
                      <a:rPr lang="zh-CN" altLang="en-US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𝜌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𝑀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61DEE325-9DF1-48C4-B332-6CFBF435E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8857" y="2633556"/>
                <a:ext cx="1897957" cy="400110"/>
              </a:xfrm>
              <a:prstGeom prst="rect">
                <a:avLst/>
              </a:prstGeom>
              <a:blipFill>
                <a:blip r:embed="rId11"/>
                <a:stretch>
                  <a:fillRect l="-3537" t="-606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F023B852-452C-4E7D-8204-FEB2C7E07B0A}"/>
                  </a:ext>
                </a:extLst>
              </p:cNvPr>
              <p:cNvSpPr txBox="1"/>
              <p:nvPr/>
            </p:nvSpPr>
            <p:spPr>
              <a:xfrm>
                <a:off x="548772" y="3177503"/>
                <a:ext cx="80167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“⟸”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F023B852-452C-4E7D-8204-FEB2C7E07B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772" y="3177503"/>
                <a:ext cx="801671" cy="400110"/>
              </a:xfrm>
              <a:prstGeom prst="rect">
                <a:avLst/>
              </a:prstGeom>
              <a:blipFill>
                <a:blip r:embed="rId12"/>
                <a:stretch>
                  <a:fillRect r="-15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F5417EC-5490-43A4-8C2F-E927EA58A2AF}"/>
                  </a:ext>
                </a:extLst>
              </p:cNvPr>
              <p:cNvSpPr txBox="1"/>
              <p:nvPr/>
            </p:nvSpPr>
            <p:spPr>
              <a:xfrm>
                <a:off x="1350443" y="3177503"/>
                <a:ext cx="176159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设</m:t>
                      </m:r>
                      <m:r>
                        <a:rPr lang="zh-CN" altLang="en-US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𝜌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𝑀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&lt;1</m:t>
                      </m:r>
                      <m:r>
                        <a:rPr lang="zh-CN" alt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F5417EC-5490-43A4-8C2F-E927EA58A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443" y="3177503"/>
                <a:ext cx="1761591" cy="400110"/>
              </a:xfrm>
              <a:prstGeom prst="rect">
                <a:avLst/>
              </a:prstGeom>
              <a:blipFill>
                <a:blip r:embed="rId13"/>
                <a:stretch>
                  <a:fillRect l="-346" b="-75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EBFEFF45-3DAF-4B67-8092-90BC5BA68BF1}"/>
                  </a:ext>
                </a:extLst>
              </p:cNvPr>
              <p:cNvSpPr/>
              <p:nvPr/>
            </p:nvSpPr>
            <p:spPr>
              <a:xfrm>
                <a:off x="3004506" y="3142819"/>
                <a:ext cx="4664159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000" dirty="0">
                    <a:solidFill>
                      <a:schemeClr val="tx1"/>
                    </a:solidFill>
                    <a:ea typeface="华文楷体" panose="02010600040101010101" pitchFamily="2" charset="-122"/>
                    <a:sym typeface="Symbol" panose="05050102010706020507" pitchFamily="18" charset="2"/>
                  </a:rPr>
                  <a:t>则</a:t>
                </a:r>
                <a14:m>
                  <m:oMath xmlns:m="http://schemas.openxmlformats.org/officeDocument/2006/math">
                    <m:r>
                      <a:rPr lang="zh-CN" altLang="en-US" sz="2000" i="1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存在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𝜀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&gt;0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，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使得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𝜌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𝑀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+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𝜀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&lt;1</m:t>
                    </m:r>
                    <m:r>
                      <a:rPr lang="zh-CN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于是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EBFEFF45-3DAF-4B67-8092-90BC5BA68B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506" y="3142819"/>
                <a:ext cx="4664159" cy="400110"/>
              </a:xfrm>
              <a:prstGeom prst="rect">
                <a:avLst/>
              </a:prstGeom>
              <a:blipFill>
                <a:blip r:embed="rId14"/>
                <a:stretch>
                  <a:fillRect l="-1438" t="-7692" b="-2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D26A48C3-FF32-49C6-AFB8-5B66459DAA3A}"/>
                  </a:ext>
                </a:extLst>
              </p:cNvPr>
              <p:cNvSpPr/>
              <p:nvPr/>
            </p:nvSpPr>
            <p:spPr>
              <a:xfrm>
                <a:off x="1215434" y="3648100"/>
                <a:ext cx="349063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dirty="0">
                    <a:ea typeface="华文楷体" panose="02010600040101010101" pitchFamily="2" charset="-122"/>
                    <a:sym typeface="Symbol" panose="05050102010706020507" pitchFamily="18" charset="2"/>
                  </a:rPr>
                  <a:t>存在</a:t>
                </a:r>
                <a14:m>
                  <m:oMath xmlns:m="http://schemas.openxmlformats.org/officeDocument/2006/math">
                    <m:r>
                      <a:rPr lang="zh-CN" alt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某种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矩阵范数</m:t>
                    </m:r>
                    <m:sSub>
                      <m:sSubPr>
                        <m:ctrlP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∙</m:t>
                            </m:r>
                          </m:e>
                        </m:d>
                      </m:e>
                      <m:sub>
                        <m:r>
                          <a:rPr lang="zh-CN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𝛼</m:t>
                        </m:r>
                      </m:sub>
                    </m:sSub>
                    <m:r>
                      <a:rPr lang="zh-CN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，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使得</m:t>
                    </m:r>
                  </m:oMath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D26A48C3-FF32-49C6-AFB8-5B66459DAA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5434" y="3648100"/>
                <a:ext cx="3490636" cy="400110"/>
              </a:xfrm>
              <a:prstGeom prst="rect">
                <a:avLst/>
              </a:prstGeom>
              <a:blipFill>
                <a:blip r:embed="rId15"/>
                <a:stretch>
                  <a:fillRect l="-1745" t="-606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B6CC3F70-536E-4EE7-AD85-41AEDB297DE1}"/>
                  </a:ext>
                </a:extLst>
              </p:cNvPr>
              <p:cNvSpPr/>
              <p:nvPr/>
            </p:nvSpPr>
            <p:spPr>
              <a:xfrm>
                <a:off x="4633071" y="3639622"/>
                <a:ext cx="2816599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  <m:t>𝑀</m:t>
                            </m:r>
                          </m:e>
                        </m:d>
                      </m:e>
                      <m:sub>
                        <m:r>
                          <a:rPr lang="zh-CN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𝛼</m:t>
                        </m:r>
                      </m:sub>
                    </m:sSub>
                    <m:r>
                      <a:rPr lang="en-US" altLang="zh-CN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≤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𝜌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𝑀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+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𝜀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,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B6CC3F70-536E-4EE7-AD85-41AEDB297D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3071" y="3639622"/>
                <a:ext cx="2816599" cy="400110"/>
              </a:xfrm>
              <a:prstGeom prst="rect">
                <a:avLst/>
              </a:prstGeom>
              <a:blipFill>
                <a:blip r:embed="rId16"/>
                <a:stretch>
                  <a:fillRect t="-606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D9B563B2-4063-4D3B-B87E-FDEC4B8CB57A}"/>
                  </a:ext>
                </a:extLst>
              </p:cNvPr>
              <p:cNvSpPr/>
              <p:nvPr/>
            </p:nvSpPr>
            <p:spPr>
              <a:xfrm>
                <a:off x="1327392" y="4090829"/>
                <a:ext cx="4427950" cy="4814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000" i="1" smtClean="0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𝑀</m:t>
                                  </m:r>
                                </m:e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𝛼</m:t>
                          </m:r>
                        </m:sub>
                      </m:sSub>
                      <m:r>
                        <a:rPr lang="en-US" altLang="zh-CN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≤</m:t>
                      </m:r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𝑀</m:t>
                              </m:r>
                            </m:e>
                          </m:d>
                        </m:e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𝛼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𝑘</m:t>
                          </m:r>
                        </m:sup>
                      </m:sSubSup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≤</m:t>
                      </m:r>
                      <m:sSup>
                        <m:s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𝜌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𝑀</m:t>
                                  </m:r>
                                </m:e>
                              </m:d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+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𝜀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𝑘</m:t>
                          </m:r>
                        </m:sup>
                      </m:sSup>
                      <m:r>
                        <a:rPr lang="en-US" altLang="zh-CN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→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0</m:t>
                      </m:r>
                      <m:r>
                        <a:rPr lang="zh-CN" alt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，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D9B563B2-4063-4D3B-B87E-FDEC4B8CB5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392" y="4090829"/>
                <a:ext cx="4427950" cy="48141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文本框 38">
            <a:extLst>
              <a:ext uri="{FF2B5EF4-FFF2-40B4-BE49-F238E27FC236}">
                <a16:creationId xmlns:a16="http://schemas.microsoft.com/office/drawing/2014/main" id="{F5E00224-BB85-4BC9-B422-3A741FB23951}"/>
              </a:ext>
            </a:extLst>
          </p:cNvPr>
          <p:cNvSpPr txBox="1"/>
          <p:nvPr/>
        </p:nvSpPr>
        <p:spPr>
          <a:xfrm>
            <a:off x="7247795" y="3648556"/>
            <a:ext cx="12185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从而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7BD01D8E-8363-440E-B145-A809D0E5861B}"/>
                  </a:ext>
                </a:extLst>
              </p:cNvPr>
              <p:cNvSpPr txBox="1"/>
              <p:nvPr/>
            </p:nvSpPr>
            <p:spPr>
              <a:xfrm>
                <a:off x="5524063" y="4065516"/>
                <a:ext cx="1723732" cy="439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即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  <m:t>𝑀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→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0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.</m:t>
                    </m:r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7BD01D8E-8363-440E-B145-A809D0E58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063" y="4065516"/>
                <a:ext cx="1723732" cy="439736"/>
              </a:xfrm>
              <a:prstGeom prst="rect">
                <a:avLst/>
              </a:prstGeom>
              <a:blipFill>
                <a:blip r:embed="rId18"/>
                <a:stretch>
                  <a:fillRect l="-3534" t="-1389" b="-22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本框 40">
            <a:extLst>
              <a:ext uri="{FF2B5EF4-FFF2-40B4-BE49-F238E27FC236}">
                <a16:creationId xmlns:a16="http://schemas.microsoft.com/office/drawing/2014/main" id="{05EF2F4C-AC44-4859-8640-85F966942B34}"/>
              </a:ext>
            </a:extLst>
          </p:cNvPr>
          <p:cNvSpPr txBox="1"/>
          <p:nvPr/>
        </p:nvSpPr>
        <p:spPr>
          <a:xfrm>
            <a:off x="7162800" y="4095744"/>
            <a:ext cx="12185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证毕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4B9DCDD-26EC-420D-8681-EFE7AEB697D9}"/>
              </a:ext>
            </a:extLst>
          </p:cNvPr>
          <p:cNvSpPr txBox="1"/>
          <p:nvPr/>
        </p:nvSpPr>
        <p:spPr>
          <a:xfrm>
            <a:off x="976895" y="722773"/>
            <a:ext cx="3595105" cy="400110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迭代法收敛性定理（充要条件）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0017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9" grpId="0" animBg="1"/>
      <p:bldP spid="10" grpId="0"/>
      <p:bldP spid="22" grpId="0"/>
      <p:bldP spid="23" grpId="0"/>
      <p:bldP spid="11" grpId="0"/>
      <p:bldP spid="24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E7F064F-8544-4E76-8BE6-D4D3ABC8F908}"/>
              </a:ext>
            </a:extLst>
          </p:cNvPr>
          <p:cNvCxnSpPr/>
          <p:nvPr/>
        </p:nvCxnSpPr>
        <p:spPr>
          <a:xfrm flipV="1">
            <a:off x="0" y="355600"/>
            <a:ext cx="2886075" cy="158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5CEFB25-3703-4C02-9EC2-99523841BF1B}"/>
              </a:ext>
            </a:extLst>
          </p:cNvPr>
          <p:cNvCxnSpPr/>
          <p:nvPr/>
        </p:nvCxnSpPr>
        <p:spPr>
          <a:xfrm>
            <a:off x="6115050" y="368300"/>
            <a:ext cx="3028950" cy="31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DBAA461A-721D-4411-8E0C-37C00FB41582}"/>
              </a:ext>
            </a:extLst>
          </p:cNvPr>
          <p:cNvSpPr txBox="1"/>
          <p:nvPr/>
        </p:nvSpPr>
        <p:spPr>
          <a:xfrm>
            <a:off x="1857375" y="136525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迭代法的收敛条件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6900901-BB24-4C36-803E-2B04717277A4}"/>
              </a:ext>
            </a:extLst>
          </p:cNvPr>
          <p:cNvSpPr/>
          <p:nvPr/>
        </p:nvSpPr>
        <p:spPr>
          <a:xfrm>
            <a:off x="725523" y="947211"/>
            <a:ext cx="7533894" cy="880290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FC7E2B89-01D5-4CE6-9769-EFFEB3ABFEC5}"/>
                  </a:ext>
                </a:extLst>
              </p:cNvPr>
              <p:cNvSpPr txBox="1"/>
              <p:nvPr/>
            </p:nvSpPr>
            <p:spPr>
              <a:xfrm>
                <a:off x="1078007" y="1207821"/>
                <a:ext cx="5506279" cy="421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对任意初始向量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0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，迭代法收敛的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充分条件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是</a:t>
                </a:r>
                <a:endPara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FC7E2B89-01D5-4CE6-9769-EFFEB3ABFE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007" y="1207821"/>
                <a:ext cx="5506279" cy="421013"/>
              </a:xfrm>
              <a:prstGeom prst="rect">
                <a:avLst/>
              </a:prstGeom>
              <a:blipFill>
                <a:blip r:embed="rId2"/>
                <a:stretch>
                  <a:fillRect l="-1218" t="-1449" r="-111" b="-260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65E4FDA9-257E-475D-8A30-FBF6E12F3742}"/>
                  </a:ext>
                </a:extLst>
              </p:cNvPr>
              <p:cNvSpPr txBox="1"/>
              <p:nvPr/>
            </p:nvSpPr>
            <p:spPr>
              <a:xfrm>
                <a:off x="6416951" y="1217328"/>
                <a:ext cx="12125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𝑀</m:t>
                        </m:r>
                      </m:e>
                    </m:d>
                    <m:r>
                      <a:rPr lang="en-US" altLang="zh-CN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&lt;</m:t>
                    </m:r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1</m:t>
                    </m:r>
                  </m:oMath>
                </a14:m>
                <a:r>
                  <a:rPr lang="en-US" altLang="zh-CN" sz="2000" dirty="0"/>
                  <a:t>.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65E4FDA9-257E-475D-8A30-FBF6E12F37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951" y="1217328"/>
                <a:ext cx="1212574" cy="400110"/>
              </a:xfrm>
              <a:prstGeom prst="rect">
                <a:avLst/>
              </a:prstGeom>
              <a:blipFill>
                <a:blip r:embed="rId3"/>
                <a:stretch>
                  <a:fillRect t="-7692" r="-10553" b="-2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文本框 43">
            <a:extLst>
              <a:ext uri="{FF2B5EF4-FFF2-40B4-BE49-F238E27FC236}">
                <a16:creationId xmlns:a16="http://schemas.microsoft.com/office/drawing/2014/main" id="{C7CC9E0A-6407-49B0-A780-8A4B131E355D}"/>
              </a:ext>
            </a:extLst>
          </p:cNvPr>
          <p:cNvSpPr txBox="1"/>
          <p:nvPr/>
        </p:nvSpPr>
        <p:spPr>
          <a:xfrm>
            <a:off x="725523" y="1984193"/>
            <a:ext cx="4149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证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67ED942-974F-4E8B-BF4A-F554E5560835}"/>
              </a:ext>
            </a:extLst>
          </p:cNvPr>
          <p:cNvSpPr txBox="1"/>
          <p:nvPr/>
        </p:nvSpPr>
        <p:spPr>
          <a:xfrm>
            <a:off x="1140460" y="1984193"/>
            <a:ext cx="2377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利用谱半径的性质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6B130CE9-F044-4988-BC3C-8B5347E0EA76}"/>
                  </a:ext>
                </a:extLst>
              </p:cNvPr>
              <p:cNvSpPr/>
              <p:nvPr/>
            </p:nvSpPr>
            <p:spPr>
              <a:xfrm>
                <a:off x="3182854" y="1957103"/>
                <a:ext cx="185608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𝜌</m:t>
                    </m:r>
                    <m:d>
                      <m:d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𝑀</m:t>
                        </m:r>
                      </m:e>
                    </m:d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≤</m:t>
                    </m:r>
                    <m:d>
                      <m:dPr>
                        <m:begChr m:val="‖"/>
                        <m:endChr m:val="‖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𝑀</m:t>
                        </m:r>
                      </m:e>
                    </m:d>
                  </m:oMath>
                </a14:m>
                <a:r>
                  <a:rPr lang="zh-CN" altLang="en-US" sz="2000" dirty="0"/>
                  <a:t>，</a:t>
                </a:r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6B130CE9-F044-4988-BC3C-8B5347E0EA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2854" y="1957103"/>
                <a:ext cx="1856086" cy="400110"/>
              </a:xfrm>
              <a:prstGeom prst="rect">
                <a:avLst/>
              </a:prstGeom>
              <a:blipFill>
                <a:blip r:embed="rId4"/>
                <a:stretch>
                  <a:fillRect t="-10606" r="-2623" b="-2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文本框 48">
            <a:extLst>
              <a:ext uri="{FF2B5EF4-FFF2-40B4-BE49-F238E27FC236}">
                <a16:creationId xmlns:a16="http://schemas.microsoft.com/office/drawing/2014/main" id="{C6E28560-D04B-447F-BFF5-24794629B8B1}"/>
              </a:ext>
            </a:extLst>
          </p:cNvPr>
          <p:cNvSpPr txBox="1"/>
          <p:nvPr/>
        </p:nvSpPr>
        <p:spPr>
          <a:xfrm>
            <a:off x="4784808" y="1957103"/>
            <a:ext cx="2377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结合上定理即得证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1A9307F8-7F40-4A55-A363-354EB5BFF459}"/>
              </a:ext>
            </a:extLst>
          </p:cNvPr>
          <p:cNvSpPr/>
          <p:nvPr/>
        </p:nvSpPr>
        <p:spPr>
          <a:xfrm>
            <a:off x="766423" y="2571750"/>
            <a:ext cx="7492994" cy="1085850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959EE56-5EB5-47A6-A90A-6957E5DCE2F8}"/>
              </a:ext>
            </a:extLst>
          </p:cNvPr>
          <p:cNvSpPr txBox="1"/>
          <p:nvPr/>
        </p:nvSpPr>
        <p:spPr>
          <a:xfrm>
            <a:off x="734066" y="2710329"/>
            <a:ext cx="7366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例题</a:t>
            </a:r>
            <a:endParaRPr lang="zh-CN" altLang="en-US" sz="20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DBF8A91-3B49-485C-BF45-7636BBF254AA}"/>
              </a:ext>
            </a:extLst>
          </p:cNvPr>
          <p:cNvSpPr txBox="1"/>
          <p:nvPr/>
        </p:nvSpPr>
        <p:spPr>
          <a:xfrm>
            <a:off x="1302026" y="2712307"/>
            <a:ext cx="12324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设迭代法</a:t>
            </a:r>
            <a:endParaRPr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EFC910A3-6496-4768-8E39-4CB44AD9B99F}"/>
                  </a:ext>
                </a:extLst>
              </p:cNvPr>
              <p:cNvSpPr txBox="1"/>
              <p:nvPr/>
            </p:nvSpPr>
            <p:spPr>
              <a:xfrm>
                <a:off x="2329456" y="2672232"/>
                <a:ext cx="2455352" cy="4210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𝑀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𝑔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EFC910A3-6496-4768-8E39-4CB44AD9B9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9456" y="2672232"/>
                <a:ext cx="2455352" cy="421013"/>
              </a:xfrm>
              <a:prstGeom prst="rect">
                <a:avLst/>
              </a:prstGeom>
              <a:blipFill>
                <a:blip r:embed="rId5"/>
                <a:stretch>
                  <a:fillRect b="-1014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9575E395-B40F-4E3A-8114-8038D6A2271E}"/>
                  </a:ext>
                </a:extLst>
              </p:cNvPr>
              <p:cNvSpPr txBox="1"/>
              <p:nvPr/>
            </p:nvSpPr>
            <p:spPr>
              <a:xfrm>
                <a:off x="4645130" y="2607609"/>
                <a:ext cx="3405422" cy="605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中的迭代矩阵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𝑀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0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.8</m:t>
                              </m:r>
                            </m: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0.7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1800" dirty="0"/>
                  <a:t>，</a:t>
                </a:r>
                <a:endParaRPr lang="en-US" altLang="zh-CN" sz="1800" dirty="0"/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9575E395-B40F-4E3A-8114-8038D6A22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5130" y="2607609"/>
                <a:ext cx="3405422" cy="605550"/>
              </a:xfrm>
              <a:prstGeom prst="rect">
                <a:avLst/>
              </a:prstGeom>
              <a:blipFill>
                <a:blip r:embed="rId6"/>
                <a:stretch>
                  <a:fillRect l="-1968" r="-7871" b="-30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13A32CFD-43B4-43A1-BCCE-5921C76C14C8}"/>
                  </a:ext>
                </a:extLst>
              </p:cNvPr>
              <p:cNvSpPr txBox="1"/>
              <p:nvPr/>
            </p:nvSpPr>
            <p:spPr>
              <a:xfrm>
                <a:off x="1302025" y="3153482"/>
                <a:ext cx="5337313" cy="421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问此迭代法对任意初始向量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0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</a:rPr>
                  <a:t>，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是否收敛？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13A32CFD-43B4-43A1-BCCE-5921C76C14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2025" y="3153482"/>
                <a:ext cx="5337313" cy="421013"/>
              </a:xfrm>
              <a:prstGeom prst="rect">
                <a:avLst/>
              </a:prstGeom>
              <a:blipFill>
                <a:blip r:embed="rId7"/>
                <a:stretch>
                  <a:fillRect l="-1257" t="-8696" b="-260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文本框 53">
            <a:extLst>
              <a:ext uri="{FF2B5EF4-FFF2-40B4-BE49-F238E27FC236}">
                <a16:creationId xmlns:a16="http://schemas.microsoft.com/office/drawing/2014/main" id="{162E6B0C-1444-418D-A6DF-C4415729CB77}"/>
              </a:ext>
            </a:extLst>
          </p:cNvPr>
          <p:cNvSpPr txBox="1"/>
          <p:nvPr/>
        </p:nvSpPr>
        <p:spPr>
          <a:xfrm>
            <a:off x="766423" y="3796179"/>
            <a:ext cx="385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E04D77FA-CD0B-4BA0-8E12-6B10DCE1AD4F}"/>
                  </a:ext>
                </a:extLst>
              </p:cNvPr>
              <p:cNvSpPr txBox="1"/>
              <p:nvPr/>
            </p:nvSpPr>
            <p:spPr>
              <a:xfrm>
                <a:off x="1078007" y="3796179"/>
                <a:ext cx="3887431" cy="423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容易计算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𝑀</m:t>
                            </m:r>
                          </m:e>
                        </m:d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𝑝</m:t>
                        </m:r>
                      </m:sub>
                    </m:sSub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1,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=1,2,∞,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E04D77FA-CD0B-4BA0-8E12-6B10DCE1AD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007" y="3796179"/>
                <a:ext cx="3887431" cy="423770"/>
              </a:xfrm>
              <a:prstGeom prst="rect">
                <a:avLst/>
              </a:prstGeom>
              <a:blipFill>
                <a:blip r:embed="rId8"/>
                <a:stretch>
                  <a:fillRect l="-1724" t="-5797" b="-231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8EAFB3B9-3BDB-4F57-B556-3842B131886B}"/>
                  </a:ext>
                </a:extLst>
              </p:cNvPr>
              <p:cNvSpPr txBox="1"/>
              <p:nvPr/>
            </p:nvSpPr>
            <p:spPr>
              <a:xfrm>
                <a:off x="4784808" y="3779724"/>
                <a:ext cx="185453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但</a:t>
                </a:r>
                <a14:m>
                  <m:oMath xmlns:m="http://schemas.openxmlformats.org/officeDocument/2006/math">
                    <m:r>
                      <a:rPr lang="zh-CN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𝜌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𝑀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=0.8,</m:t>
                    </m:r>
                  </m:oMath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8EAFB3B9-3BDB-4F57-B556-3842B1318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4808" y="3779724"/>
                <a:ext cx="1854531" cy="400110"/>
              </a:xfrm>
              <a:prstGeom prst="rect">
                <a:avLst/>
              </a:prstGeom>
              <a:blipFill>
                <a:blip r:embed="rId9"/>
                <a:stretch>
                  <a:fillRect l="-3618" t="-606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文本框 56">
            <a:extLst>
              <a:ext uri="{FF2B5EF4-FFF2-40B4-BE49-F238E27FC236}">
                <a16:creationId xmlns:a16="http://schemas.microsoft.com/office/drawing/2014/main" id="{6166AE12-DF40-4654-9AD5-FB5D91F5B01A}"/>
              </a:ext>
            </a:extLst>
          </p:cNvPr>
          <p:cNvSpPr txBox="1"/>
          <p:nvPr/>
        </p:nvSpPr>
        <p:spPr>
          <a:xfrm>
            <a:off x="6488963" y="3756064"/>
            <a:ext cx="18545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故迭代法收敛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7A58F34-1193-4A8B-B5E3-B11C278CB6B7}"/>
              </a:ext>
            </a:extLst>
          </p:cNvPr>
          <p:cNvSpPr txBox="1"/>
          <p:nvPr/>
        </p:nvSpPr>
        <p:spPr>
          <a:xfrm>
            <a:off x="958966" y="732969"/>
            <a:ext cx="770443" cy="400110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推论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0343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5" grpId="0" animBg="1"/>
      <p:bldP spid="20" grpId="0"/>
      <p:bldP spid="24" grpId="0"/>
      <p:bldP spid="44" grpId="0"/>
      <p:bldP spid="45" grpId="0"/>
      <p:bldP spid="25" grpId="0"/>
      <p:bldP spid="49" grpId="0"/>
      <p:bldP spid="26" grpId="0" animBg="1"/>
      <p:bldP spid="27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E7F064F-8544-4E76-8BE6-D4D3ABC8F908}"/>
              </a:ext>
            </a:extLst>
          </p:cNvPr>
          <p:cNvCxnSpPr>
            <a:cxnSpLocks/>
          </p:cNvCxnSpPr>
          <p:nvPr/>
        </p:nvCxnSpPr>
        <p:spPr>
          <a:xfrm>
            <a:off x="0" y="371476"/>
            <a:ext cx="2872409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5CEFB25-3703-4C02-9EC2-99523841BF1B}"/>
              </a:ext>
            </a:extLst>
          </p:cNvPr>
          <p:cNvCxnSpPr>
            <a:cxnSpLocks/>
          </p:cNvCxnSpPr>
          <p:nvPr/>
        </p:nvCxnSpPr>
        <p:spPr>
          <a:xfrm flipV="1">
            <a:off x="6082748" y="371475"/>
            <a:ext cx="3061252" cy="1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DBAA461A-721D-4411-8E0C-37C00FB41582}"/>
              </a:ext>
            </a:extLst>
          </p:cNvPr>
          <p:cNvSpPr txBox="1"/>
          <p:nvPr/>
        </p:nvSpPr>
        <p:spPr>
          <a:xfrm>
            <a:off x="1857375" y="136525"/>
            <a:ext cx="5305425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迭代法的收敛条件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19FD669-3E95-4625-8591-E0338E146914}"/>
              </a:ext>
            </a:extLst>
          </p:cNvPr>
          <p:cNvSpPr/>
          <p:nvPr/>
        </p:nvSpPr>
        <p:spPr>
          <a:xfrm>
            <a:off x="1559858" y="1469728"/>
            <a:ext cx="6400801" cy="603857"/>
          </a:xfrm>
          <a:prstGeom prst="round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FB943E2-327C-4D83-AD7B-626818FF9347}"/>
                  </a:ext>
                </a:extLst>
              </p:cNvPr>
              <p:cNvSpPr txBox="1"/>
              <p:nvPr/>
            </p:nvSpPr>
            <p:spPr>
              <a:xfrm>
                <a:off x="1436204" y="1630346"/>
                <a:ext cx="58721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indent="0"/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1.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给出迭代法收敛</m:t>
                    </m:r>
                    <m:r>
                      <a:rPr lang="zh-CN" altLang="en-US" sz="2000" b="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的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定义</m:t>
                    </m:r>
                  </m:oMath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FB943E2-327C-4D83-AD7B-626818FF9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6204" y="1630346"/>
                <a:ext cx="5872164" cy="400110"/>
              </a:xfrm>
              <a:prstGeom prst="rect">
                <a:avLst/>
              </a:prstGeom>
              <a:blipFill>
                <a:blip r:embed="rId2"/>
                <a:stretch>
                  <a:fillRect t="-606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F47C2DD-3CC3-4642-B339-3FA8E37C8BDC}"/>
              </a:ext>
            </a:extLst>
          </p:cNvPr>
          <p:cNvSpPr/>
          <p:nvPr/>
        </p:nvSpPr>
        <p:spPr>
          <a:xfrm>
            <a:off x="1559857" y="2331188"/>
            <a:ext cx="6400802" cy="603856"/>
          </a:xfrm>
          <a:prstGeom prst="round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46561F8-007F-4803-AC32-F84AB5F73515}"/>
              </a:ext>
            </a:extLst>
          </p:cNvPr>
          <p:cNvSpPr txBox="1"/>
          <p:nvPr/>
        </p:nvSpPr>
        <p:spPr>
          <a:xfrm>
            <a:off x="1692636" y="2439807"/>
            <a:ext cx="54906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2.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推导迭代法的收敛性定理（充要条件）</a:t>
            </a:r>
            <a:endParaRPr lang="zh-CN" altLang="en-US" sz="20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8D24CB8-38F9-4B82-964B-54FD2DE7D41C}"/>
              </a:ext>
            </a:extLst>
          </p:cNvPr>
          <p:cNvSpPr/>
          <p:nvPr/>
        </p:nvSpPr>
        <p:spPr>
          <a:xfrm>
            <a:off x="1559854" y="3192647"/>
            <a:ext cx="6400803" cy="692661"/>
          </a:xfrm>
          <a:prstGeom prst="round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F807799-E59F-4727-AF50-D7E5E84B1FBF}"/>
              </a:ext>
            </a:extLst>
          </p:cNvPr>
          <p:cNvSpPr txBox="1"/>
          <p:nvPr/>
        </p:nvSpPr>
        <p:spPr>
          <a:xfrm>
            <a:off x="1804244" y="3394002"/>
            <a:ext cx="59383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3.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得到判定迭代法收敛的充分条件</a:t>
            </a: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9D37D940-B031-43D7-B1E4-82671703B6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519" y="899649"/>
            <a:ext cx="49403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小结</a:t>
            </a:r>
            <a:r>
              <a:rPr lang="zh-CN" altLang="en-US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endParaRPr lang="en-US" altLang="zh-CN" dirty="0">
              <a:solidFill>
                <a:srgbClr val="004A8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9477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  <p:bldP spid="16" grpId="0"/>
      <p:bldP spid="17" grpId="0" animBg="1"/>
      <p:bldP spid="18" grpId="0"/>
      <p:bldP spid="21" grpId="0" animBg="1"/>
      <p:bldP spid="25" grpId="0"/>
      <p:bldP spid="1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E7F064F-8544-4E76-8BE6-D4D3ABC8F908}"/>
              </a:ext>
            </a:extLst>
          </p:cNvPr>
          <p:cNvCxnSpPr/>
          <p:nvPr/>
        </p:nvCxnSpPr>
        <p:spPr>
          <a:xfrm flipV="1">
            <a:off x="0" y="355600"/>
            <a:ext cx="2886075" cy="158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5CEFB25-3703-4C02-9EC2-99523841BF1B}"/>
              </a:ext>
            </a:extLst>
          </p:cNvPr>
          <p:cNvCxnSpPr/>
          <p:nvPr/>
        </p:nvCxnSpPr>
        <p:spPr>
          <a:xfrm>
            <a:off x="6115050" y="368300"/>
            <a:ext cx="3028950" cy="31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DBAA461A-721D-4411-8E0C-37C00FB41582}"/>
              </a:ext>
            </a:extLst>
          </p:cNvPr>
          <p:cNvSpPr txBox="1"/>
          <p:nvPr/>
        </p:nvSpPr>
        <p:spPr>
          <a:xfrm>
            <a:off x="1857375" y="136525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 3.4 </a:t>
            </a: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迭代法解的误差分析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9D37D940-B031-43D7-B1E4-82671703B6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542" y="687615"/>
            <a:ext cx="316505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迭代法解的误差估计</a:t>
            </a:r>
            <a:endParaRPr lang="en-US" altLang="zh-CN" dirty="0">
              <a:solidFill>
                <a:srgbClr val="004A8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6900901-BB24-4C36-803E-2B04717277A4}"/>
              </a:ext>
            </a:extLst>
          </p:cNvPr>
          <p:cNvSpPr/>
          <p:nvPr/>
        </p:nvSpPr>
        <p:spPr>
          <a:xfrm>
            <a:off x="725523" y="1087725"/>
            <a:ext cx="7762494" cy="1191743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65E4FDA9-257E-475D-8A30-FBF6E12F3742}"/>
                  </a:ext>
                </a:extLst>
              </p:cNvPr>
              <p:cNvSpPr txBox="1"/>
              <p:nvPr/>
            </p:nvSpPr>
            <p:spPr>
              <a:xfrm>
                <a:off x="1213176" y="1100940"/>
                <a:ext cx="629361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当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𝑀</m:t>
                          </m:r>
                        </m:e>
                      </m:d>
                      <m:r>
                        <a:rPr lang="en-US" altLang="zh-CN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&lt;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1</m:t>
                      </m:r>
                      <m:r>
                        <a:rPr lang="zh-CN" alt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时</m:t>
                      </m:r>
                      <m:r>
                        <a:rPr lang="zh-CN" alt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，</m:t>
                      </m:r>
                      <m:r>
                        <a:rPr lang="zh-CN" alt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迭代法</m:t>
                      </m:r>
                      <m:r>
                        <a:rPr lang="zh-CN" alt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收敛</m:t>
                      </m:r>
                      <m:r>
                        <a:rPr lang="zh-CN" alt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，且</m:t>
                      </m:r>
                      <m:r>
                        <a:rPr lang="zh-CN" alt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满足</m:t>
                      </m:r>
                      <m:r>
                        <a:rPr lang="zh-CN" alt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如下</m:t>
                      </m:r>
                      <m:r>
                        <a:rPr lang="zh-CN" alt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误差估计</m:t>
                      </m:r>
                      <m:r>
                        <a:rPr lang="zh-CN" alt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式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65E4FDA9-257E-475D-8A30-FBF6E12F37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3176" y="1100940"/>
                <a:ext cx="6293613" cy="400110"/>
              </a:xfrm>
              <a:prstGeom prst="rect">
                <a:avLst/>
              </a:prstGeom>
              <a:blipFill>
                <a:blip r:embed="rId2"/>
                <a:stretch>
                  <a:fillRect b="-16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69E39031-B8A7-4687-B2ED-D84F531BCC62}"/>
              </a:ext>
            </a:extLst>
          </p:cNvPr>
          <p:cNvSpPr txBox="1"/>
          <p:nvPr/>
        </p:nvSpPr>
        <p:spPr>
          <a:xfrm>
            <a:off x="750984" y="1122600"/>
            <a:ext cx="924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2131673-8664-4251-904F-691EA1488236}"/>
                  </a:ext>
                </a:extLst>
              </p:cNvPr>
              <p:cNvSpPr txBox="1"/>
              <p:nvPr/>
            </p:nvSpPr>
            <p:spPr>
              <a:xfrm>
                <a:off x="961582" y="1501050"/>
                <a:ext cx="7290375" cy="7784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</m:d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</m:d>
                        </m:den>
                      </m:f>
                      <m:d>
                        <m:dPr>
                          <m:begChr m:val="‖"/>
                          <m:endChr m:val="‖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</m:d>
                        </m:den>
                      </m:f>
                      <m:d>
                        <m:dPr>
                          <m:begChr m:val="‖"/>
                          <m:endChr m:val="‖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2131673-8664-4251-904F-691EA1488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582" y="1501050"/>
                <a:ext cx="7290375" cy="7784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本框 27">
            <a:extLst>
              <a:ext uri="{FF2B5EF4-FFF2-40B4-BE49-F238E27FC236}">
                <a16:creationId xmlns:a16="http://schemas.microsoft.com/office/drawing/2014/main" id="{EEAC4D17-ABA4-4009-9D50-25683B2FA88C}"/>
              </a:ext>
            </a:extLst>
          </p:cNvPr>
          <p:cNvSpPr txBox="1"/>
          <p:nvPr/>
        </p:nvSpPr>
        <p:spPr>
          <a:xfrm>
            <a:off x="725523" y="2371822"/>
            <a:ext cx="4149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541EAB2C-607B-47AD-9495-864E998A4862}"/>
                  </a:ext>
                </a:extLst>
              </p:cNvPr>
              <p:cNvSpPr txBox="1"/>
              <p:nvPr/>
            </p:nvSpPr>
            <p:spPr>
              <a:xfrm>
                <a:off x="1387646" y="2390049"/>
                <a:ext cx="2419041" cy="4210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𝑀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𝑔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541EAB2C-607B-47AD-9495-864E998A48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646" y="2390049"/>
                <a:ext cx="2419041" cy="421013"/>
              </a:xfrm>
              <a:prstGeom prst="rect">
                <a:avLst/>
              </a:prstGeom>
              <a:blipFill>
                <a:blip r:embed="rId4"/>
                <a:stretch>
                  <a:fillRect b="-1014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6">
                <a:extLst>
                  <a:ext uri="{FF2B5EF4-FFF2-40B4-BE49-F238E27FC236}">
                    <a16:creationId xmlns:a16="http://schemas.microsoft.com/office/drawing/2014/main" id="{13BB1F50-D3C4-493C-94A2-A944050E70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0065" y="3139785"/>
                <a:ext cx="177850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5pPr>
                <a:lvl6pPr marL="25146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6pPr>
                <a:lvl7pPr marL="29718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7pPr>
                <a:lvl8pPr marL="34290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8pPr>
                <a:lvl9pPr marL="38862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∗</m:t>
                          </m:r>
                        </m:sup>
                      </m:sSup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</m:t>
                      </m:r>
                      <m:r>
                        <a:rPr lang="en-US" altLang="zh-CN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𝑀</m:t>
                      </m:r>
                      <m:sSup>
                        <m:sSupPr>
                          <m:ctrlPr>
                            <a:rPr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∗</m:t>
                          </m:r>
                        </m:sup>
                      </m:sSup>
                      <m:r>
                        <a:rPr lang="en-US" altLang="zh-CN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+</m:t>
                      </m:r>
                      <m:r>
                        <a:rPr lang="en-US" altLang="zh-CN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𝑔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3" name="TextBox 6">
                <a:extLst>
                  <a:ext uri="{FF2B5EF4-FFF2-40B4-BE49-F238E27FC236}">
                    <a16:creationId xmlns:a16="http://schemas.microsoft.com/office/drawing/2014/main" id="{13BB1F50-D3C4-493C-94A2-A944050E70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0065" y="3139785"/>
                <a:ext cx="1778502" cy="400110"/>
              </a:xfrm>
              <a:prstGeom prst="rect">
                <a:avLst/>
              </a:prstGeom>
              <a:blipFill>
                <a:blip r:embed="rId5"/>
                <a:stretch>
                  <a:fillRect b="-1060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08C35371-1F24-4A58-87A5-9E235392A761}"/>
                  </a:ext>
                </a:extLst>
              </p:cNvPr>
              <p:cNvSpPr txBox="1"/>
              <p:nvPr/>
            </p:nvSpPr>
            <p:spPr>
              <a:xfrm>
                <a:off x="1379057" y="2785211"/>
                <a:ext cx="2419041" cy="4210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𝑀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−1</m:t>
                              </m:r>
                            </m:e>
                          </m:d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𝑔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08C35371-1F24-4A58-87A5-9E235392A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057" y="2785211"/>
                <a:ext cx="2419041" cy="421013"/>
              </a:xfrm>
              <a:prstGeom prst="rect">
                <a:avLst/>
              </a:prstGeom>
              <a:blipFill>
                <a:blip r:embed="rId6"/>
                <a:stretch>
                  <a:fillRect b="-869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右大括号 6">
            <a:extLst>
              <a:ext uri="{FF2B5EF4-FFF2-40B4-BE49-F238E27FC236}">
                <a16:creationId xmlns:a16="http://schemas.microsoft.com/office/drawing/2014/main" id="{418E026A-5670-4432-84C0-917BCFC219E0}"/>
              </a:ext>
            </a:extLst>
          </p:cNvPr>
          <p:cNvSpPr/>
          <p:nvPr/>
        </p:nvSpPr>
        <p:spPr>
          <a:xfrm>
            <a:off x="3716515" y="2591701"/>
            <a:ext cx="232888" cy="778418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5FBD7D9-3C9D-415E-8035-7E12E49E8327}"/>
                  </a:ext>
                </a:extLst>
              </p:cNvPr>
              <p:cNvSpPr txBox="1"/>
              <p:nvPr/>
            </p:nvSpPr>
            <p:spPr>
              <a:xfrm>
                <a:off x="3959342" y="2771932"/>
                <a:ext cx="5068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5FBD7D9-3C9D-415E-8035-7E12E49E83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342" y="2771932"/>
                <a:ext cx="506896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51252027-50EE-4C90-B861-0ECEC6D92024}"/>
                  </a:ext>
                </a:extLst>
              </p:cNvPr>
              <p:cNvSpPr txBox="1"/>
              <p:nvPr/>
            </p:nvSpPr>
            <p:spPr>
              <a:xfrm>
                <a:off x="4359982" y="2459163"/>
                <a:ext cx="3859385" cy="4456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−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𝑀</m:t>
                      </m:r>
                      <m:d>
                        <m:d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𝑘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−1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51252027-50EE-4C90-B861-0ECEC6D92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9982" y="2459163"/>
                <a:ext cx="3859385" cy="44563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967CFBF1-2705-477C-B200-F0121001CA6B}"/>
                  </a:ext>
                </a:extLst>
              </p:cNvPr>
              <p:cNvSpPr txBox="1"/>
              <p:nvPr/>
            </p:nvSpPr>
            <p:spPr>
              <a:xfrm>
                <a:off x="4368457" y="2914924"/>
                <a:ext cx="3859385" cy="4456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−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∗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𝑀</m:t>
                      </m:r>
                      <m:d>
                        <m:d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967CFBF1-2705-477C-B200-F0121001C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457" y="2914924"/>
                <a:ext cx="3859385" cy="44563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FDE98152-FE1B-4067-99BC-6798B9FAECF4}"/>
                  </a:ext>
                </a:extLst>
              </p:cNvPr>
              <p:cNvSpPr txBox="1"/>
              <p:nvPr/>
            </p:nvSpPr>
            <p:spPr>
              <a:xfrm>
                <a:off x="779624" y="3575265"/>
                <a:ext cx="1466619" cy="4456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FDE98152-FE1B-4067-99BC-6798B9FAE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624" y="3575265"/>
                <a:ext cx="1466619" cy="44563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813DD8F-7AF9-45DC-BE54-07CFAC94495B}"/>
                  </a:ext>
                </a:extLst>
              </p:cNvPr>
              <p:cNvSpPr/>
              <p:nvPr/>
            </p:nvSpPr>
            <p:spPr>
              <a:xfrm>
                <a:off x="2041348" y="3566258"/>
                <a:ext cx="3835987" cy="4456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𝑘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+1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𝑘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+1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813DD8F-7AF9-45DC-BE54-07CFAC9449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1348" y="3566258"/>
                <a:ext cx="3835987" cy="44563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2ED0DA71-9361-42EF-9BDA-73608602AABE}"/>
                  </a:ext>
                </a:extLst>
              </p:cNvPr>
              <p:cNvSpPr/>
              <p:nvPr/>
            </p:nvSpPr>
            <p:spPr>
              <a:xfrm>
                <a:off x="2053499" y="3559940"/>
                <a:ext cx="4028667" cy="4456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≤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𝑘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+1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+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𝑘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+1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2ED0DA71-9361-42EF-9BDA-73608602AA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3499" y="3559940"/>
                <a:ext cx="4028667" cy="44563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E80E9271-0899-4BED-BC4B-F73772729CDA}"/>
                  </a:ext>
                </a:extLst>
              </p:cNvPr>
              <p:cNvSpPr txBox="1"/>
              <p:nvPr/>
            </p:nvSpPr>
            <p:spPr>
              <a:xfrm>
                <a:off x="4212790" y="2456107"/>
                <a:ext cx="4578315" cy="4456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𝑘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+1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≤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d>
                        <m:dPr>
                          <m:begChr m:val="‖"/>
                          <m:endChr m:val="‖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E80E9271-0899-4BED-BC4B-F73772729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2790" y="2456107"/>
                <a:ext cx="4578315" cy="44563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56865A6E-9D12-4DFD-8689-CDE0C50C48E0}"/>
                  </a:ext>
                </a:extLst>
              </p:cNvPr>
              <p:cNvSpPr txBox="1"/>
              <p:nvPr/>
            </p:nvSpPr>
            <p:spPr>
              <a:xfrm>
                <a:off x="4422446" y="2916057"/>
                <a:ext cx="3859385" cy="4456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𝑘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+1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≤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d>
                        <m:dPr>
                          <m:begChr m:val="‖"/>
                          <m:endChr m:val="‖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56865A6E-9D12-4DFD-8689-CDE0C50C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2446" y="2916057"/>
                <a:ext cx="3859385" cy="44563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E3DD69A5-C66D-4E71-AE6E-982C068B0B6A}"/>
                  </a:ext>
                </a:extLst>
              </p:cNvPr>
              <p:cNvSpPr/>
              <p:nvPr/>
            </p:nvSpPr>
            <p:spPr>
              <a:xfrm>
                <a:off x="2075071" y="3563156"/>
                <a:ext cx="4771371" cy="4456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≤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d>
                        <m:dPr>
                          <m:begChr m:val="‖"/>
                          <m:endChr m:val="‖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+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d>
                        <m:dPr>
                          <m:begChr m:val="‖"/>
                          <m:endChr m:val="‖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E3DD69A5-C66D-4E71-AE6E-982C068B0B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5071" y="3563156"/>
                <a:ext cx="4771371" cy="44563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2CADF64A-CF63-4B75-BEFE-14212EFC33D6}"/>
                  </a:ext>
                </a:extLst>
              </p:cNvPr>
              <p:cNvSpPr txBox="1"/>
              <p:nvPr/>
            </p:nvSpPr>
            <p:spPr>
              <a:xfrm>
                <a:off x="6626343" y="3570371"/>
                <a:ext cx="5068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2CADF64A-CF63-4B75-BEFE-14212EFC3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6343" y="3570371"/>
                <a:ext cx="506896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6D3E5120-8BD6-4599-BE6E-65C227AF9242}"/>
              </a:ext>
            </a:extLst>
          </p:cNvPr>
          <p:cNvSpPr txBox="1"/>
          <p:nvPr/>
        </p:nvSpPr>
        <p:spPr>
          <a:xfrm>
            <a:off x="6944139" y="3570371"/>
            <a:ext cx="18226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不等式（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561E0FB-062A-4431-9D30-98284C9C1A07}"/>
              </a:ext>
            </a:extLst>
          </p:cNvPr>
          <p:cNvSpPr txBox="1"/>
          <p:nvPr/>
        </p:nvSpPr>
        <p:spPr>
          <a:xfrm>
            <a:off x="598809" y="4044389"/>
            <a:ext cx="725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结合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A4650A83-7F73-4CAB-8CAD-383975FEF122}"/>
                  </a:ext>
                </a:extLst>
              </p:cNvPr>
              <p:cNvSpPr txBox="1"/>
              <p:nvPr/>
            </p:nvSpPr>
            <p:spPr>
              <a:xfrm>
                <a:off x="1129290" y="4043323"/>
                <a:ext cx="5844210" cy="7989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  <a:sym typeface="Symbol" panose="05050102010706020507" pitchFamily="18" charset="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  <a:sym typeface="Symbol" panose="05050102010706020507" pitchFamily="18" charset="2"/>
                                  </a:rPr>
                                  <m:t>𝑘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  <a:sym typeface="Symbol" panose="05050102010706020507" pitchFamily="18" charset="2"/>
                                  </a:rPr>
                                  <m:t>+1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  <a:sym typeface="Symbol" panose="05050102010706020507" pitchFamily="18" charset="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  <a:sym typeface="Symbol" panose="05050102010706020507" pitchFamily="18" charset="2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≤</m:t>
                    </m:r>
                    <m:d>
                      <m:dPr>
                        <m:begChr m:val="‖"/>
                        <m:endChr m:val="‖"/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e>
                        </m:d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‖"/>
                        <m:endChr m:val="‖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≤⋯≤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e>
                        </m:d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begChr m:val="‖"/>
                        <m:endChr m:val="‖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A4650A83-7F73-4CAB-8CAD-383975FEF1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290" y="4043323"/>
                <a:ext cx="5844210" cy="79893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6738CF43-4885-441C-A7EE-5723661473D9}"/>
                  </a:ext>
                </a:extLst>
              </p:cNvPr>
              <p:cNvSpPr txBox="1"/>
              <p:nvPr/>
            </p:nvSpPr>
            <p:spPr>
              <a:xfrm>
                <a:off x="6662789" y="4278253"/>
                <a:ext cx="44394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6738CF43-4885-441C-A7EE-572366147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2789" y="4278253"/>
                <a:ext cx="443949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文本框 57">
            <a:extLst>
              <a:ext uri="{FF2B5EF4-FFF2-40B4-BE49-F238E27FC236}">
                <a16:creationId xmlns:a16="http://schemas.microsoft.com/office/drawing/2014/main" id="{B2CBD9C0-01B6-4908-A992-0FD422F64B35}"/>
              </a:ext>
            </a:extLst>
          </p:cNvPr>
          <p:cNvSpPr txBox="1"/>
          <p:nvPr/>
        </p:nvSpPr>
        <p:spPr>
          <a:xfrm>
            <a:off x="6984154" y="4278253"/>
            <a:ext cx="163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不等式（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lang="en-US" altLang="zh-CN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D18B4596-E821-4327-B85C-1A6A96E7FFEF}"/>
              </a:ext>
            </a:extLst>
          </p:cNvPr>
          <p:cNvCxnSpPr>
            <a:cxnSpLocks/>
          </p:cNvCxnSpPr>
          <p:nvPr/>
        </p:nvCxnSpPr>
        <p:spPr>
          <a:xfrm>
            <a:off x="2513198" y="2229772"/>
            <a:ext cx="281608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80B15C8E-7DD4-4651-8043-F83793FBBA8F}"/>
              </a:ext>
            </a:extLst>
          </p:cNvPr>
          <p:cNvCxnSpPr>
            <a:cxnSpLocks/>
          </p:cNvCxnSpPr>
          <p:nvPr/>
        </p:nvCxnSpPr>
        <p:spPr>
          <a:xfrm flipV="1">
            <a:off x="5516219" y="2213209"/>
            <a:ext cx="2576142" cy="1781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A6C00F05-F253-4439-9820-1E3182D72A7D}"/>
              </a:ext>
            </a:extLst>
          </p:cNvPr>
          <p:cNvSpPr txBox="1"/>
          <p:nvPr/>
        </p:nvSpPr>
        <p:spPr>
          <a:xfrm>
            <a:off x="3798098" y="1992659"/>
            <a:ext cx="538116" cy="2923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（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32EACB90-2ED8-4CB1-BCC9-A4E454AD6297}"/>
              </a:ext>
            </a:extLst>
          </p:cNvPr>
          <p:cNvSpPr txBox="1"/>
          <p:nvPr/>
        </p:nvSpPr>
        <p:spPr>
          <a:xfrm>
            <a:off x="6892476" y="1986035"/>
            <a:ext cx="538116" cy="2923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（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985048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9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9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/>
      <p:bldP spid="5" grpId="0" animBg="1"/>
      <p:bldP spid="24" grpId="0"/>
      <p:bldP spid="4" grpId="0"/>
      <p:bldP spid="6" grpId="0"/>
      <p:bldP spid="28" grpId="0"/>
      <p:bldP spid="32" grpId="0"/>
      <p:bldP spid="33" grpId="0"/>
      <p:bldP spid="34" grpId="0"/>
      <p:bldP spid="7" grpId="0" animBg="1"/>
      <p:bldP spid="8" grpId="0"/>
      <p:bldP spid="35" grpId="0"/>
      <p:bldP spid="35" grpId="1"/>
      <p:bldP spid="36" grpId="0"/>
      <p:bldP spid="36" grpId="1"/>
      <p:bldP spid="37" grpId="0"/>
      <p:bldP spid="9" grpId="0"/>
      <p:bldP spid="9" grpId="1"/>
      <p:bldP spid="39" grpId="0"/>
      <p:bldP spid="39" grpId="1"/>
      <p:bldP spid="40" grpId="0"/>
      <p:bldP spid="41" grpId="0"/>
      <p:bldP spid="42" grpId="0"/>
      <p:bldP spid="43" grpId="0"/>
      <p:bldP spid="10" grpId="0"/>
      <p:bldP spid="46" grpId="0"/>
      <p:bldP spid="47" grpId="0"/>
      <p:bldP spid="48" grpId="0"/>
      <p:bldP spid="58" grpId="0"/>
      <p:bldP spid="17" grpId="0" animBg="1"/>
      <p:bldP spid="6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E7F064F-8544-4E76-8BE6-D4D3ABC8F908}"/>
              </a:ext>
            </a:extLst>
          </p:cNvPr>
          <p:cNvCxnSpPr>
            <a:cxnSpLocks/>
          </p:cNvCxnSpPr>
          <p:nvPr/>
        </p:nvCxnSpPr>
        <p:spPr>
          <a:xfrm>
            <a:off x="0" y="371476"/>
            <a:ext cx="2872409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5CEFB25-3703-4C02-9EC2-99523841BF1B}"/>
              </a:ext>
            </a:extLst>
          </p:cNvPr>
          <p:cNvCxnSpPr>
            <a:cxnSpLocks/>
          </p:cNvCxnSpPr>
          <p:nvPr/>
        </p:nvCxnSpPr>
        <p:spPr>
          <a:xfrm flipV="1">
            <a:off x="6003235" y="336951"/>
            <a:ext cx="2929718" cy="3452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DBAA461A-721D-4411-8E0C-37C00FB41582}"/>
              </a:ext>
            </a:extLst>
          </p:cNvPr>
          <p:cNvSpPr txBox="1"/>
          <p:nvPr/>
        </p:nvSpPr>
        <p:spPr>
          <a:xfrm>
            <a:off x="1769733" y="153919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迭代法解的误差分析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9D37D940-B031-43D7-B1E4-82671703B6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210" y="706981"/>
            <a:ext cx="3911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迭代法解的误差估计式的应用</a:t>
            </a:r>
            <a:endParaRPr lang="en-US" altLang="zh-CN" dirty="0">
              <a:solidFill>
                <a:srgbClr val="004A8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923E89D-48EA-43DF-A541-7296F89EB710}"/>
              </a:ext>
            </a:extLst>
          </p:cNvPr>
          <p:cNvSpPr txBox="1"/>
          <p:nvPr/>
        </p:nvSpPr>
        <p:spPr>
          <a:xfrm>
            <a:off x="616227" y="1272209"/>
            <a:ext cx="37967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为迭代法提供迭代终止条件：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44457C9-F3EE-431A-BFAC-39AA8B149F09}"/>
                  </a:ext>
                </a:extLst>
              </p:cNvPr>
              <p:cNvSpPr txBox="1"/>
              <p:nvPr/>
            </p:nvSpPr>
            <p:spPr>
              <a:xfrm>
                <a:off x="1240991" y="1820648"/>
                <a:ext cx="2454964" cy="451086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𝑘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−1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zh-CN" alt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44457C9-F3EE-431A-BFAC-39AA8B149F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991" y="1820648"/>
                <a:ext cx="2454964" cy="4510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23C0368-6534-4F51-9D75-72184A8BE517}"/>
                  </a:ext>
                </a:extLst>
              </p:cNvPr>
              <p:cNvSpPr txBox="1"/>
              <p:nvPr/>
            </p:nvSpPr>
            <p:spPr>
              <a:xfrm>
                <a:off x="614823" y="2345511"/>
                <a:ext cx="609409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对事先给定的精度要求</a:t>
                </a:r>
                <a14:m>
                  <m:oMath xmlns:m="http://schemas.openxmlformats.org/officeDocument/2006/math">
                    <m:r>
                      <a:rPr lang="zh-CN" altLang="en-US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，可提前预估迭代步数</a:t>
                </a:r>
                <a14:m>
                  <m:oMath xmlns:m="http://schemas.openxmlformats.org/officeDocument/2006/math">
                    <m:r>
                      <a:rPr lang="en-US" altLang="zh-CN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𝑘</m:t>
                    </m:r>
                    <m:r>
                      <a:rPr lang="en-US" altLang="zh-CN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 </m:t>
                    </m:r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：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23C0368-6534-4F51-9D75-72184A8BE5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823" y="2345511"/>
                <a:ext cx="6094090" cy="400110"/>
              </a:xfrm>
              <a:prstGeom prst="rect">
                <a:avLst/>
              </a:prstGeom>
              <a:blipFill>
                <a:blip r:embed="rId3"/>
                <a:stretch>
                  <a:fillRect l="-900" t="-7692" r="-5100" b="-2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0434CF4-F6ED-49D9-BB2B-5423F8AC4136}"/>
                  </a:ext>
                </a:extLst>
              </p:cNvPr>
              <p:cNvSpPr txBox="1"/>
              <p:nvPr/>
            </p:nvSpPr>
            <p:spPr>
              <a:xfrm>
                <a:off x="951331" y="2836177"/>
                <a:ext cx="2680719" cy="4456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要使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zh-CN" alt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zh-CN" alt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0434CF4-F6ED-49D9-BB2B-5423F8AC41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331" y="2836177"/>
                <a:ext cx="2680719" cy="445635"/>
              </a:xfrm>
              <a:prstGeom prst="rect">
                <a:avLst/>
              </a:prstGeom>
              <a:blipFill>
                <a:blip r:embed="rId4"/>
                <a:stretch>
                  <a:fillRect b="-41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D9E604C-BBE2-4885-B396-BD54E2B7FFD4}"/>
                  </a:ext>
                </a:extLst>
              </p:cNvPr>
              <p:cNvSpPr txBox="1"/>
              <p:nvPr/>
            </p:nvSpPr>
            <p:spPr>
              <a:xfrm>
                <a:off x="3355646" y="2858939"/>
                <a:ext cx="62994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只需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D9E604C-BBE2-4885-B396-BD54E2B7FF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5646" y="2858939"/>
                <a:ext cx="629945" cy="400110"/>
              </a:xfrm>
              <a:prstGeom prst="rect">
                <a:avLst/>
              </a:prstGeom>
              <a:blipFill>
                <a:blip r:embed="rId5"/>
                <a:stretch>
                  <a:fillRect l="-2885" r="-13462" b="-75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097C491B-37E1-4749-991C-D58CCA7FFD3B}"/>
                  </a:ext>
                </a:extLst>
              </p:cNvPr>
              <p:cNvSpPr/>
              <p:nvPr/>
            </p:nvSpPr>
            <p:spPr>
              <a:xfrm>
                <a:off x="4094922" y="2734880"/>
                <a:ext cx="3114892" cy="7575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𝑀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𝑘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1−</m:t>
                          </m:r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𝑀</m:t>
                              </m:r>
                            </m:e>
                          </m:d>
                        </m:den>
                      </m:f>
                      <m:d>
                        <m:dPr>
                          <m:begChr m:val="‖"/>
                          <m:endChr m:val="‖"/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(1)</m:t>
                              </m:r>
                            </m:sup>
                          </m:sSup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0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altLang="zh-CN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≤</m:t>
                      </m:r>
                      <m:r>
                        <a:rPr lang="zh-CN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𝜀</m:t>
                      </m:r>
                    </m:oMath>
                  </m:oMathPara>
                </a14:m>
                <a:endParaRPr lang="zh-CN" altLang="en-US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097C491B-37E1-4749-991C-D58CCA7FFD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4922" y="2734880"/>
                <a:ext cx="3114892" cy="7575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F081D6E-5A76-45C8-A879-256D246926BB}"/>
                  </a:ext>
                </a:extLst>
              </p:cNvPr>
              <p:cNvSpPr txBox="1"/>
              <p:nvPr/>
            </p:nvSpPr>
            <p:spPr>
              <a:xfrm>
                <a:off x="884115" y="3403009"/>
                <a:ext cx="62994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即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F081D6E-5A76-45C8-A879-256D246926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115" y="3403009"/>
                <a:ext cx="629945" cy="400110"/>
              </a:xfrm>
              <a:prstGeom prst="rect">
                <a:avLst/>
              </a:prstGeom>
              <a:blipFill>
                <a:blip r:embed="rId7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BF2FAD69-D33C-41F2-85D7-92941FDBBB28}"/>
                  </a:ext>
                </a:extLst>
              </p:cNvPr>
              <p:cNvSpPr/>
              <p:nvPr/>
            </p:nvSpPr>
            <p:spPr>
              <a:xfrm>
                <a:off x="1921567" y="3612833"/>
                <a:ext cx="4181058" cy="6451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000" dirty="0">
                    <a:solidFill>
                      <a:srgbClr val="004A82"/>
                    </a:solidFill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𝑘</m:t>
                    </m:r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f>
                      <m:fPr>
                        <m:type m:val="lin"/>
                        <m:ctrlP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𝑙𝑛</m:t>
                            </m:r>
                            <m:r>
                              <a:rPr lang="zh-CN" alt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𝑙𝑛</m:t>
                            </m:r>
                            <m:f>
                              <m:fPr>
                                <m:ctrlPr>
                                  <a:rPr lang="en-US" altLang="zh-CN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1−</m:t>
                                </m:r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</m:d>
                              </m:num>
                              <m:den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CN" sz="20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0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ctrlPr>
                                              <a:rPr lang="en-US" altLang="zh-CN" sz="20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CN" sz="20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altLang="zh-CN" sz="20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0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ctrlPr>
                                              <a:rPr lang="en-US" altLang="zh-CN" sz="20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CN" sz="20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den>
                            </m:f>
                          </m:e>
                        </m:d>
                      </m:num>
                      <m:den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𝑙𝑛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e>
                        </m:d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.</m:t>
                        </m:r>
                      </m:den>
                    </m:f>
                  </m:oMath>
                </a14:m>
                <a:endParaRPr lang="zh-CN" altLang="en-US" sz="2000" i="1" dirty="0">
                  <a:solidFill>
                    <a:srgbClr val="004A82"/>
                  </a:solidFill>
                  <a:latin typeface="Cambria Math" panose="02040503050406030204" pitchFamily="18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BF2FAD69-D33C-41F2-85D7-92941FDBBB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1567" y="3612833"/>
                <a:ext cx="4181058" cy="6451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6EC07D33-BCEE-4A20-A6FD-C0903B4DF8A7}"/>
                  </a:ext>
                </a:extLst>
              </p:cNvPr>
              <p:cNvSpPr/>
              <p:nvPr/>
            </p:nvSpPr>
            <p:spPr>
              <a:xfrm>
                <a:off x="4597465" y="593725"/>
                <a:ext cx="4775198" cy="12637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altLang="zh-CN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</m:d>
                        </m:num>
                        <m:den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</m:d>
                        </m:den>
                      </m:f>
                      <m:d>
                        <m:dPr>
                          <m:begChr m:val="‖"/>
                          <m:endChr m:val="‖"/>
                          <m:ctrlP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1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    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 </m:t>
                      </m:r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</m:d>
                        </m:den>
                      </m:f>
                      <m:d>
                        <m:dPr>
                          <m:begChr m:val="‖"/>
                          <m:endChr m:val="‖"/>
                          <m:ctrlP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p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1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6EC07D33-BCEE-4A20-A6FD-C0903B4DF8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7465" y="593725"/>
                <a:ext cx="4775198" cy="126374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ED96FB98-0742-4387-8727-4BB3D01FECBE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3695955" y="2044874"/>
            <a:ext cx="1049280" cy="13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691B7414-03C2-464A-834C-D09E7AB95B03}"/>
                  </a:ext>
                </a:extLst>
              </p:cNvPr>
              <p:cNvSpPr txBox="1"/>
              <p:nvPr/>
            </p:nvSpPr>
            <p:spPr>
              <a:xfrm>
                <a:off x="4731027" y="1826588"/>
                <a:ext cx="2035476" cy="421013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zh-CN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作为</m:t>
                      </m:r>
                      <m:r>
                        <a:rPr lang="zh-CN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近似解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.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691B7414-03C2-464A-834C-D09E7AB95B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1027" y="1826588"/>
                <a:ext cx="2035476" cy="421013"/>
              </a:xfrm>
              <a:prstGeom prst="rect">
                <a:avLst/>
              </a:prstGeom>
              <a:blipFill>
                <a:blip r:embed="rId10"/>
                <a:stretch>
                  <a:fillRect b="-9859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本框 19">
            <a:extLst>
              <a:ext uri="{FF2B5EF4-FFF2-40B4-BE49-F238E27FC236}">
                <a16:creationId xmlns:a16="http://schemas.microsoft.com/office/drawing/2014/main" id="{DD853DED-56BC-44DE-9E9D-30A42F6CABEB}"/>
              </a:ext>
            </a:extLst>
          </p:cNvPr>
          <p:cNvSpPr txBox="1"/>
          <p:nvPr/>
        </p:nvSpPr>
        <p:spPr>
          <a:xfrm>
            <a:off x="3619277" y="1676041"/>
            <a:ext cx="1188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停止迭代</a:t>
            </a:r>
          </a:p>
        </p:txBody>
      </p:sp>
    </p:spTree>
    <p:extLst>
      <p:ext uri="{BB962C8B-B14F-4D97-AF65-F5344CB8AC3E}">
        <p14:creationId xmlns:p14="http://schemas.microsoft.com/office/powerpoint/2010/main" val="4113789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/>
      <p:bldP spid="4" grpId="0"/>
      <p:bldP spid="7" grpId="0" animBg="1"/>
      <p:bldP spid="8" grpId="0"/>
      <p:bldP spid="9" grpId="0"/>
      <p:bldP spid="10" grpId="0"/>
      <p:bldP spid="5" grpId="0"/>
      <p:bldP spid="12" grpId="0"/>
      <p:bldP spid="13" grpId="0"/>
      <p:bldP spid="6" grpId="0"/>
      <p:bldP spid="18" grpId="0" animBg="1"/>
      <p:bldP spid="2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E7F064F-8544-4E76-8BE6-D4D3ABC8F908}"/>
              </a:ext>
            </a:extLst>
          </p:cNvPr>
          <p:cNvCxnSpPr>
            <a:cxnSpLocks/>
          </p:cNvCxnSpPr>
          <p:nvPr/>
        </p:nvCxnSpPr>
        <p:spPr>
          <a:xfrm flipV="1">
            <a:off x="0" y="368300"/>
            <a:ext cx="2513198" cy="3176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5CEFB25-3703-4C02-9EC2-99523841BF1B}"/>
              </a:ext>
            </a:extLst>
          </p:cNvPr>
          <p:cNvCxnSpPr>
            <a:cxnSpLocks/>
          </p:cNvCxnSpPr>
          <p:nvPr/>
        </p:nvCxnSpPr>
        <p:spPr>
          <a:xfrm>
            <a:off x="6501947" y="336951"/>
            <a:ext cx="2431006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DBAA461A-721D-4411-8E0C-37C00FB41582}"/>
              </a:ext>
            </a:extLst>
          </p:cNvPr>
          <p:cNvSpPr txBox="1"/>
          <p:nvPr/>
        </p:nvSpPr>
        <p:spPr>
          <a:xfrm>
            <a:off x="1829367" y="168275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迭代法解的误差分析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9D37D940-B031-43D7-B1E4-82671703B6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542" y="568295"/>
            <a:ext cx="316505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例题</a:t>
            </a:r>
            <a:endParaRPr lang="en-US" altLang="zh-CN" dirty="0">
              <a:solidFill>
                <a:srgbClr val="004A8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DED0B92-D51D-466D-8AB5-6196F82F6A02}"/>
                  </a:ext>
                </a:extLst>
              </p:cNvPr>
              <p:cNvSpPr txBox="1"/>
              <p:nvPr/>
            </p:nvSpPr>
            <p:spPr>
              <a:xfrm>
                <a:off x="492542" y="855647"/>
                <a:ext cx="6201562" cy="8004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    分别用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𝐽</m:t>
                    </m:r>
                    <m:r>
                      <a:rPr lang="zh-CN" altLang="en-US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法和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𝐺𝑆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法解方程组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取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zh-CN" altLang="en-US" sz="200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𝑥</m:t>
                        </m:r>
                      </m:e>
                      <m:sup>
                        <m:r>
                          <a:rPr lang="zh-CN" altLang="en-US" sz="200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(0)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0,0,0,</m:t>
                            </m:r>
                          </m:e>
                        </m:d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</a:p>
              <a:p>
                <a:r>
                  <a:rPr lang="zh-CN" altLang="en-US" sz="2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若使误差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altLang="zh-CN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−5</m:t>
                        </m:r>
                      </m:sup>
                    </m:sSup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,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问需要迭代多少次？</a:t>
                </a:r>
                <a:endParaRPr lang="zh-CN" altLang="en-US" sz="20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DED0B92-D51D-466D-8AB5-6196F82F6A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542" y="855647"/>
                <a:ext cx="6201562" cy="800412"/>
              </a:xfrm>
              <a:prstGeom prst="rect">
                <a:avLst/>
              </a:prstGeom>
              <a:blipFill>
                <a:blip r:embed="rId2"/>
                <a:stretch>
                  <a:fillRect l="-1082" t="-1515" b="-60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9C183648-1CDA-4544-95FE-248CF96A495B}"/>
                  </a:ext>
                </a:extLst>
              </p:cNvPr>
              <p:cNvSpPr/>
              <p:nvPr/>
            </p:nvSpPr>
            <p:spPr>
              <a:xfrm>
                <a:off x="6037568" y="568325"/>
                <a:ext cx="2984503" cy="9766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sSub>
                                  <m:sSubPr>
                                    <m:ctrlPr>
                                      <a:rPr lang="zh-CN" alt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18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800" b="0" i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b>
                                  <m:sSubPr>
                                    <m:ctrlPr>
                                      <a:rPr lang="zh-CN" alt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18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sz="18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180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zh-CN" altLang="en-US" sz="18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zh-CN" alt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18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−10</m:t>
                                </m:r>
                                <m:sSub>
                                  <m:sSubPr>
                                    <m:ctrlPr>
                                      <a:rPr lang="zh-CN" alt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18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1800" b="0" i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zh-CN" altLang="en-US" sz="1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180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zh-CN" altLang="en-US" sz="18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18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sz="18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b>
                                  <m:sSubPr>
                                    <m:ctrlPr>
                                      <a:rPr lang="zh-CN" alt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18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sz="18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sSub>
                                  <m:sSubPr>
                                    <m:ctrlPr>
                                      <a:rPr lang="zh-CN" alt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180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zh-CN" altLang="en-US" sz="18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9C183648-1CDA-4544-95FE-248CF96A49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7568" y="568325"/>
                <a:ext cx="2984503" cy="9766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B0F4E376-B220-4C9E-9A4B-E97D8F45462B}"/>
              </a:ext>
            </a:extLst>
          </p:cNvPr>
          <p:cNvSpPr txBox="1"/>
          <p:nvPr/>
        </p:nvSpPr>
        <p:spPr>
          <a:xfrm>
            <a:off x="342566" y="1626240"/>
            <a:ext cx="4999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解：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9FCBA3CD-5726-4FCC-B909-E05E35592168}"/>
                  </a:ext>
                </a:extLst>
              </p:cNvPr>
              <p:cNvSpPr/>
              <p:nvPr/>
            </p:nvSpPr>
            <p:spPr>
              <a:xfrm>
                <a:off x="1519246" y="1620277"/>
                <a:ext cx="2829745" cy="14241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+1)</m:t>
                                  </m:r>
                                </m:sup>
                              </m:sSubSup>
                              <m: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f>
                                <m:fPr>
                                  <m:ctrlP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  <m:e>
                              <m: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+1)</m:t>
                                  </m:r>
                                </m:sup>
                              </m:sSubSup>
                              <m: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+1)</m:t>
                                  </m:r>
                                </m:sup>
                              </m:sSubSup>
                              <m: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f>
                                <m:fPr>
                                  <m:ctrlP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9FCBA3CD-5726-4FCC-B909-E05E355921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9246" y="1620277"/>
                <a:ext cx="2829745" cy="14241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476F7BBE-4141-4602-B459-8313911BCC22}"/>
                  </a:ext>
                </a:extLst>
              </p:cNvPr>
              <p:cNvSpPr/>
              <p:nvPr/>
            </p:nvSpPr>
            <p:spPr>
              <a:xfrm>
                <a:off x="4379058" y="2190940"/>
                <a:ext cx="1812484" cy="3808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18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pPr>
                        <m:e>
                          <m:r>
                            <a:rPr lang="zh-CN" altLang="en-US" sz="18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18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(0)</m:t>
                          </m:r>
                        </m:sup>
                      </m:sSup>
                      <m:r>
                        <a:rPr lang="en-US" altLang="zh-CN" sz="18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18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0,0,0,</m:t>
                              </m:r>
                            </m:e>
                          </m:d>
                        </m:e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476F7BBE-4141-4602-B459-8313911BCC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9058" y="2190940"/>
                <a:ext cx="1812484" cy="3808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36E0F980-3DEA-4390-A129-0CCE9F7E9149}"/>
                  </a:ext>
                </a:extLst>
              </p:cNvPr>
              <p:cNvSpPr/>
              <p:nvPr/>
            </p:nvSpPr>
            <p:spPr>
              <a:xfrm>
                <a:off x="4379058" y="2547685"/>
                <a:ext cx="2254913" cy="3808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18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pPr>
                        <m:e>
                          <m:r>
                            <a:rPr lang="zh-CN" altLang="en-US" sz="18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18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(</m:t>
                          </m:r>
                          <m:r>
                            <a:rPr lang="en-US" altLang="zh-CN" sz="1800" b="0" i="0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1</m:t>
                          </m:r>
                          <m:r>
                            <a:rPr lang="zh-CN" altLang="en-US" sz="18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)</m:t>
                          </m:r>
                        </m:sup>
                      </m:sSup>
                      <m:r>
                        <a:rPr lang="en-US" altLang="zh-CN" sz="18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18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1.4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,0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.5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,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1.4</m:t>
                              </m:r>
                            </m:e>
                          </m:d>
                        </m:e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36E0F980-3DEA-4390-A129-0CCE9F7E91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9058" y="2547685"/>
                <a:ext cx="2254913" cy="3808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41B45C39-260C-4048-9070-5DAD2E695389}"/>
                  </a:ext>
                </a:extLst>
              </p:cNvPr>
              <p:cNvSpPr/>
              <p:nvPr/>
            </p:nvSpPr>
            <p:spPr>
              <a:xfrm>
                <a:off x="962971" y="3160687"/>
                <a:ext cx="2475293" cy="4410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(0)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=1.4</m:t>
                    </m:r>
                  </m:oMath>
                </a14:m>
                <a:r>
                  <a:rPr lang="zh-CN" altLang="en-US" sz="1800" dirty="0"/>
                  <a:t>，</a:t>
                </a: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41B45C39-260C-4048-9070-5DAD2E6953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971" y="3160687"/>
                <a:ext cx="2475293" cy="441083"/>
              </a:xfrm>
              <a:prstGeom prst="rect">
                <a:avLst/>
              </a:prstGeom>
              <a:blipFill>
                <a:blip r:embed="rId7"/>
                <a:stretch>
                  <a:fillRect t="-6849" r="-1232" b="-41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079C6F0-E9D4-45BF-AED1-BE30D704765B}"/>
                  </a:ext>
                </a:extLst>
              </p:cNvPr>
              <p:cNvSpPr txBox="1"/>
              <p:nvPr/>
            </p:nvSpPr>
            <p:spPr>
              <a:xfrm>
                <a:off x="6694104" y="1566355"/>
                <a:ext cx="2158349" cy="13684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079C6F0-E9D4-45BF-AED1-BE30D7047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4104" y="1566355"/>
                <a:ext cx="2158349" cy="13684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FC5BD92-9A3F-4B3D-B763-90DD8B8729E5}"/>
                  </a:ext>
                </a:extLst>
              </p:cNvPr>
              <p:cNvSpPr txBox="1"/>
              <p:nvPr/>
            </p:nvSpPr>
            <p:spPr>
              <a:xfrm>
                <a:off x="3436649" y="3160687"/>
                <a:ext cx="16323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=0.5.</m:t>
                      </m:r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FC5BD92-9A3F-4B3D-B763-90DD8B872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6649" y="3160687"/>
                <a:ext cx="163230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E81E14DB-B004-4BDC-BBEF-EC072EFC0D48}"/>
              </a:ext>
            </a:extLst>
          </p:cNvPr>
          <p:cNvSpPr txBox="1"/>
          <p:nvPr/>
        </p:nvSpPr>
        <p:spPr>
          <a:xfrm>
            <a:off x="4379058" y="1762539"/>
            <a:ext cx="1001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由于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D8123066-80D6-4FF3-8693-C9C768E68BB4}"/>
                  </a:ext>
                </a:extLst>
              </p:cNvPr>
              <p:cNvSpPr txBox="1"/>
              <p:nvPr/>
            </p:nvSpPr>
            <p:spPr>
              <a:xfrm>
                <a:off x="880499" y="3733574"/>
                <a:ext cx="1032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1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应满足</a:t>
                </a: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D8123066-80D6-4FF3-8693-C9C768E68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499" y="3733574"/>
                <a:ext cx="1032447" cy="369332"/>
              </a:xfrm>
              <a:prstGeom prst="rect">
                <a:avLst/>
              </a:prstGeom>
              <a:blipFill>
                <a:blip r:embed="rId10"/>
                <a:stretch>
                  <a:fillRect t="-6557" r="-2941" b="-26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60696CB8-7618-4FC9-8B2D-26916DF8EC65}"/>
                  </a:ext>
                </a:extLst>
              </p:cNvPr>
              <p:cNvSpPr/>
              <p:nvPr/>
            </p:nvSpPr>
            <p:spPr>
              <a:xfrm>
                <a:off x="1830473" y="3569788"/>
                <a:ext cx="3404650" cy="5883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1600">
                          <a:latin typeface="Cambria Math" panose="02040503050406030204" pitchFamily="18" charset="0"/>
                        </a:rPr>
                        <m:t>&gt;</m:t>
                      </m:r>
                      <m:r>
                        <m:rPr>
                          <m:sty m:val="p"/>
                        </m:rPr>
                        <a:rPr lang="zh-CN" altLang="en-US" sz="160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zh-CN" altLang="en-US" sz="160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600">
                              <a:latin typeface="Cambria Math" panose="02040503050406030204" pitchFamily="18" charset="0"/>
                            </a:rPr>
                            <m:t>0.5×</m:t>
                          </m:r>
                          <m:sSup>
                            <m:sSupPr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60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zh-CN" altLang="en-US" sz="1600"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1600">
                              <a:latin typeface="Cambria Math" panose="02040503050406030204" pitchFamily="18" charset="0"/>
                            </a:rPr>
                            <m:t>1.4</m:t>
                          </m:r>
                        </m:den>
                      </m:f>
                      <m:f>
                        <m:fPr>
                          <m:type m:val="lin"/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60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altLang="en-US" sz="1600">
                              <a:latin typeface="Cambria Math" panose="02040503050406030204" pitchFamily="18" charset="0"/>
                            </a:rPr>
                            <m:t>ln</m:t>
                          </m:r>
                        </m:den>
                      </m:f>
                      <m:r>
                        <a:rPr lang="zh-CN" altLang="en-US" sz="1600">
                          <a:latin typeface="Cambria Math" panose="02040503050406030204" pitchFamily="18" charset="0"/>
                        </a:rPr>
                        <m:t>0.5≈18.095</m:t>
                      </m:r>
                    </m:oMath>
                  </m:oMathPara>
                </a14:m>
                <a:endParaRPr lang="zh-CN" altLang="en-US" sz="16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60696CB8-7618-4FC9-8B2D-26916DF8EC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0473" y="3569788"/>
                <a:ext cx="3404650" cy="58836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Box 28">
                <a:extLst>
                  <a:ext uri="{FF2B5EF4-FFF2-40B4-BE49-F238E27FC236}">
                    <a16:creationId xmlns:a16="http://schemas.microsoft.com/office/drawing/2014/main" id="{22746368-B523-4120-AAF4-45633AFC41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0499" y="4154521"/>
                <a:ext cx="3404650" cy="4251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故取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1800" b="0" i="0" smtClean="0">
                        <a:latin typeface="Cambria Math" panose="02040503050406030204" pitchFamily="18" charset="0"/>
                      </a:rPr>
                      <m:t>=19</m:t>
                    </m:r>
                  </m:oMath>
                </a14:m>
                <a:r>
                  <a:rPr lang="en-US" altLang="zh-CN" sz="1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 </a:t>
                </a:r>
                <a:r>
                  <a:rPr lang="zh-CN" altLang="en-US" sz="1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即需要迭代</a:t>
                </a:r>
                <a:r>
                  <a:rPr lang="en-US" altLang="zh-CN" sz="1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19</a:t>
                </a:r>
                <a:r>
                  <a:rPr lang="zh-CN" altLang="en-US" sz="1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次</a:t>
                </a:r>
                <a:r>
                  <a:rPr lang="en-US" altLang="zh-CN" sz="1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20" name="Text Box 28">
                <a:extLst>
                  <a:ext uri="{FF2B5EF4-FFF2-40B4-BE49-F238E27FC236}">
                    <a16:creationId xmlns:a16="http://schemas.microsoft.com/office/drawing/2014/main" id="{22746368-B523-4120-AAF4-45633AFC4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0499" y="4154521"/>
                <a:ext cx="3404650" cy="425181"/>
              </a:xfrm>
              <a:prstGeom prst="rect">
                <a:avLst/>
              </a:prstGeom>
              <a:blipFill>
                <a:blip r:embed="rId12"/>
                <a:stretch>
                  <a:fillRect l="-1431" b="-2463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4275B9D7-7515-464C-890B-6DA31A69AB5C}"/>
                  </a:ext>
                </a:extLst>
              </p:cNvPr>
              <p:cNvSpPr txBox="1"/>
              <p:nvPr/>
            </p:nvSpPr>
            <p:spPr>
              <a:xfrm>
                <a:off x="692497" y="1620277"/>
                <a:ext cx="80682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（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𝐽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法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）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4275B9D7-7515-464C-890B-6DA31A69AB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497" y="1620277"/>
                <a:ext cx="806824" cy="400110"/>
              </a:xfrm>
              <a:prstGeom prst="rect">
                <a:avLst/>
              </a:prstGeom>
              <a:blipFill>
                <a:blip r:embed="rId13"/>
                <a:stretch>
                  <a:fillRect l="-8333" t="-7692" r="-39394" b="-2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9356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/>
      <p:bldP spid="4" grpId="0"/>
      <p:bldP spid="7" grpId="0"/>
      <p:bldP spid="6" grpId="0"/>
      <p:bldP spid="10" grpId="0"/>
      <p:bldP spid="8" grpId="0"/>
      <p:bldP spid="12" grpId="0"/>
      <p:bldP spid="13" grpId="0"/>
      <p:bldP spid="9" grpId="0"/>
      <p:bldP spid="15" grpId="0"/>
      <p:bldP spid="16" grpId="0"/>
      <p:bldP spid="20" grpId="0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E7F064F-8544-4E76-8BE6-D4D3ABC8F908}"/>
              </a:ext>
            </a:extLst>
          </p:cNvPr>
          <p:cNvCxnSpPr>
            <a:cxnSpLocks/>
          </p:cNvCxnSpPr>
          <p:nvPr/>
        </p:nvCxnSpPr>
        <p:spPr>
          <a:xfrm flipV="1">
            <a:off x="0" y="368300"/>
            <a:ext cx="2513198" cy="3176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5CEFB25-3703-4C02-9EC2-99523841BF1B}"/>
              </a:ext>
            </a:extLst>
          </p:cNvPr>
          <p:cNvCxnSpPr>
            <a:cxnSpLocks/>
          </p:cNvCxnSpPr>
          <p:nvPr/>
        </p:nvCxnSpPr>
        <p:spPr>
          <a:xfrm>
            <a:off x="6501947" y="336951"/>
            <a:ext cx="2431006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DBAA461A-721D-4411-8E0C-37C00FB41582}"/>
              </a:ext>
            </a:extLst>
          </p:cNvPr>
          <p:cNvSpPr txBox="1"/>
          <p:nvPr/>
        </p:nvSpPr>
        <p:spPr>
          <a:xfrm>
            <a:off x="1829367" y="168275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迭代法解的误差分析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9FCBA3CD-5726-4FCC-B909-E05E35592168}"/>
                  </a:ext>
                </a:extLst>
              </p:cNvPr>
              <p:cNvSpPr/>
              <p:nvPr/>
            </p:nvSpPr>
            <p:spPr>
              <a:xfrm>
                <a:off x="1376807" y="710407"/>
                <a:ext cx="2829745" cy="14241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+1)</m:t>
                                  </m:r>
                                </m:sup>
                              </m:sSubSup>
                              <m: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f>
                                <m:fPr>
                                  <m:ctrlP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  <m:e>
                              <m: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+1)</m:t>
                                  </m:r>
                                </m:sup>
                              </m:sSubSup>
                              <m: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+1)</m:t>
                                  </m:r>
                                </m:sup>
                              </m:sSubSup>
                              <m: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f>
                                <m:fPr>
                                  <m:ctrlP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zh-CN" alt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9FCBA3CD-5726-4FCC-B909-E05E355921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807" y="710407"/>
                <a:ext cx="2829745" cy="1424108"/>
              </a:xfrm>
              <a:prstGeom prst="rect">
                <a:avLst/>
              </a:prstGeom>
              <a:blipFill>
                <a:blip r:embed="rId2"/>
                <a:stretch>
                  <a:fillRect r="-58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476F7BBE-4141-4602-B459-8313911BCC22}"/>
                  </a:ext>
                </a:extLst>
              </p:cNvPr>
              <p:cNvSpPr/>
              <p:nvPr/>
            </p:nvSpPr>
            <p:spPr>
              <a:xfrm>
                <a:off x="5365218" y="713436"/>
                <a:ext cx="1812484" cy="3808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18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pPr>
                        <m:e>
                          <m:r>
                            <a:rPr lang="zh-CN" altLang="en-US" sz="18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18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(0)</m:t>
                          </m:r>
                        </m:sup>
                      </m:sSup>
                      <m:r>
                        <a:rPr lang="en-US" altLang="zh-CN" sz="18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18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0,0,0,</m:t>
                              </m:r>
                            </m:e>
                          </m:d>
                        </m:e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476F7BBE-4141-4602-B459-8313911BCC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5218" y="713436"/>
                <a:ext cx="1812484" cy="3808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36E0F980-3DEA-4390-A129-0CCE9F7E9149}"/>
                  </a:ext>
                </a:extLst>
              </p:cNvPr>
              <p:cNvSpPr/>
              <p:nvPr/>
            </p:nvSpPr>
            <p:spPr>
              <a:xfrm>
                <a:off x="5358629" y="1186200"/>
                <a:ext cx="2639633" cy="3808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18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pPr>
                        <m:e>
                          <m:r>
                            <a:rPr lang="zh-CN" altLang="en-US" sz="18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18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(</m:t>
                          </m:r>
                          <m:r>
                            <a:rPr lang="en-US" altLang="zh-CN" sz="1800" b="0" i="0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1</m:t>
                          </m:r>
                          <m:r>
                            <a:rPr lang="zh-CN" altLang="en-US" sz="18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)</m:t>
                          </m:r>
                        </m:sup>
                      </m:sSup>
                      <m:r>
                        <a:rPr lang="en-US" altLang="zh-CN" sz="18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18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1.4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,0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.78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,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1.026</m:t>
                              </m:r>
                            </m:e>
                          </m:d>
                        </m:e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36E0F980-3DEA-4390-A129-0CCE9F7E91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8629" y="1186200"/>
                <a:ext cx="2639633" cy="3808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41B45C39-260C-4048-9070-5DAD2E695389}"/>
                  </a:ext>
                </a:extLst>
              </p:cNvPr>
              <p:cNvSpPr/>
              <p:nvPr/>
            </p:nvSpPr>
            <p:spPr>
              <a:xfrm>
                <a:off x="5365218" y="1603184"/>
                <a:ext cx="2475293" cy="4410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(0)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=1.4</m:t>
                    </m:r>
                  </m:oMath>
                </a14:m>
                <a:r>
                  <a:rPr lang="zh-CN" altLang="en-US" sz="1800" dirty="0"/>
                  <a:t>，</a:t>
                </a: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41B45C39-260C-4048-9070-5DAD2E6953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5218" y="1603184"/>
                <a:ext cx="2475293" cy="441083"/>
              </a:xfrm>
              <a:prstGeom prst="rect">
                <a:avLst/>
              </a:prstGeom>
              <a:blipFill>
                <a:blip r:embed="rId5"/>
                <a:stretch>
                  <a:fillRect t="-8333" r="-1478"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079C6F0-E9D4-45BF-AED1-BE30D704765B}"/>
                  </a:ext>
                </a:extLst>
              </p:cNvPr>
              <p:cNvSpPr txBox="1"/>
              <p:nvPr/>
            </p:nvSpPr>
            <p:spPr>
              <a:xfrm>
                <a:off x="887197" y="2087942"/>
                <a:ext cx="5920858" cy="14105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−10</m:t>
                                    </m:r>
                                  </m:e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 ,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079C6F0-E9D4-45BF-AED1-BE30D7047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197" y="2087942"/>
                <a:ext cx="5920858" cy="14105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FC5BD92-9A3F-4B3D-B763-90DD8B8729E5}"/>
                  </a:ext>
                </a:extLst>
              </p:cNvPr>
              <p:cNvSpPr txBox="1"/>
              <p:nvPr/>
            </p:nvSpPr>
            <p:spPr>
              <a:xfrm>
                <a:off x="6678445" y="2471781"/>
                <a:ext cx="163230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d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=0.4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FC5BD92-9A3F-4B3D-B763-90DD8B872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8445" y="2471781"/>
                <a:ext cx="1632307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E81E14DB-B004-4BDC-BBEF-EC072EFC0D48}"/>
              </a:ext>
            </a:extLst>
          </p:cNvPr>
          <p:cNvSpPr txBox="1"/>
          <p:nvPr/>
        </p:nvSpPr>
        <p:spPr>
          <a:xfrm>
            <a:off x="4734460" y="694704"/>
            <a:ext cx="1001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由于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D8123066-80D6-4FF3-8693-C9C768E68BB4}"/>
                  </a:ext>
                </a:extLst>
              </p:cNvPr>
              <p:cNvSpPr txBox="1"/>
              <p:nvPr/>
            </p:nvSpPr>
            <p:spPr>
              <a:xfrm>
                <a:off x="923943" y="3241378"/>
                <a:ext cx="114040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应满足</a:t>
                </a: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D8123066-80D6-4FF3-8693-C9C768E68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943" y="3241378"/>
                <a:ext cx="1140402" cy="400110"/>
              </a:xfrm>
              <a:prstGeom prst="rect">
                <a:avLst/>
              </a:prstGeom>
              <a:blipFill>
                <a:blip r:embed="rId8"/>
                <a:stretch>
                  <a:fillRect t="-7692" r="-1604" b="-2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60696CB8-7618-4FC9-8B2D-26916DF8EC65}"/>
                  </a:ext>
                </a:extLst>
              </p:cNvPr>
              <p:cNvSpPr/>
              <p:nvPr/>
            </p:nvSpPr>
            <p:spPr>
              <a:xfrm>
                <a:off x="1930365" y="3500068"/>
                <a:ext cx="3921523" cy="7123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000">
                          <a:latin typeface="Cambria Math" panose="02040503050406030204" pitchFamily="18" charset="0"/>
                        </a:rPr>
                        <m:t>&gt;</m:t>
                      </m:r>
                      <m:r>
                        <m:rPr>
                          <m:sty m:val="p"/>
                        </m:rPr>
                        <a:rPr lang="zh-CN" altLang="en-US" sz="200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zh-CN" altLang="en-US" sz="200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zh-CN" altLang="en-US" sz="2000">
                              <a:latin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zh-CN" altLang="en-US" sz="2000"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000">
                              <a:latin typeface="Cambria Math" panose="02040503050406030204" pitchFamily="18" charset="0"/>
                            </a:rPr>
                            <m:t>1.4</m:t>
                          </m:r>
                        </m:den>
                      </m:f>
                      <m:f>
                        <m:fPr>
                          <m:type m:val="lin"/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altLang="en-US" sz="2000">
                              <a:latin typeface="Cambria Math" panose="02040503050406030204" pitchFamily="18" charset="0"/>
                            </a:rPr>
                            <m:t>ln</m:t>
                          </m:r>
                        </m:den>
                      </m:f>
                      <m:r>
                        <a:rPr lang="zh-CN" altLang="en-US" sz="200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CN" altLang="en-US" sz="200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13.5</m:t>
                      </m:r>
                    </m:oMath>
                  </m:oMathPara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60696CB8-7618-4FC9-8B2D-26916DF8EC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0365" y="3500068"/>
                <a:ext cx="3921523" cy="71231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Box 28">
                <a:extLst>
                  <a:ext uri="{FF2B5EF4-FFF2-40B4-BE49-F238E27FC236}">
                    <a16:creationId xmlns:a16="http://schemas.microsoft.com/office/drawing/2014/main" id="{22746368-B523-4120-AAF4-45633AFC41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0498" y="4154521"/>
                <a:ext cx="3691501" cy="4621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故取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000" b="0" i="0" smtClean="0">
                        <a:latin typeface="Cambria Math" panose="02040503050406030204" pitchFamily="18" charset="0"/>
                      </a:rPr>
                      <m:t>=14</m:t>
                    </m:r>
                  </m:oMath>
                </a14:m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 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即只需要迭代</a:t>
                </a:r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14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次</a:t>
                </a:r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20" name="Text Box 28">
                <a:extLst>
                  <a:ext uri="{FF2B5EF4-FFF2-40B4-BE49-F238E27FC236}">
                    <a16:creationId xmlns:a16="http://schemas.microsoft.com/office/drawing/2014/main" id="{22746368-B523-4120-AAF4-45633AFC4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0498" y="4154521"/>
                <a:ext cx="3691501" cy="462178"/>
              </a:xfrm>
              <a:prstGeom prst="rect">
                <a:avLst/>
              </a:prstGeom>
              <a:blipFill>
                <a:blip r:embed="rId10"/>
                <a:stretch>
                  <a:fillRect l="-1650" r="-990" b="-2533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468B7A1-C66B-4B9B-9FB9-17AAF73B1564}"/>
                  </a:ext>
                </a:extLst>
              </p:cNvPr>
              <p:cNvSpPr txBox="1"/>
              <p:nvPr/>
            </p:nvSpPr>
            <p:spPr>
              <a:xfrm>
                <a:off x="384191" y="684454"/>
                <a:ext cx="9926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（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𝐺𝑆</m:t>
                    </m:r>
                    <m:r>
                      <m:rPr>
                        <m:nor/>
                      </m:rPr>
                      <a:rPr lang="zh-CN" altLang="en-US" sz="2000" dirty="0">
                        <a:latin typeface="华文楷体" panose="02010600040101010101" pitchFamily="2" charset="-122"/>
                        <a:ea typeface="华文楷体" panose="02010600040101010101" pitchFamily="2" charset="-122"/>
                      </a:rPr>
                      <m:t>法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）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468B7A1-C66B-4B9B-9FB9-17AAF73B1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191" y="684454"/>
                <a:ext cx="992616" cy="400110"/>
              </a:xfrm>
              <a:prstGeom prst="rect">
                <a:avLst/>
              </a:prstGeom>
              <a:blipFill>
                <a:blip r:embed="rId11"/>
                <a:stretch>
                  <a:fillRect l="-6135" t="-6061" r="-32515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3954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0" grpId="0"/>
      <p:bldP spid="8" grpId="0"/>
      <p:bldP spid="12" grpId="0"/>
      <p:bldP spid="13" grpId="0"/>
      <p:bldP spid="9" grpId="0"/>
      <p:bldP spid="15" grpId="0"/>
      <p:bldP spid="16" grpId="0"/>
      <p:bldP spid="20" grpId="0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E7F064F-8544-4E76-8BE6-D4D3ABC8F908}"/>
              </a:ext>
            </a:extLst>
          </p:cNvPr>
          <p:cNvCxnSpPr>
            <a:cxnSpLocks/>
          </p:cNvCxnSpPr>
          <p:nvPr/>
        </p:nvCxnSpPr>
        <p:spPr>
          <a:xfrm>
            <a:off x="0" y="371476"/>
            <a:ext cx="2872409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5CEFB25-3703-4C02-9EC2-99523841BF1B}"/>
              </a:ext>
            </a:extLst>
          </p:cNvPr>
          <p:cNvCxnSpPr>
            <a:cxnSpLocks/>
          </p:cNvCxnSpPr>
          <p:nvPr/>
        </p:nvCxnSpPr>
        <p:spPr>
          <a:xfrm flipV="1">
            <a:off x="6082748" y="371475"/>
            <a:ext cx="3061252" cy="1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DBAA461A-721D-4411-8E0C-37C00FB41582}"/>
              </a:ext>
            </a:extLst>
          </p:cNvPr>
          <p:cNvSpPr txBox="1"/>
          <p:nvPr/>
        </p:nvSpPr>
        <p:spPr>
          <a:xfrm>
            <a:off x="1857375" y="136525"/>
            <a:ext cx="5305425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迭代法解的误差分析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19FD669-3E95-4625-8591-E0338E146914}"/>
              </a:ext>
            </a:extLst>
          </p:cNvPr>
          <p:cNvSpPr/>
          <p:nvPr/>
        </p:nvSpPr>
        <p:spPr>
          <a:xfrm>
            <a:off x="1559858" y="1469728"/>
            <a:ext cx="6400801" cy="603857"/>
          </a:xfrm>
          <a:prstGeom prst="round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FB943E2-327C-4D83-AD7B-626818FF9347}"/>
                  </a:ext>
                </a:extLst>
              </p:cNvPr>
              <p:cNvSpPr txBox="1"/>
              <p:nvPr/>
            </p:nvSpPr>
            <p:spPr>
              <a:xfrm>
                <a:off x="1436204" y="1630346"/>
                <a:ext cx="58721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indent="0"/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1.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当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2000" b="0" i="1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𝑀</m:t>
                        </m:r>
                      </m:e>
                    </m:d>
                    <m:r>
                      <a:rPr lang="en-US" altLang="zh-CN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&lt;1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时，迭代法解</m:t>
                    </m:r>
                    <m:r>
                      <a:rPr lang="zh-CN" altLang="en-US" sz="2000" b="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的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误差估计式</m:t>
                    </m:r>
                    <m:r>
                      <a:rPr lang="zh-CN" altLang="en-US" sz="2000" b="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的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建立</m:t>
                    </m:r>
                  </m:oMath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FB943E2-327C-4D83-AD7B-626818FF9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6204" y="1630346"/>
                <a:ext cx="5872164" cy="400110"/>
              </a:xfrm>
              <a:prstGeom prst="rect">
                <a:avLst/>
              </a:prstGeom>
              <a:blipFill>
                <a:blip r:embed="rId2"/>
                <a:stretch>
                  <a:fillRect t="-606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F47C2DD-3CC3-4642-B339-3FA8E37C8BDC}"/>
              </a:ext>
            </a:extLst>
          </p:cNvPr>
          <p:cNvSpPr/>
          <p:nvPr/>
        </p:nvSpPr>
        <p:spPr>
          <a:xfrm>
            <a:off x="1559857" y="2331188"/>
            <a:ext cx="6400802" cy="603856"/>
          </a:xfrm>
          <a:prstGeom prst="round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46561F8-007F-4803-AC32-F84AB5F73515}"/>
                  </a:ext>
                </a:extLst>
              </p:cNvPr>
              <p:cNvSpPr txBox="1"/>
              <p:nvPr/>
            </p:nvSpPr>
            <p:spPr>
              <a:xfrm>
                <a:off x="1692636" y="2439807"/>
                <a:ext cx="549068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2.</a:t>
                </a:r>
                <a14:m>
                  <m:oMath xmlns:m="http://schemas.openxmlformats.org/officeDocument/2006/math">
                    <m:r>
                      <a:rPr lang="zh-CN" altLang="en-US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迭代法解的误差估计式的</m:t>
                    </m:r>
                    <m:r>
                      <a:rPr lang="zh-CN" alt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意义</m:t>
                    </m:r>
                  </m:oMath>
                </a14:m>
                <a:endParaRPr lang="zh-CN" altLang="en-US" sz="2000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46561F8-007F-4803-AC32-F84AB5F73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2636" y="2439807"/>
                <a:ext cx="5490683" cy="400110"/>
              </a:xfrm>
              <a:prstGeom prst="rect">
                <a:avLst/>
              </a:prstGeom>
              <a:blipFill>
                <a:blip r:embed="rId3"/>
                <a:stretch>
                  <a:fillRect t="-606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8D24CB8-38F9-4B82-964B-54FD2DE7D41C}"/>
              </a:ext>
            </a:extLst>
          </p:cNvPr>
          <p:cNvSpPr/>
          <p:nvPr/>
        </p:nvSpPr>
        <p:spPr>
          <a:xfrm>
            <a:off x="1559854" y="3192647"/>
            <a:ext cx="6400803" cy="692661"/>
          </a:xfrm>
          <a:prstGeom prst="round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BF807799-E59F-4727-AF50-D7E5E84B1FBF}"/>
                  </a:ext>
                </a:extLst>
              </p:cNvPr>
              <p:cNvSpPr txBox="1"/>
              <p:nvPr/>
            </p:nvSpPr>
            <p:spPr>
              <a:xfrm>
                <a:off x="1804244" y="3394002"/>
                <a:ext cx="59383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3.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举例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说明迭代法解的误差估计式的具体应用</a:t>
                </a: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BF807799-E59F-4727-AF50-D7E5E84B1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4244" y="3394002"/>
                <a:ext cx="5938340" cy="400110"/>
              </a:xfrm>
              <a:prstGeom prst="rect">
                <a:avLst/>
              </a:prstGeom>
              <a:blipFill>
                <a:blip r:embed="rId4"/>
                <a:stretch>
                  <a:fillRect l="-1129" t="-7692" b="-2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6">
            <a:extLst>
              <a:ext uri="{FF2B5EF4-FFF2-40B4-BE49-F238E27FC236}">
                <a16:creationId xmlns:a16="http://schemas.microsoft.com/office/drawing/2014/main" id="{9D37D940-B031-43D7-B1E4-82671703B6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519" y="899649"/>
            <a:ext cx="49403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小结</a:t>
            </a:r>
            <a:r>
              <a:rPr lang="zh-CN" altLang="en-US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endParaRPr lang="en-US" altLang="zh-CN" dirty="0">
              <a:solidFill>
                <a:srgbClr val="004A8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87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  <p:bldP spid="16" grpId="0"/>
      <p:bldP spid="17" grpId="0" animBg="1"/>
      <p:bldP spid="18" grpId="0"/>
      <p:bldP spid="21" grpId="0" animBg="1"/>
      <p:bldP spid="25" grpId="0"/>
      <p:bldP spid="1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E7F064F-8544-4E76-8BE6-D4D3ABC8F908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0" y="371476"/>
            <a:ext cx="1660319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5CEFB25-3703-4C02-9EC2-99523841BF1B}"/>
              </a:ext>
            </a:extLst>
          </p:cNvPr>
          <p:cNvCxnSpPr>
            <a:cxnSpLocks/>
          </p:cNvCxnSpPr>
          <p:nvPr/>
        </p:nvCxnSpPr>
        <p:spPr>
          <a:xfrm>
            <a:off x="7161520" y="371476"/>
            <a:ext cx="1686909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DBAA461A-721D-4411-8E0C-37C00FB41582}"/>
              </a:ext>
            </a:extLst>
          </p:cNvPr>
          <p:cNvSpPr txBox="1"/>
          <p:nvPr/>
        </p:nvSpPr>
        <p:spPr>
          <a:xfrm>
            <a:off x="1660319" y="171421"/>
            <a:ext cx="55012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en-US" altLang="zh-CN" sz="18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3.5 </a:t>
            </a:r>
            <a:r>
              <a:rPr lang="en-US" altLang="zh-CN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Jacobi</a:t>
            </a:r>
            <a:r>
              <a:rPr lang="zh-CN" altLang="en-US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迭代法和</a:t>
            </a:r>
            <a:r>
              <a:rPr lang="en-US" altLang="zh-CN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Gauss-Seidel</a:t>
            </a:r>
            <a:r>
              <a:rPr lang="zh-CN" altLang="en-US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迭代法的收敛性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2913DA0-E3AE-4162-B90D-0D875AD6FC23}"/>
              </a:ext>
            </a:extLst>
          </p:cNvPr>
          <p:cNvSpPr txBox="1"/>
          <p:nvPr/>
        </p:nvSpPr>
        <p:spPr>
          <a:xfrm>
            <a:off x="496648" y="819600"/>
            <a:ext cx="61856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一般形式迭代法的收敛性定理同样适用于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J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法和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GS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法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86BA02D0-732B-4D85-8A80-D63F64878A39}"/>
                  </a:ext>
                </a:extLst>
              </p:cNvPr>
              <p:cNvSpPr txBox="1"/>
              <p:nvPr/>
            </p:nvSpPr>
            <p:spPr>
              <a:xfrm>
                <a:off x="1334853" y="1309905"/>
                <a:ext cx="12125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𝐵</m:t>
                          </m:r>
                        </m:e>
                      </m:d>
                      <m:r>
                        <a:rPr lang="en-US" altLang="zh-CN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&lt;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1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86BA02D0-732B-4D85-8A80-D63F64878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4853" y="1309905"/>
                <a:ext cx="1212574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85F6C8A-A85A-44D2-88AC-3FB2B2CA16AF}"/>
                  </a:ext>
                </a:extLst>
              </p:cNvPr>
              <p:cNvSpPr txBox="1"/>
              <p:nvPr/>
            </p:nvSpPr>
            <p:spPr>
              <a:xfrm>
                <a:off x="2278487" y="1305404"/>
                <a:ext cx="6700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85F6C8A-A85A-44D2-88AC-3FB2B2CA1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8487" y="1305404"/>
                <a:ext cx="670014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D8164B3E-E584-4811-8496-786F66A5FC30}"/>
                  </a:ext>
                </a:extLst>
              </p:cNvPr>
              <p:cNvSpPr txBox="1"/>
              <p:nvPr/>
            </p:nvSpPr>
            <p:spPr>
              <a:xfrm>
                <a:off x="2839636" y="1293257"/>
                <a:ext cx="14996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𝐽</m:t>
                      </m:r>
                      <m:r>
                        <m:rPr>
                          <m:nor/>
                        </m:rPr>
                        <a:rPr lang="zh-CN" altLang="en-US" sz="20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m:t>迭代法</m:t>
                      </m:r>
                      <m:r>
                        <a:rPr lang="zh-CN" altLang="en-US" sz="2000" i="1" dirty="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收敛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D8164B3E-E584-4811-8496-786F66A5FC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9636" y="1293257"/>
                <a:ext cx="1499673" cy="400110"/>
              </a:xfrm>
              <a:prstGeom prst="rect">
                <a:avLst/>
              </a:prstGeom>
              <a:blipFill>
                <a:blip r:embed="rId4"/>
                <a:stretch>
                  <a:fillRect l="-1626" r="-4878"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79C116CA-4A9E-4129-96BF-2E082CC1AF5D}"/>
                  </a:ext>
                </a:extLst>
              </p:cNvPr>
              <p:cNvSpPr txBox="1"/>
              <p:nvPr/>
            </p:nvSpPr>
            <p:spPr>
              <a:xfrm>
                <a:off x="4328835" y="1296440"/>
                <a:ext cx="6700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79C116CA-4A9E-4129-96BF-2E082CC1AF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8835" y="1296440"/>
                <a:ext cx="67001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EEAD8D70-5406-47FD-BD6E-D564E8CA96D0}"/>
                  </a:ext>
                </a:extLst>
              </p:cNvPr>
              <p:cNvSpPr txBox="1"/>
              <p:nvPr/>
            </p:nvSpPr>
            <p:spPr>
              <a:xfrm>
                <a:off x="4786486" y="1309904"/>
                <a:ext cx="12125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𝜌</m:t>
                      </m:r>
                      <m:d>
                        <m:d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𝐵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&lt;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1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EEAD8D70-5406-47FD-BD6E-D564E8CA9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6486" y="1309904"/>
                <a:ext cx="1212574" cy="400110"/>
              </a:xfrm>
              <a:prstGeom prst="rect">
                <a:avLst/>
              </a:prstGeom>
              <a:blipFill>
                <a:blip r:embed="rId6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BA742012-04F0-47E0-9885-20C748C16088}"/>
                  </a:ext>
                </a:extLst>
              </p:cNvPr>
              <p:cNvSpPr txBox="1"/>
              <p:nvPr/>
            </p:nvSpPr>
            <p:spPr>
              <a:xfrm>
                <a:off x="1334853" y="1890404"/>
                <a:ext cx="12125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𝐺</m:t>
                          </m:r>
                        </m:e>
                      </m:d>
                      <m:r>
                        <a:rPr lang="en-US" altLang="zh-CN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&lt;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1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BA742012-04F0-47E0-9885-20C748C160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4853" y="1890404"/>
                <a:ext cx="1212574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42F71051-197D-4B57-AA38-BED4FBA0BD0B}"/>
                  </a:ext>
                </a:extLst>
              </p:cNvPr>
              <p:cNvSpPr txBox="1"/>
              <p:nvPr/>
            </p:nvSpPr>
            <p:spPr>
              <a:xfrm>
                <a:off x="2401904" y="1868650"/>
                <a:ext cx="6700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42F71051-197D-4B57-AA38-BED4FBA0BD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1904" y="1868650"/>
                <a:ext cx="670014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F016FAA-5DAF-465A-8825-68076D25E36A}"/>
                  </a:ext>
                </a:extLst>
              </p:cNvPr>
              <p:cNvSpPr txBox="1"/>
              <p:nvPr/>
            </p:nvSpPr>
            <p:spPr>
              <a:xfrm>
                <a:off x="2973378" y="1894300"/>
                <a:ext cx="14996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𝐺</m:t>
                      </m:r>
                      <m:r>
                        <m:rPr>
                          <m:nor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S</m:t>
                      </m:r>
                      <m:r>
                        <m:rPr>
                          <m:nor/>
                        </m:rPr>
                        <a:rPr lang="zh-CN" altLang="en-US" sz="20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m:t>迭代法</m:t>
                      </m:r>
                      <m:r>
                        <a:rPr lang="zh-CN" altLang="en-US" sz="2000" i="1" dirty="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收敛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F016FAA-5DAF-465A-8825-68076D25E3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378" y="1894300"/>
                <a:ext cx="1499673" cy="400110"/>
              </a:xfrm>
              <a:prstGeom prst="rect">
                <a:avLst/>
              </a:prstGeom>
              <a:blipFill>
                <a:blip r:embed="rId9"/>
                <a:stretch>
                  <a:fillRect r="-17480" b="-10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6F561A2-D615-4D6C-B7AE-8C10922053B4}"/>
                  </a:ext>
                </a:extLst>
              </p:cNvPr>
              <p:cNvSpPr txBox="1"/>
              <p:nvPr/>
            </p:nvSpPr>
            <p:spPr>
              <a:xfrm>
                <a:off x="4467981" y="1900420"/>
                <a:ext cx="6700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6F561A2-D615-4D6C-B7AE-8C1092205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7981" y="1900420"/>
                <a:ext cx="670014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86EB4C14-83CA-4FB5-A5AA-79659EC6BA43}"/>
                  </a:ext>
                </a:extLst>
              </p:cNvPr>
              <p:cNvSpPr txBox="1"/>
              <p:nvPr/>
            </p:nvSpPr>
            <p:spPr>
              <a:xfrm>
                <a:off x="4909903" y="1863211"/>
                <a:ext cx="12125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𝜌</m:t>
                      </m:r>
                      <m:d>
                        <m:d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𝐺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&lt;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1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86EB4C14-83CA-4FB5-A5AA-79659EC6BA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9903" y="1863211"/>
                <a:ext cx="1212574" cy="400110"/>
              </a:xfrm>
              <a:prstGeom prst="rect">
                <a:avLst/>
              </a:prstGeom>
              <a:blipFill>
                <a:blip r:embed="rId11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>
            <a:extLst>
              <a:ext uri="{FF2B5EF4-FFF2-40B4-BE49-F238E27FC236}">
                <a16:creationId xmlns:a16="http://schemas.microsoft.com/office/drawing/2014/main" id="{FF8499FF-5AE6-4FD9-9329-E4C63D036578}"/>
              </a:ext>
            </a:extLst>
          </p:cNvPr>
          <p:cNvSpPr txBox="1"/>
          <p:nvPr/>
        </p:nvSpPr>
        <p:spPr>
          <a:xfrm>
            <a:off x="605977" y="2426283"/>
            <a:ext cx="61856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1.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迭代法的收敛性依赖于迭代矩阵的性质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0E2DAD9-9C6F-4485-A873-5963AC322CBB}"/>
              </a:ext>
            </a:extLst>
          </p:cNvPr>
          <p:cNvSpPr txBox="1"/>
          <p:nvPr/>
        </p:nvSpPr>
        <p:spPr>
          <a:xfrm>
            <a:off x="620065" y="2921239"/>
            <a:ext cx="68348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2.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迭代矩阵通常和系数矩阵有密切关系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有时计算并不方便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BEFBF42-A6BF-4237-85E1-0C6739F52E19}"/>
              </a:ext>
            </a:extLst>
          </p:cNvPr>
          <p:cNvSpPr txBox="1"/>
          <p:nvPr/>
        </p:nvSpPr>
        <p:spPr>
          <a:xfrm>
            <a:off x="599355" y="3457118"/>
            <a:ext cx="67787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问题：迭代法的收敛性能否由系数矩阵的性质来判定？？？</a:t>
            </a:r>
          </a:p>
        </p:txBody>
      </p:sp>
    </p:spTree>
    <p:extLst>
      <p:ext uri="{BB962C8B-B14F-4D97-AF65-F5344CB8AC3E}">
        <p14:creationId xmlns:p14="http://schemas.microsoft.com/office/powerpoint/2010/main" val="1626864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0" grpId="0"/>
      <p:bldP spid="12" grpId="0"/>
      <p:bldP spid="13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E7F064F-8544-4E76-8BE6-D4D3ABC8F908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0" y="371476"/>
            <a:ext cx="1660319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5CEFB25-3703-4C02-9EC2-99523841BF1B}"/>
              </a:ext>
            </a:extLst>
          </p:cNvPr>
          <p:cNvCxnSpPr>
            <a:cxnSpLocks/>
          </p:cNvCxnSpPr>
          <p:nvPr/>
        </p:nvCxnSpPr>
        <p:spPr>
          <a:xfrm>
            <a:off x="7161520" y="371476"/>
            <a:ext cx="1686909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DBAA461A-721D-4411-8E0C-37C00FB41582}"/>
              </a:ext>
            </a:extLst>
          </p:cNvPr>
          <p:cNvSpPr txBox="1"/>
          <p:nvPr/>
        </p:nvSpPr>
        <p:spPr>
          <a:xfrm>
            <a:off x="1660319" y="171421"/>
            <a:ext cx="55012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en-US" altLang="zh-CN" sz="18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3.5 </a:t>
            </a:r>
            <a:r>
              <a:rPr lang="en-US" altLang="zh-CN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Jacobi</a:t>
            </a:r>
            <a:r>
              <a:rPr lang="zh-CN" altLang="en-US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迭代法和</a:t>
            </a:r>
            <a:r>
              <a:rPr lang="en-US" altLang="zh-CN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Gauss-Seidel</a:t>
            </a:r>
            <a:r>
              <a:rPr lang="zh-CN" altLang="en-US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迭代法的收敛性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37769AD-9B2E-453B-8391-3FC8D15E7EF9}"/>
              </a:ext>
            </a:extLst>
          </p:cNvPr>
          <p:cNvSpPr/>
          <p:nvPr/>
        </p:nvSpPr>
        <p:spPr>
          <a:xfrm>
            <a:off x="954157" y="1100849"/>
            <a:ext cx="7026965" cy="2765474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F2727D-CB88-48A3-9D0F-801FA6A77974}"/>
              </a:ext>
            </a:extLst>
          </p:cNvPr>
          <p:cNvSpPr txBox="1"/>
          <p:nvPr/>
        </p:nvSpPr>
        <p:spPr>
          <a:xfrm>
            <a:off x="1341784" y="888774"/>
            <a:ext cx="914400" cy="400110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6EBE252-4342-4F5B-8E56-6AC869C59827}"/>
                  </a:ext>
                </a:extLst>
              </p:cNvPr>
              <p:cNvSpPr txBox="1"/>
              <p:nvPr/>
            </p:nvSpPr>
            <p:spPr>
              <a:xfrm>
                <a:off x="1401418" y="1430111"/>
                <a:ext cx="6142382" cy="4469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阶矩阵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d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zh-CN" altLang="en-US" sz="200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如果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的元素满足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6EBE252-4342-4F5B-8E56-6AC869C59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1418" y="1430111"/>
                <a:ext cx="6142382" cy="446917"/>
              </a:xfrm>
              <a:prstGeom prst="rect">
                <a:avLst/>
              </a:prstGeom>
              <a:blipFill>
                <a:blip r:embed="rId2"/>
                <a:stretch>
                  <a:fillRect l="-1091" t="-1370" b="-205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C14AD99C-668C-495F-AA08-A16ECE6198CC}"/>
                  </a:ext>
                </a:extLst>
              </p:cNvPr>
              <p:cNvSpPr txBox="1"/>
              <p:nvPr/>
            </p:nvSpPr>
            <p:spPr>
              <a:xfrm>
                <a:off x="1019138" y="1877028"/>
                <a:ext cx="6142382" cy="1183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brk m:alnAt="23"/>
                                </m:r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</m:eqAr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=1,2,⋯,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C14AD99C-668C-495F-AA08-A16ECE619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138" y="1877028"/>
                <a:ext cx="6142382" cy="11835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4CD6DE5C-2094-48E8-92DA-A9DD35CFC98A}"/>
                  </a:ext>
                </a:extLst>
              </p:cNvPr>
              <p:cNvSpPr txBox="1"/>
              <p:nvPr/>
            </p:nvSpPr>
            <p:spPr>
              <a:xfrm>
                <a:off x="1553818" y="3133014"/>
                <a:ext cx="614238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则称矩阵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zh-CN" alt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是</m:t>
                    </m:r>
                    <m:r>
                      <a:rPr lang="zh-CN" alt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严格对角占优</m:t>
                    </m:r>
                    <m:r>
                      <a:rPr lang="zh-CN" alt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矩阵</m:t>
                    </m:r>
                    <m:r>
                      <a:rPr lang="en-US" altLang="zh-CN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.</m:t>
                    </m:r>
                  </m:oMath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4CD6DE5C-2094-48E8-92DA-A9DD35CFC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3818" y="3133014"/>
                <a:ext cx="6142382" cy="400110"/>
              </a:xfrm>
              <a:prstGeom prst="rect">
                <a:avLst/>
              </a:prstGeom>
              <a:blipFill>
                <a:blip r:embed="rId4"/>
                <a:stretch>
                  <a:fillRect l="-1091" t="-7576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4459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" grpId="0" animBg="1"/>
      <p:bldP spid="5" grpId="0" animBg="1"/>
      <p:bldP spid="6" grpId="0"/>
      <p:bldP spid="3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E7F064F-8544-4E76-8BE6-D4D3ABC8F908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0" y="371476"/>
            <a:ext cx="1660319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5CEFB25-3703-4C02-9EC2-99523841BF1B}"/>
              </a:ext>
            </a:extLst>
          </p:cNvPr>
          <p:cNvCxnSpPr>
            <a:cxnSpLocks/>
          </p:cNvCxnSpPr>
          <p:nvPr/>
        </p:nvCxnSpPr>
        <p:spPr>
          <a:xfrm>
            <a:off x="7161520" y="371476"/>
            <a:ext cx="1686909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DBAA461A-721D-4411-8E0C-37C00FB41582}"/>
              </a:ext>
            </a:extLst>
          </p:cNvPr>
          <p:cNvSpPr txBox="1"/>
          <p:nvPr/>
        </p:nvSpPr>
        <p:spPr>
          <a:xfrm>
            <a:off x="1660319" y="171421"/>
            <a:ext cx="55012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en-US" altLang="zh-CN" sz="18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3.5 </a:t>
            </a:r>
            <a:r>
              <a:rPr lang="en-US" altLang="zh-CN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Jacobi</a:t>
            </a:r>
            <a:r>
              <a:rPr lang="zh-CN" altLang="en-US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迭代法和</a:t>
            </a:r>
            <a:r>
              <a:rPr lang="en-US" altLang="zh-CN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Gauss-Seidel</a:t>
            </a:r>
            <a:r>
              <a:rPr lang="zh-CN" altLang="en-US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迭代法的收敛性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37769AD-9B2E-453B-8391-3FC8D15E7EF9}"/>
              </a:ext>
            </a:extLst>
          </p:cNvPr>
          <p:cNvSpPr/>
          <p:nvPr/>
        </p:nvSpPr>
        <p:spPr>
          <a:xfrm>
            <a:off x="954157" y="929400"/>
            <a:ext cx="7026965" cy="728736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F2727D-CB88-48A3-9D0F-801FA6A77974}"/>
              </a:ext>
            </a:extLst>
          </p:cNvPr>
          <p:cNvSpPr txBox="1"/>
          <p:nvPr/>
        </p:nvSpPr>
        <p:spPr>
          <a:xfrm>
            <a:off x="1162878" y="717324"/>
            <a:ext cx="914400" cy="400110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引理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6EBE252-4342-4F5B-8E56-6AC869C59827}"/>
                  </a:ext>
                </a:extLst>
              </p:cNvPr>
              <p:cNvSpPr txBox="1"/>
              <p:nvPr/>
            </p:nvSpPr>
            <p:spPr>
              <a:xfrm>
                <a:off x="1320248" y="1117434"/>
                <a:ext cx="6294782" cy="4469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阶矩阵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d>
                    <m:r>
                      <a:rPr lang="zh-CN" alt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严格对角占优</m:t>
                    </m:r>
                    <m:r>
                      <a:rPr lang="zh-CN" altLang="en-US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，则</m:t>
                    </m:r>
                    <m:r>
                      <a:rPr lang="en-US" altLang="zh-CN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𝐴</m:t>
                    </m:r>
                    <m:r>
                      <a:rPr lang="zh-CN" altLang="en-US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是</m:t>
                    </m:r>
                    <m:r>
                      <a:rPr lang="zh-CN" alt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非奇异矩阵</m:t>
                    </m:r>
                    <m:r>
                      <a:rPr lang="en-US" altLang="zh-CN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.</m:t>
                    </m:r>
                  </m:oMath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6EBE252-4342-4F5B-8E56-6AC869C59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0248" y="1117434"/>
                <a:ext cx="6294782" cy="446917"/>
              </a:xfrm>
              <a:prstGeom prst="rect">
                <a:avLst/>
              </a:prstGeom>
              <a:blipFill>
                <a:blip r:embed="rId2"/>
                <a:stretch>
                  <a:fillRect l="-1066" b="-189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0B40C048-1204-4681-A9E8-B3A78C6EBCDF}"/>
              </a:ext>
            </a:extLst>
          </p:cNvPr>
          <p:cNvSpPr txBox="1"/>
          <p:nvPr/>
        </p:nvSpPr>
        <p:spPr>
          <a:xfrm>
            <a:off x="900754" y="1856181"/>
            <a:ext cx="749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证明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E096306-AFB4-4833-9AAE-155F0EAA589D}"/>
                  </a:ext>
                </a:extLst>
              </p:cNvPr>
              <p:cNvSpPr txBox="1"/>
              <p:nvPr/>
            </p:nvSpPr>
            <p:spPr>
              <a:xfrm>
                <a:off x="1620078" y="1825942"/>
                <a:ext cx="5689600" cy="439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d>
                        </m:e>
                      </m:d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E096306-AFB4-4833-9AAE-155F0EAA5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078" y="1825942"/>
                <a:ext cx="5689600" cy="4397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F91B9D0-B191-4701-957E-46296D494FAA}"/>
                  </a:ext>
                </a:extLst>
              </p:cNvPr>
              <p:cNvSpPr txBox="1"/>
              <p:nvPr/>
            </p:nvSpPr>
            <p:spPr>
              <a:xfrm>
                <a:off x="3523828" y="2277883"/>
                <a:ext cx="388637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𝐷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diag</m:t>
                      </m:r>
                      <m:d>
                        <m:dPr>
                          <m:ctrlPr>
                            <a:rPr lang="en-US" altLang="zh-CN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11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22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,</m:t>
                          </m:r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⋯,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𝑛𝑛</m:t>
                              </m:r>
                            </m:sub>
                          </m:sSub>
                        </m:e>
                      </m:d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可逆</m:t>
                      </m:r>
                      <m:r>
                        <a:rPr lang="zh-CN" alt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；</m:t>
                      </m:r>
                    </m:oMath>
                  </m:oMathPara>
                </a14:m>
                <a:endParaRPr lang="zh-CN" altLang="en-US" sz="2000" i="1" dirty="0">
                  <a:solidFill>
                    <a:srgbClr val="000000"/>
                  </a:solidFill>
                  <a:latin typeface="Cambria Math" panose="02040503050406030204" pitchFamily="18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F91B9D0-B191-4701-957E-46296D494F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3828" y="2277883"/>
                <a:ext cx="3886376" cy="400110"/>
              </a:xfrm>
              <a:prstGeom prst="rect">
                <a:avLst/>
              </a:prstGeom>
              <a:blipFill>
                <a:blip r:embed="rId4"/>
                <a:stretch>
                  <a:fillRect b="-1846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C6B945A-B007-451F-AD8C-DD9CE36FD418}"/>
                  </a:ext>
                </a:extLst>
              </p:cNvPr>
              <p:cNvSpPr txBox="1"/>
              <p:nvPr/>
            </p:nvSpPr>
            <p:spPr>
              <a:xfrm>
                <a:off x="1203219" y="2674727"/>
                <a:ext cx="3442252" cy="1183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  <m:sub>
                          <m:r>
                            <a:rPr lang="en-US" altLang="zh-CN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eqArr>
                                <m:eqArrPr>
                                  <m:ctrlP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brk m:alnAt="23"/>
                                    </m:rP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  <m:e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≠</m:t>
                                  </m:r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eqArr>
                            </m:sub>
                            <m:sup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altLang="zh-CN" sz="20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0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0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𝑖𝑖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  <m:r>
                                <a:rPr lang="en-US" altLang="zh-CN" sz="2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C6B945A-B007-451F-AD8C-DD9CE36FD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219" y="2674727"/>
                <a:ext cx="3442252" cy="11835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F60CFA6-8E0B-4D64-A2A8-E7FA15548677}"/>
                  </a:ext>
                </a:extLst>
              </p:cNvPr>
              <p:cNvSpPr txBox="1"/>
              <p:nvPr/>
            </p:nvSpPr>
            <p:spPr>
              <a:xfrm>
                <a:off x="1349642" y="2299309"/>
                <a:ext cx="17763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𝐴</m:t>
                      </m:r>
                      <m:r>
                        <a:rPr lang="zh-CN" altLang="en-US" sz="20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严格对角占优</m:t>
                      </m:r>
                    </m:oMath>
                  </m:oMathPara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F60CFA6-8E0B-4D64-A2A8-E7FA15548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9642" y="2299309"/>
                <a:ext cx="1776344" cy="400110"/>
              </a:xfrm>
              <a:prstGeom prst="rect">
                <a:avLst/>
              </a:prstGeom>
              <a:blipFill>
                <a:blip r:embed="rId6"/>
                <a:stretch>
                  <a:fillRect r="-6849"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099EBBF-9E63-480B-B048-410B48A874FD}"/>
                  </a:ext>
                </a:extLst>
              </p:cNvPr>
              <p:cNvSpPr txBox="1"/>
              <p:nvPr/>
            </p:nvSpPr>
            <p:spPr>
              <a:xfrm>
                <a:off x="2988813" y="2281904"/>
                <a:ext cx="7493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⟹</m:t>
                      </m:r>
                    </m:oMath>
                  </m:oMathPara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099EBBF-9E63-480B-B048-410B48A874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8813" y="2281904"/>
                <a:ext cx="749300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6B14CD7-F164-40FB-9382-726E8CB22A0C}"/>
                  </a:ext>
                </a:extLst>
              </p:cNvPr>
              <p:cNvSpPr txBox="1"/>
              <p:nvPr/>
            </p:nvSpPr>
            <p:spPr>
              <a:xfrm>
                <a:off x="4251739" y="2925697"/>
                <a:ext cx="7493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⟹</m:t>
                      </m:r>
                    </m:oMath>
                  </m:oMathPara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6B14CD7-F164-40FB-9382-726E8CB22A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1739" y="2925697"/>
                <a:ext cx="749300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EFFFD33-4803-4D04-B90E-2175CAAA0ADD}"/>
                  </a:ext>
                </a:extLst>
              </p:cNvPr>
              <p:cNvSpPr txBox="1"/>
              <p:nvPr/>
            </p:nvSpPr>
            <p:spPr>
              <a:xfrm>
                <a:off x="4699959" y="2875161"/>
                <a:ext cx="233190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𝜌</m:t>
                      </m:r>
                      <m:d>
                        <m:dPr>
                          <m:ctrlPr>
                            <a:rPr lang="en-US" altLang="zh-CN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𝐵</m:t>
                          </m:r>
                        </m:e>
                      </m:d>
                      <m:sSub>
                        <m:sSubPr>
                          <m:ctrlPr>
                            <a:rPr lang="en-US" altLang="zh-CN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𝐵</m:t>
                              </m:r>
                            </m:e>
                          </m:d>
                        </m:e>
                        <m:sub>
                          <m:r>
                            <a:rPr lang="en-US" altLang="zh-CN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  <m:r>
                        <a:rPr lang="en-US" altLang="zh-CN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i="1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EFFFD33-4803-4D04-B90E-2175CAAA0A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959" y="2875161"/>
                <a:ext cx="2331906" cy="400110"/>
              </a:xfrm>
              <a:prstGeom prst="rect">
                <a:avLst/>
              </a:prstGeom>
              <a:blipFill>
                <a:blip r:embed="rId9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99535E99-9CDE-4849-8A81-890CAE643CEF}"/>
                  </a:ext>
                </a:extLst>
              </p:cNvPr>
              <p:cNvSpPr txBox="1"/>
              <p:nvPr/>
            </p:nvSpPr>
            <p:spPr>
              <a:xfrm>
                <a:off x="1034577" y="3834979"/>
                <a:ext cx="7493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⟹</m:t>
                      </m:r>
                    </m:oMath>
                  </m:oMathPara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99535E99-9CDE-4849-8A81-890CAE643C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577" y="3834979"/>
                <a:ext cx="749300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7416A2A-E83D-427E-B1B2-069192B2DC52}"/>
                  </a:ext>
                </a:extLst>
              </p:cNvPr>
              <p:cNvSpPr txBox="1"/>
              <p:nvPr/>
            </p:nvSpPr>
            <p:spPr>
              <a:xfrm>
                <a:off x="1525677" y="3850213"/>
                <a:ext cx="195835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1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不是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𝐵</m:t>
                      </m:r>
                      <m:r>
                        <a:rPr lang="zh-CN" alt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的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特征值</m:t>
                      </m:r>
                    </m:oMath>
                  </m:oMathPara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7416A2A-E83D-427E-B1B2-069192B2D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677" y="3850213"/>
                <a:ext cx="1958354" cy="400110"/>
              </a:xfrm>
              <a:prstGeom prst="rect">
                <a:avLst/>
              </a:prstGeom>
              <a:blipFill>
                <a:blip r:embed="rId11"/>
                <a:stretch>
                  <a:fillRect r="-4658" b="-1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6EE2D5FA-A296-4612-BDA9-7CE7EA691FA0}"/>
                  </a:ext>
                </a:extLst>
              </p:cNvPr>
              <p:cNvSpPr txBox="1"/>
              <p:nvPr/>
            </p:nvSpPr>
            <p:spPr>
              <a:xfrm>
                <a:off x="3652673" y="3841611"/>
                <a:ext cx="7493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⟹</m:t>
                      </m:r>
                    </m:oMath>
                  </m:oMathPara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6EE2D5FA-A296-4612-BDA9-7CE7EA691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2673" y="3841611"/>
                <a:ext cx="749300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AE44FF0-2085-484E-A418-0BC6CB35C249}"/>
                  </a:ext>
                </a:extLst>
              </p:cNvPr>
              <p:cNvSpPr txBox="1"/>
              <p:nvPr/>
            </p:nvSpPr>
            <p:spPr>
              <a:xfrm>
                <a:off x="4078603" y="3841713"/>
                <a:ext cx="1366901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CN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可逆</m:t>
                      </m:r>
                    </m:oMath>
                  </m:oMathPara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AE44FF0-2085-484E-A418-0BC6CB35C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8603" y="3841713"/>
                <a:ext cx="1366901" cy="400110"/>
              </a:xfrm>
              <a:prstGeom prst="rect">
                <a:avLst/>
              </a:prstGeom>
              <a:blipFill>
                <a:blip r:embed="rId13"/>
                <a:stretch>
                  <a:fillRect b="-60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7F0601C3-E82A-42D4-BECF-C62E070DE635}"/>
                  </a:ext>
                </a:extLst>
              </p:cNvPr>
              <p:cNvSpPr txBox="1"/>
              <p:nvPr/>
            </p:nvSpPr>
            <p:spPr>
              <a:xfrm>
                <a:off x="5092366" y="3852824"/>
                <a:ext cx="7493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⟹</m:t>
                      </m:r>
                    </m:oMath>
                  </m:oMathPara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7F0601C3-E82A-42D4-BECF-C62E070DE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2366" y="3852824"/>
                <a:ext cx="749300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F0A451BF-CA92-43F0-89A7-BF3634B9A3D1}"/>
                  </a:ext>
                </a:extLst>
              </p:cNvPr>
              <p:cNvSpPr txBox="1"/>
              <p:nvPr/>
            </p:nvSpPr>
            <p:spPr>
              <a:xfrm>
                <a:off x="5603787" y="3840286"/>
                <a:ext cx="249175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0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可逆</m:t>
                    </m:r>
                  </m:oMath>
                </a14:m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F0A451BF-CA92-43F0-89A7-BF3634B9A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3787" y="3840286"/>
                <a:ext cx="2491754" cy="400110"/>
              </a:xfrm>
              <a:prstGeom prst="rect">
                <a:avLst/>
              </a:prstGeom>
              <a:blipFill>
                <a:blip r:embed="rId15"/>
                <a:stretch>
                  <a:fillRect t="-7576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0B0B254F-0CF7-4490-A6A2-EDEB5D7919D0}"/>
              </a:ext>
            </a:extLst>
          </p:cNvPr>
          <p:cNvCxnSpPr/>
          <p:nvPr/>
        </p:nvCxnSpPr>
        <p:spPr>
          <a:xfrm>
            <a:off x="6167013" y="2256291"/>
            <a:ext cx="93852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B6154791-A705-46D4-80CE-97895B3C23DF}"/>
                  </a:ext>
                </a:extLst>
              </p:cNvPr>
              <p:cNvSpPr txBox="1"/>
              <p:nvPr/>
            </p:nvSpPr>
            <p:spPr>
              <a:xfrm>
                <a:off x="1502958" y="3852824"/>
                <a:ext cx="243301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0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不是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𝐼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−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𝐵</m:t>
                      </m:r>
                      <m:r>
                        <a:rPr lang="zh-CN" alt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的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特征值</m:t>
                      </m:r>
                    </m:oMath>
                  </m:oMathPara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B6154791-A705-46D4-80CE-97895B3C2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2958" y="3852824"/>
                <a:ext cx="2433019" cy="400110"/>
              </a:xfrm>
              <a:prstGeom prst="rect">
                <a:avLst/>
              </a:prstGeom>
              <a:blipFill>
                <a:blip r:embed="rId16"/>
                <a:stretch>
                  <a:fillRect r="-1253" b="-121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EA63A23D-A500-42C3-BC4E-C08D3F4A7A07}"/>
              </a:ext>
            </a:extLst>
          </p:cNvPr>
          <p:cNvCxnSpPr>
            <a:cxnSpLocks/>
          </p:cNvCxnSpPr>
          <p:nvPr/>
        </p:nvCxnSpPr>
        <p:spPr>
          <a:xfrm>
            <a:off x="4201019" y="4222210"/>
            <a:ext cx="108575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D4FABF30-1532-4523-BB97-F2C245763D22}"/>
              </a:ext>
            </a:extLst>
          </p:cNvPr>
          <p:cNvCxnSpPr>
            <a:cxnSpLocks/>
          </p:cNvCxnSpPr>
          <p:nvPr/>
        </p:nvCxnSpPr>
        <p:spPr>
          <a:xfrm flipV="1">
            <a:off x="3652673" y="2662522"/>
            <a:ext cx="3379192" cy="959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椭圆 33">
            <a:extLst>
              <a:ext uri="{FF2B5EF4-FFF2-40B4-BE49-F238E27FC236}">
                <a16:creationId xmlns:a16="http://schemas.microsoft.com/office/drawing/2014/main" id="{40FDDA70-43C8-46CB-8CDD-8C323D1B2967}"/>
              </a:ext>
            </a:extLst>
          </p:cNvPr>
          <p:cNvSpPr/>
          <p:nvPr/>
        </p:nvSpPr>
        <p:spPr>
          <a:xfrm>
            <a:off x="7288788" y="2830693"/>
            <a:ext cx="1521542" cy="553810"/>
          </a:xfrm>
          <a:prstGeom prst="ellipse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29D5FDC-CF04-4C7F-9B50-B37D66508C0E}"/>
              </a:ext>
            </a:extLst>
          </p:cNvPr>
          <p:cNvSpPr txBox="1"/>
          <p:nvPr/>
        </p:nvSpPr>
        <p:spPr>
          <a:xfrm>
            <a:off x="7334770" y="2927963"/>
            <a:ext cx="1521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rgbClr val="FF0000"/>
                </a:solidFill>
              </a:rPr>
              <a:t>J</a:t>
            </a:r>
            <a:r>
              <a:rPr lang="zh-CN" altLang="en-US" sz="1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迭代法收敛</a:t>
            </a:r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BA475429-5CBE-4574-BD71-29FF39240D7D}"/>
              </a:ext>
            </a:extLst>
          </p:cNvPr>
          <p:cNvCxnSpPr/>
          <p:nvPr/>
        </p:nvCxnSpPr>
        <p:spPr>
          <a:xfrm>
            <a:off x="4848053" y="3266491"/>
            <a:ext cx="200712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箭头: 右 37">
            <a:extLst>
              <a:ext uri="{FF2B5EF4-FFF2-40B4-BE49-F238E27FC236}">
                <a16:creationId xmlns:a16="http://schemas.microsoft.com/office/drawing/2014/main" id="{A8E7D696-C48C-4450-AD44-C517A72F9964}"/>
              </a:ext>
            </a:extLst>
          </p:cNvPr>
          <p:cNvSpPr/>
          <p:nvPr/>
        </p:nvSpPr>
        <p:spPr>
          <a:xfrm>
            <a:off x="6987984" y="3045771"/>
            <a:ext cx="277813" cy="181454"/>
          </a:xfrm>
          <a:prstGeom prst="rightArrow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64628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9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" grpId="0" animBg="1"/>
      <p:bldP spid="5" grpId="0" animBg="1"/>
      <p:bldP spid="6" grpId="0"/>
      <p:bldP spid="7" grpId="0"/>
      <p:bldP spid="9" grpId="0"/>
      <p:bldP spid="10" grpId="0"/>
      <p:bldP spid="11" grpId="0"/>
      <p:bldP spid="12" grpId="0"/>
      <p:bldP spid="13" grpId="0"/>
      <p:bldP spid="15" grpId="0"/>
      <p:bldP spid="16" grpId="0"/>
      <p:bldP spid="18" grpId="0"/>
      <p:bldP spid="18" grpId="1"/>
      <p:bldP spid="19" grpId="0"/>
      <p:bldP spid="20" grpId="0"/>
      <p:bldP spid="22" grpId="0"/>
      <p:bldP spid="25" grpId="0"/>
      <p:bldP spid="34" grpId="0" animBg="1"/>
      <p:bldP spid="35" grpId="0"/>
      <p:bldP spid="3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E7F064F-8544-4E76-8BE6-D4D3ABC8F908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0" y="371476"/>
            <a:ext cx="1660319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5CEFB25-3703-4C02-9EC2-99523841BF1B}"/>
              </a:ext>
            </a:extLst>
          </p:cNvPr>
          <p:cNvCxnSpPr>
            <a:cxnSpLocks/>
          </p:cNvCxnSpPr>
          <p:nvPr/>
        </p:nvCxnSpPr>
        <p:spPr>
          <a:xfrm>
            <a:off x="7161520" y="371476"/>
            <a:ext cx="1686909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DBAA461A-721D-4411-8E0C-37C00FB41582}"/>
              </a:ext>
            </a:extLst>
          </p:cNvPr>
          <p:cNvSpPr txBox="1"/>
          <p:nvPr/>
        </p:nvSpPr>
        <p:spPr>
          <a:xfrm>
            <a:off x="1660319" y="171421"/>
            <a:ext cx="55012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en-US" altLang="zh-CN" sz="18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3.5 </a:t>
            </a:r>
            <a:r>
              <a:rPr lang="en-US" altLang="zh-CN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Jacobi</a:t>
            </a:r>
            <a:r>
              <a:rPr lang="zh-CN" altLang="en-US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迭代法和</a:t>
            </a:r>
            <a:r>
              <a:rPr lang="en-US" altLang="zh-CN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Gauss-Seidel</a:t>
            </a:r>
            <a:r>
              <a:rPr lang="zh-CN" altLang="en-US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迭代法的收敛性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48B376DD-381A-4F19-8D2A-73D23D78E694}"/>
              </a:ext>
            </a:extLst>
          </p:cNvPr>
          <p:cNvSpPr/>
          <p:nvPr/>
        </p:nvSpPr>
        <p:spPr>
          <a:xfrm>
            <a:off x="954157" y="820739"/>
            <a:ext cx="7215808" cy="976417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294C02F-B504-4D30-BFA6-FB1290ECA247}"/>
              </a:ext>
            </a:extLst>
          </p:cNvPr>
          <p:cNvSpPr txBox="1"/>
          <p:nvPr/>
        </p:nvSpPr>
        <p:spPr>
          <a:xfrm>
            <a:off x="1162878" y="608664"/>
            <a:ext cx="704559" cy="400110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D4D989AB-F56E-480A-8FEA-85DBDBEA27B0}"/>
                  </a:ext>
                </a:extLst>
              </p:cNvPr>
              <p:cNvSpPr txBox="1"/>
              <p:nvPr/>
            </p:nvSpPr>
            <p:spPr>
              <a:xfrm>
                <a:off x="1320247" y="1008774"/>
                <a:ext cx="620367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  设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矩阵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zh-CN" alt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严格对角占优</m:t>
                    </m:r>
                    <m:r>
                      <a:rPr lang="zh-CN" altLang="en-US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，则解</m:t>
                    </m:r>
                    <m:r>
                      <m:rPr>
                        <m:nor/>
                      </m:rPr>
                      <a:rPr lang="zh-CN" altLang="en-US" sz="2000" dirty="0">
                        <a:latin typeface="华文楷体" panose="02010600040101010101" pitchFamily="2" charset="-122"/>
                        <a:ea typeface="华文楷体" panose="02010600040101010101" pitchFamily="2" charset="-122"/>
                      </a:rPr>
                      <m:t>线性方程组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𝐴𝑥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𝑏</m:t>
                    </m:r>
                    <m:r>
                      <a:rPr lang="zh-CN" altLang="en-US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的</m:t>
                    </m:r>
                  </m:oMath>
                </a14:m>
                <a:endParaRPr lang="en-US" altLang="zh-CN" sz="2000" b="0" i="1" dirty="0">
                  <a:latin typeface="Cambria Math" panose="02040503050406030204" pitchFamily="18" charset="0"/>
                  <a:ea typeface="华文楷体" panose="02010600040101010101" pitchFamily="2" charset="-122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𝐽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迭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代法和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𝐺𝑆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迭代法</m:t>
                    </m:r>
                    <m:r>
                      <a:rPr lang="zh-CN" altLang="en-US" sz="200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均收敛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.</m:t>
                    </m:r>
                  </m:oMath>
                </a14:m>
                <a:endParaRPr lang="zh-CN" altLang="en-US" sz="2000" i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D4D989AB-F56E-480A-8FEA-85DBDBEA2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0247" y="1008774"/>
                <a:ext cx="6203675" cy="707886"/>
              </a:xfrm>
              <a:prstGeom prst="rect">
                <a:avLst/>
              </a:prstGeom>
              <a:blipFill>
                <a:blip r:embed="rId2"/>
                <a:stretch>
                  <a:fillRect l="-393" t="-3419" b="-145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B9F24ED0-7872-4876-8B50-4151492ABD7C}"/>
              </a:ext>
            </a:extLst>
          </p:cNvPr>
          <p:cNvSpPr txBox="1"/>
          <p:nvPr/>
        </p:nvSpPr>
        <p:spPr>
          <a:xfrm>
            <a:off x="830159" y="1891381"/>
            <a:ext cx="749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证明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AD9F6EC-5E3E-41BB-B485-EA52ABE0137A}"/>
                  </a:ext>
                </a:extLst>
              </p:cNvPr>
              <p:cNvSpPr txBox="1"/>
              <p:nvPr/>
            </p:nvSpPr>
            <p:spPr>
              <a:xfrm>
                <a:off x="1620078" y="1864673"/>
                <a:ext cx="4136778" cy="439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只需证</a:t>
                </a:r>
                <a14:m>
                  <m:oMath xmlns:m="http://schemas.openxmlformats.org/officeDocument/2006/math"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𝜌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𝐺</m:t>
                        </m:r>
                      </m:e>
                    </m:d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𝜌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0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altLang="zh-CN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lang="en-US" altLang="zh-CN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1.</m:t>
                    </m:r>
                  </m:oMath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AD9F6EC-5E3E-41BB-B485-EA52ABE01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078" y="1864673"/>
                <a:ext cx="4136778" cy="439736"/>
              </a:xfrm>
              <a:prstGeom prst="rect">
                <a:avLst/>
              </a:prstGeom>
              <a:blipFill>
                <a:blip r:embed="rId3"/>
                <a:stretch>
                  <a:fillRect l="-1622" t="-1389" b="-22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ACF5041-B1E2-4D9B-9F37-BCD6FAA1F1D6}"/>
                  </a:ext>
                </a:extLst>
              </p:cNvPr>
              <p:cNvSpPr txBox="1"/>
              <p:nvPr/>
            </p:nvSpPr>
            <p:spPr>
              <a:xfrm>
                <a:off x="5493416" y="1884028"/>
                <a:ext cx="295512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zh-CN" altLang="en-US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𝜆</m:t>
                    </m:r>
                    <m:r>
                      <a:rPr lang="zh-CN" alt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是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𝐺</m:t>
                    </m:r>
                    <m:r>
                      <a:rPr lang="zh-CN" alt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的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任</m:t>
                    </m:r>
                    <m:r>
                      <a:rPr lang="zh-CN" alt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一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特征值</m:t>
                    </m:r>
                    <m:r>
                      <a:rPr lang="zh-CN" alt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，</m:t>
                    </m:r>
                  </m:oMath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ACF5041-B1E2-4D9B-9F37-BCD6FAA1F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3416" y="1884028"/>
                <a:ext cx="2955124" cy="400110"/>
              </a:xfrm>
              <a:prstGeom prst="rect">
                <a:avLst/>
              </a:prstGeom>
              <a:blipFill>
                <a:blip r:embed="rId4"/>
                <a:stretch>
                  <a:fillRect l="-2062" t="-606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084CDC8-C527-4E50-84FD-A1609ACA82B6}"/>
                  </a:ext>
                </a:extLst>
              </p:cNvPr>
              <p:cNvSpPr txBox="1"/>
              <p:nvPr/>
            </p:nvSpPr>
            <p:spPr>
              <a:xfrm>
                <a:off x="1579459" y="2327576"/>
                <a:ext cx="184435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det</m:t>
                      </m:r>
                      <m:d>
                        <m:d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𝜆</m:t>
                          </m:r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𝐼</m:t>
                          </m:r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−</m:t>
                          </m:r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𝐺</m:t>
                          </m:r>
                        </m:e>
                      </m:d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</m:oMath>
                  </m:oMathPara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084CDC8-C527-4E50-84FD-A1609ACA82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9459" y="2327576"/>
                <a:ext cx="184435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4D7CDB3-370F-4B9B-81BC-73C8C7391060}"/>
                  </a:ext>
                </a:extLst>
              </p:cNvPr>
              <p:cNvSpPr txBox="1"/>
              <p:nvPr/>
            </p:nvSpPr>
            <p:spPr>
              <a:xfrm>
                <a:off x="3263434" y="2307387"/>
                <a:ext cx="28622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det</m:t>
                      </m:r>
                      <m:d>
                        <m:d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𝜆</m:t>
                          </m:r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𝐼</m:t>
                          </m:r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d>
                    </m:oMath>
                  </m:oMathPara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4D7CDB3-370F-4B9B-81BC-73C8C73910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3434" y="2307387"/>
                <a:ext cx="2862234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AC7BA75-4175-4F9B-AA10-69E86714450E}"/>
                  </a:ext>
                </a:extLst>
              </p:cNvPr>
              <p:cNvSpPr txBox="1"/>
              <p:nvPr/>
            </p:nvSpPr>
            <p:spPr>
              <a:xfrm>
                <a:off x="2925925" y="2710475"/>
                <a:ext cx="4696045" cy="439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det</m:t>
                      </m:r>
                      <m:d>
                        <m:d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det</m:t>
                      </m:r>
                      <m:d>
                        <m:d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𝜆</m:t>
                          </m:r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d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AC7BA75-4175-4F9B-AA10-69E8671445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5925" y="2710475"/>
                <a:ext cx="4696045" cy="43973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7A5D62D-3EAD-4A5A-88DA-8993EF2B0D8B}"/>
                  </a:ext>
                </a:extLst>
              </p:cNvPr>
              <p:cNvSpPr/>
              <p:nvPr/>
            </p:nvSpPr>
            <p:spPr>
              <a:xfrm>
                <a:off x="2925925" y="3190155"/>
                <a:ext cx="55816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7A5D62D-3EAD-4A5A-88DA-8993EF2B0D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5925" y="3190155"/>
                <a:ext cx="558166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67C94ED-B8F7-4D01-BCB9-A7EF837B19AA}"/>
                  </a:ext>
                </a:extLst>
              </p:cNvPr>
              <p:cNvSpPr txBox="1"/>
              <p:nvPr/>
            </p:nvSpPr>
            <p:spPr>
              <a:xfrm>
                <a:off x="3364946" y="3203449"/>
                <a:ext cx="27607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det</m:t>
                      </m:r>
                      <m:d>
                        <m:d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𝜆</m:t>
                          </m:r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d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67C94ED-B8F7-4D01-BCB9-A7EF837B19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4946" y="3203449"/>
                <a:ext cx="2760722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86FCB40C-451F-4CDF-8831-D5CEA4BB1F0A}"/>
                  </a:ext>
                </a:extLst>
              </p:cNvPr>
              <p:cNvSpPr/>
              <p:nvPr/>
            </p:nvSpPr>
            <p:spPr>
              <a:xfrm>
                <a:off x="1313643" y="3966693"/>
                <a:ext cx="247785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𝜆</m:t>
                          </m:r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d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86FCB40C-451F-4CDF-8831-D5CEA4BB1F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3643" y="3966693"/>
                <a:ext cx="2477853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A9AD70AD-08D8-45A8-980B-5A923242EC78}"/>
                  </a:ext>
                </a:extLst>
              </p:cNvPr>
              <p:cNvSpPr/>
              <p:nvPr/>
            </p:nvSpPr>
            <p:spPr>
              <a:xfrm>
                <a:off x="3517523" y="3576548"/>
                <a:ext cx="3639092" cy="12940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sz="1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楷体" panose="02010600040101010101" pitchFamily="2" charset="-122"/>
                                      </a:rPr>
                                      <m:t>𝜆</m:t>
                                    </m:r>
                                    <m: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1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1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1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楷体" panose="02010600040101010101" pitchFamily="2" charset="-122"/>
                                      </a:rPr>
                                      <m:t>𝜆</m:t>
                                    </m:r>
                                    <m: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楷体" panose="02010600040101010101" pitchFamily="2" charset="-122"/>
                                      </a:rPr>
                                      <m:t>𝜆</m:t>
                                    </m:r>
                                    <m: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sz="1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sz="1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1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sz="1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zh-CN" alt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zh-CN" alt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zh-CN" alt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zh-CN" alt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zh-CN" alt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楷体" panose="02010600040101010101" pitchFamily="2" charset="-122"/>
                                      </a:rPr>
                                      <m:t>𝜆</m:t>
                                    </m:r>
                                    <m: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1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楷体" panose="02010600040101010101" pitchFamily="2" charset="-122"/>
                                      </a:rPr>
                                      <m:t>𝜆</m:t>
                                    </m:r>
                                    <m: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1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楷体" panose="02010600040101010101" pitchFamily="2" charset="-122"/>
                                      </a:rPr>
                                      <m:t>𝜆</m:t>
                                    </m:r>
                                    <m: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1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  <m:r>
                                      <a:rPr lang="en-US" altLang="zh-CN" sz="1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1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1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  <m:r>
                                      <a:rPr lang="en-US" altLang="zh-CN" sz="1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楷体" panose="02010600040101010101" pitchFamily="2" charset="-122"/>
                                      </a:rPr>
                                      <m:t>𝜆</m:t>
                                    </m:r>
                                    <m: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楷体" panose="02010600040101010101" pitchFamily="2" charset="-122"/>
                                      </a:rPr>
                                      <m:t>𝜆</m:t>
                                    </m:r>
                                    <m: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1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楷体" panose="02010600040101010101" pitchFamily="2" charset="-122"/>
                                      </a:rPr>
                                      <m:t>𝜆</m:t>
                                    </m:r>
                                    <m: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𝑛𝑛</m:t>
                                    </m:r>
                                    <m:r>
                                      <a:rPr lang="en-US" altLang="zh-CN" sz="1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楷体" panose="02010600040101010101" pitchFamily="2" charset="-122"/>
                                      </a:rPr>
                                      <m:t>𝜆</m:t>
                                    </m:r>
                                    <m: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A9AD70AD-08D8-45A8-980B-5A923242EC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7523" y="3576548"/>
                <a:ext cx="3639092" cy="1294072"/>
              </a:xfrm>
              <a:prstGeom prst="rect">
                <a:avLst/>
              </a:prstGeom>
              <a:blipFill>
                <a:blip r:embed="rId11"/>
                <a:stretch>
                  <a:fillRect r="-72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7089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5" grpId="0" animBg="1"/>
      <p:bldP spid="27" grpId="0" animBg="1"/>
      <p:bldP spid="28" grpId="0"/>
      <p:bldP spid="8" grpId="0"/>
      <p:bldP spid="9" grpId="0"/>
      <p:bldP spid="10" grpId="0"/>
      <p:bldP spid="11" grpId="0"/>
      <p:bldP spid="12" grpId="0"/>
      <p:bldP spid="13" grpId="0"/>
      <p:bldP spid="4" grpId="0"/>
      <p:bldP spid="17" grpId="0"/>
      <p:bldP spid="5" grpId="0"/>
      <p:bldP spid="2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E7F064F-8544-4E76-8BE6-D4D3ABC8F908}"/>
              </a:ext>
            </a:extLst>
          </p:cNvPr>
          <p:cNvCxnSpPr>
            <a:cxnSpLocks/>
          </p:cNvCxnSpPr>
          <p:nvPr/>
        </p:nvCxnSpPr>
        <p:spPr>
          <a:xfrm>
            <a:off x="43122" y="401293"/>
            <a:ext cx="1660319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5CEFB25-3703-4C02-9EC2-99523841BF1B}"/>
              </a:ext>
            </a:extLst>
          </p:cNvPr>
          <p:cNvCxnSpPr>
            <a:cxnSpLocks/>
          </p:cNvCxnSpPr>
          <p:nvPr/>
        </p:nvCxnSpPr>
        <p:spPr>
          <a:xfrm>
            <a:off x="7161520" y="421171"/>
            <a:ext cx="1686909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DBAA461A-721D-4411-8E0C-37C00FB41582}"/>
              </a:ext>
            </a:extLst>
          </p:cNvPr>
          <p:cNvSpPr txBox="1"/>
          <p:nvPr/>
        </p:nvSpPr>
        <p:spPr>
          <a:xfrm>
            <a:off x="1579458" y="178069"/>
            <a:ext cx="55012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en-US" altLang="zh-CN" sz="18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3.5 </a:t>
            </a:r>
            <a:r>
              <a:rPr lang="en-US" altLang="zh-CN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Jacobi</a:t>
            </a:r>
            <a:r>
              <a:rPr lang="zh-CN" altLang="en-US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迭代法和</a:t>
            </a:r>
            <a:r>
              <a:rPr lang="en-US" altLang="zh-CN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Gauss-Seidel</a:t>
            </a:r>
            <a:r>
              <a:rPr lang="zh-CN" altLang="en-US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迭代法的收敛性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95570E1-163E-406B-83C6-8522DC91A4A7}"/>
                  </a:ext>
                </a:extLst>
              </p:cNvPr>
              <p:cNvSpPr txBox="1"/>
              <p:nvPr/>
            </p:nvSpPr>
            <p:spPr>
              <a:xfrm>
                <a:off x="873282" y="1016485"/>
                <a:ext cx="152701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假设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𝜆</m:t>
                        </m:r>
                      </m:e>
                    </m:d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95570E1-163E-406B-83C6-8522DC91A4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282" y="1016485"/>
                <a:ext cx="1527018" cy="400110"/>
              </a:xfrm>
              <a:prstGeom prst="rect">
                <a:avLst/>
              </a:prstGeom>
              <a:blipFill>
                <a:blip r:embed="rId2"/>
                <a:stretch>
                  <a:fillRect l="-3984" t="-7692" b="-2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CF502C4-B39C-4860-B4A0-2E0672E012F2}"/>
                  </a:ext>
                </a:extLst>
              </p:cNvPr>
              <p:cNvSpPr txBox="1"/>
              <p:nvPr/>
            </p:nvSpPr>
            <p:spPr>
              <a:xfrm>
                <a:off x="2589727" y="1016485"/>
                <a:ext cx="493502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由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的严格对角占优</m:t>
                    </m:r>
                    <m:r>
                      <a:rPr lang="zh-CN" altLang="en-US" sz="200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条件</m:t>
                    </m:r>
                    <m:r>
                      <a:rPr lang="zh-CN" altLang="en-US" sz="2000" b="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，对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𝑖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=1,2,⋯,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CF502C4-B39C-4860-B4A0-2E0672E01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9727" y="1016485"/>
                <a:ext cx="4935023" cy="400110"/>
              </a:xfrm>
              <a:prstGeom prst="rect">
                <a:avLst/>
              </a:prstGeom>
              <a:blipFill>
                <a:blip r:embed="rId3"/>
                <a:stretch>
                  <a:fillRect l="-1360" t="-7692" b="-2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43E981EA-6DC6-4BDE-B196-540790F7FD4C}"/>
                  </a:ext>
                </a:extLst>
              </p:cNvPr>
              <p:cNvSpPr txBox="1"/>
              <p:nvPr/>
            </p:nvSpPr>
            <p:spPr>
              <a:xfrm>
                <a:off x="3548063" y="1439871"/>
                <a:ext cx="3738428" cy="10033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𝜆</m:t>
                              </m:r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43E981EA-6DC6-4BDE-B196-540790F7FD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8063" y="1439871"/>
                <a:ext cx="3738428" cy="10033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DB046A45-AA30-441C-9E00-F36035D4623A}"/>
                  </a:ext>
                </a:extLst>
              </p:cNvPr>
              <p:cNvSpPr txBox="1"/>
              <p:nvPr/>
            </p:nvSpPr>
            <p:spPr>
              <a:xfrm>
                <a:off x="1333856" y="1482460"/>
                <a:ext cx="2824589" cy="1183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𝜆</m:t>
                          </m:r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𝑖𝑖</m:t>
                              </m:r>
                            </m:sub>
                          </m:sSub>
                        </m:e>
                      </m:d>
                      <m:r>
                        <a:rPr lang="en-US" altLang="zh-CN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nary>
                        <m:naryPr>
                          <m:chr m:val="∑"/>
                          <m:ctrlPr>
                            <a:rPr lang="en-US" altLang="zh-CN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brk m:alnAt="23"/>
                                </m:r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</m:eqAr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𝜆</m:t>
                              </m:r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DB046A45-AA30-441C-9E00-F36035D46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856" y="1482460"/>
                <a:ext cx="2824589" cy="11835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9B210064-F0E3-47F6-A2BE-22AC24F529A1}"/>
                  </a:ext>
                </a:extLst>
              </p:cNvPr>
              <p:cNvSpPr txBox="1"/>
              <p:nvPr/>
            </p:nvSpPr>
            <p:spPr>
              <a:xfrm>
                <a:off x="873282" y="1482460"/>
                <a:ext cx="4000502" cy="1183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𝑖𝑖</m:t>
                              </m:r>
                            </m:sub>
                          </m:sSub>
                        </m:e>
                      </m:d>
                      <m:r>
                        <a:rPr lang="en-US" altLang="zh-CN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nary>
                        <m:naryPr>
                          <m:chr m:val="∑"/>
                          <m:ctrlPr>
                            <a:rPr lang="en-US" altLang="zh-CN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brk m:alnAt="23"/>
                                </m:r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</m:eqAr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9B210064-F0E3-47F6-A2BE-22AC24F529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282" y="1482460"/>
                <a:ext cx="4000502" cy="11835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2AC58F35-88E6-4024-8409-D0ADBDE6FB49}"/>
                  </a:ext>
                </a:extLst>
              </p:cNvPr>
              <p:cNvSpPr txBox="1"/>
              <p:nvPr/>
            </p:nvSpPr>
            <p:spPr>
              <a:xfrm>
                <a:off x="950980" y="2609946"/>
                <a:ext cx="592607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ea typeface="华文楷体" panose="02010600040101010101" pitchFamily="2" charset="-122"/>
                  </a:rPr>
                  <a:t>这说明</a:t>
                </a:r>
                <a14:m>
                  <m:oMath xmlns:m="http://schemas.openxmlformats.org/officeDocument/2006/math">
                    <m:r>
                      <a:rPr lang="zh-CN" altLang="en-US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𝜆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𝐷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−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𝐿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𝑈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也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是严格对角占优矩阵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.</m:t>
                    </m:r>
                  </m:oMath>
                </a14:m>
                <a:endParaRPr lang="zh-CN" altLang="en-US" sz="2000" i="1" dirty="0">
                  <a:latin typeface="Cambria Math" panose="02040503050406030204" pitchFamily="18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2AC58F35-88E6-4024-8409-D0ADBDE6F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980" y="2609946"/>
                <a:ext cx="5926070" cy="400110"/>
              </a:xfrm>
              <a:prstGeom prst="rect">
                <a:avLst/>
              </a:prstGeom>
              <a:blipFill>
                <a:blip r:embed="rId7"/>
                <a:stretch>
                  <a:fillRect l="-1029" t="-606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01491980-759F-4619-AE60-71B9DF0C5827}"/>
                  </a:ext>
                </a:extLst>
              </p:cNvPr>
              <p:cNvSpPr/>
              <p:nvPr/>
            </p:nvSpPr>
            <p:spPr>
              <a:xfrm>
                <a:off x="944541" y="3109253"/>
                <a:ext cx="302121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000" dirty="0">
                        <a:ea typeface="华文楷体" panose="02010600040101010101" pitchFamily="2" charset="-122"/>
                      </a:rPr>
                      <m:t>故</m:t>
                    </m:r>
                    <m:r>
                      <m:rPr>
                        <m:sty m:val="p"/>
                      </m:rP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det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𝜆</m:t>
                        </m:r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𝐷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−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𝐿</m:t>
                            </m:r>
                          </m:e>
                        </m:d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−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𝑈</m:t>
                        </m:r>
                      </m:e>
                    </m:d>
                    <m:r>
                      <a:rPr lang="en-US" altLang="zh-CN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0</m:t>
                    </m:r>
                  </m:oMath>
                </a14:m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01491980-759F-4619-AE60-71B9DF0C58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541" y="3109253"/>
                <a:ext cx="3021212" cy="400110"/>
              </a:xfrm>
              <a:prstGeom prst="rect">
                <a:avLst/>
              </a:prstGeom>
              <a:blipFill>
                <a:blip r:embed="rId8"/>
                <a:stretch>
                  <a:fillRect l="-605" t="-6061" r="-605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72E84CAD-489A-4F00-89D6-6FDA8BFE3591}"/>
                  </a:ext>
                </a:extLst>
              </p:cNvPr>
              <p:cNvSpPr/>
              <p:nvPr/>
            </p:nvSpPr>
            <p:spPr>
              <a:xfrm>
                <a:off x="4054071" y="3109253"/>
                <a:ext cx="101822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矛盾</m:t>
                      </m:r>
                      <m:r>
                        <a:rPr lang="zh-CN" altLang="en-US" sz="20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！</m:t>
                      </m:r>
                    </m:oMath>
                  </m:oMathPara>
                </a14:m>
                <a:endParaRPr lang="zh-CN" altLang="en-US" sz="2000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72E84CAD-489A-4F00-89D6-6FDA8BFE35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4071" y="3109253"/>
                <a:ext cx="1018227" cy="400110"/>
              </a:xfrm>
              <a:prstGeom prst="rect">
                <a:avLst/>
              </a:prstGeom>
              <a:blipFill>
                <a:blip r:embed="rId9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B04DE8F8-8583-4CCC-AA81-4023BAF97102}"/>
                  </a:ext>
                </a:extLst>
              </p:cNvPr>
              <p:cNvSpPr/>
              <p:nvPr/>
            </p:nvSpPr>
            <p:spPr>
              <a:xfrm>
                <a:off x="944541" y="3608560"/>
                <a:ext cx="224433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00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从而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必有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𝜆</m:t>
                        </m:r>
                      </m:e>
                    </m:d>
                    <m:r>
                      <a:rPr lang="en-US" altLang="zh-CN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</a:t>
                </a:r>
              </a:p>
            </p:txBody>
          </p:sp>
        </mc:Choice>
        <mc:Fallback xmlns="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B04DE8F8-8583-4CCC-AA81-4023BAF971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541" y="3608560"/>
                <a:ext cx="2244332" cy="400110"/>
              </a:xfrm>
              <a:prstGeom prst="rect">
                <a:avLst/>
              </a:prstGeom>
              <a:blipFill>
                <a:blip r:embed="rId10"/>
                <a:stretch>
                  <a:fillRect l="-272" t="-7576" r="-1902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912DAA9B-1811-45B1-B743-F20F818C7111}"/>
                  </a:ext>
                </a:extLst>
              </p:cNvPr>
              <p:cNvSpPr/>
              <p:nvPr/>
            </p:nvSpPr>
            <p:spPr>
              <a:xfrm>
                <a:off x="2943774" y="3593420"/>
                <a:ext cx="150823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000" b="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即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𝜌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𝐺</m:t>
                        </m:r>
                      </m:e>
                    </m:d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912DAA9B-1811-45B1-B743-F20F818C71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3774" y="3593420"/>
                <a:ext cx="1508233" cy="400110"/>
              </a:xfrm>
              <a:prstGeom prst="rect">
                <a:avLst/>
              </a:prstGeom>
              <a:blipFill>
                <a:blip r:embed="rId11"/>
                <a:stretch>
                  <a:fillRect l="-1215" t="-6061" r="-3239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C66B83E5-6629-4498-9D3C-6F6206DD54FC}"/>
                  </a:ext>
                </a:extLst>
              </p:cNvPr>
              <p:cNvSpPr/>
              <p:nvPr/>
            </p:nvSpPr>
            <p:spPr>
              <a:xfrm>
                <a:off x="4452007" y="3570709"/>
                <a:ext cx="3800079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𝐺𝑢𝑎𝑠𝑠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−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𝑆𝑒𝑖𝑑𝑒𝑙</m:t>
                      </m:r>
                      <m:r>
                        <a:rPr lang="zh-CN" altLang="en-US" sz="2000" i="1" dirty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迭代法</m:t>
                      </m:r>
                      <m:r>
                        <a:rPr lang="zh-CN" altLang="en-US" sz="2000" i="1" dirty="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收敛</m:t>
                      </m:r>
                      <m:r>
                        <a:rPr lang="zh-CN" altLang="en-US" sz="2000" i="1" dirty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得证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.</m:t>
                      </m:r>
                    </m:oMath>
                  </m:oMathPara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C66B83E5-6629-4498-9D3C-6F6206DD54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007" y="3570709"/>
                <a:ext cx="3800079" cy="400110"/>
              </a:xfrm>
              <a:prstGeom prst="rect">
                <a:avLst/>
              </a:prstGeom>
              <a:blipFill>
                <a:blip r:embed="rId12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145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  <p:bldP spid="20" grpId="0"/>
      <p:bldP spid="21" grpId="0"/>
      <p:bldP spid="22" grpId="0"/>
      <p:bldP spid="23" grpId="0"/>
      <p:bldP spid="23" grpId="1"/>
      <p:bldP spid="24" grpId="0"/>
      <p:bldP spid="6" grpId="0"/>
      <p:bldP spid="30" grpId="0"/>
      <p:bldP spid="31" grpId="0"/>
      <p:bldP spid="3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E7F064F-8544-4E76-8BE6-D4D3ABC8F908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0" y="371476"/>
            <a:ext cx="1660319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5CEFB25-3703-4C02-9EC2-99523841BF1B}"/>
              </a:ext>
            </a:extLst>
          </p:cNvPr>
          <p:cNvCxnSpPr>
            <a:cxnSpLocks/>
          </p:cNvCxnSpPr>
          <p:nvPr/>
        </p:nvCxnSpPr>
        <p:spPr>
          <a:xfrm>
            <a:off x="7161520" y="371476"/>
            <a:ext cx="1686909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DBAA461A-721D-4411-8E0C-37C00FB41582}"/>
              </a:ext>
            </a:extLst>
          </p:cNvPr>
          <p:cNvSpPr txBox="1"/>
          <p:nvPr/>
        </p:nvSpPr>
        <p:spPr>
          <a:xfrm>
            <a:off x="1660319" y="171421"/>
            <a:ext cx="55012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en-US" altLang="zh-CN" sz="18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3.5 </a:t>
            </a:r>
            <a:r>
              <a:rPr lang="en-US" altLang="zh-CN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Jacobi</a:t>
            </a:r>
            <a:r>
              <a:rPr lang="zh-CN" altLang="en-US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迭代法和</a:t>
            </a:r>
            <a:r>
              <a:rPr lang="en-US" altLang="zh-CN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Gauss-Seidel</a:t>
            </a:r>
            <a:r>
              <a:rPr lang="zh-CN" altLang="en-US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迭代法的收敛性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6017AAF-2B95-4240-9B5B-5049E692842E}"/>
              </a:ext>
            </a:extLst>
          </p:cNvPr>
          <p:cNvSpPr/>
          <p:nvPr/>
        </p:nvSpPr>
        <p:spPr>
          <a:xfrm>
            <a:off x="954157" y="929400"/>
            <a:ext cx="7026965" cy="689847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D7390EA-6F01-4F2E-9341-D223DF5F36A3}"/>
              </a:ext>
            </a:extLst>
          </p:cNvPr>
          <p:cNvSpPr txBox="1"/>
          <p:nvPr/>
        </p:nvSpPr>
        <p:spPr>
          <a:xfrm>
            <a:off x="1162878" y="717324"/>
            <a:ext cx="659483" cy="338539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EB273A8-A1BC-4AFE-B086-6C3706468DC6}"/>
                  </a:ext>
                </a:extLst>
              </p:cNvPr>
              <p:cNvSpPr txBox="1"/>
              <p:nvPr/>
            </p:nvSpPr>
            <p:spPr>
              <a:xfrm>
                <a:off x="1162878" y="1117434"/>
                <a:ext cx="656010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zh-CN" altLang="en-US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为</m:t>
                    </m:r>
                    <m:r>
                      <a:rPr lang="zh-CN" alt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对称正定</m:t>
                    </m:r>
                    <m:r>
                      <a:rPr lang="zh-CN" altLang="en-US" sz="20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矩阵</m:t>
                    </m:r>
                    <m:r>
                      <a:rPr lang="zh-CN" altLang="en-US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，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则解方程组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</a:t>
                </a:r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GS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迭代法收敛</a:t>
                </a:r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EB273A8-A1BC-4AFE-B086-6C3706468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878" y="1117434"/>
                <a:ext cx="6560102" cy="400110"/>
              </a:xfrm>
              <a:prstGeom prst="rect">
                <a:avLst/>
              </a:prstGeom>
              <a:blipFill>
                <a:blip r:embed="rId2"/>
                <a:stretch>
                  <a:fillRect l="-1022" t="-6061" r="-1673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3B06B88-1250-4E7C-8EC3-2256847553F9}"/>
              </a:ext>
            </a:extLst>
          </p:cNvPr>
          <p:cNvSpPr/>
          <p:nvPr/>
        </p:nvSpPr>
        <p:spPr>
          <a:xfrm>
            <a:off x="928757" y="1869200"/>
            <a:ext cx="7026965" cy="1477247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75DDFDE-C729-45A4-8DDB-8401C9FF1CE3}"/>
              </a:ext>
            </a:extLst>
          </p:cNvPr>
          <p:cNvSpPr txBox="1"/>
          <p:nvPr/>
        </p:nvSpPr>
        <p:spPr>
          <a:xfrm>
            <a:off x="1208312" y="1695460"/>
            <a:ext cx="614049" cy="338554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例题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2F3BAA67-D94C-44E2-BBC8-543D30C45259}"/>
                  </a:ext>
                </a:extLst>
              </p:cNvPr>
              <p:cNvSpPr txBox="1"/>
              <p:nvPr/>
            </p:nvSpPr>
            <p:spPr>
              <a:xfrm>
                <a:off x="1163706" y="2182640"/>
                <a:ext cx="2221672" cy="9062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zh-CN" alt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mr>
                          <m:m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mr>
                          <m:m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2F3BAA67-D94C-44E2-BBC8-543D30C45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3706" y="2182640"/>
                <a:ext cx="2221672" cy="906210"/>
              </a:xfrm>
              <a:prstGeom prst="rect">
                <a:avLst/>
              </a:prstGeom>
              <a:blipFill>
                <a:blip r:embed="rId3"/>
                <a:stretch>
                  <a:fillRect l="-30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44D1771-E46F-4061-BEA9-4A0DE9BAA72E}"/>
                  </a:ext>
                </a:extLst>
              </p:cNvPr>
              <p:cNvSpPr txBox="1"/>
              <p:nvPr/>
            </p:nvSpPr>
            <p:spPr>
              <a:xfrm>
                <a:off x="3505200" y="2057234"/>
                <a:ext cx="421778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/>
                  <a:t>（</a:t>
                </a:r>
                <a:r>
                  <a:rPr lang="en-US" altLang="zh-CN" sz="2000" dirty="0"/>
                  <a:t>1</a:t>
                </a:r>
                <a:r>
                  <a:rPr lang="zh-CN" altLang="en-US" sz="2000" dirty="0"/>
                  <a:t>）</a:t>
                </a:r>
                <a14:m>
                  <m:oMath xmlns:m="http://schemas.openxmlformats.org/officeDocument/2006/math"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𝛼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为何值时，矩阵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𝐴</m:t>
                    </m:r>
                    <m:r>
                      <a:rPr lang="zh-CN" alt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对称正定</m:t>
                    </m:r>
                    <m:r>
                      <a:rPr lang="zh-CN" altLang="en-US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？</m:t>
                    </m:r>
                  </m:oMath>
                </a14:m>
                <a:endParaRPr lang="zh-CN" altLang="en-US" sz="2000" i="1" dirty="0">
                  <a:solidFill>
                    <a:srgbClr val="000000"/>
                  </a:solidFill>
                  <a:latin typeface="Cambria Math" panose="02040503050406030204" pitchFamily="18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44D1771-E46F-4061-BEA9-4A0DE9BAA7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2057234"/>
                <a:ext cx="4217780" cy="400110"/>
              </a:xfrm>
              <a:prstGeom prst="rect">
                <a:avLst/>
              </a:prstGeom>
              <a:blipFill>
                <a:blip r:embed="rId4"/>
                <a:stretch>
                  <a:fillRect l="-1445" t="-10606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57822667-54D0-4F86-AA4B-09DD122ECDFB}"/>
                  </a:ext>
                </a:extLst>
              </p:cNvPr>
              <p:cNvSpPr txBox="1"/>
              <p:nvPr/>
            </p:nvSpPr>
            <p:spPr>
              <a:xfrm>
                <a:off x="3505200" y="2451815"/>
                <a:ext cx="421778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华文楷体" panose="02010600040101010101" pitchFamily="2" charset="-122"/>
                  </a:rPr>
                  <a:t>（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华文楷体" panose="02010600040101010101" pitchFamily="2" charset="-122"/>
                  </a:rPr>
                  <a:t>2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华文楷体" panose="02010600040101010101" pitchFamily="2" charset="-122"/>
                  </a:rPr>
                  <a:t>）</a:t>
                </a:r>
                <a14:m>
                  <m:oMath xmlns:m="http://schemas.openxmlformats.org/officeDocument/2006/math"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𝛼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为何值时，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𝐽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迭代法收敛？</m:t>
                    </m:r>
                  </m:oMath>
                </a14:m>
                <a:endParaRPr lang="zh-CN" altLang="en-US" sz="2000" i="1" dirty="0">
                  <a:solidFill>
                    <a:srgbClr val="000000"/>
                  </a:solidFill>
                  <a:latin typeface="Cambria Math" panose="02040503050406030204" pitchFamily="18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57822667-54D0-4F86-AA4B-09DD122EC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2451815"/>
                <a:ext cx="4217780" cy="400110"/>
              </a:xfrm>
              <a:prstGeom prst="rect">
                <a:avLst/>
              </a:prstGeom>
              <a:blipFill>
                <a:blip r:embed="rId5"/>
                <a:stretch>
                  <a:fillRect l="-1445" t="-10606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82249DF-727B-45AD-8504-DAC3E125B9CA}"/>
                  </a:ext>
                </a:extLst>
              </p:cNvPr>
              <p:cNvSpPr txBox="1"/>
              <p:nvPr/>
            </p:nvSpPr>
            <p:spPr>
              <a:xfrm>
                <a:off x="3523146" y="2846396"/>
                <a:ext cx="421778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华文楷体" panose="02010600040101010101" pitchFamily="2" charset="-122"/>
                  </a:rPr>
                  <a:t>（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华文楷体" panose="02010600040101010101" pitchFamily="2" charset="-122"/>
                  </a:rPr>
                  <a:t>3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华文楷体" panose="02010600040101010101" pitchFamily="2" charset="-122"/>
                  </a:rPr>
                  <a:t>）</a:t>
                </a:r>
                <a14:m>
                  <m:oMath xmlns:m="http://schemas.openxmlformats.org/officeDocument/2006/math"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𝛼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为何值时，</m:t>
                    </m:r>
                    <m:r>
                      <m:rPr>
                        <m:nor/>
                      </m:rPr>
                      <a:rPr lang="en-US" altLang="zh-CN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GS</m:t>
                    </m:r>
                    <m:r>
                      <m:rPr>
                        <m:nor/>
                      </m:rPr>
                      <a:rPr lang="zh-CN" altLang="en-US" sz="2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迭代法收敛</m:t>
                    </m:r>
                    <m:r>
                      <a:rPr lang="zh-CN" altLang="en-US" sz="2000" i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？</m:t>
                    </m:r>
                  </m:oMath>
                </a14:m>
                <a:endParaRPr lang="zh-CN" altLang="en-US" sz="2000" dirty="0">
                  <a:solidFill>
                    <a:srgbClr val="000000"/>
                  </a:solidFill>
                  <a:latin typeface="Cambria Math" panose="02040503050406030204" pitchFamily="18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82249DF-727B-45AD-8504-DAC3E125B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3146" y="2846396"/>
                <a:ext cx="4217780" cy="400110"/>
              </a:xfrm>
              <a:prstGeom prst="rect">
                <a:avLst/>
              </a:prstGeom>
              <a:blipFill>
                <a:blip r:embed="rId6"/>
                <a:stretch>
                  <a:fillRect l="-1590" t="-1212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>
            <a:extLst>
              <a:ext uri="{FF2B5EF4-FFF2-40B4-BE49-F238E27FC236}">
                <a16:creationId xmlns:a16="http://schemas.microsoft.com/office/drawing/2014/main" id="{71816215-754F-4B3D-9A94-51B3F2AFAAC1}"/>
              </a:ext>
            </a:extLst>
          </p:cNvPr>
          <p:cNvSpPr txBox="1"/>
          <p:nvPr/>
        </p:nvSpPr>
        <p:spPr>
          <a:xfrm>
            <a:off x="911019" y="3402290"/>
            <a:ext cx="5177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解：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4CA040A8-FABC-403D-B8E9-DB5E2AE81C1A}"/>
                  </a:ext>
                </a:extLst>
              </p:cNvPr>
              <p:cNvSpPr txBox="1"/>
              <p:nvPr/>
            </p:nvSpPr>
            <p:spPr>
              <a:xfrm>
                <a:off x="1483139" y="3396345"/>
                <a:ext cx="6340061" cy="46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/>
                  <a:t>（</a:t>
                </a:r>
                <a:r>
                  <a:rPr lang="en-US" altLang="zh-CN" sz="1600" dirty="0"/>
                  <a:t>1</a:t>
                </a:r>
                <a:r>
                  <a:rPr lang="zh-CN" altLang="en-US" sz="1600" dirty="0"/>
                  <a:t>）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𝐴</m:t>
                    </m:r>
                    <m:r>
                      <a:rPr lang="zh-CN" altLang="en-US" sz="16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对称正定</m:t>
                    </m:r>
                    <m:r>
                      <a:rPr lang="zh-CN" altLang="en-US" sz="16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⟺</m:t>
                    </m:r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𝐴</m:t>
                    </m:r>
                    <m:r>
                      <a:rPr lang="zh-CN" alt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的</m:t>
                    </m:r>
                    <m:r>
                      <a:rPr lang="zh-CN" alt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各阶</m:t>
                    </m:r>
                    <m:r>
                      <a:rPr lang="zh-CN" altLang="en-US" sz="16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顺序</m:t>
                    </m:r>
                    <m:r>
                      <a:rPr lang="zh-CN" alt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主子式</m:t>
                    </m:r>
                    <m:r>
                      <a:rPr lang="zh-CN" altLang="en-US" sz="16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大于</m:t>
                    </m:r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0</m:t>
                    </m:r>
                    <m:r>
                      <a:rPr lang="zh-CN" altLang="en-US" sz="16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⟺</m:t>
                    </m:r>
                    <m:r>
                      <a:rPr lang="zh-CN" alt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𝛼</m:t>
                    </m:r>
                    <m:r>
                      <a:rPr lang="zh-CN" alt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∈</m:t>
                    </m:r>
                    <m:d>
                      <m:d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2</m:t>
                            </m:r>
                          </m:den>
                        </m:f>
                        <m:r>
                          <a:rPr lang="zh-CN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，</m:t>
                        </m:r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1</m:t>
                        </m:r>
                      </m:e>
                    </m:d>
                  </m:oMath>
                </a14:m>
                <a:r>
                  <a:rPr lang="zh-CN" altLang="en-US" sz="16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；</a:t>
                </a: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4CA040A8-FABC-403D-B8E9-DB5E2AE81C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3139" y="3396345"/>
                <a:ext cx="6340061" cy="460832"/>
              </a:xfrm>
              <a:prstGeom prst="rect">
                <a:avLst/>
              </a:prstGeom>
              <a:blipFill>
                <a:blip r:embed="rId7"/>
                <a:stretch>
                  <a:fillRect l="-481"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60A8E87F-E3F4-4435-AE70-6228CC2150B8}"/>
                  </a:ext>
                </a:extLst>
              </p:cNvPr>
              <p:cNvSpPr txBox="1"/>
              <p:nvPr/>
            </p:nvSpPr>
            <p:spPr>
              <a:xfrm>
                <a:off x="1495838" y="4287139"/>
                <a:ext cx="5006561" cy="46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华文楷体" panose="02010600040101010101" pitchFamily="2" charset="-122"/>
                  </a:rPr>
                  <a:t>（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华文楷体" panose="02010600040101010101" pitchFamily="2" charset="-122"/>
                  </a:rPr>
                  <a:t>3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华文楷体" panose="02010600040101010101" pitchFamily="2" charset="-122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𝐺𝑆</m:t>
                    </m:r>
                    <m:r>
                      <a:rPr lang="zh-CN" altLang="en-US" sz="16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法收敛</m:t>
                    </m:r>
                    <m:r>
                      <a:rPr lang="zh-CN" altLang="en-US" sz="16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⟺</m:t>
                    </m:r>
                    <m:r>
                      <a:rPr lang="zh-CN" alt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𝜌</m:t>
                    </m:r>
                    <m:d>
                      <m:d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𝐺</m:t>
                        </m:r>
                      </m:e>
                    </m:d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&lt;1</m:t>
                    </m:r>
                    <m:r>
                      <a:rPr lang="zh-CN" altLang="en-US" sz="16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⟺</m:t>
                    </m:r>
                    <m:r>
                      <a:rPr lang="zh-CN" alt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𝛼</m:t>
                    </m:r>
                    <m:r>
                      <a:rPr lang="zh-CN" alt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∈</m:t>
                    </m:r>
                    <m:d>
                      <m:d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2</m:t>
                            </m:r>
                          </m:den>
                        </m:f>
                        <m:r>
                          <a:rPr lang="zh-CN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，</m:t>
                        </m:r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1</m:t>
                        </m:r>
                      </m:e>
                    </m:d>
                  </m:oMath>
                </a14:m>
                <a:r>
                  <a:rPr lang="zh-CN" altLang="en-US" sz="16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华文楷体" panose="02010600040101010101" pitchFamily="2" charset="-122"/>
                  </a:rPr>
                  <a:t> 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华文楷体" panose="02010600040101010101" pitchFamily="2" charset="-122"/>
                  </a:rPr>
                  <a:t>.</a:t>
                </a:r>
                <a:endParaRPr lang="zh-CN" altLang="en-US" sz="1600" dirty="0">
                  <a:solidFill>
                    <a:srgbClr val="000000"/>
                  </a:solidFill>
                  <a:latin typeface="Cambria Math" panose="02040503050406030204" pitchFamily="18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60A8E87F-E3F4-4435-AE70-6228CC2150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5838" y="4287139"/>
                <a:ext cx="5006561" cy="460832"/>
              </a:xfrm>
              <a:prstGeom prst="rect">
                <a:avLst/>
              </a:prstGeom>
              <a:blipFill>
                <a:blip r:embed="rId8"/>
                <a:stretch>
                  <a:fillRect l="-608"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7684E56D-2F6C-411B-8F81-01E682457AA3}"/>
                  </a:ext>
                </a:extLst>
              </p:cNvPr>
              <p:cNvSpPr txBox="1"/>
              <p:nvPr/>
            </p:nvSpPr>
            <p:spPr>
              <a:xfrm>
                <a:off x="1483139" y="3841742"/>
                <a:ext cx="6340061" cy="46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/>
                  <a:t>（</a:t>
                </a:r>
                <a:r>
                  <a:rPr lang="en-US" altLang="zh-CN" sz="1600" dirty="0"/>
                  <a:t>2</a:t>
                </a:r>
                <a:r>
                  <a:rPr lang="zh-CN" altLang="en-US" sz="1600" dirty="0"/>
                  <a:t>）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zh-CN" altLang="en-US" sz="16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法</m:t>
                    </m:r>
                    <m:r>
                      <a:rPr lang="zh-CN" altLang="en-US" sz="16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收敛</m:t>
                    </m:r>
                    <m:r>
                      <a:rPr lang="zh-CN" altLang="en-US" sz="16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⟺</m:t>
                    </m:r>
                    <m:r>
                      <a:rPr lang="zh-CN" alt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𝜌</m:t>
                    </m:r>
                    <m:d>
                      <m:d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𝐵</m:t>
                        </m:r>
                      </m:e>
                    </m:d>
                    <m:r>
                      <a:rPr lang="en-US" altLang="zh-CN" sz="16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&lt;</m:t>
                    </m:r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1</m:t>
                    </m:r>
                    <m:r>
                      <a:rPr lang="zh-CN" altLang="en-US" sz="16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⟺</m:t>
                    </m:r>
                    <m:r>
                      <a:rPr lang="zh-CN" alt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𝛼</m:t>
                    </m:r>
                    <m:r>
                      <a:rPr lang="zh-CN" alt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∈</m:t>
                    </m:r>
                    <m:d>
                      <m:d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2</m:t>
                            </m:r>
                          </m:den>
                        </m:f>
                        <m:r>
                          <a:rPr lang="zh-CN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，</m:t>
                        </m:r>
                        <m:f>
                          <m:fPr>
                            <m:ctrl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16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；</a:t>
                </a: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7684E56D-2F6C-411B-8F81-01E682457A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3139" y="3841742"/>
                <a:ext cx="6340061" cy="460832"/>
              </a:xfrm>
              <a:prstGeom prst="rect">
                <a:avLst/>
              </a:prstGeom>
              <a:blipFill>
                <a:blip r:embed="rId9"/>
                <a:stretch>
                  <a:fillRect l="-481"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0995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8" grpId="0" animBg="1"/>
      <p:bldP spid="9" grpId="0" animBg="1"/>
      <p:bldP spid="10" grpId="0"/>
      <p:bldP spid="12" grpId="0" animBg="1"/>
      <p:bldP spid="13" grpId="0" animBg="1"/>
      <p:bldP spid="15" grpId="0"/>
      <p:bldP spid="11" grpId="0"/>
      <p:bldP spid="16" grpId="0"/>
      <p:bldP spid="18" grpId="0"/>
      <p:bldP spid="19" grpId="0"/>
      <p:bldP spid="21" grpId="0"/>
      <p:bldP spid="2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E7F064F-8544-4E76-8BE6-D4D3ABC8F908}"/>
              </a:ext>
            </a:extLst>
          </p:cNvPr>
          <p:cNvCxnSpPr>
            <a:cxnSpLocks/>
          </p:cNvCxnSpPr>
          <p:nvPr/>
        </p:nvCxnSpPr>
        <p:spPr>
          <a:xfrm flipV="1">
            <a:off x="0" y="371475"/>
            <a:ext cx="1804244" cy="1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5CEFB25-3703-4C02-9EC2-99523841BF1B}"/>
              </a:ext>
            </a:extLst>
          </p:cNvPr>
          <p:cNvCxnSpPr>
            <a:cxnSpLocks/>
          </p:cNvCxnSpPr>
          <p:nvPr/>
        </p:nvCxnSpPr>
        <p:spPr>
          <a:xfrm flipV="1">
            <a:off x="7049334" y="371475"/>
            <a:ext cx="1900796" cy="1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DBAA461A-721D-4411-8E0C-37C00FB41582}"/>
              </a:ext>
            </a:extLst>
          </p:cNvPr>
          <p:cNvSpPr txBox="1"/>
          <p:nvPr/>
        </p:nvSpPr>
        <p:spPr>
          <a:xfrm>
            <a:off x="1733675" y="164968"/>
            <a:ext cx="5470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Jacobi</a:t>
            </a:r>
            <a:r>
              <a:rPr lang="zh-CN" altLang="en-US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迭代法和</a:t>
            </a:r>
            <a:r>
              <a:rPr lang="en-US" altLang="zh-CN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Gauss-Seidel</a:t>
            </a:r>
            <a:r>
              <a:rPr lang="zh-CN" altLang="en-US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迭代法的收敛性</a:t>
            </a:r>
            <a:endParaRPr lang="zh-CN" altLang="en-US" sz="1800" b="1" dirty="0">
              <a:solidFill>
                <a:srgbClr val="314865"/>
              </a:solidFill>
              <a:latin typeface="+mj-ea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19FD669-3E95-4625-8591-E0338E146914}"/>
              </a:ext>
            </a:extLst>
          </p:cNvPr>
          <p:cNvSpPr/>
          <p:nvPr/>
        </p:nvSpPr>
        <p:spPr>
          <a:xfrm>
            <a:off x="1559858" y="1469728"/>
            <a:ext cx="6607798" cy="603857"/>
          </a:xfrm>
          <a:prstGeom prst="round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FB943E2-327C-4D83-AD7B-626818FF9347}"/>
                  </a:ext>
                </a:extLst>
              </p:cNvPr>
              <p:cNvSpPr txBox="1"/>
              <p:nvPr/>
            </p:nvSpPr>
            <p:spPr>
              <a:xfrm>
                <a:off x="1436204" y="1630346"/>
                <a:ext cx="58721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indent="0"/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1.</a:t>
                </a:r>
                <a14:m>
                  <m:oMath xmlns:m="http://schemas.openxmlformats.org/officeDocument/2006/math">
                    <m:r>
                      <a:rPr lang="zh-CN" altLang="en-US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严格对角占优矩阵的</m:t>
                    </m:r>
                    <m:r>
                      <a:rPr lang="zh-CN" altLang="en-US" sz="200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定义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及其</m:t>
                    </m:r>
                    <m:r>
                      <a:rPr lang="zh-CN" altLang="en-US" sz="200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性质</m:t>
                    </m:r>
                  </m:oMath>
                </a14:m>
                <a:endParaRPr lang="zh-CN" altLang="en-US" sz="2000" i="1" dirty="0">
                  <a:latin typeface="Cambria Math" panose="02040503050406030204" pitchFamily="18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FB943E2-327C-4D83-AD7B-626818FF9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6204" y="1630346"/>
                <a:ext cx="5872164" cy="400110"/>
              </a:xfrm>
              <a:prstGeom prst="rect">
                <a:avLst/>
              </a:prstGeom>
              <a:blipFill>
                <a:blip r:embed="rId2"/>
                <a:stretch>
                  <a:fillRect t="-606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F47C2DD-3CC3-4642-B339-3FA8E37C8BDC}"/>
              </a:ext>
            </a:extLst>
          </p:cNvPr>
          <p:cNvSpPr/>
          <p:nvPr/>
        </p:nvSpPr>
        <p:spPr>
          <a:xfrm>
            <a:off x="1559856" y="2331188"/>
            <a:ext cx="6607797" cy="603856"/>
          </a:xfrm>
          <a:prstGeom prst="round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46561F8-007F-4803-AC32-F84AB5F73515}"/>
                  </a:ext>
                </a:extLst>
              </p:cNvPr>
              <p:cNvSpPr txBox="1"/>
              <p:nvPr/>
            </p:nvSpPr>
            <p:spPr>
              <a:xfrm>
                <a:off x="1692636" y="2439807"/>
                <a:ext cx="626650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2.</a:t>
                </a:r>
                <a14:m>
                  <m:oMath xmlns:m="http://schemas.openxmlformats.org/officeDocument/2006/math">
                    <m:r>
                      <a:rPr lang="zh-CN" altLang="en-US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系数矩阵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𝐴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严格对角占优</m:t>
                    </m:r>
                    <m:r>
                      <a:rPr lang="zh-CN" altLang="en-US" sz="200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条件</m:t>
                    </m:r>
                    <m:r>
                      <a:rPr lang="zh-CN" altLang="en-US" sz="2000" b="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下，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𝐽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,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𝐺𝑆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迭代法</m:t>
                    </m:r>
                    <m:r>
                      <a:rPr lang="zh-CN" altLang="en-US" sz="2000" b="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均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收敛</m:t>
                    </m:r>
                  </m:oMath>
                </a14:m>
                <a:endParaRPr lang="zh-CN" altLang="en-US" sz="2000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46561F8-007F-4803-AC32-F84AB5F73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2636" y="2439807"/>
                <a:ext cx="6266508" cy="400110"/>
              </a:xfrm>
              <a:prstGeom prst="rect">
                <a:avLst/>
              </a:prstGeom>
              <a:blipFill>
                <a:blip r:embed="rId3"/>
                <a:stretch>
                  <a:fillRect t="-606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8D24CB8-38F9-4B82-964B-54FD2DE7D41C}"/>
              </a:ext>
            </a:extLst>
          </p:cNvPr>
          <p:cNvSpPr/>
          <p:nvPr/>
        </p:nvSpPr>
        <p:spPr>
          <a:xfrm>
            <a:off x="1559854" y="3192647"/>
            <a:ext cx="6607797" cy="692661"/>
          </a:xfrm>
          <a:prstGeom prst="round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BF807799-E59F-4727-AF50-D7E5E84B1FBF}"/>
                  </a:ext>
                </a:extLst>
              </p:cNvPr>
              <p:cNvSpPr txBox="1"/>
              <p:nvPr/>
            </p:nvSpPr>
            <p:spPr>
              <a:xfrm>
                <a:off x="1804243" y="3394002"/>
                <a:ext cx="605830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3.</a:t>
                </a:r>
                <a14:m>
                  <m:oMath xmlns:m="http://schemas.openxmlformats.org/officeDocument/2006/math">
                    <m:r>
                      <a:rPr lang="zh-CN" altLang="en-US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系数矩阵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𝐴</m:t>
                    </m:r>
                    <m:r>
                      <a:rPr lang="zh-CN" altLang="en-US" sz="200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对称正定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条件下，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𝐽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,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𝐺𝑆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迭代法的收敛性</m:t>
                    </m:r>
                  </m:oMath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BF807799-E59F-4727-AF50-D7E5E84B1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4243" y="3394002"/>
                <a:ext cx="6058309" cy="400110"/>
              </a:xfrm>
              <a:prstGeom prst="rect">
                <a:avLst/>
              </a:prstGeom>
              <a:blipFill>
                <a:blip r:embed="rId4"/>
                <a:stretch>
                  <a:fillRect l="-1107" t="-7692" b="-2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6">
            <a:extLst>
              <a:ext uri="{FF2B5EF4-FFF2-40B4-BE49-F238E27FC236}">
                <a16:creationId xmlns:a16="http://schemas.microsoft.com/office/drawing/2014/main" id="{9D37D940-B031-43D7-B1E4-82671703B6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519" y="899649"/>
            <a:ext cx="49403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小结</a:t>
            </a:r>
            <a:r>
              <a:rPr lang="zh-CN" altLang="en-US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endParaRPr lang="en-US" altLang="zh-CN" dirty="0">
              <a:solidFill>
                <a:srgbClr val="004A8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2793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  <p:bldP spid="16" grpId="0"/>
      <p:bldP spid="17" grpId="0" animBg="1"/>
      <p:bldP spid="18" grpId="0"/>
      <p:bldP spid="21" grpId="0" animBg="1"/>
      <p:bldP spid="25" grpId="0"/>
      <p:bldP spid="1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E7F064F-8544-4E76-8BE6-D4D3ABC8F908}"/>
              </a:ext>
            </a:extLst>
          </p:cNvPr>
          <p:cNvCxnSpPr>
            <a:cxnSpLocks/>
          </p:cNvCxnSpPr>
          <p:nvPr/>
        </p:nvCxnSpPr>
        <p:spPr>
          <a:xfrm flipV="1">
            <a:off x="0" y="368300"/>
            <a:ext cx="2513198" cy="3176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5CEFB25-3703-4C02-9EC2-99523841BF1B}"/>
              </a:ext>
            </a:extLst>
          </p:cNvPr>
          <p:cNvCxnSpPr>
            <a:cxnSpLocks/>
          </p:cNvCxnSpPr>
          <p:nvPr/>
        </p:nvCxnSpPr>
        <p:spPr>
          <a:xfrm>
            <a:off x="6501947" y="336951"/>
            <a:ext cx="2431006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DBAA461A-721D-4411-8E0C-37C00FB41582}"/>
              </a:ext>
            </a:extLst>
          </p:cNvPr>
          <p:cNvSpPr txBox="1"/>
          <p:nvPr/>
        </p:nvSpPr>
        <p:spPr>
          <a:xfrm>
            <a:off x="1848640" y="123341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 3.6 </a:t>
            </a: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逐次超松弛迭代法（</a:t>
            </a:r>
            <a:r>
              <a:rPr lang="en-US" altLang="zh-CN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SOR</a:t>
            </a: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方法）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E3977D50-7725-4588-AE48-1A4240162EB4}"/>
                  </a:ext>
                </a:extLst>
              </p:cNvPr>
              <p:cNvSpPr/>
              <p:nvPr/>
            </p:nvSpPr>
            <p:spPr>
              <a:xfrm>
                <a:off x="592416" y="1207385"/>
                <a:ext cx="333296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回忆前</m:t>
                      </m:r>
                      <m:r>
                        <a:rPr lang="zh-CN" altLang="en-US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述</m:t>
                      </m:r>
                      <m:r>
                        <a:rPr lang="zh-CN" altLang="en-US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迭代法</m:t>
                      </m:r>
                      <m:r>
                        <a:rPr lang="zh-CN" altLang="en-US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的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一般形式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E3977D50-7725-4588-AE48-1A4240162E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16" y="1207385"/>
                <a:ext cx="3332964" cy="400110"/>
              </a:xfrm>
              <a:prstGeom prst="rect">
                <a:avLst/>
              </a:prstGeom>
              <a:blipFill>
                <a:blip r:embed="rId2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9CE0EB3-0ACB-4BA1-9868-152BC00B77FF}"/>
                  </a:ext>
                </a:extLst>
              </p:cNvPr>
              <p:cNvSpPr txBox="1"/>
              <p:nvPr/>
            </p:nvSpPr>
            <p:spPr>
              <a:xfrm>
                <a:off x="2273488" y="1846780"/>
                <a:ext cx="1633705" cy="421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9CE0EB3-0ACB-4BA1-9868-152BC00B7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3488" y="1846780"/>
                <a:ext cx="1633705" cy="4210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B0E848A4-BB6C-4C3F-8069-28775794E9F6}"/>
              </a:ext>
            </a:extLst>
          </p:cNvPr>
          <p:cNvSpPr txBox="1"/>
          <p:nvPr/>
        </p:nvSpPr>
        <p:spPr>
          <a:xfrm>
            <a:off x="605999" y="1864289"/>
            <a:ext cx="18311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Jacobi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迭代法：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F32E5BF1-06C7-4560-8FD7-9A4CA5112D93}"/>
                  </a:ext>
                </a:extLst>
              </p:cNvPr>
              <p:cNvSpPr/>
              <p:nvPr/>
            </p:nvSpPr>
            <p:spPr>
              <a:xfrm>
                <a:off x="4230845" y="1196933"/>
                <a:ext cx="2601033" cy="4210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+</m:t>
                      </m:r>
                      <m:sSup>
                        <m:s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Δ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F32E5BF1-06C7-4560-8FD7-9A4CA5112D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845" y="1196933"/>
                <a:ext cx="2601033" cy="4210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5C0D44CD-8331-4787-9DA6-0A4ACA0F7F7B}"/>
                  </a:ext>
                </a:extLst>
              </p:cNvPr>
              <p:cNvSpPr/>
              <p:nvPr/>
            </p:nvSpPr>
            <p:spPr>
              <a:xfrm>
                <a:off x="3465453" y="1857192"/>
                <a:ext cx="2888282" cy="4210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𝐷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𝐿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+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𝑈</m:t>
                          </m:r>
                        </m:e>
                      </m:d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+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𝐷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−1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𝑏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5C0D44CD-8331-4787-9DA6-0A4ACA0F7F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5453" y="1857192"/>
                <a:ext cx="2888282" cy="4210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CCF16A20-E817-48D6-ADB7-3B2973DC2567}"/>
                  </a:ext>
                </a:extLst>
              </p:cNvPr>
              <p:cNvSpPr/>
              <p:nvPr/>
            </p:nvSpPr>
            <p:spPr>
              <a:xfrm>
                <a:off x="3529340" y="1847182"/>
                <a:ext cx="940257" cy="4210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+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CCF16A20-E817-48D6-ADB7-3B2973DC25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9340" y="1847182"/>
                <a:ext cx="940257" cy="42101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F3EBF89C-786D-4BE0-9628-3F2EB6474CF9}"/>
                  </a:ext>
                </a:extLst>
              </p:cNvPr>
              <p:cNvSpPr/>
              <p:nvPr/>
            </p:nvSpPr>
            <p:spPr>
              <a:xfrm>
                <a:off x="6831878" y="1839976"/>
                <a:ext cx="883255" cy="4210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F3EBF89C-786D-4BE0-9628-3F2EB6474C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1878" y="1839976"/>
                <a:ext cx="883255" cy="42101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C51F2201-E6AF-44AE-A250-5972941CF13F}"/>
                  </a:ext>
                </a:extLst>
              </p:cNvPr>
              <p:cNvSpPr/>
              <p:nvPr/>
            </p:nvSpPr>
            <p:spPr>
              <a:xfrm>
                <a:off x="4181860" y="1846780"/>
                <a:ext cx="2888282" cy="4210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𝐷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𝐿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+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𝑈</m:t>
                          </m:r>
                        </m:e>
                      </m:d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+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𝐷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−1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𝑏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C51F2201-E6AF-44AE-A250-5972941CF1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860" y="1846780"/>
                <a:ext cx="2888282" cy="42101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7FCB32A-4DFE-4D8C-8008-642E387B0713}"/>
              </a:ext>
            </a:extLst>
          </p:cNvPr>
          <p:cNvCxnSpPr>
            <a:cxnSpLocks/>
          </p:cNvCxnSpPr>
          <p:nvPr/>
        </p:nvCxnSpPr>
        <p:spPr>
          <a:xfrm>
            <a:off x="4270945" y="2881606"/>
            <a:ext cx="219910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A0B5F08F-4FF0-496D-B891-3927EAAAAC90}"/>
                  </a:ext>
                </a:extLst>
              </p:cNvPr>
              <p:cNvSpPr/>
              <p:nvPr/>
            </p:nvSpPr>
            <p:spPr>
              <a:xfrm>
                <a:off x="3301270" y="2489790"/>
                <a:ext cx="764175" cy="4210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Δ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A0B5F08F-4FF0-496D-B891-3927EAAAAC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270" y="2489790"/>
                <a:ext cx="764175" cy="42101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0C868829-4CEC-4AF3-8036-18667DDB73D4}"/>
                  </a:ext>
                </a:extLst>
              </p:cNvPr>
              <p:cNvSpPr/>
              <p:nvPr/>
            </p:nvSpPr>
            <p:spPr>
              <a:xfrm>
                <a:off x="3864237" y="2480743"/>
                <a:ext cx="2710443" cy="4210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𝐷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−1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𝐴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+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𝐷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−1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𝑏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0C868829-4CEC-4AF3-8036-18667DDB73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4237" y="2480743"/>
                <a:ext cx="2710443" cy="42101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本框 29">
            <a:extLst>
              <a:ext uri="{FF2B5EF4-FFF2-40B4-BE49-F238E27FC236}">
                <a16:creationId xmlns:a16="http://schemas.microsoft.com/office/drawing/2014/main" id="{E200CCF3-2F40-4F3C-A8B0-FA2824A1ED59}"/>
              </a:ext>
            </a:extLst>
          </p:cNvPr>
          <p:cNvSpPr txBox="1"/>
          <p:nvPr/>
        </p:nvSpPr>
        <p:spPr>
          <a:xfrm>
            <a:off x="592416" y="3272375"/>
            <a:ext cx="15583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其分量形式：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1DDDBF8A-4486-4C16-900B-1F2840E22D04}"/>
                  </a:ext>
                </a:extLst>
              </p:cNvPr>
              <p:cNvSpPr txBox="1"/>
              <p:nvPr/>
            </p:nvSpPr>
            <p:spPr>
              <a:xfrm>
                <a:off x="3301270" y="2930839"/>
                <a:ext cx="4552608" cy="10831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𝑖𝑖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  <m:sSubSup>
                            <m:sSub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  </m:t>
                          </m:r>
                          <m:nary>
                            <m:naryPr>
                              <m:chr m:val="∑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  <m:sSubSup>
                            <m:sSub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1DDDBF8A-4486-4C16-900B-1F2840E22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270" y="2930839"/>
                <a:ext cx="4552608" cy="108318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5FB63F73-8A41-4ADB-B89A-E6BE1245FF76}"/>
                  </a:ext>
                </a:extLst>
              </p:cNvPr>
              <p:cNvSpPr/>
              <p:nvPr/>
            </p:nvSpPr>
            <p:spPr>
              <a:xfrm>
                <a:off x="2015989" y="3204659"/>
                <a:ext cx="1199752" cy="4800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bSup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5FB63F73-8A41-4ADB-B89A-E6BE1245FF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5989" y="3204659"/>
                <a:ext cx="1199752" cy="480068"/>
              </a:xfrm>
              <a:prstGeom prst="rect">
                <a:avLst/>
              </a:prstGeom>
              <a:blipFill>
                <a:blip r:embed="rId12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19620F5-8F93-4EFA-BE3F-CB849A707A34}"/>
                  </a:ext>
                </a:extLst>
              </p:cNvPr>
              <p:cNvSpPr txBox="1"/>
              <p:nvPr/>
            </p:nvSpPr>
            <p:spPr>
              <a:xfrm>
                <a:off x="3666274" y="2922299"/>
                <a:ext cx="4552608" cy="10831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𝑖𝑖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  <m:sSubSup>
                            <m:sSub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  </m:t>
                          </m:r>
                          <m:nary>
                            <m:naryPr>
                              <m:chr m:val="∑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  <m:sSubSup>
                            <m:sSub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19620F5-8F93-4EFA-BE3F-CB849A707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274" y="2922299"/>
                <a:ext cx="4552608" cy="108318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B42B0384-65AC-4F90-9ACC-B9D8F7592CB0}"/>
                  </a:ext>
                </a:extLst>
              </p:cNvPr>
              <p:cNvSpPr/>
              <p:nvPr/>
            </p:nvSpPr>
            <p:spPr>
              <a:xfrm>
                <a:off x="2982106" y="3193762"/>
                <a:ext cx="933393" cy="4800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</m:sSubSup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B42B0384-65AC-4F90-9ACC-B9D8F7592C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2106" y="3193762"/>
                <a:ext cx="933393" cy="480068"/>
              </a:xfrm>
              <a:prstGeom prst="rect">
                <a:avLst/>
              </a:prstGeom>
              <a:blipFill>
                <a:blip r:embed="rId14"/>
                <a:stretch>
                  <a:fillRect b="-25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311A159D-6FD8-4BB8-A2DE-B8C9DEDEF006}"/>
                  </a:ext>
                </a:extLst>
              </p:cNvPr>
              <p:cNvSpPr/>
              <p:nvPr/>
            </p:nvSpPr>
            <p:spPr>
              <a:xfrm>
                <a:off x="7934787" y="3229209"/>
                <a:ext cx="883254" cy="4800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311A159D-6FD8-4BB8-A2DE-B8C9DEDEF0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4787" y="3229209"/>
                <a:ext cx="883254" cy="480068"/>
              </a:xfrm>
              <a:prstGeom prst="rect">
                <a:avLst/>
              </a:prstGeom>
              <a:blipFill>
                <a:blip r:embed="rId15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0F65CF66-21AB-4CA5-B01C-CCDE4412603A}"/>
              </a:ext>
            </a:extLst>
          </p:cNvPr>
          <p:cNvCxnSpPr/>
          <p:nvPr/>
        </p:nvCxnSpPr>
        <p:spPr>
          <a:xfrm>
            <a:off x="3892335" y="3986164"/>
            <a:ext cx="454432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A71117F4-2145-4272-A0F1-C5436547E383}"/>
                  </a:ext>
                </a:extLst>
              </p:cNvPr>
              <p:cNvSpPr txBox="1"/>
              <p:nvPr/>
            </p:nvSpPr>
            <p:spPr>
              <a:xfrm>
                <a:off x="3529340" y="2929103"/>
                <a:ext cx="4552608" cy="10831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𝑖𝑖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  <m:sSubSup>
                            <m:sSub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  </m:t>
                          </m:r>
                          <m:nary>
                            <m:naryPr>
                              <m:chr m:val="∑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  <m:sSubSup>
                            <m:sSub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A71117F4-2145-4272-A0F1-C5436547E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9340" y="2929103"/>
                <a:ext cx="4552608" cy="108318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FAD5D302-DADD-4D7B-8B7A-D548C81683C9}"/>
              </a:ext>
            </a:extLst>
          </p:cNvPr>
          <p:cNvCxnSpPr/>
          <p:nvPr/>
        </p:nvCxnSpPr>
        <p:spPr>
          <a:xfrm>
            <a:off x="3830031" y="4013560"/>
            <a:ext cx="38735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652E3530-C919-4CC2-8136-2E20E63E3C6A}"/>
              </a:ext>
            </a:extLst>
          </p:cNvPr>
          <p:cNvCxnSpPr/>
          <p:nvPr/>
        </p:nvCxnSpPr>
        <p:spPr>
          <a:xfrm>
            <a:off x="6420118" y="4012285"/>
            <a:ext cx="354169" cy="2459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椭圆 46">
            <a:extLst>
              <a:ext uri="{FF2B5EF4-FFF2-40B4-BE49-F238E27FC236}">
                <a16:creationId xmlns:a16="http://schemas.microsoft.com/office/drawing/2014/main" id="{2415C743-72AF-4212-A810-9801CBDEB03D}"/>
              </a:ext>
            </a:extLst>
          </p:cNvPr>
          <p:cNvSpPr/>
          <p:nvPr/>
        </p:nvSpPr>
        <p:spPr>
          <a:xfrm>
            <a:off x="6574680" y="4216103"/>
            <a:ext cx="978783" cy="480068"/>
          </a:xfrm>
          <a:prstGeom prst="ellipse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CCAC6CA9-2ED9-4A4D-B5B1-64E968DDCAE7}"/>
                  </a:ext>
                </a:extLst>
              </p:cNvPr>
              <p:cNvSpPr txBox="1"/>
              <p:nvPr/>
            </p:nvSpPr>
            <p:spPr>
              <a:xfrm>
                <a:off x="6705783" y="4207707"/>
                <a:ext cx="694078" cy="4800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Δ</m:t>
                      </m:r>
                      <m:sSubSup>
                        <m:sSubSupPr>
                          <m:ctrl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bSupPr>
                        <m:e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CCAC6CA9-2ED9-4A4D-B5B1-64E968DDCA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783" y="4207707"/>
                <a:ext cx="694078" cy="480068"/>
              </a:xfrm>
              <a:prstGeom prst="rect">
                <a:avLst/>
              </a:prstGeom>
              <a:blipFill>
                <a:blip r:embed="rId17"/>
                <a:stretch>
                  <a:fillRect b="-3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6F507D49-F881-4AB4-A2D5-28BFD6956D9C}"/>
              </a:ext>
            </a:extLst>
          </p:cNvPr>
          <p:cNvCxnSpPr>
            <a:cxnSpLocks/>
          </p:cNvCxnSpPr>
          <p:nvPr/>
        </p:nvCxnSpPr>
        <p:spPr>
          <a:xfrm flipV="1">
            <a:off x="4321393" y="2260989"/>
            <a:ext cx="3232070" cy="680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08FFD9B0-FAB5-4ADE-BE77-2F63E5A840D1}"/>
                  </a:ext>
                </a:extLst>
              </p:cNvPr>
              <p:cNvSpPr txBox="1"/>
              <p:nvPr/>
            </p:nvSpPr>
            <p:spPr>
              <a:xfrm>
                <a:off x="658154" y="660713"/>
                <a:ext cx="28073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sz="2000">
                        <a:solidFill>
                          <a:srgbClr val="004A82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𝑆𝑂𝑅</m:t>
                    </m:r>
                  </m:oMath>
                </a14:m>
                <a:r>
                  <a:rPr lang="zh-CN" altLang="en-US" sz="2000" dirty="0">
                    <a:solidFill>
                      <a:srgbClr val="004A82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迭代法的建立</a:t>
                </a:r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08FFD9B0-FAB5-4ADE-BE77-2F63E5A84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154" y="660713"/>
                <a:ext cx="2807300" cy="400110"/>
              </a:xfrm>
              <a:prstGeom prst="rect">
                <a:avLst/>
              </a:prstGeom>
              <a:blipFill>
                <a:blip r:embed="rId18"/>
                <a:stretch>
                  <a:fillRect l="-1957" t="-606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4761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8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5" grpId="0"/>
      <p:bldP spid="8" grpId="0"/>
      <p:bldP spid="9" grpId="0"/>
      <p:bldP spid="15" grpId="0"/>
      <p:bldP spid="10" grpId="0"/>
      <p:bldP spid="10" grpId="1"/>
      <p:bldP spid="17" grpId="0"/>
      <p:bldP spid="18" grpId="0"/>
      <p:bldP spid="19" grpId="0"/>
      <p:bldP spid="26" grpId="0"/>
      <p:bldP spid="27" grpId="0"/>
      <p:bldP spid="30" grpId="0"/>
      <p:bldP spid="31" grpId="0" animBg="1"/>
      <p:bldP spid="31" grpId="1" animBg="1"/>
      <p:bldP spid="32" grpId="0"/>
      <p:bldP spid="33" grpId="0" build="allAtOnce"/>
      <p:bldP spid="34" grpId="0"/>
      <p:bldP spid="35" grpId="0"/>
      <p:bldP spid="35" grpId="1"/>
      <p:bldP spid="47" grpId="0" animBg="1"/>
      <p:bldP spid="5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E7F064F-8544-4E76-8BE6-D4D3ABC8F908}"/>
              </a:ext>
            </a:extLst>
          </p:cNvPr>
          <p:cNvCxnSpPr>
            <a:cxnSpLocks/>
          </p:cNvCxnSpPr>
          <p:nvPr/>
        </p:nvCxnSpPr>
        <p:spPr>
          <a:xfrm flipV="1">
            <a:off x="0" y="368300"/>
            <a:ext cx="2513198" cy="3176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5CEFB25-3703-4C02-9EC2-99523841BF1B}"/>
              </a:ext>
            </a:extLst>
          </p:cNvPr>
          <p:cNvCxnSpPr>
            <a:cxnSpLocks/>
          </p:cNvCxnSpPr>
          <p:nvPr/>
        </p:nvCxnSpPr>
        <p:spPr>
          <a:xfrm>
            <a:off x="6501947" y="336951"/>
            <a:ext cx="2431006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DBAA461A-721D-4411-8E0C-37C00FB41582}"/>
              </a:ext>
            </a:extLst>
          </p:cNvPr>
          <p:cNvSpPr txBox="1"/>
          <p:nvPr/>
        </p:nvSpPr>
        <p:spPr>
          <a:xfrm>
            <a:off x="1848640" y="123341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 3.6 </a:t>
            </a: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逐次超松弛迭代法（</a:t>
            </a:r>
            <a:r>
              <a:rPr lang="en-US" altLang="zh-CN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SOR</a:t>
            </a: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方法）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A4AF66A-8BDA-44D3-BFC9-A2C224D9BD7F}"/>
                  </a:ext>
                </a:extLst>
              </p:cNvPr>
              <p:cNvSpPr txBox="1"/>
              <p:nvPr/>
            </p:nvSpPr>
            <p:spPr>
              <a:xfrm>
                <a:off x="2024846" y="977059"/>
                <a:ext cx="1676399" cy="421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A4AF66A-8BDA-44D3-BFC9-A2C224D9BD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4846" y="977059"/>
                <a:ext cx="1676399" cy="4210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C4796FA5-1634-4DC1-8905-07471B956870}"/>
              </a:ext>
            </a:extLst>
          </p:cNvPr>
          <p:cNvSpPr txBox="1"/>
          <p:nvPr/>
        </p:nvSpPr>
        <p:spPr>
          <a:xfrm>
            <a:off x="649668" y="1015874"/>
            <a:ext cx="15542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G-S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迭代法：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25A85B1-1479-47F9-9626-62DDAF880C0B}"/>
                  </a:ext>
                </a:extLst>
              </p:cNvPr>
              <p:cNvSpPr/>
              <p:nvPr/>
            </p:nvSpPr>
            <p:spPr>
              <a:xfrm>
                <a:off x="3313280" y="970659"/>
                <a:ext cx="3526286" cy="4210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𝐷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𝐿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−1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𝑈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+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𝐷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𝐿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−1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𝑏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25A85B1-1479-47F9-9626-62DDAF880C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3280" y="970659"/>
                <a:ext cx="3526286" cy="4210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36E241F9-62E5-44F8-A00F-2E8921BA374F}"/>
                  </a:ext>
                </a:extLst>
              </p:cNvPr>
              <p:cNvSpPr/>
              <p:nvPr/>
            </p:nvSpPr>
            <p:spPr>
              <a:xfrm>
                <a:off x="3326284" y="964412"/>
                <a:ext cx="940257" cy="4210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+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36E241F9-62E5-44F8-A00F-2E8921BA37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6284" y="964412"/>
                <a:ext cx="940257" cy="4210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560410EC-9A46-455F-BA30-422CAD51E208}"/>
                  </a:ext>
                </a:extLst>
              </p:cNvPr>
              <p:cNvSpPr/>
              <p:nvPr/>
            </p:nvSpPr>
            <p:spPr>
              <a:xfrm>
                <a:off x="7263528" y="958100"/>
                <a:ext cx="883255" cy="4210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560410EC-9A46-455F-BA30-422CAD51E2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3528" y="958100"/>
                <a:ext cx="883255" cy="4210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B36BE7E0-967C-4610-B7F7-B9A0AE5AC319}"/>
                  </a:ext>
                </a:extLst>
              </p:cNvPr>
              <p:cNvSpPr/>
              <p:nvPr/>
            </p:nvSpPr>
            <p:spPr>
              <a:xfrm>
                <a:off x="4008331" y="973107"/>
                <a:ext cx="3526286" cy="4210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𝐷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𝐿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−1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𝑈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+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𝐷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𝐿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−1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𝑏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B36BE7E0-967C-4610-B7F7-B9A0AE5AC3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8331" y="973107"/>
                <a:ext cx="3526286" cy="42101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F6695A58-78CD-4EDE-BC72-826A834E982A}"/>
              </a:ext>
            </a:extLst>
          </p:cNvPr>
          <p:cNvCxnSpPr/>
          <p:nvPr/>
        </p:nvCxnSpPr>
        <p:spPr>
          <a:xfrm flipV="1">
            <a:off x="4185611" y="1357617"/>
            <a:ext cx="3686000" cy="680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417B55BA-66B2-4FC7-80C1-2974E2D74F9C}"/>
                  </a:ext>
                </a:extLst>
              </p:cNvPr>
              <p:cNvSpPr/>
              <p:nvPr/>
            </p:nvSpPr>
            <p:spPr>
              <a:xfrm>
                <a:off x="3208952" y="1616540"/>
                <a:ext cx="764175" cy="4210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Δ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417B55BA-66B2-4FC7-80C1-2974E2D74F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8952" y="1616540"/>
                <a:ext cx="764175" cy="42101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70BF9BE7-ACF7-4EF6-966A-A9D6FA857D06}"/>
                  </a:ext>
                </a:extLst>
              </p:cNvPr>
              <p:cNvSpPr/>
              <p:nvPr/>
            </p:nvSpPr>
            <p:spPr>
              <a:xfrm>
                <a:off x="3771919" y="1607493"/>
                <a:ext cx="4000473" cy="4210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𝐷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𝐿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−1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𝐴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+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𝐷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𝐿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−1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𝑏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70BF9BE7-ACF7-4EF6-966A-A9D6FA857D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919" y="1607493"/>
                <a:ext cx="4000473" cy="42101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22D38109-3BFD-43E9-B30F-BD07FA6DE21F}"/>
              </a:ext>
            </a:extLst>
          </p:cNvPr>
          <p:cNvSpPr txBox="1"/>
          <p:nvPr/>
        </p:nvSpPr>
        <p:spPr>
          <a:xfrm>
            <a:off x="592416" y="2819836"/>
            <a:ext cx="15583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其分量形式：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488563FC-0887-46CE-8375-174FAFB4CF56}"/>
                  </a:ext>
                </a:extLst>
              </p:cNvPr>
              <p:cNvSpPr txBox="1"/>
              <p:nvPr/>
            </p:nvSpPr>
            <p:spPr>
              <a:xfrm>
                <a:off x="3651956" y="2455839"/>
                <a:ext cx="4732189" cy="10831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𝑖𝑖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  <m:sSubSup>
                            <m:sSub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  </m:t>
                          </m:r>
                          <m:nary>
                            <m:naryPr>
                              <m:chr m:val="∑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  <m:sSubSup>
                            <m:sSub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488563FC-0887-46CE-8375-174FAFB4C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1956" y="2455839"/>
                <a:ext cx="4732189" cy="108318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4A057354-AB37-4D66-9B04-EFC0FB442376}"/>
                  </a:ext>
                </a:extLst>
              </p:cNvPr>
              <p:cNvSpPr/>
              <p:nvPr/>
            </p:nvSpPr>
            <p:spPr>
              <a:xfrm>
                <a:off x="2015989" y="2752120"/>
                <a:ext cx="1199752" cy="4800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bSup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4A057354-AB37-4D66-9B04-EFC0FB4423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5989" y="2752120"/>
                <a:ext cx="1199752" cy="480068"/>
              </a:xfrm>
              <a:prstGeom prst="rect">
                <a:avLst/>
              </a:prstGeom>
              <a:blipFill>
                <a:blip r:embed="rId10"/>
                <a:stretch>
                  <a:fillRect b="-3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D29D86F1-A334-4034-B62B-A04BC9378CDD}"/>
                  </a:ext>
                </a:extLst>
              </p:cNvPr>
              <p:cNvSpPr/>
              <p:nvPr/>
            </p:nvSpPr>
            <p:spPr>
              <a:xfrm>
                <a:off x="2982106" y="2741223"/>
                <a:ext cx="933393" cy="4800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</m:sSubSup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D29D86F1-A334-4034-B62B-A04BC9378C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2106" y="2741223"/>
                <a:ext cx="933393" cy="480068"/>
              </a:xfrm>
              <a:prstGeom prst="rect">
                <a:avLst/>
              </a:prstGeom>
              <a:blipFill>
                <a:blip r:embed="rId11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3D3CCA3F-926A-495A-B91F-DFF2EC92A413}"/>
              </a:ext>
            </a:extLst>
          </p:cNvPr>
          <p:cNvCxnSpPr/>
          <p:nvPr/>
        </p:nvCxnSpPr>
        <p:spPr>
          <a:xfrm>
            <a:off x="3735947" y="3488552"/>
            <a:ext cx="499876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17FA6415-2557-4EDD-A7A2-D7ECA4E0DB82}"/>
                  </a:ext>
                </a:extLst>
              </p:cNvPr>
              <p:cNvSpPr txBox="1"/>
              <p:nvPr/>
            </p:nvSpPr>
            <p:spPr>
              <a:xfrm>
                <a:off x="3651956" y="2456700"/>
                <a:ext cx="4552608" cy="10831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𝑖𝑖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  <m:sSubSup>
                            <m:sSub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  </m:t>
                          </m:r>
                          <m:nary>
                            <m:naryPr>
                              <m:chr m:val="∑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  <m:sSubSup>
                            <m:sSub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17FA6415-2557-4EDD-A7A2-D7ECA4E0DB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1956" y="2456700"/>
                <a:ext cx="4552608" cy="108318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60B8A47B-C3E6-493B-8762-9AD222271E69}"/>
                  </a:ext>
                </a:extLst>
              </p:cNvPr>
              <p:cNvSpPr/>
              <p:nvPr/>
            </p:nvSpPr>
            <p:spPr>
              <a:xfrm>
                <a:off x="8109957" y="2720370"/>
                <a:ext cx="883254" cy="4800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60B8A47B-C3E6-493B-8762-9AD222271E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9957" y="2720370"/>
                <a:ext cx="883254" cy="480068"/>
              </a:xfrm>
              <a:prstGeom prst="rect">
                <a:avLst/>
              </a:prstGeom>
              <a:blipFill>
                <a:blip r:embed="rId13"/>
                <a:stretch>
                  <a:fillRect b="-3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2940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2" grpId="0"/>
      <p:bldP spid="13" grpId="0"/>
      <p:bldP spid="16" grpId="0"/>
      <p:bldP spid="16" grpId="1"/>
      <p:bldP spid="20" grpId="0"/>
      <p:bldP spid="22" grpId="0"/>
      <p:bldP spid="28" grpId="0"/>
      <p:bldP spid="29" grpId="0"/>
      <p:bldP spid="25" grpId="0"/>
      <p:bldP spid="30" grpId="0" animBg="1"/>
      <p:bldP spid="30" grpId="1"/>
      <p:bldP spid="31" grpId="0"/>
      <p:bldP spid="33" grpId="0"/>
      <p:bldP spid="37" grpId="0"/>
      <p:bldP spid="37" grpId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E7F064F-8544-4E76-8BE6-D4D3ABC8F908}"/>
              </a:ext>
            </a:extLst>
          </p:cNvPr>
          <p:cNvCxnSpPr>
            <a:cxnSpLocks/>
          </p:cNvCxnSpPr>
          <p:nvPr/>
        </p:nvCxnSpPr>
        <p:spPr>
          <a:xfrm flipV="1">
            <a:off x="0" y="368300"/>
            <a:ext cx="2513198" cy="3176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5CEFB25-3703-4C02-9EC2-99523841BF1B}"/>
              </a:ext>
            </a:extLst>
          </p:cNvPr>
          <p:cNvCxnSpPr>
            <a:cxnSpLocks/>
          </p:cNvCxnSpPr>
          <p:nvPr/>
        </p:nvCxnSpPr>
        <p:spPr>
          <a:xfrm>
            <a:off x="6501947" y="336951"/>
            <a:ext cx="2431006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DBAA461A-721D-4411-8E0C-37C00FB41582}"/>
              </a:ext>
            </a:extLst>
          </p:cNvPr>
          <p:cNvSpPr txBox="1"/>
          <p:nvPr/>
        </p:nvSpPr>
        <p:spPr>
          <a:xfrm>
            <a:off x="1848640" y="123341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 3.6 </a:t>
            </a: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逐次超松弛迭代法（</a:t>
            </a:r>
            <a:r>
              <a:rPr lang="en-US" altLang="zh-CN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SOR</a:t>
            </a: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方法）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E3977D50-7725-4588-AE48-1A4240162EB4}"/>
                  </a:ext>
                </a:extLst>
              </p:cNvPr>
              <p:cNvSpPr/>
              <p:nvPr/>
            </p:nvSpPr>
            <p:spPr>
              <a:xfrm>
                <a:off x="592416" y="838553"/>
                <a:ext cx="300595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dirty="0">
                    <a:ea typeface="华文楷体" panose="02010600040101010101" pitchFamily="2" charset="-122"/>
                    <a:sym typeface="Symbol" panose="05050102010706020507" pitchFamily="18" charset="2"/>
                  </a:rPr>
                  <a:t>考虑</a:t>
                </a:r>
                <a14:m>
                  <m:oMath xmlns:m="http://schemas.openxmlformats.org/officeDocument/2006/math">
                    <m:r>
                      <a:rPr lang="zh-CN" altLang="en-US" sz="200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迭代法</m:t>
                    </m:r>
                    <m:r>
                      <a:rPr lang="zh-CN" altLang="en-US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的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一般形式</m:t>
                    </m:r>
                    <m:r>
                      <a:rPr lang="zh-CN" altLang="en-US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：</m:t>
                    </m:r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E3977D50-7725-4588-AE48-1A4240162E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16" y="838553"/>
                <a:ext cx="3005951" cy="400110"/>
              </a:xfrm>
              <a:prstGeom prst="rect">
                <a:avLst/>
              </a:prstGeom>
              <a:blipFill>
                <a:blip r:embed="rId2"/>
                <a:stretch>
                  <a:fillRect l="-2028" t="-7692" b="-2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F32E5BF1-06C7-4560-8FD7-9A4CA5112D93}"/>
                  </a:ext>
                </a:extLst>
              </p:cNvPr>
              <p:cNvSpPr/>
              <p:nvPr/>
            </p:nvSpPr>
            <p:spPr>
              <a:xfrm>
                <a:off x="3899800" y="820661"/>
                <a:ext cx="2601032" cy="4210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+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Δ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F32E5BF1-06C7-4560-8FD7-9A4CA5112D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9800" y="820661"/>
                <a:ext cx="2601032" cy="4210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C4F72373-00A1-432D-B44A-93770515B873}"/>
                  </a:ext>
                </a:extLst>
              </p:cNvPr>
              <p:cNvSpPr/>
              <p:nvPr/>
            </p:nvSpPr>
            <p:spPr>
              <a:xfrm>
                <a:off x="592416" y="1409516"/>
                <a:ext cx="230704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松弛</m:t>
                      </m:r>
                      <m:r>
                        <a:rPr lang="zh-CN" altLang="en-US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迭代法</m:t>
                      </m:r>
                      <m:r>
                        <a:rPr lang="zh-CN" altLang="en-US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的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目标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C4F72373-00A1-432D-B44A-93770515B8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16" y="1409516"/>
                <a:ext cx="2307042" cy="400110"/>
              </a:xfrm>
              <a:prstGeom prst="rect">
                <a:avLst/>
              </a:prstGeom>
              <a:blipFill>
                <a:blip r:embed="rId4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71E643EC-48FF-480D-A5C7-7E7B20EDE1CC}"/>
                  </a:ext>
                </a:extLst>
              </p:cNvPr>
              <p:cNvSpPr/>
              <p:nvPr/>
            </p:nvSpPr>
            <p:spPr>
              <a:xfrm>
                <a:off x="4715736" y="1770990"/>
                <a:ext cx="768159" cy="40011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发散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71E643EC-48FF-480D-A5C7-7E7B20EDE1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5736" y="1770990"/>
                <a:ext cx="768159" cy="400110"/>
              </a:xfrm>
              <a:prstGeom prst="rect">
                <a:avLst/>
              </a:prstGeom>
              <a:blipFill>
                <a:blip r:embed="rId5"/>
                <a:stretch>
                  <a:fillRect b="-1194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箭头: 右 3">
            <a:extLst>
              <a:ext uri="{FF2B5EF4-FFF2-40B4-BE49-F238E27FC236}">
                <a16:creationId xmlns:a16="http://schemas.microsoft.com/office/drawing/2014/main" id="{D02B3D99-CEE1-4F4B-9F37-806B4CA3C2E6}"/>
              </a:ext>
            </a:extLst>
          </p:cNvPr>
          <p:cNvSpPr/>
          <p:nvPr/>
        </p:nvSpPr>
        <p:spPr>
          <a:xfrm>
            <a:off x="5917826" y="1906073"/>
            <a:ext cx="296214" cy="173865"/>
          </a:xfrm>
          <a:prstGeom prst="rightArrow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A27C85C3-F0D9-4DE4-A6C9-163E72567C4E}"/>
                  </a:ext>
                </a:extLst>
              </p:cNvPr>
              <p:cNvSpPr/>
              <p:nvPr/>
            </p:nvSpPr>
            <p:spPr>
              <a:xfrm>
                <a:off x="6366449" y="1770990"/>
                <a:ext cx="768159" cy="40011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收敛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A27C85C3-F0D9-4DE4-A6C9-163E72567C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6449" y="1770990"/>
                <a:ext cx="768159" cy="400110"/>
              </a:xfrm>
              <a:prstGeom prst="rect">
                <a:avLst/>
              </a:prstGeom>
              <a:blipFill>
                <a:blip r:embed="rId6"/>
                <a:stretch>
                  <a:fillRect b="-74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FBBA856A-15C5-4D45-8ADB-72F773128E70}"/>
                  </a:ext>
                </a:extLst>
              </p:cNvPr>
              <p:cNvSpPr/>
              <p:nvPr/>
            </p:nvSpPr>
            <p:spPr>
              <a:xfrm>
                <a:off x="4720031" y="2380589"/>
                <a:ext cx="1024639" cy="40011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收敛</m:t>
                      </m:r>
                      <m:r>
                        <a:rPr lang="zh-CN" altLang="en-US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慢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FBBA856A-15C5-4D45-8ADB-72F773128E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0031" y="2380589"/>
                <a:ext cx="1024639" cy="400110"/>
              </a:xfrm>
              <a:prstGeom prst="rect">
                <a:avLst/>
              </a:prstGeom>
              <a:blipFill>
                <a:blip r:embed="rId7"/>
                <a:stretch>
                  <a:fillRect b="-74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箭头: 右 32">
            <a:extLst>
              <a:ext uri="{FF2B5EF4-FFF2-40B4-BE49-F238E27FC236}">
                <a16:creationId xmlns:a16="http://schemas.microsoft.com/office/drawing/2014/main" id="{5856F6DA-CED2-493E-954D-61D6627732C6}"/>
              </a:ext>
            </a:extLst>
          </p:cNvPr>
          <p:cNvSpPr/>
          <p:nvPr/>
        </p:nvSpPr>
        <p:spPr>
          <a:xfrm>
            <a:off x="5941448" y="2515672"/>
            <a:ext cx="296214" cy="173865"/>
          </a:xfrm>
          <a:prstGeom prst="rightArrow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99190860-83E5-435A-AE58-7CAB76C14CFD}"/>
                  </a:ext>
                </a:extLst>
              </p:cNvPr>
              <p:cNvSpPr/>
              <p:nvPr/>
            </p:nvSpPr>
            <p:spPr>
              <a:xfrm>
                <a:off x="6365065" y="2380589"/>
                <a:ext cx="1024639" cy="40011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收敛</m:t>
                      </m:r>
                      <m:r>
                        <a:rPr lang="zh-CN" altLang="en-US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快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99190860-83E5-435A-AE58-7CAB76C14C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5065" y="2380589"/>
                <a:ext cx="1024639" cy="400110"/>
              </a:xfrm>
              <a:prstGeom prst="rect">
                <a:avLst/>
              </a:prstGeom>
              <a:blipFill>
                <a:blip r:embed="rId8"/>
                <a:stretch>
                  <a:fillRect b="-74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36034E27-7CD0-400D-84F7-4F23E17F4E8E}"/>
                  </a:ext>
                </a:extLst>
              </p:cNvPr>
              <p:cNvSpPr/>
              <p:nvPr/>
            </p:nvSpPr>
            <p:spPr>
              <a:xfrm>
                <a:off x="2961812" y="1752682"/>
                <a:ext cx="1311738" cy="400110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收敛性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: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36034E27-7CD0-400D-84F7-4F23E17F4E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1812" y="1752682"/>
                <a:ext cx="1311738" cy="400110"/>
              </a:xfrm>
              <a:prstGeom prst="rect">
                <a:avLst/>
              </a:prstGeom>
              <a:blipFill>
                <a:blip r:embed="rId9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CC559182-5BF3-4567-A21E-5123771EB6C2}"/>
                  </a:ext>
                </a:extLst>
              </p:cNvPr>
              <p:cNvSpPr/>
              <p:nvPr/>
            </p:nvSpPr>
            <p:spPr>
              <a:xfrm>
                <a:off x="2991867" y="2407357"/>
                <a:ext cx="1281683" cy="400110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收敛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速度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: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CC559182-5BF3-4567-A21E-5123771EB6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1867" y="2407357"/>
                <a:ext cx="1281683" cy="400110"/>
              </a:xfrm>
              <a:prstGeom prst="rect">
                <a:avLst/>
              </a:prstGeom>
              <a:blipFill>
                <a:blip r:embed="rId10"/>
                <a:stretch>
                  <a:fillRect l="-952" b="-121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52335A29-837E-442E-8836-391DD2478B4F}"/>
                  </a:ext>
                </a:extLst>
              </p:cNvPr>
              <p:cNvSpPr/>
              <p:nvPr/>
            </p:nvSpPr>
            <p:spPr>
              <a:xfrm>
                <a:off x="592416" y="3328788"/>
                <a:ext cx="128112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松弛</m:t>
                      </m:r>
                      <m:r>
                        <a:rPr lang="zh-CN" altLang="en-US" sz="2000" i="1" dirty="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技巧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52335A29-837E-442E-8836-391DD2478B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16" y="3328788"/>
                <a:ext cx="1281120" cy="400110"/>
              </a:xfrm>
              <a:prstGeom prst="rect">
                <a:avLst/>
              </a:prstGeom>
              <a:blipFill>
                <a:blip r:embed="rId11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1CE7C193-882C-423F-B7C9-1F10E1D489C8}"/>
                  </a:ext>
                </a:extLst>
              </p:cNvPr>
              <p:cNvSpPr/>
              <p:nvPr/>
            </p:nvSpPr>
            <p:spPr>
              <a:xfrm>
                <a:off x="3143638" y="3332437"/>
                <a:ext cx="1956048" cy="4210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+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1CE7C193-882C-423F-B7C9-1F10E1D489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638" y="3332437"/>
                <a:ext cx="1956048" cy="42101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54741491-86FC-4A4E-94F2-CD766EF6D579}"/>
                  </a:ext>
                </a:extLst>
              </p:cNvPr>
              <p:cNvSpPr/>
              <p:nvPr/>
            </p:nvSpPr>
            <p:spPr>
              <a:xfrm>
                <a:off x="4910423" y="3362994"/>
                <a:ext cx="446789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𝜔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54741491-86FC-4A4E-94F2-CD766EF6D5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0423" y="3362994"/>
                <a:ext cx="446789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E5957A45-BC91-46ED-8295-91E20871CC1A}"/>
                  </a:ext>
                </a:extLst>
              </p:cNvPr>
              <p:cNvSpPr/>
              <p:nvPr/>
            </p:nvSpPr>
            <p:spPr>
              <a:xfrm>
                <a:off x="5140178" y="3355748"/>
                <a:ext cx="843180" cy="4210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Δ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E5957A45-BC91-46ED-8295-91E20871CC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0178" y="3355748"/>
                <a:ext cx="843180" cy="42101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8379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5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5" grpId="0"/>
      <p:bldP spid="15" grpId="0"/>
      <p:bldP spid="15" grpId="1"/>
      <p:bldP spid="25" grpId="0"/>
      <p:bldP spid="30" grpId="0" animBg="1"/>
      <p:bldP spid="4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/>
      <p:bldP spid="38" grpId="0"/>
      <p:bldP spid="6" grpId="0"/>
      <p:bldP spid="1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E7F064F-8544-4E76-8BE6-D4D3ABC8F908}"/>
              </a:ext>
            </a:extLst>
          </p:cNvPr>
          <p:cNvCxnSpPr>
            <a:cxnSpLocks/>
          </p:cNvCxnSpPr>
          <p:nvPr/>
        </p:nvCxnSpPr>
        <p:spPr>
          <a:xfrm flipV="1">
            <a:off x="0" y="368300"/>
            <a:ext cx="2513198" cy="3176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5CEFB25-3703-4C02-9EC2-99523841BF1B}"/>
              </a:ext>
            </a:extLst>
          </p:cNvPr>
          <p:cNvCxnSpPr>
            <a:cxnSpLocks/>
          </p:cNvCxnSpPr>
          <p:nvPr/>
        </p:nvCxnSpPr>
        <p:spPr>
          <a:xfrm>
            <a:off x="6501947" y="336951"/>
            <a:ext cx="2431006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DBAA461A-721D-4411-8E0C-37C00FB41582}"/>
              </a:ext>
            </a:extLst>
          </p:cNvPr>
          <p:cNvSpPr txBox="1"/>
          <p:nvPr/>
        </p:nvSpPr>
        <p:spPr>
          <a:xfrm>
            <a:off x="1848640" y="123341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 3.6 </a:t>
            </a: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逐次超松弛迭代法（</a:t>
            </a:r>
            <a:r>
              <a:rPr lang="en-US" altLang="zh-CN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SOR</a:t>
            </a: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方法）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A4AF66A-8BDA-44D3-BFC9-A2C224D9BD7F}"/>
                  </a:ext>
                </a:extLst>
              </p:cNvPr>
              <p:cNvSpPr txBox="1"/>
              <p:nvPr/>
            </p:nvSpPr>
            <p:spPr>
              <a:xfrm>
                <a:off x="1960189" y="1216791"/>
                <a:ext cx="1128793" cy="421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=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A4AF66A-8BDA-44D3-BFC9-A2C224D9BD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189" y="1216791"/>
                <a:ext cx="1128793" cy="4210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36E241F9-62E5-44F8-A00F-2E8921BA374F}"/>
                  </a:ext>
                </a:extLst>
              </p:cNvPr>
              <p:cNvSpPr/>
              <p:nvPr/>
            </p:nvSpPr>
            <p:spPr>
              <a:xfrm>
                <a:off x="3033773" y="1215930"/>
                <a:ext cx="923986" cy="4210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+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36E241F9-62E5-44F8-A00F-2E8921BA37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3773" y="1215930"/>
                <a:ext cx="923986" cy="4210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417B55BA-66B2-4FC7-80C1-2974E2D74F9C}"/>
                  </a:ext>
                </a:extLst>
              </p:cNvPr>
              <p:cNvSpPr/>
              <p:nvPr/>
            </p:nvSpPr>
            <p:spPr>
              <a:xfrm>
                <a:off x="3957759" y="1236653"/>
                <a:ext cx="764175" cy="4210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𝜔</m:t>
                          </m:r>
                          <m:r>
                            <m:rPr>
                              <m:sty m:val="p"/>
                            </m:rPr>
                            <a:rPr lang="el-GR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Δ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417B55BA-66B2-4FC7-80C1-2974E2D74F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7759" y="1236653"/>
                <a:ext cx="764175" cy="421013"/>
              </a:xfrm>
              <a:prstGeom prst="rect">
                <a:avLst/>
              </a:prstGeom>
              <a:blipFill>
                <a:blip r:embed="rId4"/>
                <a:stretch>
                  <a:fillRect r="-9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70BF9BE7-ACF7-4EF6-966A-A9D6FA857D06}"/>
                  </a:ext>
                </a:extLst>
              </p:cNvPr>
              <p:cNvSpPr/>
              <p:nvPr/>
            </p:nvSpPr>
            <p:spPr>
              <a:xfrm>
                <a:off x="3821005" y="1778513"/>
                <a:ext cx="4000473" cy="4456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𝐷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−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𝐴</m:t>
                          </m:r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𝐷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−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70BF9BE7-ACF7-4EF6-966A-A9D6FA857D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005" y="1778513"/>
                <a:ext cx="4000473" cy="4456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22D38109-3BFD-43E9-B30F-BD07FA6DE21F}"/>
              </a:ext>
            </a:extLst>
          </p:cNvPr>
          <p:cNvSpPr txBox="1"/>
          <p:nvPr/>
        </p:nvSpPr>
        <p:spPr>
          <a:xfrm>
            <a:off x="592416" y="2543212"/>
            <a:ext cx="15583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其分量形式：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488563FC-0887-46CE-8375-174FAFB4CF56}"/>
                  </a:ext>
                </a:extLst>
              </p:cNvPr>
              <p:cNvSpPr txBox="1"/>
              <p:nvPr/>
            </p:nvSpPr>
            <p:spPr>
              <a:xfrm>
                <a:off x="3651956" y="2179215"/>
                <a:ext cx="4732189" cy="10831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𝜔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𝑖𝑖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  <m:sSubSup>
                            <m:sSub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  </m:t>
                          </m:r>
                          <m:nary>
                            <m:naryPr>
                              <m:chr m:val="∑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  <m:sSubSup>
                            <m:sSub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488563FC-0887-46CE-8375-174FAFB4C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1956" y="2179215"/>
                <a:ext cx="4732189" cy="10831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4A057354-AB37-4D66-9B04-EFC0FB442376}"/>
                  </a:ext>
                </a:extLst>
              </p:cNvPr>
              <p:cNvSpPr/>
              <p:nvPr/>
            </p:nvSpPr>
            <p:spPr>
              <a:xfrm>
                <a:off x="2015989" y="2475496"/>
                <a:ext cx="1199752" cy="4800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bSup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4A057354-AB37-4D66-9B04-EFC0FB4423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5989" y="2475496"/>
                <a:ext cx="1199752" cy="480068"/>
              </a:xfrm>
              <a:prstGeom prst="rect">
                <a:avLst/>
              </a:prstGeom>
              <a:blipFill>
                <a:blip r:embed="rId7"/>
                <a:stretch>
                  <a:fillRect b="-3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D29D86F1-A334-4034-B62B-A04BC9378CDD}"/>
                  </a:ext>
                </a:extLst>
              </p:cNvPr>
              <p:cNvSpPr/>
              <p:nvPr/>
            </p:nvSpPr>
            <p:spPr>
              <a:xfrm>
                <a:off x="2982106" y="2464599"/>
                <a:ext cx="933393" cy="4800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</m:sSubSup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D29D86F1-A334-4034-B62B-A04BC9378C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2106" y="2464599"/>
                <a:ext cx="933393" cy="480068"/>
              </a:xfrm>
              <a:prstGeom prst="rect">
                <a:avLst/>
              </a:prstGeom>
              <a:blipFill>
                <a:blip r:embed="rId8"/>
                <a:stretch>
                  <a:fillRect b="-3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本框 23">
            <a:extLst>
              <a:ext uri="{FF2B5EF4-FFF2-40B4-BE49-F238E27FC236}">
                <a16:creationId xmlns:a16="http://schemas.microsoft.com/office/drawing/2014/main" id="{94B453B0-0BEA-42B4-A229-30C7795CF6DA}"/>
              </a:ext>
            </a:extLst>
          </p:cNvPr>
          <p:cNvSpPr txBox="1"/>
          <p:nvPr/>
        </p:nvSpPr>
        <p:spPr>
          <a:xfrm>
            <a:off x="649667" y="699332"/>
            <a:ext cx="53669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000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对</a:t>
            </a:r>
            <a:r>
              <a:rPr lang="en-US" altLang="zh-CN" sz="2000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GS</a:t>
            </a:r>
            <a:r>
              <a:rPr lang="zh-CN" altLang="en-US" sz="2000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迭代法实施松弛技巧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7A8A9442-DA32-4983-AA6F-834CAE8D4368}"/>
                  </a:ext>
                </a:extLst>
              </p:cNvPr>
              <p:cNvSpPr/>
              <p:nvPr/>
            </p:nvSpPr>
            <p:spPr>
              <a:xfrm>
                <a:off x="2731649" y="1798634"/>
                <a:ext cx="909786" cy="4210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=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en-US" altLang="zh-CN" sz="2000" b="0" i="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+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7A8A9442-DA32-4983-AA6F-834CAE8D43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1649" y="1798634"/>
                <a:ext cx="909786" cy="421013"/>
              </a:xfrm>
              <a:prstGeom prst="rect">
                <a:avLst/>
              </a:prstGeom>
              <a:blipFill>
                <a:blip r:embed="rId9"/>
                <a:stretch>
                  <a:fillRect r="-241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E9B60A00-0F16-4DB4-968B-2F0FD70C4692}"/>
                  </a:ext>
                </a:extLst>
              </p:cNvPr>
              <p:cNvSpPr/>
              <p:nvPr/>
            </p:nvSpPr>
            <p:spPr>
              <a:xfrm>
                <a:off x="3724455" y="1801275"/>
                <a:ext cx="38208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𝜔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E9B60A00-0F16-4DB4-968B-2F0FD70C46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4455" y="1801275"/>
                <a:ext cx="3820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00449FB8-D882-4AB0-9A02-B5E062065DBA}"/>
              </a:ext>
            </a:extLst>
          </p:cNvPr>
          <p:cNvSpPr txBox="1"/>
          <p:nvPr/>
        </p:nvSpPr>
        <p:spPr>
          <a:xfrm>
            <a:off x="592416" y="3347318"/>
            <a:ext cx="12562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向量形式：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9F94151C-53A7-4E6A-972B-D5C172AFC947}"/>
                  </a:ext>
                </a:extLst>
              </p:cNvPr>
              <p:cNvSpPr txBox="1"/>
              <p:nvPr/>
            </p:nvSpPr>
            <p:spPr>
              <a:xfrm>
                <a:off x="1848640" y="3336866"/>
                <a:ext cx="6877730" cy="421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  <m:t>𝑘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  <m:t>+1</m:t>
                            </m:r>
                          </m:e>
                        </m:d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=</m:t>
                    </m:r>
                    <m:sSup>
                      <m:s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  <m:t>𝐷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  <m:t>−</m:t>
                            </m:r>
                            <m:r>
                              <a:rPr lang="zh-CN" altLang="en-US" sz="2000" b="0" i="1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  <m:t>𝜔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  <m:t>𝐿</m:t>
                            </m:r>
                          </m:e>
                        </m:d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sz="2000" dirty="0">
                    <a:ea typeface="华文楷体" panose="02010600040101010101" pitchFamily="2" charset="-122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  <m:t>1−</m:t>
                            </m:r>
                            <m:r>
                              <a:rPr lang="zh-CN" altLang="en-US" sz="2000" b="0" i="1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  <m:t>𝜔</m:t>
                            </m:r>
                          </m:e>
                        </m:d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𝐷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+</m:t>
                        </m:r>
                        <m:r>
                          <a:rPr lang="zh-CN" altLang="en-US" sz="20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𝜔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𝑈</m:t>
                        </m:r>
                      </m:e>
                    </m:d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+</m:t>
                    </m:r>
                    <m:r>
                      <a:rPr lang="zh-CN" altLang="en-US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𝜔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  <m:t>𝐷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  <m:t>−</m:t>
                            </m:r>
                            <m:r>
                              <a:rPr lang="zh-CN" altLang="en-US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  <m:t>𝜔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sym typeface="Symbol" panose="05050102010706020507" pitchFamily="18" charset="2"/>
                              </a:rPr>
                              <m:t>𝐿</m:t>
                            </m:r>
                          </m:e>
                        </m:d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−1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𝑏</m:t>
                    </m:r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9F94151C-53A7-4E6A-972B-D5C172AFC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8640" y="3336866"/>
                <a:ext cx="6877730" cy="42101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AC9D6F4-BC7B-41BF-A972-6213880A2A6C}"/>
              </a:ext>
            </a:extLst>
          </p:cNvPr>
          <p:cNvCxnSpPr>
            <a:cxnSpLocks/>
          </p:cNvCxnSpPr>
          <p:nvPr/>
        </p:nvCxnSpPr>
        <p:spPr>
          <a:xfrm>
            <a:off x="2954651" y="3734609"/>
            <a:ext cx="320794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DD7AAFF3-7E92-440C-ABC7-39142FA030B2}"/>
              </a:ext>
            </a:extLst>
          </p:cNvPr>
          <p:cNvCxnSpPr>
            <a:cxnSpLocks/>
          </p:cNvCxnSpPr>
          <p:nvPr/>
        </p:nvCxnSpPr>
        <p:spPr>
          <a:xfrm>
            <a:off x="4379899" y="3747428"/>
            <a:ext cx="357403" cy="2559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>
            <a:extLst>
              <a:ext uri="{FF2B5EF4-FFF2-40B4-BE49-F238E27FC236}">
                <a16:creationId xmlns:a16="http://schemas.microsoft.com/office/drawing/2014/main" id="{C98F0C85-113C-43DD-8835-0607A71E3DC9}"/>
              </a:ext>
            </a:extLst>
          </p:cNvPr>
          <p:cNvSpPr/>
          <p:nvPr/>
        </p:nvSpPr>
        <p:spPr>
          <a:xfrm>
            <a:off x="4632218" y="3897959"/>
            <a:ext cx="1582919" cy="504237"/>
          </a:xfrm>
          <a:prstGeom prst="ellipse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FF23A647-EAA5-426B-8546-BC14029D561D}"/>
                  </a:ext>
                </a:extLst>
              </p:cNvPr>
              <p:cNvSpPr txBox="1"/>
              <p:nvPr/>
            </p:nvSpPr>
            <p:spPr>
              <a:xfrm>
                <a:off x="4684760" y="3932298"/>
                <a:ext cx="15303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迭代矩阵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𝐿</m:t>
                        </m:r>
                      </m:e>
                      <m:sub>
                        <m:r>
                          <a:rPr lang="zh-CN" alt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𝜔</m:t>
                        </m:r>
                      </m:sub>
                    </m:sSub>
                  </m:oMath>
                </a14:m>
                <a:endParaRPr lang="zh-CN" altLang="en-US" sz="2000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FF23A647-EAA5-426B-8546-BC14029D5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4760" y="3932298"/>
                <a:ext cx="1530377" cy="400110"/>
              </a:xfrm>
              <a:prstGeom prst="rect">
                <a:avLst/>
              </a:prstGeom>
              <a:blipFill>
                <a:blip r:embed="rId12"/>
                <a:stretch>
                  <a:fillRect l="-3968" t="-606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D9C4C0C3-BA8B-45FB-A586-18E522135EF5}"/>
                  </a:ext>
                </a:extLst>
              </p:cNvPr>
              <p:cNvSpPr txBox="1"/>
              <p:nvPr/>
            </p:nvSpPr>
            <p:spPr>
              <a:xfrm>
                <a:off x="521751" y="2724596"/>
                <a:ext cx="123020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𝑺𝑶𝑹</m:t>
                      </m:r>
                    </m:oMath>
                  </m:oMathPara>
                </a14:m>
                <a:endParaRPr lang="en-US" altLang="zh-CN" sz="2400" b="1" i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迭代法</m:t>
                      </m:r>
                      <m:r>
                        <a:rPr lang="zh-CN" altLang="en-US" sz="24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：</m:t>
                      </m:r>
                    </m:oMath>
                  </m:oMathPara>
                </a14:m>
                <a:endParaRPr lang="zh-CN" altLang="en-US" sz="24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D9C4C0C3-BA8B-45FB-A586-18E522135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751" y="2724596"/>
                <a:ext cx="1230206" cy="830997"/>
              </a:xfrm>
              <a:prstGeom prst="rect">
                <a:avLst/>
              </a:prstGeom>
              <a:blipFill>
                <a:blip r:embed="rId13"/>
                <a:stretch>
                  <a:fillRect l="-3483" r="-13433" b="-36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2592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2" grpId="0"/>
      <p:bldP spid="20" grpId="0"/>
      <p:bldP spid="28" grpId="0"/>
      <p:bldP spid="29" grpId="0"/>
      <p:bldP spid="25" grpId="0"/>
      <p:bldP spid="25" grpId="1"/>
      <p:bldP spid="30" grpId="0"/>
      <p:bldP spid="31" grpId="0"/>
      <p:bldP spid="33" grpId="0"/>
      <p:bldP spid="24" grpId="0"/>
      <p:bldP spid="26" grpId="0"/>
      <p:bldP spid="27" grpId="0"/>
      <p:bldP spid="36" grpId="0"/>
      <p:bldP spid="36" grpId="1"/>
      <p:bldP spid="38" grpId="0"/>
      <p:bldP spid="19" grpId="0" animBg="1"/>
      <p:bldP spid="39" grpId="0"/>
      <p:bldP spid="4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E7F064F-8544-4E76-8BE6-D4D3ABC8F908}"/>
              </a:ext>
            </a:extLst>
          </p:cNvPr>
          <p:cNvCxnSpPr>
            <a:cxnSpLocks/>
          </p:cNvCxnSpPr>
          <p:nvPr/>
        </p:nvCxnSpPr>
        <p:spPr>
          <a:xfrm flipV="1">
            <a:off x="0" y="368300"/>
            <a:ext cx="2513198" cy="3176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5CEFB25-3703-4C02-9EC2-99523841BF1B}"/>
              </a:ext>
            </a:extLst>
          </p:cNvPr>
          <p:cNvCxnSpPr>
            <a:cxnSpLocks/>
          </p:cNvCxnSpPr>
          <p:nvPr/>
        </p:nvCxnSpPr>
        <p:spPr>
          <a:xfrm>
            <a:off x="6501947" y="336951"/>
            <a:ext cx="2431006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DBAA461A-721D-4411-8E0C-37C00FB41582}"/>
              </a:ext>
            </a:extLst>
          </p:cNvPr>
          <p:cNvSpPr txBox="1"/>
          <p:nvPr/>
        </p:nvSpPr>
        <p:spPr>
          <a:xfrm>
            <a:off x="1848640" y="123341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 3.6 </a:t>
            </a: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逐次超松弛迭代法（</a:t>
            </a:r>
            <a:r>
              <a:rPr lang="en-US" altLang="zh-CN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SOR</a:t>
            </a: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方法）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5181E8CF-F4EA-4AA3-9451-DAC3DB628221}"/>
                  </a:ext>
                </a:extLst>
              </p:cNvPr>
              <p:cNvSpPr txBox="1"/>
              <p:nvPr/>
            </p:nvSpPr>
            <p:spPr>
              <a:xfrm>
                <a:off x="649668" y="699332"/>
                <a:ext cx="286193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sz="2000">
                        <a:solidFill>
                          <a:srgbClr val="004A82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𝑆𝑂𝑅</m:t>
                    </m:r>
                  </m:oMath>
                </a14:m>
                <a:r>
                  <a:rPr lang="zh-CN" altLang="en-US" sz="2000" dirty="0">
                    <a:solidFill>
                      <a:srgbClr val="004A82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迭代法的收敛性</a:t>
                </a:r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5181E8CF-F4EA-4AA3-9451-DAC3DB6282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668" y="699332"/>
                <a:ext cx="2861936" cy="400110"/>
              </a:xfrm>
              <a:prstGeom prst="rect">
                <a:avLst/>
              </a:prstGeom>
              <a:blipFill>
                <a:blip r:embed="rId2"/>
                <a:stretch>
                  <a:fillRect l="-1919" t="-7692" b="-2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EB9A332F-B195-4033-BB15-8890EDBEC4E3}"/>
                  </a:ext>
                </a:extLst>
              </p:cNvPr>
              <p:cNvSpPr txBox="1"/>
              <p:nvPr/>
            </p:nvSpPr>
            <p:spPr>
              <a:xfrm>
                <a:off x="1336656" y="1136356"/>
                <a:ext cx="161364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𝜔</m:t>
                              </m:r>
                            </m:sub>
                          </m:sSub>
                        </m:e>
                      </m:d>
                      <m:r>
                        <a:rPr lang="en-US" altLang="zh-CN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&lt;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1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EB9A332F-B195-4033-BB15-8890EDBEC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656" y="1136356"/>
                <a:ext cx="161364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1B8FDAE2-25CD-4065-B1F6-F3AEAC77AB1F}"/>
                  </a:ext>
                </a:extLst>
              </p:cNvPr>
              <p:cNvSpPr txBox="1"/>
              <p:nvPr/>
            </p:nvSpPr>
            <p:spPr>
              <a:xfrm>
                <a:off x="2501323" y="1136356"/>
                <a:ext cx="6700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1B8FDAE2-25CD-4065-B1F6-F3AEAC77A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1323" y="1136356"/>
                <a:ext cx="670014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8EB528C0-101F-4176-8BF4-06CB389EF7C0}"/>
                  </a:ext>
                </a:extLst>
              </p:cNvPr>
              <p:cNvSpPr txBox="1"/>
              <p:nvPr/>
            </p:nvSpPr>
            <p:spPr>
              <a:xfrm>
                <a:off x="3062472" y="1124209"/>
                <a:ext cx="14996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𝑆𝑂𝑅</m:t>
                      </m:r>
                      <m:r>
                        <m:rPr>
                          <m:nor/>
                        </m:rPr>
                        <a:rPr lang="zh-CN" altLang="en-US" sz="20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m:t>法</m:t>
                      </m:r>
                      <m:r>
                        <a:rPr lang="zh-CN" altLang="en-US" sz="2000" i="1" dirty="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收敛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8EB528C0-101F-4176-8BF4-06CB389EF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2472" y="1124209"/>
                <a:ext cx="1499673" cy="400110"/>
              </a:xfrm>
              <a:prstGeom prst="rect">
                <a:avLst/>
              </a:prstGeom>
              <a:blipFill>
                <a:blip r:embed="rId5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D26AC62B-D0CD-42C8-A293-E1B052F10812}"/>
                  </a:ext>
                </a:extLst>
              </p:cNvPr>
              <p:cNvSpPr txBox="1"/>
              <p:nvPr/>
            </p:nvSpPr>
            <p:spPr>
              <a:xfrm>
                <a:off x="4551671" y="1127392"/>
                <a:ext cx="6700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D26AC62B-D0CD-42C8-A293-E1B052F10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1671" y="1127392"/>
                <a:ext cx="670014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B3D3A849-AF6D-4EB9-8D5A-970306E553C7}"/>
                  </a:ext>
                </a:extLst>
              </p:cNvPr>
              <p:cNvSpPr txBox="1"/>
              <p:nvPr/>
            </p:nvSpPr>
            <p:spPr>
              <a:xfrm>
                <a:off x="5009322" y="1140856"/>
                <a:ext cx="163004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𝜌</m:t>
                      </m:r>
                      <m:d>
                        <m:d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𝜔</m:t>
                              </m:r>
                            </m:sub>
                          </m:sSub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&lt;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1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B3D3A849-AF6D-4EB9-8D5A-970306E55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9322" y="1140856"/>
                <a:ext cx="1630048" cy="400110"/>
              </a:xfrm>
              <a:prstGeom prst="rect">
                <a:avLst/>
              </a:prstGeom>
              <a:blipFill>
                <a:blip r:embed="rId7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2F83E436-7F9F-47D6-8020-662CEE0912ED}"/>
              </a:ext>
            </a:extLst>
          </p:cNvPr>
          <p:cNvSpPr/>
          <p:nvPr/>
        </p:nvSpPr>
        <p:spPr>
          <a:xfrm>
            <a:off x="661561" y="1136356"/>
            <a:ext cx="9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首先，</a:t>
            </a:r>
            <a:endParaRPr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707711F8-3ED4-4416-B930-9478B829049D}"/>
                  </a:ext>
                </a:extLst>
              </p:cNvPr>
              <p:cNvSpPr/>
              <p:nvPr/>
            </p:nvSpPr>
            <p:spPr>
              <a:xfrm>
                <a:off x="644913" y="1603800"/>
                <a:ext cx="371050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关于松弛因子</a:t>
                </a:r>
                <a14:m>
                  <m:oMath xmlns:m="http://schemas.openxmlformats.org/officeDocument/2006/math">
                    <m:r>
                      <a:rPr lang="zh-CN" altLang="en-US" sz="2000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𝜔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的选取，我们有</a:t>
                </a:r>
              </a:p>
            </p:txBody>
          </p:sp>
        </mc:Choice>
        <mc:Fallback xmlns="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707711F8-3ED4-4416-B930-9478B82904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913" y="1603800"/>
                <a:ext cx="3710503" cy="400110"/>
              </a:xfrm>
              <a:prstGeom prst="rect">
                <a:avLst/>
              </a:prstGeom>
              <a:blipFill>
                <a:blip r:embed="rId8"/>
                <a:stretch>
                  <a:fillRect l="-1809" t="-6061" r="-1316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0763C40-C27D-4ECA-84F0-5DB7831C327E}"/>
              </a:ext>
            </a:extLst>
          </p:cNvPr>
          <p:cNvSpPr/>
          <p:nvPr/>
        </p:nvSpPr>
        <p:spPr>
          <a:xfrm>
            <a:off x="791455" y="2005535"/>
            <a:ext cx="7507301" cy="560154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B07AFBA6-304A-4EF8-8EF1-110053643A80}"/>
                  </a:ext>
                </a:extLst>
              </p:cNvPr>
              <p:cNvSpPr txBox="1"/>
              <p:nvPr/>
            </p:nvSpPr>
            <p:spPr>
              <a:xfrm>
                <a:off x="2033516" y="2085557"/>
                <a:ext cx="150325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𝑆𝑂𝑅</m:t>
                      </m:r>
                      <m:r>
                        <m:rPr>
                          <m:nor/>
                        </m:rPr>
                        <a:rPr lang="zh-CN" altLang="en-US" sz="20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m:t>法</m:t>
                      </m:r>
                      <m:r>
                        <a:rPr lang="zh-CN" altLang="en-US" sz="2000" i="1" dirty="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收敛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B07AFBA6-304A-4EF8-8EF1-110053643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3516" y="2085557"/>
                <a:ext cx="1503253" cy="400110"/>
              </a:xfrm>
              <a:prstGeom prst="rect">
                <a:avLst/>
              </a:prstGeom>
              <a:blipFill>
                <a:blip r:embed="rId9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51D2BD6B-3893-4A95-9CF5-609B20795E3D}"/>
                  </a:ext>
                </a:extLst>
              </p:cNvPr>
              <p:cNvSpPr txBox="1"/>
              <p:nvPr/>
            </p:nvSpPr>
            <p:spPr>
              <a:xfrm>
                <a:off x="3294306" y="2088739"/>
                <a:ext cx="67161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51D2BD6B-3893-4A95-9CF5-609B20795E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4306" y="2088739"/>
                <a:ext cx="671613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FE5A8668-A5C1-48A8-87D2-25A004AC4250}"/>
                  </a:ext>
                </a:extLst>
              </p:cNvPr>
              <p:cNvSpPr txBox="1"/>
              <p:nvPr/>
            </p:nvSpPr>
            <p:spPr>
              <a:xfrm>
                <a:off x="3698964" y="2098797"/>
                <a:ext cx="150325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0</m:t>
                      </m:r>
                      <m:r>
                        <a:rPr lang="en-US" altLang="zh-CN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&lt;</m:t>
                      </m:r>
                      <m:r>
                        <a:rPr lang="zh-CN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𝜔</m:t>
                      </m:r>
                      <m:r>
                        <a:rPr lang="en-US" altLang="zh-CN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&lt;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  <a:sym typeface="Symbol" panose="05050102010706020507" pitchFamily="18" charset="2"/>
                        </a:rPr>
                        <m:t>2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FE5A8668-A5C1-48A8-87D2-25A004AC42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8964" y="2098797"/>
                <a:ext cx="1503253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本框 42">
            <a:extLst>
              <a:ext uri="{FF2B5EF4-FFF2-40B4-BE49-F238E27FC236}">
                <a16:creationId xmlns:a16="http://schemas.microsoft.com/office/drawing/2014/main" id="{1AD1BD3D-540D-42EE-86DD-55365D48AFD2}"/>
              </a:ext>
            </a:extLst>
          </p:cNvPr>
          <p:cNvSpPr txBox="1"/>
          <p:nvPr/>
        </p:nvSpPr>
        <p:spPr>
          <a:xfrm>
            <a:off x="1083729" y="2068369"/>
            <a:ext cx="86869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定理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D349A02-8735-4A10-90F2-A125492416B5}"/>
              </a:ext>
            </a:extLst>
          </p:cNvPr>
          <p:cNvSpPr/>
          <p:nvPr/>
        </p:nvSpPr>
        <p:spPr>
          <a:xfrm>
            <a:off x="813961" y="2702612"/>
            <a:ext cx="6976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证明</a:t>
            </a:r>
            <a:endParaRPr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64BCB24B-C23D-4BEA-A4F7-DF76A81FDCAE}"/>
                  </a:ext>
                </a:extLst>
              </p:cNvPr>
              <p:cNvSpPr/>
              <p:nvPr/>
            </p:nvSpPr>
            <p:spPr>
              <a:xfrm>
                <a:off x="1559090" y="2702612"/>
                <a:ext cx="3643127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𝑆𝑂𝑅</m:t>
                    </m:r>
                    <m:r>
                      <m:rPr>
                        <m:nor/>
                      </m:rPr>
                      <a:rPr lang="zh-CN" altLang="en-US" sz="2000" dirty="0">
                        <a:latin typeface="华文楷体" panose="02010600040101010101" pitchFamily="2" charset="-122"/>
                        <a:ea typeface="华文楷体" panose="02010600040101010101" pitchFamily="2" charset="-122"/>
                      </a:rPr>
                      <m:t>法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收</m:t>
                    </m:r>
                    <m:r>
                      <a:rPr lang="zh-CN" altLang="en-US" sz="200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敛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，则有</a:t>
                </a:r>
                <a14:m>
                  <m:oMath xmlns:m="http://schemas.openxmlformats.org/officeDocument/2006/math">
                    <m:r>
                      <a:rPr lang="zh-CN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𝜌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𝐿</m:t>
                            </m:r>
                          </m:e>
                          <m:sub>
                            <m:r>
                              <a:rPr lang="zh-CN" altLang="en-US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𝜔</m:t>
                            </m:r>
                          </m:sub>
                        </m:sSub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&lt;1</m:t>
                    </m:r>
                  </m:oMath>
                </a14:m>
                <a:r>
                  <a:rPr lang="zh-CN" altLang="en-US" sz="2000" dirty="0"/>
                  <a:t>，</a:t>
                </a:r>
              </a:p>
            </p:txBody>
          </p:sp>
        </mc:Choice>
        <mc:Fallback xmlns="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64BCB24B-C23D-4BEA-A4F7-DF76A81FDC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9090" y="2702612"/>
                <a:ext cx="3643127" cy="400110"/>
              </a:xfrm>
              <a:prstGeom prst="rect">
                <a:avLst/>
              </a:prstGeom>
              <a:blipFill>
                <a:blip r:embed="rId12"/>
                <a:stretch>
                  <a:fillRect l="-1843" t="-13636" r="-8710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D0727021-E6E9-4415-A718-C2B98BE52497}"/>
                  </a:ext>
                </a:extLst>
              </p:cNvPr>
              <p:cNvSpPr/>
              <p:nvPr/>
            </p:nvSpPr>
            <p:spPr>
              <a:xfrm>
                <a:off x="5077097" y="2700984"/>
                <a:ext cx="3643127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000" dirty="0">
                    <a:ea typeface="华文楷体" panose="02010600040101010101" pitchFamily="2" charset="-122"/>
                  </a:rPr>
                  <a:t>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𝐿</m:t>
                        </m:r>
                      </m:e>
                      <m:sub>
                        <m:r>
                          <a:rPr lang="zh-CN" altLang="en-US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𝜔</m:t>
                        </m:r>
                      </m:sub>
                    </m:sSub>
                    <m:r>
                      <a:rPr lang="zh-CN" altLang="en-US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的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任一</m:t>
                    </m:r>
                    <m:r>
                      <a:rPr lang="zh-CN" altLang="en-US" sz="200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特征值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zh-CN" altLang="en-US" sz="200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𝜆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&lt;1</m:t>
                    </m:r>
                    <m:r>
                      <a:rPr lang="en-US" altLang="zh-C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.</m:t>
                    </m:r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D0727021-E6E9-4415-A718-C2B98BE524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7097" y="2700984"/>
                <a:ext cx="3643127" cy="400110"/>
              </a:xfrm>
              <a:prstGeom prst="rect">
                <a:avLst/>
              </a:prstGeom>
              <a:blipFill>
                <a:blip r:embed="rId13"/>
                <a:stretch>
                  <a:fillRect l="-1843" t="-606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BDB26D49-F386-4A2D-AEC5-C938517338D6}"/>
                  </a:ext>
                </a:extLst>
              </p:cNvPr>
              <p:cNvSpPr/>
              <p:nvPr/>
            </p:nvSpPr>
            <p:spPr>
              <a:xfrm>
                <a:off x="850881" y="3093216"/>
                <a:ext cx="7132829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由矩阵行列式与特征值之间的关系，</a:t>
                </a:r>
                <a14:m>
                  <m:oMath xmlns:m="http://schemas.openxmlformats.org/officeDocument/2006/math">
                    <m:r>
                      <a:rPr lang="zh-CN" altLang="en-US" sz="2000" dirty="0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有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det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𝐿</m:t>
                            </m:r>
                          </m:e>
                          <m:sub>
                            <m:r>
                              <a:rPr lang="zh-CN" altLang="en-US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𝜔</m:t>
                            </m:r>
                          </m:sub>
                        </m:sSub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a:rPr lang="zh-CN" altLang="en-US" sz="20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𝜆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𝜆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𝜆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2000" dirty="0"/>
                  <a:t>.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BDB26D49-F386-4A2D-AEC5-C938517338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881" y="3093216"/>
                <a:ext cx="7132829" cy="400110"/>
              </a:xfrm>
              <a:prstGeom prst="rect">
                <a:avLst/>
              </a:prstGeom>
              <a:blipFill>
                <a:blip r:embed="rId14"/>
                <a:stretch>
                  <a:fillRect l="-940" t="-909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87B64B22-C060-46F0-AC17-330803DE3401}"/>
                  </a:ext>
                </a:extLst>
              </p:cNvPr>
              <p:cNvSpPr/>
              <p:nvPr/>
            </p:nvSpPr>
            <p:spPr>
              <a:xfrm>
                <a:off x="1160290" y="3484566"/>
                <a:ext cx="5405202" cy="4397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det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𝜔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00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det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𝐷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−</m:t>
                                  </m:r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𝜔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1−</m:t>
                                  </m:r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𝐷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+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𝜔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𝑈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87B64B22-C060-46F0-AC17-330803DE34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290" y="3484566"/>
                <a:ext cx="5405202" cy="43973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2097F425-1150-42EE-B3DA-B153A96A2EE9}"/>
                  </a:ext>
                </a:extLst>
              </p:cNvPr>
              <p:cNvSpPr/>
              <p:nvPr/>
            </p:nvSpPr>
            <p:spPr>
              <a:xfrm>
                <a:off x="4563641" y="3987842"/>
                <a:ext cx="2582441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1−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𝜔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𝐼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+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𝜔</m:t>
                          </m:r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𝑈</m:t>
                          </m:r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2097F425-1150-42EE-B3DA-B153A96A2E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3641" y="3987842"/>
                <a:ext cx="2582441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255AF070-B3D7-48AE-9513-6B52A6D8BC36}"/>
                  </a:ext>
                </a:extLst>
              </p:cNvPr>
              <p:cNvSpPr/>
              <p:nvPr/>
            </p:nvSpPr>
            <p:spPr>
              <a:xfrm>
                <a:off x="2979507" y="3987842"/>
                <a:ext cx="190821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𝐷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−</m:t>
                                  </m:r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𝜔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𝐷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255AF070-B3D7-48AE-9513-6B52A6D8BC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9507" y="3987842"/>
                <a:ext cx="1908215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83A78647-32AA-4344-B434-62CD30635D2F}"/>
                  </a:ext>
                </a:extLst>
              </p:cNvPr>
              <p:cNvSpPr/>
              <p:nvPr/>
            </p:nvSpPr>
            <p:spPr>
              <a:xfrm>
                <a:off x="2197336" y="3987842"/>
                <a:ext cx="87306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00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det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83A78647-32AA-4344-B434-62CD30635D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7336" y="3987842"/>
                <a:ext cx="873060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730BBFF7-6658-4DAE-AB55-4826EA1440C1}"/>
                  </a:ext>
                </a:extLst>
              </p:cNvPr>
              <p:cNvSpPr txBox="1"/>
              <p:nvPr/>
            </p:nvSpPr>
            <p:spPr>
              <a:xfrm>
                <a:off x="2733344" y="3987842"/>
                <a:ext cx="22894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𝐼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−</m:t>
                                  </m:r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𝜔</m:t>
                                  </m:r>
                                  <m:sSup>
                                    <m:sSupPr>
                                      <m:ctrlPr>
                                        <a:rPr lang="en-US" altLang="zh-CN" sz="2000" i="1" smtClean="0">
                                          <a:latin typeface="Cambria Math" panose="02040503050406030204" pitchFamily="18" charset="0"/>
                                          <a:ea typeface="华文楷体" panose="02010600040101010101" pitchFamily="2" charset="-122"/>
                                          <a:sym typeface="Symbol" panose="05050102010706020507" pitchFamily="18" charset="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华文楷体" panose="02010600040101010101" pitchFamily="2" charset="-122"/>
                                          <a:sym typeface="Symbol" panose="05050102010706020507" pitchFamily="18" charset="2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华文楷体" panose="02010600040101010101" pitchFamily="2" charset="-122"/>
                                          <a:sym typeface="Symbol" panose="05050102010706020507" pitchFamily="18" charset="2"/>
                                        </a:rPr>
                                        <m:t>−1</m:t>
                                      </m:r>
                                    </m:sup>
                                  </m:s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730BBFF7-6658-4DAE-AB55-4826EA1440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3344" y="3987842"/>
                <a:ext cx="2289434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3F34DEF3-871E-40E5-96BC-0E37DA9E00B8}"/>
              </a:ext>
            </a:extLst>
          </p:cNvPr>
          <p:cNvCxnSpPr/>
          <p:nvPr/>
        </p:nvCxnSpPr>
        <p:spPr>
          <a:xfrm>
            <a:off x="3012373" y="4387952"/>
            <a:ext cx="170348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3460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5" grpId="0"/>
      <p:bldP spid="31" grpId="0"/>
      <p:bldP spid="32" grpId="0"/>
      <p:bldP spid="33" grpId="0"/>
      <p:bldP spid="34" grpId="0"/>
      <p:bldP spid="35" grpId="0"/>
      <p:bldP spid="6" grpId="0"/>
      <p:bldP spid="36" grpId="0"/>
      <p:bldP spid="11" grpId="0" animBg="1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1" grpId="0"/>
      <p:bldP spid="51" grpId="1"/>
      <p:bldP spid="52" grpId="0"/>
      <p:bldP spid="5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E7F064F-8544-4E76-8BE6-D4D3ABC8F908}"/>
              </a:ext>
            </a:extLst>
          </p:cNvPr>
          <p:cNvCxnSpPr>
            <a:cxnSpLocks/>
          </p:cNvCxnSpPr>
          <p:nvPr/>
        </p:nvCxnSpPr>
        <p:spPr>
          <a:xfrm flipV="1">
            <a:off x="0" y="368300"/>
            <a:ext cx="2513198" cy="3176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5CEFB25-3703-4C02-9EC2-99523841BF1B}"/>
              </a:ext>
            </a:extLst>
          </p:cNvPr>
          <p:cNvCxnSpPr>
            <a:cxnSpLocks/>
          </p:cNvCxnSpPr>
          <p:nvPr/>
        </p:nvCxnSpPr>
        <p:spPr>
          <a:xfrm>
            <a:off x="6501947" y="336951"/>
            <a:ext cx="2431006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DBAA461A-721D-4411-8E0C-37C00FB41582}"/>
              </a:ext>
            </a:extLst>
          </p:cNvPr>
          <p:cNvSpPr txBox="1"/>
          <p:nvPr/>
        </p:nvSpPr>
        <p:spPr>
          <a:xfrm>
            <a:off x="1848640" y="123341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 3.6 </a:t>
            </a: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逐次超松弛迭代法（</a:t>
            </a:r>
            <a:r>
              <a:rPr lang="en-US" altLang="zh-CN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SOR</a:t>
            </a: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方法）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2D022C86-F3AC-40D9-A2AE-4360E31BB25D}"/>
                  </a:ext>
                </a:extLst>
              </p:cNvPr>
              <p:cNvSpPr/>
              <p:nvPr/>
            </p:nvSpPr>
            <p:spPr>
              <a:xfrm>
                <a:off x="3833343" y="1144762"/>
                <a:ext cx="2582441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1−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𝜔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𝐼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+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𝜔</m:t>
                          </m:r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sym typeface="Symbol" panose="05050102010706020507" pitchFamily="18" charset="2"/>
                            </a:rPr>
                            <m:t>𝑈</m:t>
                          </m:r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2D022C86-F3AC-40D9-A2AE-4360E31BB2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3343" y="1144762"/>
                <a:ext cx="2582441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471626CF-95C1-4E4C-9165-A35217C8BCA5}"/>
                  </a:ext>
                </a:extLst>
              </p:cNvPr>
              <p:cNvSpPr/>
              <p:nvPr/>
            </p:nvSpPr>
            <p:spPr>
              <a:xfrm>
                <a:off x="975580" y="1144762"/>
                <a:ext cx="87306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00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det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471626CF-95C1-4E4C-9165-A35217C8BC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580" y="1144762"/>
                <a:ext cx="873060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62861117-886D-4BC1-B1AC-E04D8AAC7AE7}"/>
                  </a:ext>
                </a:extLst>
              </p:cNvPr>
              <p:cNvSpPr txBox="1"/>
              <p:nvPr/>
            </p:nvSpPr>
            <p:spPr>
              <a:xfrm>
                <a:off x="1519272" y="1144762"/>
                <a:ext cx="22894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𝐼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−</m:t>
                                  </m:r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𝜔</m:t>
                                  </m:r>
                                  <m:sSup>
                                    <m:sSupPr>
                                      <m:ctrlPr>
                                        <a:rPr lang="en-US" altLang="zh-CN" sz="2000" i="1" smtClean="0">
                                          <a:latin typeface="Cambria Math" panose="02040503050406030204" pitchFamily="18" charset="0"/>
                                          <a:ea typeface="华文楷体" panose="02010600040101010101" pitchFamily="2" charset="-122"/>
                                          <a:sym typeface="Symbol" panose="05050102010706020507" pitchFamily="18" charset="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华文楷体" panose="02010600040101010101" pitchFamily="2" charset="-122"/>
                                          <a:sym typeface="Symbol" panose="05050102010706020507" pitchFamily="18" charset="2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华文楷体" panose="02010600040101010101" pitchFamily="2" charset="-122"/>
                                          <a:sym typeface="Symbol" panose="05050102010706020507" pitchFamily="18" charset="2"/>
                                        </a:rPr>
                                        <m:t>−1</m:t>
                                      </m:r>
                                    </m:sup>
                                  </m:s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sym typeface="Symbol" panose="05050102010706020507" pitchFamily="18" charset="2"/>
                                    </a:rPr>
                                    <m:t>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sym typeface="Symbol" panose="05050102010706020507" pitchFamily="18" charset="2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62861117-886D-4BC1-B1AC-E04D8AAC7A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9272" y="1144762"/>
                <a:ext cx="2289434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A7157C75-C59E-4B29-8092-59E3D8A05695}"/>
                  </a:ext>
                </a:extLst>
              </p:cNvPr>
              <p:cNvSpPr/>
              <p:nvPr/>
            </p:nvSpPr>
            <p:spPr>
              <a:xfrm>
                <a:off x="3503975" y="1151937"/>
                <a:ext cx="60946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det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A7157C75-C59E-4B29-8092-59E3D8A056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975" y="1151937"/>
                <a:ext cx="609462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36B25AC4-D971-4045-91CD-BBE912D19145}"/>
                  </a:ext>
                </a:extLst>
              </p:cNvPr>
              <p:cNvSpPr/>
              <p:nvPr/>
            </p:nvSpPr>
            <p:spPr>
              <a:xfrm>
                <a:off x="944987" y="2148839"/>
                <a:ext cx="1568211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1−</m:t>
                              </m:r>
                              <m:r>
                                <a:rPr lang="zh-CN" altLang="en-US" sz="20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𝜔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36B25AC4-D971-4045-91CD-BBE912D191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987" y="2148839"/>
                <a:ext cx="1568211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71E7DF8-36A2-49DE-ACA1-352643B81ADC}"/>
              </a:ext>
            </a:extLst>
          </p:cNvPr>
          <p:cNvCxnSpPr/>
          <p:nvPr/>
        </p:nvCxnSpPr>
        <p:spPr>
          <a:xfrm>
            <a:off x="1759644" y="1552047"/>
            <a:ext cx="180574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E55E2ECF-9A2B-46AB-94E7-6A88B07465BD}"/>
              </a:ext>
            </a:extLst>
          </p:cNvPr>
          <p:cNvCxnSpPr>
            <a:cxnSpLocks/>
          </p:cNvCxnSpPr>
          <p:nvPr/>
        </p:nvCxnSpPr>
        <p:spPr>
          <a:xfrm>
            <a:off x="2815395" y="1552047"/>
            <a:ext cx="254344" cy="2762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EB68E13F-FDA6-446D-847C-EA147F7E6DB1}"/>
                  </a:ext>
                </a:extLst>
              </p:cNvPr>
              <p:cNvSpPr/>
              <p:nvPr/>
            </p:nvSpPr>
            <p:spPr>
              <a:xfrm>
                <a:off x="2510775" y="1828289"/>
                <a:ext cx="1499817" cy="307777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zh-CN" altLang="en-US" sz="1400" dirty="0">
                    <a:ea typeface="华文楷体" panose="02010600040101010101" pitchFamily="2" charset="-122"/>
                  </a:rPr>
                  <a:t>单位下三角</a:t>
                </a:r>
                <a14:m>
                  <m:oMath xmlns:m="http://schemas.openxmlformats.org/officeDocument/2006/math">
                    <m:r>
                      <a:rPr lang="zh-CN" altLang="en-US" sz="1400" b="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矩阵</m:t>
                    </m:r>
                  </m:oMath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EB68E13F-FDA6-446D-847C-EA147F7E6D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0775" y="1828289"/>
                <a:ext cx="1499817" cy="307777"/>
              </a:xfrm>
              <a:prstGeom prst="rect">
                <a:avLst/>
              </a:prstGeom>
              <a:blipFill>
                <a:blip r:embed="rId7"/>
                <a:stretch>
                  <a:fillRect l="-806" t="-1923" b="-17308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421FEDE0-A4EA-4B72-8252-E61ED06B61BE}"/>
              </a:ext>
            </a:extLst>
          </p:cNvPr>
          <p:cNvCxnSpPr/>
          <p:nvPr/>
        </p:nvCxnSpPr>
        <p:spPr>
          <a:xfrm>
            <a:off x="4035325" y="1512347"/>
            <a:ext cx="218495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217F14D5-40D4-45DE-8374-27B95CAD8779}"/>
              </a:ext>
            </a:extLst>
          </p:cNvPr>
          <p:cNvCxnSpPr>
            <a:cxnSpLocks/>
          </p:cNvCxnSpPr>
          <p:nvPr/>
        </p:nvCxnSpPr>
        <p:spPr>
          <a:xfrm>
            <a:off x="4872694" y="1512856"/>
            <a:ext cx="251869" cy="2372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DC29629F-CC06-4002-ABD6-DEA597B6015E}"/>
                  </a:ext>
                </a:extLst>
              </p:cNvPr>
              <p:cNvSpPr/>
              <p:nvPr/>
            </p:nvSpPr>
            <p:spPr>
              <a:xfrm>
                <a:off x="4572001" y="1750147"/>
                <a:ext cx="1843784" cy="523220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zh-CN" altLang="en-US" sz="1400" dirty="0">
                    <a:ea typeface="华文楷体" panose="02010600040101010101" pitchFamily="2" charset="-122"/>
                  </a:rPr>
                  <a:t>对角线元素为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1−</m:t>
                        </m:r>
                        <m:r>
                          <a:rPr lang="zh-CN" altLang="en-US" sz="1400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𝜔</m:t>
                        </m:r>
                      </m:e>
                    </m:d>
                  </m:oMath>
                </a14:m>
                <a:r>
                  <a:rPr lang="zh-CN" altLang="en-US" sz="1400" dirty="0">
                    <a:ea typeface="华文楷体" panose="02010600040101010101" pitchFamily="2" charset="-122"/>
                  </a:rPr>
                  <a:t>的上三角</a:t>
                </a:r>
                <a14:m>
                  <m:oMath xmlns:m="http://schemas.openxmlformats.org/officeDocument/2006/math">
                    <m:r>
                      <a:rPr lang="zh-CN" altLang="en-US" sz="1400" b="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矩阵</m:t>
                    </m:r>
                  </m:oMath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DC29629F-CC06-4002-ABD6-DEA597B601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1" y="1750147"/>
                <a:ext cx="1843784" cy="523220"/>
              </a:xfrm>
              <a:prstGeom prst="rect">
                <a:avLst/>
              </a:prstGeom>
              <a:blipFill>
                <a:blip r:embed="rId8"/>
                <a:stretch>
                  <a:fillRect l="-658" t="-1136" b="-10227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矩形 52">
            <a:extLst>
              <a:ext uri="{FF2B5EF4-FFF2-40B4-BE49-F238E27FC236}">
                <a16:creationId xmlns:a16="http://schemas.microsoft.com/office/drawing/2014/main" id="{325A0AF7-3EA6-4858-9BAB-D2A4B24CD49D}"/>
              </a:ext>
            </a:extLst>
          </p:cNvPr>
          <p:cNvSpPr/>
          <p:nvPr/>
        </p:nvSpPr>
        <p:spPr>
          <a:xfrm>
            <a:off x="935057" y="2586576"/>
            <a:ext cx="8245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于是，</a:t>
            </a:r>
            <a:endParaRPr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EA7F7AD6-1A02-4364-A075-A8814FDEB8E2}"/>
                  </a:ext>
                </a:extLst>
              </p:cNvPr>
              <p:cNvSpPr/>
              <p:nvPr/>
            </p:nvSpPr>
            <p:spPr>
              <a:xfrm>
                <a:off x="1612217" y="2745630"/>
                <a:ext cx="3797344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1−</m:t>
                                  </m:r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𝜔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|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|</m:t>
                      </m:r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EA7F7AD6-1A02-4364-A075-A8814FDEB8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2217" y="2745630"/>
                <a:ext cx="3797344" cy="400110"/>
              </a:xfrm>
              <a:prstGeom prst="rect">
                <a:avLst/>
              </a:prstGeom>
              <a:blipFill>
                <a:blip r:embed="rId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矩形 54">
            <a:extLst>
              <a:ext uri="{FF2B5EF4-FFF2-40B4-BE49-F238E27FC236}">
                <a16:creationId xmlns:a16="http://schemas.microsoft.com/office/drawing/2014/main" id="{0D76625F-D1BA-45A3-AB23-2A95E5796BD2}"/>
              </a:ext>
            </a:extLst>
          </p:cNvPr>
          <p:cNvSpPr/>
          <p:nvPr/>
        </p:nvSpPr>
        <p:spPr>
          <a:xfrm>
            <a:off x="944987" y="3284714"/>
            <a:ext cx="8245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故</a:t>
            </a:r>
            <a:endParaRPr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115D5B77-625C-4DF3-9FF2-4E2E9AC6CFA5}"/>
                  </a:ext>
                </a:extLst>
              </p:cNvPr>
              <p:cNvSpPr/>
              <p:nvPr/>
            </p:nvSpPr>
            <p:spPr>
              <a:xfrm>
                <a:off x="1812770" y="3313173"/>
                <a:ext cx="2540775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1−</m:t>
                          </m:r>
                          <m:r>
                            <a:rPr lang="zh-CN" altLang="en-US" sz="20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𝜔</m:t>
                          </m:r>
                        </m:e>
                      </m:d>
                      <m:r>
                        <a:rPr lang="en-US" altLang="zh-CN" sz="20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&lt;1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115D5B77-625C-4DF3-9FF2-4E2E9AC6CF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2770" y="3313173"/>
                <a:ext cx="2540775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EC69647B-5370-4F5F-AB0B-0AE6A3DA7EF7}"/>
                  </a:ext>
                </a:extLst>
              </p:cNvPr>
              <p:cNvSpPr/>
              <p:nvPr/>
            </p:nvSpPr>
            <p:spPr>
              <a:xfrm>
                <a:off x="4353545" y="3755304"/>
                <a:ext cx="140179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0&lt;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𝜔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&lt;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2</m:t>
                    </m:r>
                  </m:oMath>
                </a14:m>
                <a:r>
                  <a:rPr lang="en-US" altLang="zh-CN" sz="2000" dirty="0"/>
                  <a:t>.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EC69647B-5370-4F5F-AB0B-0AE6A3DA7E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3545" y="3755304"/>
                <a:ext cx="1401794" cy="400110"/>
              </a:xfrm>
              <a:prstGeom prst="rect">
                <a:avLst/>
              </a:prstGeom>
              <a:blipFill>
                <a:blip r:embed="rId11"/>
                <a:stretch>
                  <a:fillRect t="-6061" r="-3913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CE135810-3EAD-487B-B1A7-73DBD07F46E2}"/>
                  </a:ext>
                </a:extLst>
              </p:cNvPr>
              <p:cNvSpPr/>
              <p:nvPr/>
            </p:nvSpPr>
            <p:spPr>
              <a:xfrm>
                <a:off x="953177" y="3791934"/>
                <a:ext cx="3919517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即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𝑆𝑂𝑅</m:t>
                    </m:r>
                    <m:r>
                      <m:rPr>
                        <m:nor/>
                      </m:rPr>
                      <a:rPr lang="zh-CN" altLang="en-US" sz="2000" dirty="0">
                        <a:latin typeface="华文楷体" panose="02010600040101010101" pitchFamily="2" charset="-122"/>
                        <a:ea typeface="华文楷体" panose="02010600040101010101" pitchFamily="2" charset="-122"/>
                      </a:rPr>
                      <m:t>法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收敛</m:t>
                    </m:r>
                    <m:r>
                      <a:rPr lang="zh-CN" altLang="en-US" sz="2000" b="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的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必要</m:t>
                    </m:r>
                    <m:r>
                      <a:rPr lang="zh-CN" altLang="en-US" sz="200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条件</m:t>
                    </m:r>
                    <m:r>
                      <a:rPr lang="zh-CN" altLang="en-US" sz="2000" b="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是</m:t>
                    </m:r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CE135810-3EAD-487B-B1A7-73DBD07F46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177" y="3791934"/>
                <a:ext cx="3919517" cy="400110"/>
              </a:xfrm>
              <a:prstGeom prst="rect">
                <a:avLst/>
              </a:prstGeom>
              <a:blipFill>
                <a:blip r:embed="rId12"/>
                <a:stretch>
                  <a:fillRect l="-1555" t="-606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2996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6" grpId="0"/>
      <p:bldP spid="28" grpId="0"/>
      <p:bldP spid="29" grpId="0"/>
      <p:bldP spid="30" grpId="0"/>
      <p:bldP spid="37" grpId="0"/>
      <p:bldP spid="38" grpId="0" animBg="1"/>
      <p:bldP spid="52" grpId="0" animBg="1"/>
      <p:bldP spid="53" grpId="0"/>
      <p:bldP spid="54" grpId="0"/>
      <p:bldP spid="55" grpId="0"/>
      <p:bldP spid="56" grpId="0"/>
      <p:bldP spid="12" grpId="0"/>
      <p:bldP spid="5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E7F064F-8544-4E76-8BE6-D4D3ABC8F908}"/>
              </a:ext>
            </a:extLst>
          </p:cNvPr>
          <p:cNvCxnSpPr>
            <a:cxnSpLocks/>
          </p:cNvCxnSpPr>
          <p:nvPr/>
        </p:nvCxnSpPr>
        <p:spPr>
          <a:xfrm flipV="1">
            <a:off x="0" y="368300"/>
            <a:ext cx="2513198" cy="3176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5CEFB25-3703-4C02-9EC2-99523841BF1B}"/>
              </a:ext>
            </a:extLst>
          </p:cNvPr>
          <p:cNvCxnSpPr>
            <a:cxnSpLocks/>
          </p:cNvCxnSpPr>
          <p:nvPr/>
        </p:nvCxnSpPr>
        <p:spPr>
          <a:xfrm>
            <a:off x="6501947" y="336951"/>
            <a:ext cx="2431006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DBAA461A-721D-4411-8E0C-37C00FB41582}"/>
              </a:ext>
            </a:extLst>
          </p:cNvPr>
          <p:cNvSpPr txBox="1"/>
          <p:nvPr/>
        </p:nvSpPr>
        <p:spPr>
          <a:xfrm>
            <a:off x="1848640" y="123341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 3.6 </a:t>
            </a: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逐次超松弛迭代法（</a:t>
            </a:r>
            <a:r>
              <a:rPr lang="en-US" altLang="zh-CN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SOR</a:t>
            </a: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方法）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910A567D-7731-4C0A-A8A6-AE74C7EC562C}"/>
                  </a:ext>
                </a:extLst>
              </p:cNvPr>
              <p:cNvSpPr txBox="1"/>
              <p:nvPr/>
            </p:nvSpPr>
            <p:spPr>
              <a:xfrm>
                <a:off x="649667" y="699332"/>
                <a:ext cx="369181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sz="2000">
                        <a:solidFill>
                          <a:srgbClr val="004A82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𝑆𝑂𝑅</m:t>
                    </m:r>
                  </m:oMath>
                </a14:m>
                <a:r>
                  <a:rPr lang="zh-CN" altLang="en-US" sz="2000" dirty="0">
                    <a:solidFill>
                      <a:srgbClr val="004A82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迭代法收敛的充分条件</a:t>
                </a:r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910A567D-7731-4C0A-A8A6-AE74C7EC5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667" y="699332"/>
                <a:ext cx="3691811" cy="400110"/>
              </a:xfrm>
              <a:prstGeom prst="rect">
                <a:avLst/>
              </a:prstGeom>
              <a:blipFill>
                <a:blip r:embed="rId2"/>
                <a:stretch>
                  <a:fillRect l="-1488" t="-7692" b="-2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C5B78D49-49D4-4DE2-8D84-70DF1335CEBC}"/>
              </a:ext>
            </a:extLst>
          </p:cNvPr>
          <p:cNvSpPr/>
          <p:nvPr/>
        </p:nvSpPr>
        <p:spPr>
          <a:xfrm>
            <a:off x="808161" y="1352020"/>
            <a:ext cx="7026965" cy="950523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33845BB-533D-408D-A137-BF89C2A2417F}"/>
              </a:ext>
            </a:extLst>
          </p:cNvPr>
          <p:cNvSpPr txBox="1"/>
          <p:nvPr/>
        </p:nvSpPr>
        <p:spPr>
          <a:xfrm>
            <a:off x="1016882" y="1139944"/>
            <a:ext cx="750446" cy="338554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条件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endParaRPr lang="zh-CN" altLang="en-US" sz="16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AAB95815-C782-4529-ADCC-37900C96EF8B}"/>
                  </a:ext>
                </a:extLst>
              </p:cNvPr>
              <p:cNvSpPr txBox="1"/>
              <p:nvPr/>
            </p:nvSpPr>
            <p:spPr>
              <a:xfrm>
                <a:off x="1016882" y="1540054"/>
                <a:ext cx="670557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  设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zh-CN" altLang="en-US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为</m:t>
                    </m:r>
                    <m:r>
                      <a:rPr lang="zh-CN" alt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对称正定</m:t>
                    </m:r>
                    <m:r>
                      <a:rPr lang="zh-CN" altLang="en-US" sz="20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矩阵</m:t>
                    </m:r>
                    <m:r>
                      <a:rPr lang="zh-CN" altLang="en-US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，且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0&lt;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𝜔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&lt;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2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，则解方程组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</a:t>
                </a:r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SOR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迭代法收敛</a:t>
                </a:r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AAB95815-C782-4529-ADCC-37900C96EF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882" y="1540054"/>
                <a:ext cx="6705572" cy="707886"/>
              </a:xfrm>
              <a:prstGeom prst="rect">
                <a:avLst/>
              </a:prstGeom>
              <a:blipFill>
                <a:blip r:embed="rId3"/>
                <a:stretch>
                  <a:fillRect l="-1000" t="-4310" b="-146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95073664-2BBD-46A2-B6C7-06CDC1B33986}"/>
              </a:ext>
            </a:extLst>
          </p:cNvPr>
          <p:cNvSpPr/>
          <p:nvPr/>
        </p:nvSpPr>
        <p:spPr>
          <a:xfrm>
            <a:off x="808161" y="2894746"/>
            <a:ext cx="7026965" cy="1039479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EB605AA-F03C-4D5C-89B7-18C12AA77094}"/>
              </a:ext>
            </a:extLst>
          </p:cNvPr>
          <p:cNvSpPr txBox="1"/>
          <p:nvPr/>
        </p:nvSpPr>
        <p:spPr>
          <a:xfrm>
            <a:off x="1016882" y="2682670"/>
            <a:ext cx="831758" cy="338554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条件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endParaRPr lang="zh-CN" altLang="en-US" sz="16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0B537FF7-15B1-4209-8211-ECD788038F36}"/>
                  </a:ext>
                </a:extLst>
              </p:cNvPr>
              <p:cNvSpPr txBox="1"/>
              <p:nvPr/>
            </p:nvSpPr>
            <p:spPr>
              <a:xfrm>
                <a:off x="1016882" y="3082780"/>
                <a:ext cx="656010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  设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zh-CN" altLang="en-US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为</m:t>
                    </m:r>
                    <m:r>
                      <a:rPr lang="zh-CN" alt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严格对角占优</m:t>
                    </m:r>
                    <m:r>
                      <a:rPr lang="zh-CN" altLang="en-US" sz="20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矩阵</m:t>
                    </m:r>
                    <m:r>
                      <a:rPr lang="zh-CN" altLang="en-US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，且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0&lt;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𝜔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≤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1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，则解方程组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</a:t>
                </a:r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SOR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迭代法收敛</a:t>
                </a:r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0B537FF7-15B1-4209-8211-ECD788038F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882" y="3082780"/>
                <a:ext cx="6560102" cy="707886"/>
              </a:xfrm>
              <a:prstGeom prst="rect">
                <a:avLst/>
              </a:prstGeom>
              <a:blipFill>
                <a:blip r:embed="rId4"/>
                <a:stretch>
                  <a:fillRect t="-4310" b="-155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691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2" grpId="0"/>
      <p:bldP spid="23" grpId="0" animBg="1"/>
      <p:bldP spid="24" grpId="0" animBg="1"/>
      <p:bldP spid="25" grpId="0"/>
      <p:bldP spid="27" grpId="0" animBg="1"/>
      <p:bldP spid="31" grpId="0" animBg="1"/>
      <p:bldP spid="3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E7F064F-8544-4E76-8BE6-D4D3ABC8F908}"/>
              </a:ext>
            </a:extLst>
          </p:cNvPr>
          <p:cNvCxnSpPr>
            <a:cxnSpLocks/>
          </p:cNvCxnSpPr>
          <p:nvPr/>
        </p:nvCxnSpPr>
        <p:spPr>
          <a:xfrm flipV="1">
            <a:off x="49263" y="371475"/>
            <a:ext cx="2401449" cy="1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5CEFB25-3703-4C02-9EC2-99523841BF1B}"/>
              </a:ext>
            </a:extLst>
          </p:cNvPr>
          <p:cNvCxnSpPr>
            <a:cxnSpLocks/>
          </p:cNvCxnSpPr>
          <p:nvPr/>
        </p:nvCxnSpPr>
        <p:spPr>
          <a:xfrm flipV="1">
            <a:off x="6396825" y="371475"/>
            <a:ext cx="2529960" cy="1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DBAA461A-721D-4411-8E0C-37C00FB41582}"/>
              </a:ext>
            </a:extLst>
          </p:cNvPr>
          <p:cNvSpPr txBox="1"/>
          <p:nvPr/>
        </p:nvSpPr>
        <p:spPr>
          <a:xfrm>
            <a:off x="1733675" y="164968"/>
            <a:ext cx="54701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3.6 </a:t>
            </a: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逐次超松弛迭代法（</a:t>
            </a:r>
            <a:r>
              <a:rPr lang="en-US" altLang="zh-CN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SOR</a:t>
            </a: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方法）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19FD669-3E95-4625-8591-E0338E146914}"/>
              </a:ext>
            </a:extLst>
          </p:cNvPr>
          <p:cNvSpPr/>
          <p:nvPr/>
        </p:nvSpPr>
        <p:spPr>
          <a:xfrm>
            <a:off x="1559858" y="1603078"/>
            <a:ext cx="6607798" cy="603857"/>
          </a:xfrm>
          <a:prstGeom prst="round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FB943E2-327C-4D83-AD7B-626818FF9347}"/>
                  </a:ext>
                </a:extLst>
              </p:cNvPr>
              <p:cNvSpPr txBox="1"/>
              <p:nvPr/>
            </p:nvSpPr>
            <p:spPr>
              <a:xfrm>
                <a:off x="1436204" y="1763696"/>
                <a:ext cx="58721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indent="0"/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1.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𝑆𝑂𝑅</m:t>
                    </m:r>
                    <m:r>
                      <a:rPr lang="zh-CN" altLang="en-US" sz="2000" b="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法的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建立</m:t>
                    </m:r>
                  </m:oMath>
                </a14:m>
                <a:endParaRPr lang="zh-CN" altLang="en-US" sz="2000" i="1" dirty="0">
                  <a:latin typeface="Cambria Math" panose="02040503050406030204" pitchFamily="18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FB943E2-327C-4D83-AD7B-626818FF9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6204" y="1763696"/>
                <a:ext cx="5872164" cy="400110"/>
              </a:xfrm>
              <a:prstGeom prst="rect">
                <a:avLst/>
              </a:prstGeom>
              <a:blipFill>
                <a:blip r:embed="rId2"/>
                <a:stretch>
                  <a:fillRect t="-606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F47C2DD-3CC3-4642-B339-3FA8E37C8BDC}"/>
              </a:ext>
            </a:extLst>
          </p:cNvPr>
          <p:cNvSpPr/>
          <p:nvPr/>
        </p:nvSpPr>
        <p:spPr>
          <a:xfrm>
            <a:off x="1559856" y="2464538"/>
            <a:ext cx="6607797" cy="603856"/>
          </a:xfrm>
          <a:prstGeom prst="round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46561F8-007F-4803-AC32-F84AB5F73515}"/>
                  </a:ext>
                </a:extLst>
              </p:cNvPr>
              <p:cNvSpPr txBox="1"/>
              <p:nvPr/>
            </p:nvSpPr>
            <p:spPr>
              <a:xfrm>
                <a:off x="1692636" y="2573157"/>
                <a:ext cx="626650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2.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𝑆𝑂𝑅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法</m:t>
                    </m:r>
                    <m:r>
                      <a:rPr lang="zh-CN" altLang="en-US" sz="200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收敛</m:t>
                    </m:r>
                    <m:r>
                      <a:rPr lang="zh-CN" altLang="en-US" sz="2000" b="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的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判定</m:t>
                    </m:r>
                    <m:r>
                      <a:rPr lang="zh-CN" altLang="en-US" sz="200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条件</m:t>
                    </m:r>
                  </m:oMath>
                </a14:m>
                <a:endParaRPr lang="zh-CN" altLang="en-US" sz="2000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46561F8-007F-4803-AC32-F84AB5F73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2636" y="2573157"/>
                <a:ext cx="6266508" cy="400110"/>
              </a:xfrm>
              <a:prstGeom prst="rect">
                <a:avLst/>
              </a:prstGeom>
              <a:blipFill>
                <a:blip r:embed="rId3"/>
                <a:stretch>
                  <a:fillRect t="-606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6">
            <a:extLst>
              <a:ext uri="{FF2B5EF4-FFF2-40B4-BE49-F238E27FC236}">
                <a16:creationId xmlns:a16="http://schemas.microsoft.com/office/drawing/2014/main" id="{9D37D940-B031-43D7-B1E4-82671703B6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519" y="1032999"/>
            <a:ext cx="49403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小结</a:t>
            </a:r>
            <a:r>
              <a:rPr lang="zh-CN" altLang="en-US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endParaRPr lang="en-US" altLang="zh-CN" dirty="0">
              <a:solidFill>
                <a:srgbClr val="004A8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4877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  <p:bldP spid="16" grpId="0"/>
      <p:bldP spid="17" grpId="0" animBg="1"/>
      <p:bldP spid="18" grpId="0"/>
      <p:bldP spid="19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基本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基本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 cap="flat" cmpd="sng" algn="ctr">
          <a:noFill/>
          <a:prstDash val="solid"/>
          <a:miter lim="800000"/>
        </a:ln>
      </a:spPr>
      <a:bodyPr lIns="1116000" tIns="0" bIns="36000" anchor="ctr"/>
      <a:lstStyle>
        <a:defPPr algn="just" eaLnBrk="1" fontAlgn="auto" hangingPunct="1">
          <a:spcBef>
            <a:spcPts val="0"/>
          </a:spcBef>
          <a:spcAft>
            <a:spcPts val="0"/>
          </a:spcAft>
          <a:defRPr sz="3600" b="1" dirty="0">
            <a:solidFill>
              <a:srgbClr val="00A28B"/>
            </a:solidFill>
            <a:latin typeface="华文中宋" panose="02010600040101010101" pitchFamily="2" charset="-122"/>
            <a:ea typeface="华文中宋" panose="02010600040101010101" pitchFamily="2" charset="-122"/>
            <a:cs typeface="+mj-cs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2186</TotalTime>
  <Words>2597</Words>
  <Application>Microsoft Office PowerPoint</Application>
  <PresentationFormat>全屏显示(16:9)</PresentationFormat>
  <Paragraphs>520</Paragraphs>
  <Slides>40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4" baseType="lpstr">
      <vt:lpstr>Arial Unicode MS</vt:lpstr>
      <vt:lpstr>黑体</vt:lpstr>
      <vt:lpstr>华文行楷</vt:lpstr>
      <vt:lpstr>华文楷体</vt:lpstr>
      <vt:lpstr>华文中宋</vt:lpstr>
      <vt:lpstr>楷体</vt:lpstr>
      <vt:lpstr>微软雅黑</vt:lpstr>
      <vt:lpstr>Arial</vt:lpstr>
      <vt:lpstr>Arial Black</vt:lpstr>
      <vt:lpstr>Calibri</vt:lpstr>
      <vt:lpstr>Cambria Math</vt:lpstr>
      <vt:lpstr>Wingdings</vt:lpstr>
      <vt:lpstr>基本</vt:lpstr>
      <vt:lpstr>Worksheet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熊猫办公</dc:title>
  <dc:creator>www.tukuppt.com</dc:creator>
  <cp:keywords>tukuppt</cp:keywords>
  <cp:lastModifiedBy>fn</cp:lastModifiedBy>
  <cp:revision>470</cp:revision>
  <dcterms:created xsi:type="dcterms:W3CDTF">2014-05-08T14:30:00Z</dcterms:created>
  <dcterms:modified xsi:type="dcterms:W3CDTF">2020-09-13T14:54:26Z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2052-10.1.0.7022</vt:lpwstr>
  </property>
</Properties>
</file>